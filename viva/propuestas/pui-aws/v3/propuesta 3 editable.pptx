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Propuesta técnica y comercial · Viva Aerobus Integración con la Plataforma Única de Identidad (PUI) en AWS, entregada por iterables de valor Cinco entregas que se pueden liberar a Producción por sí solas: primero la PUI registra sus casos, luego encontramos y notificamos coincidencias, después buscamos hacia atrás, vigilamos y aseguramos que nada se pierda. Siete semanas de construcción con trabajo en paralelo, gestionadas por un Scrum Master, con infraestructura como código y pruebas dentro de cada iterable. Viva Aerobus · Integración PUI Propuesta técnica y comercial Tech and Solve · Octubre de 2026 · Versión 3 Documento confidencial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entendemos la interacción: la PUI, nuestra solución y la API interna de Viva PRECONDICIÓN PUI Plataforma de la autoridad Envía casos por CURP Recibe las coincidencias Viva gestiona: registro Llave MX y credenciales Solución Tech and Solve AWS serverless · alcance de esta propuesta WAF + API Gateway + Cognito Lambdas Node.js · motor de 3 fases DynamoDB + SQS/DLQ + EventBridge KMS · Secrets Manager · CloudWatch IaC + pipeline para desarrollo, QA y Producción PRECONDICIÓN API interna Core de Viva POST /v1/person-records /search Reservaciones (Navitaire) y Recursos Humanos La construye Viva 1 4 5 2 3 1 Activa el caso. La PUI se autentica en nuestro /login y llama a /activar-reporte ; guardamos el caso con la CURP cifrada y respondemos de inmediato. 4 Reportamos. Enviamos /notificar-coincidencia con los datos que autorice Legal y cerramos el histórico con /busqueda-finalizada . 2 Buscamos la CURP. Fase 1 sin fechas, fase 2 con ventana de hasta 12 años y fase 3 periódica mientras el caso siga activo. 5 Desactiva. La PUI llama a /desactivar-reporte y detenemos búsquedas y envíos del caso. 3 La API interna responde con la persona y sus eventos (reservación, check-in, abordaje, empleo). Las cajas punteadas son precondiciones. Con la entrega por iterables ya no hace falta tenerlas todas el primer día: cada iterable requiere lo suyo, listo antes de arrancarlo (lámina 8). La especificación v1.3 de la API interna es una buena base, pero le falta paginación por cursor y un token de sincronización para las fases 2 y 3 (lámina 9).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Cinco iterables de valor: cada uno se puede liberar a Producción por sí solo Iterable 1 · liberable en la semana 4 1 La PUI registra y da de baja sus casos Se autentica, activa, prueba y desactiva reportes por CURP. Cada caso queda cifrado, sin duplicados y auditado desde la primera llamada. Iterable 2 · liberable en la semana 5 2 Encontramos lo más reciente y lo notificamos Fase 1: buscamos la CURP en Reservaciones y Recursos Humanos y enviamos a la PUI la coincidencia, solo con los datos que aprueba Legal y con reintentos. Iterable 3 · liberable en la semana 6 3 Buscamos hasta 12 años atrás y cerramos el histórico Fase 2: cada vuelo, check-in, abordaje o empleo desde la fecha de desaparición se notifica por separado y se cierra con /busqueda-finalizada . Iterable 4 · liberable en la semana 7 4 Seguimos vigilando mientras el caso esté activo Fase 3: con la frecuencia que defina Viva, revisamos solo lo nuevo o modificado y lo notificamos, hasta que la PUI desactiva el caso. Iterable 5 · liberable en la semana 7 5 Nada se pierde: conciliación y reproceso Comparamos con /reportes de la PUI, reprocesamos lo fallido con control y cerramos con la regresión y la aceptación final. En todos los iterables Lo que exige Producción Pruebas y regresión, SAST, SCA y DAST, bitácora de auditoría, trazabilidad, métricas y alarmas, IaC con reversa, runbook y aceptación de Viva (lámina 6). Ningún iterable deja nada para el final: cada uno sale probado, seguro, auditado, monitoreado y desplegable con el pipeline, y Viva decide cuándo lo lleva a Producción. Recomendamos conectar con la PUI cuando las tres fases estén en Producción (iterable 4), porque el manual exige las tres; el iterable 5 refuerza la operación.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Iterables 1 y 2: recibir el caso y reportar la primera coincidencia Iterable 1 · semanas 1 a 4 · liberable al cierre de la semana 4 La PUI registra y da de baja sus casos Viva cumple con los endpoints de entrada del manual, con todo lo que Producción exige. Se construye /login , /activar-reporte , /activar-reporte-prueba y /desactivar-reporte ; validación de CURP, idempotencia, firmado del JSON y OpenAPI. Infraestructura que nace Terraform base por ambiente, KMS, IAM, Cognito, API Gateway, WAF, dominio y TLS, tabla de casos; pipeline con SAST, SCA, DAST, promoción, reversa y smoke tests. Se prueba Funcionales de entrada, scopes y CURP inválidas; contrato automatizado; seguridad de los 4 endpoints; carga con Celerabit; conectividad en el sandbox. Auditoría y operación Bitácora inmutable con consultas de auditoría, correlationId , métricas y alarmas de entrada, CloudTrail y runbook. Requiere antes de arrancar AWS, repositorio y Terraform; herramientas SAST, SCA y DAST; dominio y certificados; retención de la bitácora y acceso al sandbox de la PUI. Deja lista la base de Producción que heredan los demás: por eso es el iterable más grande (53 % del alcance). Iterable 2 · semanas 1 a 5 · liberable al cierre de la semana 5 Encontramos lo más reciente y lo notificamos La PUI empieza a recibir lo que Viva sabe de la persona: el primer valor real para la búsqueda. Se construye Cliente de la API interna, estados del caso, fase 1, cliente y token de la PUI, notificador con reintentos y mapeo al contrato de la PUI. Infraestructura que nace Red privada, NAT con IP fija, colas SQS de búsqueda y notificación con DLQ, y secretos de la PUI y de la API interna. Se prueba Conexión a cada fuente, fase 1, notificación, reintentos y DLQ con simuladores; datos enviados frente a la matriz de Legal; regresión del iterable 1. Auditoría y operación Cada consulta a la API interna y cada envío a la PUI quedan en la bitácora; métricas de latencia y errores, alarmas de colas y DLQ, runbook. Requiere antes de arrancar El contrato v1.3 congelado. Antes de la semana 3, cuando empieza la búsqueda real: conexión a la API interna con CURP de prueba y matriz de datos aprobada por Legal. El cliente de la API interna se construye desde la semana 1 contra un simulador del contrato v1.3.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Iterables 3 y 4: buscar hacia atrás y seguir vigilando Iterable 3 · semanas 4 a 6 · liberable al cierre de la semana 6 Buscamos hasta 12 años atrás y cerramos el histórico La PUI recibe el rastro histórico completo de la persona y sabe cuándo terminó la búsqueda. Se construye Worker de fase 2 por páginas, desde la fecha de desaparición con tope de 12 años; una notificación por evento y cierre con /busqueda-finalizada , haya o no coincidencias. Infraestructura que se agrega Cola de fase 2 por páginas y registro de cursores. Se enciende por parámetro, sin tocar lo ya liberado. Se prueba Fase 2 por páginas, caso sin fecha de desaparición, reintento de una sola página y cierre; regresión de los iterables 1 y 2. Auditoría y operación Cada página consultada y cada notificación de fase 2 quedan en la bitácora; duración de la fase en el tablero. Requiere antes de arrancar Decisión sobre la paginación por cursor, tomada en la semana 2 (lámina 9), y cursor disponible en desarrollo. Iterable 4 · semanas 5 a 7 · liberable al cierre de la semana 7 Seguimos vigilando mientras el caso esté activo Si la persona aparece en una reserva nueva, la PUI se entera en el siguiente ciclo, sin esperar a otra búsqueda completa. Se construye Planificador de casos activos y worker de fase 3 con token de sincronización o, si la API interna no lo ofrece, por fecha de modificación. Infraestructura que se agrega EventBridge Scheduler, Lambda planificadora, cola de fase 3 y almacenamiento del token. También se enciende por parámetro. Se prueba Fase 3 con token y con su alternativa, token vencido y desactivación; pruebas funcionales en el sandbox de la PUI; regresión de los iterables 1 a 3. Auditoría y operación Cada ciclo de fase 3 queda en la bitácora; alarma si la fase 3 deja de correr; runbook de las fases 2 y 3. Requiere antes de arrancar Token de sincronización en desarrollo (o usar fecha de modificación), frecuencia de la fase 3 y volumen esperado. Los iterables 3 y 4 se construyen en paralelo , uno por cada desarrollador, porque ambos reutilizan el cliente de la API interna y el notificador del iterable 2. Dependen del cambio de la lámina 9: si Viva no lo implementa, se usa la alternativa de consultas por año y por fecha de modificación, con más carga sobre la API interna.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Iterable 5 y lo que cumple cada iterable antes de ir a Producción Iterable 5 · semanas 6 y 7 · liberable al cierre de la semana 7 Nada se pierde: conciliación y reproceso La red de seguridad de la operación: si algo falla, se detecta, se corrige y queda evidencia. Se construye Conciliación periódica con /reportes de la PUI y reproceso controlado desde la DLQ. Infraestructura que se agrega Lambdas conciliadora y de reproceso, con su programación en EventBridge. Se prueba Resiliencia ante caídas de la PUI y de la API interna, reproceso y conciliación; regresión final de extremo a extremo y aceptación final. Auditoría y operación Cada corrección y reproceso queda en la bitácora; informe de seguridad consolidado, documentación final y transferencia. Requiere antes de arrancar Quién recibe y atiende las alertas de Producción. Definición de liberable · se cumple en los 5 iterables Un iterable no se libera si le falta algo de esto Pruebas Unitarias, funcionales, de contrato y regresión automatizada de todo lo ya liberado. Seguridad SAST, SCA y DAST sin vulnerabilidades en lo que expone, y pruebas de seguridad de su superficie. Auditoría Todas sus interacciones quedan en la bitácora inmutable. Trazabilidad correlationId de punta a punta; la CURP nunca aparece en logs, URLs ni errores. Operación Métricas, alarmas y su sección del runbook. Despliegue IaC y pipeline con promoción, reversa y smoke tests. Aceptación Viva lo aprueba antes de liberarlo, y acompañamos la liberación. Así se ve en Producción: si Viva libera cada iterable al aceptarlo, el 1 está en Producción desde la semana 5, el 2 desde la 6 y el 3 desde la 7. Con los iterables 4 y 5 en la semana 8, Viva puede conectar con la PUI con las tres fases. Las semanas 8 y 9 son de soporte (lámina 19).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viable en 7 semanas? Sí, con condiciones. Y esto es lo que no cabe 1 Lo que sí entregamos en 7 semanas Los 5 iterables construidos, probados, auditados y aceptados, cada uno liberable a Producción. Los iterables 1 a 3 en Producción dentro de las 7 semanas, si Viva los libera al aceptarlos (semanas 5, 6 y 7). El paquete que pide la PUI, acumulado iterable a iterable: reportes SAST, SCA y DAST, bitácora y evidencias funcionales. Pruebas en el sandbox de la PUI, si se habilita a tiempo. Runbook, documentación y transferencia de conocimiento. 2 Condiciones para que sea viable Equipo dedicado trabajando en paralelo , con un Scrum Master que gestiona los desbloqueos. Lo que requiere cada iterable, listo antes de que arranque (lámina 8). API interna real en desarrollo antes de la semana 3. Paginación decidida en la semana 2 ; cursor en desarrollo antes de la semana 4 y token de sincronización antes de la 5. Usuarios de negocio desde el inicio , alineados con lo que recibirán; aceptan cada iterable en 2 días hábiles y Viva lo libera con el pipeline. 3 Lo que no es viable Operar con la PUI con las tres fases dentro de las 7 semanas: el iterable 4 se acepta en la semana 7 y se libera, como pronto, en la semana 8; el soporte de 2 semanas es en la 8 y la 9. Mantener la fecha si algo de lo que requiere un iterable no está listo antes de arrancarlo: ese iterable se corre lo mismo, y con él la fecha final. Liberar con la PUI sin acceso al sandbox: solo se valida con simuladores. La regla de holgura: las pruebas, la seguridad y la auditoría corren dentro de cada iterable, así que cada cierre confirma y no descubre. El tramo más exigente es la infraestructura de las semanas 1 a 4, porque el iterable 1 deja lista toda la base de Producción. Si la holgura se agota antes de la semana 6, o si el DAST exige más de un ciclo de correcciones, el plan pasa a 8 semanas y lo avisamos en el seguimiento semanal.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requiere cada iterable antes de arrancar Viva debe tener listo lo que requiere cada iterable antes de que arranque . Si algo falta, ese iterable no arranca y la fecha final se corre lo mismo . El Scrum Master lo revisa cada semana con los responsables de Viva. Antes de la semana 1 Para arrancar el proyecto Requiere Cuenta de AWS de desarrollo con permisos, red, salida aprobada y MFA. Repositorio y CI/CD en GitLab (por confirmar), OIDC hacia AWS y Terraform con estado. Patrocinador de Viva y un responsable por cada precondición. Proyecto en Jira. Usuarios de negocio asignados desde el inicio: acuerdan qué recibirán en cada iterable y lo reciben en cuanto está listo. Iterable 1 · arranca en la semana 1 · liberable al cierre de la 4 La PUI registra y da de baja sus casos Requiere antes de arrancar Herramientas SAST, SCA y DAST, y si la PUI acepta sus reportes. Dominio, DNS, certificados e IP de origen de la PUI. Retención y acceso de la bitácora (Legal). Registro de Viva en la PUI y acceso al sandbox. Para liberarlo QA y Producción listos con paridad certificada, y ventana de Celerabit. Iterable 2 · arranca en la semana 1 · liberable al cierre de la 5 Encontramos lo más reciente y lo notificamos Requiere antes de arrancar Contrato v1.3 de la API interna congelado, para construir contra un simulador. Requiere antes de la semana 3, cuando empieza la búsqueda real Conexión a Reservaciones y Recursos Humanos en desarrollo, con CURP de prueba. Matriz de datos aprobada por Legal y regla para varias coincidencias. Iterable 3 · arranca en la semana 4 · liberable al cierre de la 6 Histórico de hasta 12 años Requiere antes de arrancar Decisión sobre la paginación por cursor, tomada en la semana 2 (lámina 9). Cursor disponible en desarrollo. Iterable 4 · arranca en la semana 5 · liberable al cierre de la 7 Vigilancia continua Requiere antes de arrancar Token de sincronización en desarrollo, o la decisión de usar fecha de modificación. Frecuencia de la fase 3 y volumen esperado de casos. Para liberarlo Ventana de Celerabit del flujo completo y ambiente que se certifica con el sandbox. Iterable 5 · arranca en la semana 6 · liberable al cierre de la 7 Conciliación y reproceso Requiere antes de arrancar Quién recibe y atiende las alertas de Producción.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Solicitud de cambio a la API interna de Viva: paginación por cursor 1 Por qué Una persona puede acumular cientos o miles de eventos en 12 años, y la v1.3 los devuelve en una sola respuesta. Una respuesta así pone en riesgo los tiempos y la memoria de la API interna y de nuestras Lambdas. Filtrar por fecha del evento no detecta en la fase 3 los cambios sobre eventos antiguos. 2 Cambio al contrato POST /v1/person-records/search 3 Reglas que debe cumplir Orden estable por updatedAt y eventId , igual en todas las páginas. Cursor por posición del último elemento (keyset), no por número de página: así un evento nuevo no corre la lista. Cursor opaco , con vencimiento documentado. pageSize máximo acordado , por ejemplo 100 eventos. syncToken en la última página. Con él se devuelve solo lo creado, modificado o cancelado desde entonces. Error 410 si el token venció ; en ese caso hacemos una sincronización completa. 4 Cuándo lo necesitamos Semana 2: la decisión de Viva, para diseñar las fases 2 y 3. Antes de la semana 4: el cursor en desarrollo, para arrancar el iterable 3. Antes de la semana 5: el token de sincronización en desarrollo, para arrancar el iterable 4. Si no se implementa: la fase 2 se parte en consultas de un año y la fase 3 filtra por fecha de modificación ( updatedSince ). Funciona y no mueve el plan, pero con más carga sobre la API interna y sin garantía cuando un año concentra muchos eventos. Los iterables 1 y 2 no dependen de este cambio.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(1 de 3): recibir el caso y buscar lo más reciente Ejemplo: la PUI reporta la CURP XEXX010101HNEXXXA0 . La solución funciona como intermediario: recibe el caso, busca en la API interna de Viva y le reporta a la PUI lo que encuentra. Entrada ITERABLE 1 La PUI entrega el caso 1 La PUI se autentica en nuestro /login y recibe un JWT. 2 Llama a /activar-reporte con la CURP; WAF y API Gateway validan tráfico y token antes de ejecutar código. 3 Una Lambda valida la CURP, evita duplicados, guarda el caso cifrado en DynamoDB y, desde el iterable 2, deja un mensaje en la cola SQS. 4 La PUI recibe «recibido» en segundos; la búsqueda espera en la cola y se reintenta si la API interna falla. Fase 1 ITERABLE 2 Lo más reciente 5 El worker de fase 1 toma el mensaje de la cola. 6 Consulta la API interna sin fechas; esta busca en Reservaciones (Navitaire) y en Recursos Humanos. 7 La API responde, por ejemplo, con una reserva próxima y los datos de contacto. 8 Si hay datos, deja un único aviso en la cola de notificación; si no hay, la fase 1 no notifica. Notificación ITERABLE 2 Reportar a la PUI por servicio web 9 La Lambda notificadora toma el aviso de nuestra cola interna; la PUI no ve esa cola. 10 Obtiene el JWT de la PUI (vigencia de una hora) con credenciales de Secrets Manager. 11 Llama por HTTPS a /notificar-coincidencia con fase_busqueda y solo los campos aprobados por Legal. 12 Si la PUI no responde, el aviso vuelve a la cola y se reintenta; tras varios intentos pasa a la DLQ.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(2 de 3): buscar hacia atrás y seguir vigilando Fase 2 ITERABLE 3 Histórico de hasta 12 años 13 Al terminar la fase 1, el worker consulta la API interna desde la fecha de desaparición que envía la PUI, con tope de 12 años. Sin esa fecha, la fase se omite (por confirmar si igual se envía el cierre). 14 La API interna entrega los eventos por páginas. Cada página es un mensaje en la cola y, si una falla, se reintenta solo esa página. 15 Cada evento encontrado (un vuelo, un check-in, un empleo) se notifica por separado con el paso de notificación. 16 Cuando la última página de cada fuente llega sin más resultados, se envía /busqueda-finalizada , aunque no haya coincidencias. Fase 3 ITERABLE 4 Vigilancia mientras el caso esté activo 17 EventBridge funciona como despertador, con la frecuencia que defina Viva. 18 Una Lambda planificadora lee en DynamoDB los casos activos y los pone en la cola de fase 3. 19 El worker envía el token de sincronización guardado y la API interna devuelve solo lo creado, modificado o cancelado desde la última consulta. 20 Si hay algo nuevo, por ejemplo una reserva creada ayer, se notifica y se guarda el token nuevo. Esto requiere el cambio de la lámina 9 en la API interna: paginación por cursor y token de sincronización. Sin él, la fase 2 se parte en consultas de un año y la fase 3 filtra por fecha de modificación.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(3 de 3): cerrar el caso y operar con seguridad Desactivación ITERABLE 1 La PUI cierra el caso 21 Cuando el caso se resuelve, la PUI llama a /desactivar-reporte . 22 Una Lambda marca el caso como inactivo. La fase 3 deja de incluirlo y no se envían más notificaciones. Conciliación y auditoría AUDITORÍA DESDE EL 1 Red de seguridad y evidencia 23 Cada cierto tiempo, una Lambda compara /reportes de la PUI con los casos guardados. 24 Si algo no cuadra, se corrige. 25 Cada activación, consulta y envío queda en una bitácora que nadie puede modificar ni borrar. 26 Para auditar se consulta qué se envió, cuándo y qué respondió la PUI; ver los datos exige un permiso especial. Transversal ITERABLES 1 A 5 Lo que rodea todo · Red privada: las Lambdas no son accesibles desde Internet; API Gateway es la única puerta de entrada. · Cifrado: KMS protege la CURP, que nunca se escribe en los logs. · Monitoreo: CloudWatch muestra métricas y alerta, por ejemplo, si se acumulan fallidos o la fase 3 deja de correr. · IaC y pipeline: todo está escrito como código y crece con cada iterable, para que Viva cree lo mismo en QA y Producción. En una frase: la PUI entrega una CURP; la solución la guarda y la busca en la API interna de Viva, primero lo reciente, luego 12 años atrás y después de forma periódica. Cada hallazgo se reporta a la PUI con reintentos, hasta que la PUI cierra el caso.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entregamos : cada iterable suma su parte de cada bloque 1 Arquitectura y diseño Arquitectura lógica, física y de despliegue. Diagramas de secuencia de las tres fases. Modelo de datos y estados del caso. 2 Contratos OpenAPI 3.x y JSON Schemas de /login , /activar-reporte , /activar-reporte-prueba y /desactivar-reporte . Contrato del cliente de la API interna y del cliente de la PUI. 3 Código e infraestructura Código Node.js de las Lambdas y la librería común. IaC en Terraform por módulos de capacidad, parametrizada por ambiente, con dominio propio y TLS. Pipelines de build, IaC y promoción, con SAST, SCA, DAST y reversa. 4 Pruebas y evidencias Pruebas unitarias del equipo de desarrollo, incluidas aunque la práctica habitual de Viva no las tiene. Evidencias por iterable de pruebas de contrato, integración, resiliencia y extremo a extremo (lámina 14). Pruebas de aceptación con el negocio de Viva y matriz de trazabilidad. Pruebas de desempeño, sujetas al alcance y capacidad acordados con Celerabit (lámina 15). Evidencias de la certificación en el sandbox de la PUI, si se habilita. 5 Seguridad Reporte consolidado de pruebas de seguridad: controles ejecutados, hallazgos, riesgos, recomendaciones y retest. Pruebas de seguridad de las APIs, con informe y retest (lámina 16). Endurecimiento para el DAST y firmado del JSON de respuesta que exige la PUI. Bitácora de auditoría inmutable y evidencia de que la CURP no aparece en logs. 6 Operación Dashboard y alarmas de los 9 indicadores de la sección 13 del diseño, con trazabilidad por correlationId . Runbook, plan de despliegue y reversa. Estimación del costo de operación en AWS. Una liberación por iterable, reporte semanal del Scrum Master y transferencia de conocimiento. Fuera de alcance: construir la API interna de Viva o habilitar el acceso a Navitaire; fotos y huellas; pruebas de penetración de un tercero certificado; y ejecutar pruebas en Producción. Después de las 2 semanas de soporte incluidas (lámina 19), la continuidad se cotiza aparte.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Calidad en cada iterable: el analista de calidad, socio del negocio Un analista de calidad senior acompaña al equipo desde la semana 1. Las pruebas se ejecutan dentro de cada iterable, a medida que se construye, y ninguno se da por terminado sin sus evidencias. Al final solo quedan la regresión y la aceptación, que confirman lo ya probado. 1 · Antes de codificar Criterios que Viva aprueba Criterios de aceptación por iterable, acordados desde el inicio con los usuarios de negocio, en formato Dado / Cuando / Entonces. Reglas del negocio verificables: matriz de datos, fases e idempotencia. Trazabilidad de requisito a evidencia. 2 · Iterable a iterable Terminado quiere decir probado Cada iterable cierra con pruebas funcionales, de contrato y regresión de lo ya liberado. Contrato, validación de CURP, idempotencia, scopes por ruta y manejo de errores. Las pruebas unitarias son responsabilidad del equipo de desarrollo. 3 · Integración VALOR AGREGADO Automatización acotada de APIs Base automatizada de contrato y smoke/regresión para los 4 endpoints expuestos, que corre en el pipeline desde el iterable 1. Simuladores de la PUI y de la API interna desde la semana 1, para no esperar a los sistemas reales. Las pruebas exploratorias conservan ejecución manual. 4 · Pruebas de aceptación Con el negocio de Viva Viva acepta cada iterable antes de liberarlo; la aceptación final es en la semana 7. Tech and Solve prepara, ejecuta y documenta las evidencias. Certificación de la integración en el sandbox de la PUI, si se habilita. Desarrollo Pruebas unitarias de cada historia. Equipo de calidad Funcionales, contrato, integración, resiliencia, extremo a extremo y aceptación. Celerabit Desempeño, sin costo adicional (lámina 15). Líder de calidad Seguridad de las APIs y seguimiento (lámina 16).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Pruebas de desempeño con Celerabit El servicio de desempeño que Viva ya tiene. Qué probaremos de la integración Los endpoints de entrada (token, activar y desactivar) bajo carga: latencia p90, p95 y p99, rendimiento y errores. El flujo asíncrono con simuladores: colas, workers y notificador frente a los límites de Navitaire y de la PUI. Disparo desde el pipeline La suite se puede disparar desde el pipeline de CI/CD, según las herramientas, permisos y definición acordada con Viva. Umbrales de latencia y error para detectar degradaciones entre versiones. Cuándo Semana 4: carga sobre los endpoints de entrada, antes de liberar el iterable 1. Semana 6: flujo asíncrono completo, antes de liberar los iterables 4 y 5. $0 adicionales en este proyecto: las pruebas de desempeño se ejecutan dentro del plan de Celerabit que Viva ya tiene contratado. Integración PUI · Viva Aerobus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Pruebas de seguridad de las APIs: qué verificamos, qué entregamos y cuándo 1 Qué verificamos Autenticación: /login y tokens de Cognito alterados, vencidos o de otra audiencia. Autorización: cada scope solo llama a sus rutas. Datos expuestos: lo que sale hacia la PUI frente a la matriz aprobada por Legal. Entradas y errores: CURP y contrato mal formados, payloads excesivos y límites de tráfico, sin filtrar información en los errores. Privacidad: la CURP no aparece en logs, URLs ni errores. Controles de entrega: SAST, SCA, IaC y DAST en el pipeline desde el iterable 1. 2 Qué entregamos Informe de seguridad de las APIs: hallazgos clasificados por severidad según OWASP API Security Top 10. Evidencia de controles estáticos y validaciones dinámicas ejecutadas sobre las APIs. Evidencia reproducible y recomendación de corrección de cada hallazgo. Retest de las correcciones y versión final del informe. 3 Cuándo: en cada iterable Semanas 1 y 2: modelo de amenazas de las APIs, junto con el diseño. Semanas 3 y 4 · iterable 1: los 4 endpoints expuestos, DAST y endurecimiento, porque toda la superficie expuesta nace aquí. Semana 5 · iterable 2: datos enviados a la PUI frente a la matriz de Legal. Cada liberación: SAST, SCA y DAST sin hallazgos; informe consolidado y retest en las semanas 6 y 7. Pruebas sobre la solución, en ambiente de desarrollo y con datos sintéticos. El manual de la PUI exige que la URL base y los endpoints queden libres de vulnerabilidades críticas, altas, medias y bajas; por eso cada iterable pasa el DAST antes de liberarse. Fuera de alcance: pruebas de penetración de un tercero certificado; pruebas sobre la PUI, Navitaire u otros sistemas de terceros; y pruebas en Producción.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Dudas a resolver antes de iniciar 1 ¿Con qué herramientas se miden SAST, SCA y DAST? ¿Usamos el SonarQube de Viva? Si es así, ¿el equipo tendrá acceso al dashboard y a reglas actualizadas? ¿O hay otra herramienta corporativa? Si no la hay, ¿Viva acepta herramientas de código abierto? ¿Qué herramienta de DAST corre en el pipeline de liberación, y la PUI acepta sus reportes de Producción? Se necesita antes de arrancar el iterable 1: define su pipeline y el formato de los reportes que exige la PUI. 2 ¿Viva liberará cada iterable al aceptarlo? Sí (recomendado): la primera liberación es en la semana 5, las diferencias de ambiente aparecen temprano y cada liberación es pequeña y con reversa. Solo al final: funciona, pero todo el riesgo se concentra en la semana 8. ¿Y cuándo se conecta con la PUI: con las tres fases en Producción (recomendado) o antes, si la PUI lo permite? Define cuándo aparecen los riesgos de ambiente y cuándo opera Viva con la PUI. 3 ¿Qué herramientas de IaC y CI/CD usa Viva? Por defecto proponemos Terraform. ¿Viva lo tiene habilitado o exige otra herramienta (AWS CDK, CloudFormation/SAM)? ¿Dónde se guarda el estado y hay módulos o plantillas corporativas obligatorias? ¿El repositorio y el pipeline están en GitLab? Si es así, ¿GitLab CI puede desplegar con OIDC en cada cuenta de AWS? Se necesita el día 1: es lo primero que se construye en el iterable 1. Otras dudas abiertas. Con la PUI: si se puede certificar por partes o solo la solución completa; si hay que firmar el JSON de respuesta y qué significa «tokens no reutilizables»; si se envía /busqueda-finalizada cuando no hay fecha de desaparición; si el equipo de desarrollo tendrá cuenta propia de sandbox; y si exige pruebas de penetración de un tercero (en ese caso, Viva las contrata con su proveedor). Con Viva: si implementa la paginación de la lámina 9; quién recibe y atiende las alertas (y si van también a Datadog); y si el «soporte operativo» del diseño requiere continuidad después de las 2 semanas de soporte incluidas (lámina 19).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Términos y condiciones 1 Alcance Incluye los 5 iterables (láminas 3 a 6) y lo de la lámina 13, con acompañamiento a cada liberación y 2 semanas de soporte en Producción (lámina 19). No incluye construir la API interna ni el acceso a Navitaire, fotos y huellas, ni pruebas de penetración. La continuidad del soporte después de esas 2 semanas se cotiza aparte. 2 Ambientes Tech and Solve solo accede a desarrollo. Viva despliega QA y Producción con el pipeline entregado y puede liberar cada iterable al aceptarlo, desde la semana 5. Antes de la primera liberación, Viva certifica por escrito que QA y Producción son iguales a desarrollo salvo parámetros y secretos. Los ajustes por diferencias de ambiente se estiman como actividad nueva. 3 Dudas abiertas Las dudas de la lámina 17 se resuelven en las fechas que ahí se indican. El firmado del JSON ya está incluido; otra respuesta que cambie el alcance se estima como actividad adicional. Lo que requiere cada iterable antes de arrancar está en la lámina 8. 4 Tiempos y cambios Las 7 semanas cuentan desde que está listo lo que requieren el proyecto y el iterable 1 (lámina 8). Si lo que requiere un iterable no está listo antes de que arranque, ese iterable y la fecha final se corren el mismo tiempo. Cada iterable se libera cuando Viva lo acepta; la conexión con la PUI con las tres fases es, como pronto, en la semana 8 y depende de Viva y la PUI. Los cambios posteriores al inicio se estiman aparte. 5 Aceptación Viva acepta cada iterable antes de liberarlo y aprueba la aceptación final con el responsable funcional que designe. Las validaciones en QA, Producción o sandbox de la PUI las ejecuta Viva o la PUI, o se acompañan cuando habiliten los accesos. Defectos de la solución: se corrigen sin costo durante las 2 semanas de soporte. Fallas por cambios en contratos de la API interna o de la PUI: cambio de alcance, se cobra aparte. 6 Inversión Valor del proyecto: [PENDIENTE] Forma de pago, por ejemplo por iterable aceptado: [PENDIENTE] Continuidad del soporte después de las 2 semanas, si Viva la requiere: [PENDIENTE]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Soporte de 2 semanas después de liberar a Producción 1 Qué incluye Atención de incidentes y consultas sobre la solución. Diagnóstico con los logs, métricas y la bitácora que Viva comparta. Corrección de defectos y de nuevas vulnerabilidades en dependencias, con retest. Acompañamiento en los despliegues de corrección que ejecute Viva. 2 Cómo funciona Arranca con la liberación a Producción del último iterable y dura 2 semanas (semanas 8 y 9). Está incluido en el valor del proyecto. Cierra con un informe de lo atendido. Horario laboral normal, con respuesta en las siguientes 24 horas. 3 Qué no incluye Operación 24×7 ni guardias. Acceso o despliegues directos en QA y Producción: los ejecuta Viva. Funcionalidades nuevas: se estiman aparte. Adaptaciones por cambios en los contratos de la API interna o de la PUI: son cambios de alcance y se cobran aparte. Después de las 2 semanas: si Viva requiere continuidad, el soporte se acuerda y se cotiza aparte del proyecto. Integración PUI · Viva Aerobus · Contratos según el Manual Técnico de la PUI para Instituciones Diversas v1.0 (DOF, 23/01/2026)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0265"/>
        </a:solidFill>
        <a:effectLst/>
      </p:bgPr>
    </p:bg>
    <p:spTree>
      <p:nvGrpSpPr>
        <p:cNvPr id="1" name=""/>
        <p:cNvGrpSpPr/>
        <p:nvPr/>
      </p:nvGrpSpPr>
      <p:grpSpPr/>
      <p:sp>
        <p:nvSpPr>
          <p:cNvPr id="2" name="Title 1"/>
          <p:cNvSpPr>
            <a:spLocks noGrp="1"/>
          </p:cNvSpPr>
          <p:nvPr>
            <p:ph type="title"/>
          </p:nvPr>
        </p:nvSpPr>
        <p:spPr>
          <a:xfrm>
            <a:off x="731501" y="2112851"/>
            <a:ext cx="9509522" cy="1371600"/>
          </a:xfrm>
        </p:spPr>
        <p:txBody>
          <a:bodyPr lIns="0" rIns="0" tIns="0" bIns="0" anchor="t" wrap="square">
            <a:noAutofit/>
          </a:bodyPr>
          <a:lstStyle/>
          <a:p>
            <a:pPr algn="l">
              <a:lnSpc>
                <a:spcPts val="3974"/>
              </a:lnSpc>
              <a:spcBef>
                <a:spcPts val="0"/>
              </a:spcBef>
              <a:spcAft>
                <a:spcPts val="0"/>
              </a:spcAft>
              <a:buNone/>
            </a:pPr>
            <a:r>
              <a:rPr sz="3460" b="1" i="0">
                <a:solidFill>
                  <a:srgbClr val="FFFFFF"/>
                </a:solidFill>
                <a:latin typeface="Arial"/>
                <a:cs typeface="Arial"/>
              </a:rPr>
              <a:t>Integración con la Plataforma Única de Identidad </a:t>
            </a:r>
            <a:r>
              <a:rPr sz="3460" b="1" i="0">
                <a:solidFill>
                  <a:srgbClr val="22D0FF"/>
                </a:solidFill>
                <a:highlight>
                  <a:srgbClr val="5300DF"/>
                </a:highlight>
                <a:latin typeface="Arial"/>
                <a:cs typeface="Arial"/>
              </a:rPr>
              <a:t>(PUI)</a:t>
            </a:r>
            <a:r>
              <a:rPr sz="3460" b="1" i="0">
                <a:solidFill>
                  <a:srgbClr val="FFFFFF"/>
                </a:solidFill>
                <a:latin typeface="Arial"/>
                <a:cs typeface="Arial"/>
              </a:rPr>
              <a:t> en AWS, entregada por iterables de valor</a:t>
            </a:r>
          </a:p>
        </p:txBody>
      </p:sp>
      <p:pic>
        <p:nvPicPr>
          <p:cNvPr id="3" name="Picture 2" descr="logo_white.png"/>
          <p:cNvPicPr>
            <a:picLocks noChangeAspect="1"/>
          </p:cNvPicPr>
          <p:nvPr/>
        </p:nvPicPr>
        <p:blipFill>
          <a:blip r:embed="rId2"/>
          <a:stretch>
            <a:fillRect/>
          </a:stretch>
        </p:blipFill>
        <p:spPr>
          <a:xfrm>
            <a:off x="731501" y="609584"/>
            <a:ext cx="1584920" cy="860149"/>
          </a:xfrm>
          <a:prstGeom prst="rect">
            <a:avLst/>
          </a:prstGeom>
        </p:spPr>
      </p:pic>
      <p:sp>
        <p:nvSpPr>
          <p:cNvPr id="4" name="Antetítulo"/>
          <p:cNvSpPr txBox="1"/>
          <p:nvPr/>
        </p:nvSpPr>
        <p:spPr>
          <a:xfrm>
            <a:off x="731501" y="1762334"/>
            <a:ext cx="8229600" cy="228600"/>
          </a:xfrm>
          <a:prstGeom prst="rect">
            <a:avLst/>
          </a:prstGeom>
          <a:noFill/>
        </p:spPr>
        <p:txBody>
          <a:bodyPr wrap="square" lIns="0" rIns="0" tIns="0" bIns="0" anchor="t">
            <a:noAutofit/>
          </a:bodyPr>
          <a:lstStyle/>
          <a:p>
            <a:pPr algn="l">
              <a:lnSpc>
                <a:spcPts val="1520"/>
              </a:lnSpc>
              <a:spcBef>
                <a:spcPts val="0"/>
              </a:spcBef>
              <a:spcAft>
                <a:spcPts val="0"/>
              </a:spcAft>
              <a:buNone/>
            </a:pPr>
            <a:r>
              <a:rPr sz="1150" b="1" i="0" spc="150">
                <a:solidFill>
                  <a:srgbClr val="EBEBFF"/>
                </a:solidFill>
                <a:latin typeface="Arial"/>
                <a:cs typeface="Arial"/>
              </a:rPr>
              <a:t>PROPUESTA TÉCNICA Y COMERCIAL · VIVA AEROBUS</a:t>
            </a:r>
          </a:p>
        </p:txBody>
      </p:sp>
      <p:sp>
        <p:nvSpPr>
          <p:cNvPr id="5" name="Resumen"/>
          <p:cNvSpPr txBox="1"/>
          <p:nvPr/>
        </p:nvSpPr>
        <p:spPr>
          <a:xfrm>
            <a:off x="731501" y="3822165"/>
            <a:ext cx="8534186" cy="1414272"/>
          </a:xfrm>
          <a:prstGeom prst="rect">
            <a:avLst/>
          </a:prstGeom>
          <a:noFill/>
        </p:spPr>
        <p:txBody>
          <a:bodyPr wrap="square" lIns="0" rIns="0" tIns="0" bIns="0" anchor="t">
            <a:noAutofit/>
          </a:bodyPr>
          <a:lstStyle/>
          <a:p>
            <a:pPr algn="l">
              <a:lnSpc>
                <a:spcPts val="2227"/>
              </a:lnSpc>
              <a:spcBef>
                <a:spcPts val="0"/>
              </a:spcBef>
              <a:spcAft>
                <a:spcPts val="0"/>
              </a:spcAft>
              <a:buNone/>
            </a:pPr>
            <a:r>
              <a:rPr sz="1540" b="0" i="0">
                <a:solidFill>
                  <a:srgbClr val="EBEBFF"/>
                </a:solidFill>
                <a:latin typeface="Arial"/>
                <a:cs typeface="Arial"/>
              </a:rPr>
              <a:t>Cinco entregas que se pueden liberar a Producción por sí solas: primero la PUI registra sus casos, luego encontramos y notificamos coincidencias, después buscamos hacia atrás, vigilamos y aseguramos que nada se pierda. Siete semanas de construcción con trabajo en paralelo, gestionadas por un Scrum Master, con infraestructura como código y pruebas dentro de cada iterable.</a:t>
            </a:r>
          </a:p>
        </p:txBody>
      </p:sp>
      <p:sp>
        <p:nvSpPr>
          <p:cNvPr id="6" name="Pie de portada"/>
          <p:cNvSpPr txBox="1"/>
          <p:nvPr/>
        </p:nvSpPr>
        <p:spPr>
          <a:xfrm>
            <a:off x="731501" y="5864367"/>
            <a:ext cx="4572000" cy="384048"/>
          </a:xfrm>
          <a:prstGeom prst="rect">
            <a:avLst/>
          </a:prstGeom>
          <a:noFill/>
        </p:spPr>
        <p:txBody>
          <a:bodyPr wrap="square" lIns="0" rIns="0" tIns="0" bIns="0" anchor="b">
            <a:noAutofit/>
          </a:bodyPr>
          <a:lstStyle/>
          <a:p>
            <a:pPr algn="l">
              <a:lnSpc>
                <a:spcPts val="1425"/>
              </a:lnSpc>
              <a:spcBef>
                <a:spcPts val="0"/>
              </a:spcBef>
              <a:spcAft>
                <a:spcPts val="0"/>
              </a:spcAft>
              <a:buNone/>
            </a:pPr>
            <a:r>
              <a:rPr sz="1060" b="0" i="0">
                <a:solidFill>
                  <a:srgbClr val="EBEBFF"/>
                </a:solidFill>
                <a:latin typeface="Arial"/>
                <a:cs typeface="Arial"/>
              </a:rPr>
              <a:t>Viva Aerobus · Integración PUI</a:t>
            </a:r>
            <a:br/>
            <a:r>
              <a:rPr sz="1060" b="0" i="0">
                <a:solidFill>
                  <a:srgbClr val="EBEBFF"/>
                </a:solidFill>
                <a:latin typeface="Arial"/>
                <a:cs typeface="Arial"/>
              </a:rPr>
              <a:t>Propuesta técnica y comercial</a:t>
            </a:r>
          </a:p>
        </p:txBody>
      </p:sp>
      <p:sp>
        <p:nvSpPr>
          <p:cNvPr id="7" name="Pie de portada"/>
          <p:cNvSpPr txBox="1"/>
          <p:nvPr/>
        </p:nvSpPr>
        <p:spPr>
          <a:xfrm>
            <a:off x="6888193" y="5864367"/>
            <a:ext cx="4572000" cy="384048"/>
          </a:xfrm>
          <a:prstGeom prst="rect">
            <a:avLst/>
          </a:prstGeom>
          <a:noFill/>
        </p:spPr>
        <p:txBody>
          <a:bodyPr wrap="square" lIns="0" rIns="0" tIns="0" bIns="0" anchor="b">
            <a:noAutofit/>
          </a:bodyPr>
          <a:lstStyle/>
          <a:p>
            <a:pPr algn="r">
              <a:lnSpc>
                <a:spcPts val="1425"/>
              </a:lnSpc>
              <a:spcBef>
                <a:spcPts val="0"/>
              </a:spcBef>
              <a:spcAft>
                <a:spcPts val="0"/>
              </a:spcAft>
              <a:buNone/>
            </a:pPr>
            <a:r>
              <a:rPr sz="1060" b="0" i="0">
                <a:solidFill>
                  <a:srgbClr val="EBEBFF"/>
                </a:solidFill>
                <a:latin typeface="Arial"/>
                <a:cs typeface="Arial"/>
              </a:rPr>
              <a:t>Tech and Solve · Octubre de 2026 · Versión 3</a:t>
            </a:r>
            <a:br/>
            <a:r>
              <a:rPr sz="1060" b="0" i="0">
                <a:solidFill>
                  <a:srgbClr val="EBEBFF"/>
                </a:solidFill>
                <a:latin typeface="Arial"/>
                <a:cs typeface="Arial"/>
              </a:rPr>
              <a:t>Documento confidencial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Así entendemos la interacción: la PUI, </a:t>
            </a:r>
            <a:r>
              <a:rPr sz="2400" b="1" i="0">
                <a:solidFill>
                  <a:srgbClr val="5300DF"/>
                </a:solidFill>
                <a:latin typeface="Arial"/>
                <a:cs typeface="Arial"/>
              </a:rPr>
              <a:t>nuestra solución</a:t>
            </a:r>
            <a:r>
              <a:rPr sz="2400" b="1" i="0">
                <a:solidFill>
                  <a:srgbClr val="280265"/>
                </a:solidFill>
                <a:latin typeface="Arial"/>
                <a:cs typeface="Arial"/>
              </a:rPr>
              <a:t> y la API interna de Viva</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2</a:t>
            </a:r>
          </a:p>
        </p:txBody>
      </p:sp>
      <p:sp>
        <p:nvSpPr>
          <p:cNvPr id="6" name="Caja PUI"/>
          <p:cNvSpPr/>
          <p:nvPr/>
        </p:nvSpPr>
        <p:spPr>
          <a:xfrm>
            <a:off x="591419" y="1516279"/>
            <a:ext cx="2301182" cy="2669371"/>
          </a:xfrm>
          <a:prstGeom prst="roundRect">
            <a:avLst>
              <a:gd name="adj" fmla="val 6357"/>
            </a:avLst>
          </a:prstGeom>
          <a:noFill/>
          <a:ln w="22860">
            <a:solidFill>
              <a:srgbClr val="28026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8970" y="1328963"/>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1" i="0" spc="100">
                <a:solidFill>
                  <a:srgbClr val="280265"/>
                </a:solidFill>
                <a:latin typeface="Arial"/>
                <a:cs typeface="Arial"/>
              </a:rPr>
              <a:t>PRECONDICIÓN</a:t>
            </a:r>
          </a:p>
        </p:txBody>
      </p:sp>
      <p:sp>
        <p:nvSpPr>
          <p:cNvPr id="8" name="TextBox 7"/>
          <p:cNvSpPr txBox="1"/>
          <p:nvPr/>
        </p:nvSpPr>
        <p:spPr>
          <a:xfrm>
            <a:off x="278970" y="1785978"/>
            <a:ext cx="2926080" cy="299153"/>
          </a:xfrm>
          <a:prstGeom prst="rect">
            <a:avLst/>
          </a:prstGeom>
          <a:noFill/>
        </p:spPr>
        <p:txBody>
          <a:bodyPr wrap="square" lIns="0" rIns="0" tIns="0" bIns="0" anchor="t">
            <a:noAutofit/>
          </a:bodyPr>
          <a:lstStyle/>
          <a:p>
            <a:pPr algn="ctr">
              <a:lnSpc>
                <a:spcPts val="1884"/>
              </a:lnSpc>
              <a:spcBef>
                <a:spcPts val="0"/>
              </a:spcBef>
              <a:spcAft>
                <a:spcPts val="0"/>
              </a:spcAft>
              <a:buNone/>
            </a:pPr>
            <a:r>
              <a:rPr sz="1880" b="1" i="0">
                <a:solidFill>
                  <a:srgbClr val="280265"/>
                </a:solidFill>
                <a:latin typeface="Arial"/>
                <a:cs typeface="Arial"/>
              </a:rPr>
              <a:t>PUI</a:t>
            </a:r>
          </a:p>
        </p:txBody>
      </p:sp>
      <p:sp>
        <p:nvSpPr>
          <p:cNvPr id="9" name="TextBox 8"/>
          <p:cNvSpPr txBox="1"/>
          <p:nvPr/>
        </p:nvSpPr>
        <p:spPr>
          <a:xfrm>
            <a:off x="278970" y="2121490"/>
            <a:ext cx="2926080" cy="172588"/>
          </a:xfrm>
          <a:prstGeom prst="rect">
            <a:avLst/>
          </a:prstGeom>
          <a:noFill/>
        </p:spPr>
        <p:txBody>
          <a:bodyPr wrap="square" lIns="0" rIns="0" tIns="0" bIns="0" anchor="t">
            <a:noAutofit/>
          </a:bodyPr>
          <a:lstStyle/>
          <a:p>
            <a:pPr algn="ctr">
              <a:lnSpc>
                <a:spcPts val="1087"/>
              </a:lnSpc>
              <a:spcBef>
                <a:spcPts val="0"/>
              </a:spcBef>
              <a:spcAft>
                <a:spcPts val="0"/>
              </a:spcAft>
              <a:buNone/>
            </a:pPr>
            <a:r>
              <a:rPr sz="1090" b="0" i="0">
                <a:solidFill>
                  <a:srgbClr val="000000"/>
                </a:solidFill>
                <a:latin typeface="Arial"/>
                <a:cs typeface="Arial"/>
              </a:rPr>
              <a:t>Plataforma de la autoridad</a:t>
            </a:r>
          </a:p>
        </p:txBody>
      </p:sp>
      <p:sp>
        <p:nvSpPr>
          <p:cNvPr id="10" name="TextBox 9"/>
          <p:cNvSpPr txBox="1"/>
          <p:nvPr/>
        </p:nvSpPr>
        <p:spPr>
          <a:xfrm>
            <a:off x="278970" y="2645700"/>
            <a:ext cx="2926080" cy="161082"/>
          </a:xfrm>
          <a:prstGeom prst="rect">
            <a:avLst/>
          </a:prstGeom>
          <a:noFill/>
        </p:spPr>
        <p:txBody>
          <a:bodyPr wrap="square" lIns="0" rIns="0" tIns="0" bIns="0" anchor="t">
            <a:noAutofit/>
          </a:bodyPr>
          <a:lstStyle/>
          <a:p>
            <a:pPr algn="ctr">
              <a:lnSpc>
                <a:spcPts val="1014"/>
              </a:lnSpc>
              <a:spcBef>
                <a:spcPts val="0"/>
              </a:spcBef>
              <a:spcAft>
                <a:spcPts val="0"/>
              </a:spcAft>
              <a:buNone/>
            </a:pPr>
            <a:r>
              <a:rPr sz="1010" b="0" i="0">
                <a:solidFill>
                  <a:srgbClr val="000000"/>
                </a:solidFill>
                <a:latin typeface="Arial"/>
                <a:cs typeface="Arial"/>
              </a:rPr>
              <a:t>Envía casos por CURP</a:t>
            </a:r>
          </a:p>
        </p:txBody>
      </p:sp>
      <p:sp>
        <p:nvSpPr>
          <p:cNvPr id="11" name="TextBox 10"/>
          <p:cNvSpPr txBox="1"/>
          <p:nvPr/>
        </p:nvSpPr>
        <p:spPr>
          <a:xfrm>
            <a:off x="278970" y="2866613"/>
            <a:ext cx="2926080" cy="161082"/>
          </a:xfrm>
          <a:prstGeom prst="rect">
            <a:avLst/>
          </a:prstGeom>
          <a:noFill/>
        </p:spPr>
        <p:txBody>
          <a:bodyPr wrap="square" lIns="0" rIns="0" tIns="0" bIns="0" anchor="t">
            <a:noAutofit/>
          </a:bodyPr>
          <a:lstStyle/>
          <a:p>
            <a:pPr algn="ctr">
              <a:lnSpc>
                <a:spcPts val="1014"/>
              </a:lnSpc>
              <a:spcBef>
                <a:spcPts val="0"/>
              </a:spcBef>
              <a:spcAft>
                <a:spcPts val="0"/>
              </a:spcAft>
              <a:buNone/>
            </a:pPr>
            <a:r>
              <a:rPr sz="1010" b="0" i="0">
                <a:solidFill>
                  <a:srgbClr val="000000"/>
                </a:solidFill>
                <a:latin typeface="Arial"/>
                <a:cs typeface="Arial"/>
              </a:rPr>
              <a:t>Recibe las coincidencias</a:t>
            </a:r>
          </a:p>
        </p:txBody>
      </p:sp>
      <p:sp>
        <p:nvSpPr>
          <p:cNvPr id="12" name="TextBox 11"/>
          <p:cNvSpPr txBox="1"/>
          <p:nvPr/>
        </p:nvSpPr>
        <p:spPr>
          <a:xfrm>
            <a:off x="278970" y="3482870"/>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Viva gestiona: registro</a:t>
            </a:r>
          </a:p>
        </p:txBody>
      </p:sp>
      <p:sp>
        <p:nvSpPr>
          <p:cNvPr id="13" name="TextBox 12"/>
          <p:cNvSpPr txBox="1"/>
          <p:nvPr/>
        </p:nvSpPr>
        <p:spPr>
          <a:xfrm>
            <a:off x="278970" y="3666965"/>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Llave MX y credenciales</a:t>
            </a:r>
          </a:p>
        </p:txBody>
      </p:sp>
      <p:sp>
        <p:nvSpPr>
          <p:cNvPr id="14" name="Caja API interna"/>
          <p:cNvSpPr/>
          <p:nvPr/>
        </p:nvSpPr>
        <p:spPr>
          <a:xfrm>
            <a:off x="9299093" y="1516279"/>
            <a:ext cx="2301182" cy="2669371"/>
          </a:xfrm>
          <a:prstGeom prst="roundRect">
            <a:avLst>
              <a:gd name="adj" fmla="val 6357"/>
            </a:avLst>
          </a:prstGeom>
          <a:noFill/>
          <a:ln w="22860">
            <a:solidFill>
              <a:srgbClr val="28026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86644" y="1328963"/>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1" i="0" spc="100">
                <a:solidFill>
                  <a:srgbClr val="280265"/>
                </a:solidFill>
                <a:latin typeface="Arial"/>
                <a:cs typeface="Arial"/>
              </a:rPr>
              <a:t>PRECONDICIÓN</a:t>
            </a:r>
          </a:p>
        </p:txBody>
      </p:sp>
      <p:sp>
        <p:nvSpPr>
          <p:cNvPr id="16" name="TextBox 15"/>
          <p:cNvSpPr txBox="1"/>
          <p:nvPr/>
        </p:nvSpPr>
        <p:spPr>
          <a:xfrm>
            <a:off x="8986644" y="1803467"/>
            <a:ext cx="2926080" cy="276141"/>
          </a:xfrm>
          <a:prstGeom prst="rect">
            <a:avLst/>
          </a:prstGeom>
          <a:noFill/>
        </p:spPr>
        <p:txBody>
          <a:bodyPr wrap="square" lIns="0" rIns="0" tIns="0" bIns="0" anchor="t">
            <a:noAutofit/>
          </a:bodyPr>
          <a:lstStyle/>
          <a:p>
            <a:pPr algn="ctr">
              <a:lnSpc>
                <a:spcPts val="1739"/>
              </a:lnSpc>
              <a:spcBef>
                <a:spcPts val="0"/>
              </a:spcBef>
              <a:spcAft>
                <a:spcPts val="0"/>
              </a:spcAft>
              <a:buNone/>
            </a:pPr>
            <a:r>
              <a:rPr sz="1739" b="1" i="0">
                <a:solidFill>
                  <a:srgbClr val="280265"/>
                </a:solidFill>
                <a:latin typeface="Arial"/>
                <a:cs typeface="Arial"/>
              </a:rPr>
              <a:t>API interna</a:t>
            </a:r>
          </a:p>
        </p:txBody>
      </p:sp>
      <p:sp>
        <p:nvSpPr>
          <p:cNvPr id="17" name="TextBox 16"/>
          <p:cNvSpPr txBox="1"/>
          <p:nvPr/>
        </p:nvSpPr>
        <p:spPr>
          <a:xfrm>
            <a:off x="8986644" y="2121490"/>
            <a:ext cx="2926080" cy="172588"/>
          </a:xfrm>
          <a:prstGeom prst="rect">
            <a:avLst/>
          </a:prstGeom>
          <a:noFill/>
        </p:spPr>
        <p:txBody>
          <a:bodyPr wrap="square" lIns="0" rIns="0" tIns="0" bIns="0" anchor="t">
            <a:noAutofit/>
          </a:bodyPr>
          <a:lstStyle/>
          <a:p>
            <a:pPr algn="ctr">
              <a:lnSpc>
                <a:spcPts val="1087"/>
              </a:lnSpc>
              <a:spcBef>
                <a:spcPts val="0"/>
              </a:spcBef>
              <a:spcAft>
                <a:spcPts val="0"/>
              </a:spcAft>
              <a:buNone/>
            </a:pPr>
            <a:r>
              <a:rPr sz="1090" b="0" i="0">
                <a:solidFill>
                  <a:srgbClr val="000000"/>
                </a:solidFill>
                <a:latin typeface="Arial"/>
                <a:cs typeface="Arial"/>
              </a:rPr>
              <a:t>Core de Viva</a:t>
            </a:r>
          </a:p>
        </p:txBody>
      </p:sp>
      <p:sp>
        <p:nvSpPr>
          <p:cNvPr id="18" name="TextBox 17"/>
          <p:cNvSpPr txBox="1"/>
          <p:nvPr/>
        </p:nvSpPr>
        <p:spPr>
          <a:xfrm>
            <a:off x="8986644" y="2654444"/>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POST /v1/person-records</a:t>
            </a:r>
          </a:p>
        </p:txBody>
      </p:sp>
      <p:sp>
        <p:nvSpPr>
          <p:cNvPr id="19" name="TextBox 18"/>
          <p:cNvSpPr txBox="1"/>
          <p:nvPr/>
        </p:nvSpPr>
        <p:spPr>
          <a:xfrm>
            <a:off x="8986644" y="2820129"/>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/search</a:t>
            </a:r>
          </a:p>
        </p:txBody>
      </p:sp>
      <p:sp>
        <p:nvSpPr>
          <p:cNvPr id="20" name="TextBox 19"/>
          <p:cNvSpPr txBox="1"/>
          <p:nvPr/>
        </p:nvSpPr>
        <p:spPr>
          <a:xfrm>
            <a:off x="8986644" y="3298775"/>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Reservaciones (Navitaire)</a:t>
            </a:r>
          </a:p>
        </p:txBody>
      </p:sp>
      <p:sp>
        <p:nvSpPr>
          <p:cNvPr id="21" name="TextBox 20"/>
          <p:cNvSpPr txBox="1"/>
          <p:nvPr/>
        </p:nvSpPr>
        <p:spPr>
          <a:xfrm>
            <a:off x="8986644" y="3482870"/>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y Recursos Humanos</a:t>
            </a:r>
          </a:p>
        </p:txBody>
      </p:sp>
      <p:sp>
        <p:nvSpPr>
          <p:cNvPr id="22" name="TextBox 21"/>
          <p:cNvSpPr txBox="1"/>
          <p:nvPr/>
        </p:nvSpPr>
        <p:spPr>
          <a:xfrm>
            <a:off x="8986644" y="3851059"/>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000000"/>
                </a:solidFill>
                <a:latin typeface="Arial"/>
                <a:cs typeface="Arial"/>
              </a:rPr>
              <a:t>La construye Viva</a:t>
            </a:r>
          </a:p>
        </p:txBody>
      </p:sp>
      <p:sp>
        <p:nvSpPr>
          <p:cNvPr id="23" name="Solución Tech and Solve"/>
          <p:cNvSpPr/>
          <p:nvPr/>
        </p:nvSpPr>
        <p:spPr>
          <a:xfrm>
            <a:off x="4365358" y="1516279"/>
            <a:ext cx="3460978" cy="2669371"/>
          </a:xfrm>
          <a:prstGeom prst="roundRect">
            <a:avLst>
              <a:gd name="adj" fmla="val 5480"/>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2807" y="1673680"/>
            <a:ext cx="2926080" cy="253130"/>
          </a:xfrm>
          <a:prstGeom prst="rect">
            <a:avLst/>
          </a:prstGeom>
          <a:noFill/>
        </p:spPr>
        <p:txBody>
          <a:bodyPr wrap="square" lIns="0" rIns="0" tIns="0" bIns="0" anchor="t">
            <a:noAutofit/>
          </a:bodyPr>
          <a:lstStyle/>
          <a:p>
            <a:pPr algn="ctr">
              <a:lnSpc>
                <a:spcPts val="1594"/>
              </a:lnSpc>
              <a:spcBef>
                <a:spcPts val="0"/>
              </a:spcBef>
              <a:spcAft>
                <a:spcPts val="0"/>
              </a:spcAft>
              <a:buNone/>
            </a:pPr>
            <a:r>
              <a:rPr sz="1590" b="1" i="0">
                <a:solidFill>
                  <a:srgbClr val="FFFFFF"/>
                </a:solidFill>
                <a:latin typeface="Arial"/>
                <a:cs typeface="Arial"/>
              </a:rPr>
              <a:t>Solución Tech and Solve</a:t>
            </a:r>
          </a:p>
        </p:txBody>
      </p:sp>
      <p:sp>
        <p:nvSpPr>
          <p:cNvPr id="25" name="TextBox 24"/>
          <p:cNvSpPr txBox="1"/>
          <p:nvPr/>
        </p:nvSpPr>
        <p:spPr>
          <a:xfrm>
            <a:off x="4632807" y="1964550"/>
            <a:ext cx="2926080" cy="161082"/>
          </a:xfrm>
          <a:prstGeom prst="rect">
            <a:avLst/>
          </a:prstGeom>
          <a:noFill/>
        </p:spPr>
        <p:txBody>
          <a:bodyPr wrap="square" lIns="0" rIns="0" tIns="0" bIns="0" anchor="t">
            <a:noAutofit/>
          </a:bodyPr>
          <a:lstStyle/>
          <a:p>
            <a:pPr algn="ctr">
              <a:lnSpc>
                <a:spcPts val="1014"/>
              </a:lnSpc>
              <a:spcBef>
                <a:spcPts val="0"/>
              </a:spcBef>
              <a:spcAft>
                <a:spcPts val="0"/>
              </a:spcAft>
              <a:buNone/>
            </a:pPr>
            <a:r>
              <a:rPr sz="1010" b="0" i="0">
                <a:solidFill>
                  <a:srgbClr val="EBEBFF"/>
                </a:solidFill>
                <a:latin typeface="Arial"/>
                <a:cs typeface="Arial"/>
              </a:rPr>
              <a:t>AWS serverless · alcance de esta propuesta</a:t>
            </a:r>
          </a:p>
        </p:txBody>
      </p:sp>
      <p:sp>
        <p:nvSpPr>
          <p:cNvPr id="26" name="Rounded Rectangle 25"/>
          <p:cNvSpPr/>
          <p:nvPr/>
        </p:nvSpPr>
        <p:spPr>
          <a:xfrm>
            <a:off x="4623090" y="2252658"/>
            <a:ext cx="2945513" cy="312960"/>
          </a:xfrm>
          <a:prstGeom prst="roundRect">
            <a:avLst>
              <a:gd name="adj" fmla="val 2337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ts val="1014"/>
              </a:lnSpc>
              <a:spcBef>
                <a:spcPts val="0"/>
              </a:spcBef>
              <a:spcAft>
                <a:spcPts val="0"/>
              </a:spcAft>
              <a:buNone/>
            </a:pPr>
            <a:r>
              <a:rPr sz="1010" b="1" i="0">
                <a:solidFill>
                  <a:srgbClr val="280265"/>
                </a:solidFill>
                <a:latin typeface="Arial"/>
                <a:cs typeface="Arial"/>
              </a:rPr>
              <a:t>WAF + API Gateway + Cognito</a:t>
            </a:r>
          </a:p>
        </p:txBody>
      </p:sp>
      <p:sp>
        <p:nvSpPr>
          <p:cNvPr id="27" name="Rounded Rectangle 26"/>
          <p:cNvSpPr/>
          <p:nvPr/>
        </p:nvSpPr>
        <p:spPr>
          <a:xfrm>
            <a:off x="4623090" y="2639257"/>
            <a:ext cx="2945513" cy="312960"/>
          </a:xfrm>
          <a:prstGeom prst="roundRect">
            <a:avLst>
              <a:gd name="adj" fmla="val 2337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ts val="1014"/>
              </a:lnSpc>
              <a:spcBef>
                <a:spcPts val="0"/>
              </a:spcBef>
              <a:spcAft>
                <a:spcPts val="0"/>
              </a:spcAft>
              <a:buNone/>
            </a:pPr>
            <a:r>
              <a:rPr sz="1010" b="1" i="0">
                <a:solidFill>
                  <a:srgbClr val="280265"/>
                </a:solidFill>
                <a:latin typeface="Arial"/>
                <a:cs typeface="Arial"/>
              </a:rPr>
              <a:t>Lambdas Node.js · motor de 3 fases</a:t>
            </a:r>
          </a:p>
        </p:txBody>
      </p:sp>
      <p:sp>
        <p:nvSpPr>
          <p:cNvPr id="28" name="Rounded Rectangle 27"/>
          <p:cNvSpPr/>
          <p:nvPr/>
        </p:nvSpPr>
        <p:spPr>
          <a:xfrm>
            <a:off x="4623090" y="3025855"/>
            <a:ext cx="2945513" cy="312960"/>
          </a:xfrm>
          <a:prstGeom prst="roundRect">
            <a:avLst>
              <a:gd name="adj" fmla="val 2337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ts val="1014"/>
              </a:lnSpc>
              <a:spcBef>
                <a:spcPts val="0"/>
              </a:spcBef>
              <a:spcAft>
                <a:spcPts val="0"/>
              </a:spcAft>
              <a:buNone/>
            </a:pPr>
            <a:r>
              <a:rPr sz="1010" b="1" i="0">
                <a:solidFill>
                  <a:srgbClr val="280265"/>
                </a:solidFill>
                <a:latin typeface="Arial"/>
                <a:cs typeface="Arial"/>
              </a:rPr>
              <a:t>DynamoDB + SQS/DLQ + EventBridge</a:t>
            </a:r>
          </a:p>
        </p:txBody>
      </p:sp>
      <p:sp>
        <p:nvSpPr>
          <p:cNvPr id="29" name="Rounded Rectangle 28"/>
          <p:cNvSpPr/>
          <p:nvPr/>
        </p:nvSpPr>
        <p:spPr>
          <a:xfrm>
            <a:off x="4623090" y="3412454"/>
            <a:ext cx="2945513" cy="312960"/>
          </a:xfrm>
          <a:prstGeom prst="roundRect">
            <a:avLst>
              <a:gd name="adj" fmla="val 2337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ts val="1014"/>
              </a:lnSpc>
              <a:spcBef>
                <a:spcPts val="0"/>
              </a:spcBef>
              <a:spcAft>
                <a:spcPts val="0"/>
              </a:spcAft>
              <a:buNone/>
            </a:pPr>
            <a:r>
              <a:rPr sz="1010" b="1" i="0">
                <a:solidFill>
                  <a:srgbClr val="280265"/>
                </a:solidFill>
                <a:latin typeface="Arial"/>
                <a:cs typeface="Arial"/>
              </a:rPr>
              <a:t>KMS · Secrets Manager · CloudWatch</a:t>
            </a:r>
          </a:p>
        </p:txBody>
      </p:sp>
      <p:sp>
        <p:nvSpPr>
          <p:cNvPr id="30" name="TextBox 29"/>
          <p:cNvSpPr txBox="1"/>
          <p:nvPr/>
        </p:nvSpPr>
        <p:spPr>
          <a:xfrm>
            <a:off x="4632807" y="3887878"/>
            <a:ext cx="2926080" cy="149576"/>
          </a:xfrm>
          <a:prstGeom prst="rect">
            <a:avLst/>
          </a:prstGeom>
          <a:noFill/>
        </p:spPr>
        <p:txBody>
          <a:bodyPr wrap="square" lIns="0" rIns="0" tIns="0" bIns="0" anchor="t">
            <a:noAutofit/>
          </a:bodyPr>
          <a:lstStyle/>
          <a:p>
            <a:pPr algn="ctr">
              <a:lnSpc>
                <a:spcPts val="942"/>
              </a:lnSpc>
              <a:spcBef>
                <a:spcPts val="0"/>
              </a:spcBef>
              <a:spcAft>
                <a:spcPts val="0"/>
              </a:spcAft>
              <a:buNone/>
            </a:pPr>
            <a:r>
              <a:rPr sz="940" b="0" i="0">
                <a:solidFill>
                  <a:srgbClr val="EBEBFF"/>
                </a:solidFill>
                <a:latin typeface="Arial"/>
                <a:cs typeface="Arial"/>
              </a:rPr>
              <a:t>IaC + pipeline para desarrollo, QA y Producción</a:t>
            </a:r>
          </a:p>
        </p:txBody>
      </p:sp>
      <p:cxnSp>
        <p:nvCxnSpPr>
          <p:cNvPr id="31" name="Connector 30"/>
          <p:cNvCxnSpPr/>
          <p:nvPr/>
        </p:nvCxnSpPr>
        <p:spPr>
          <a:xfrm>
            <a:off x="2929420" y="2215839"/>
            <a:ext cx="1380710" cy="0"/>
          </a:xfrm>
          <a:prstGeom prst="line">
            <a:avLst/>
          </a:prstGeom>
          <a:ln w="22860">
            <a:solidFill>
              <a:srgbClr val="2802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481704" y="2077768"/>
            <a:ext cx="276141" cy="276141"/>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1014"/>
              </a:lnSpc>
              <a:spcBef>
                <a:spcPts val="0"/>
              </a:spcBef>
              <a:spcAft>
                <a:spcPts val="0"/>
              </a:spcAft>
              <a:buNone/>
            </a:pPr>
            <a:r>
              <a:rPr sz="1010" b="1" i="0">
                <a:solidFill>
                  <a:srgbClr val="FFFFFF"/>
                </a:solidFill>
                <a:latin typeface="Arial"/>
                <a:cs typeface="Arial"/>
              </a:rPr>
              <a:t>1</a:t>
            </a:r>
          </a:p>
        </p:txBody>
      </p:sp>
      <p:cxnSp>
        <p:nvCxnSpPr>
          <p:cNvPr id="33" name="Connector 32"/>
          <p:cNvCxnSpPr/>
          <p:nvPr/>
        </p:nvCxnSpPr>
        <p:spPr>
          <a:xfrm flipH="1">
            <a:off x="2947829" y="2952217"/>
            <a:ext cx="1380710" cy="0"/>
          </a:xfrm>
          <a:prstGeom prst="line">
            <a:avLst/>
          </a:prstGeom>
          <a:ln w="22860">
            <a:solidFill>
              <a:srgbClr val="2802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3500113" y="2814146"/>
            <a:ext cx="276141" cy="276141"/>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1014"/>
              </a:lnSpc>
              <a:spcBef>
                <a:spcPts val="0"/>
              </a:spcBef>
              <a:spcAft>
                <a:spcPts val="0"/>
              </a:spcAft>
              <a:buNone/>
            </a:pPr>
            <a:r>
              <a:rPr sz="1010" b="1" i="0">
                <a:solidFill>
                  <a:srgbClr val="FFFFFF"/>
                </a:solidFill>
                <a:latin typeface="Arial"/>
                <a:cs typeface="Arial"/>
              </a:rPr>
              <a:t>4</a:t>
            </a:r>
          </a:p>
        </p:txBody>
      </p:sp>
      <p:cxnSp>
        <p:nvCxnSpPr>
          <p:cNvPr id="35" name="Connector 34"/>
          <p:cNvCxnSpPr/>
          <p:nvPr/>
        </p:nvCxnSpPr>
        <p:spPr>
          <a:xfrm>
            <a:off x="2929420" y="3688596"/>
            <a:ext cx="1380710" cy="0"/>
          </a:xfrm>
          <a:prstGeom prst="line">
            <a:avLst/>
          </a:prstGeom>
          <a:ln w="22860">
            <a:solidFill>
              <a:srgbClr val="2802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481704" y="3550525"/>
            <a:ext cx="276141" cy="276141"/>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1014"/>
              </a:lnSpc>
              <a:spcBef>
                <a:spcPts val="0"/>
              </a:spcBef>
              <a:spcAft>
                <a:spcPts val="0"/>
              </a:spcAft>
              <a:buNone/>
            </a:pPr>
            <a:r>
              <a:rPr sz="1010" b="1" i="0">
                <a:solidFill>
                  <a:srgbClr val="FFFFFF"/>
                </a:solidFill>
                <a:latin typeface="Arial"/>
                <a:cs typeface="Arial"/>
              </a:rPr>
              <a:t>5</a:t>
            </a:r>
          </a:p>
        </p:txBody>
      </p:sp>
      <p:cxnSp>
        <p:nvCxnSpPr>
          <p:cNvPr id="37" name="Connector 36"/>
          <p:cNvCxnSpPr/>
          <p:nvPr/>
        </p:nvCxnSpPr>
        <p:spPr>
          <a:xfrm>
            <a:off x="7863155" y="2491981"/>
            <a:ext cx="1380710" cy="0"/>
          </a:xfrm>
          <a:prstGeom prst="line">
            <a:avLst/>
          </a:prstGeom>
          <a:ln w="22860">
            <a:solidFill>
              <a:srgbClr val="2802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8415439" y="2353910"/>
            <a:ext cx="276141" cy="276141"/>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1014"/>
              </a:lnSpc>
              <a:spcBef>
                <a:spcPts val="0"/>
              </a:spcBef>
              <a:spcAft>
                <a:spcPts val="0"/>
              </a:spcAft>
              <a:buNone/>
            </a:pPr>
            <a:r>
              <a:rPr sz="1010" b="1" i="0">
                <a:solidFill>
                  <a:srgbClr val="FFFFFF"/>
                </a:solidFill>
                <a:latin typeface="Arial"/>
                <a:cs typeface="Arial"/>
              </a:rPr>
              <a:t>2</a:t>
            </a:r>
          </a:p>
        </p:txBody>
      </p:sp>
      <p:cxnSp>
        <p:nvCxnSpPr>
          <p:cNvPr id="39" name="Connector 38"/>
          <p:cNvCxnSpPr/>
          <p:nvPr/>
        </p:nvCxnSpPr>
        <p:spPr>
          <a:xfrm flipH="1">
            <a:off x="7881565" y="3320407"/>
            <a:ext cx="1380709" cy="0"/>
          </a:xfrm>
          <a:prstGeom prst="line">
            <a:avLst/>
          </a:prstGeom>
          <a:ln w="22860">
            <a:solidFill>
              <a:srgbClr val="28026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433848" y="3182336"/>
            <a:ext cx="276141" cy="276141"/>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1014"/>
              </a:lnSpc>
              <a:spcBef>
                <a:spcPts val="0"/>
              </a:spcBef>
              <a:spcAft>
                <a:spcPts val="0"/>
              </a:spcAft>
              <a:buNone/>
            </a:pPr>
            <a:r>
              <a:rPr sz="1010" b="1" i="0">
                <a:solidFill>
                  <a:srgbClr val="FFFFFF"/>
                </a:solidFill>
                <a:latin typeface="Arial"/>
                <a:cs typeface="Arial"/>
              </a:rPr>
              <a:t>3</a:t>
            </a:r>
          </a:p>
        </p:txBody>
      </p:sp>
      <p:sp>
        <p:nvSpPr>
          <p:cNvPr id="41" name="Oval 40"/>
          <p:cNvSpPr/>
          <p:nvPr/>
        </p:nvSpPr>
        <p:spPr>
          <a:xfrm>
            <a:off x="573009" y="438998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42" name="TextBox 41"/>
          <p:cNvSpPr txBox="1"/>
          <p:nvPr/>
        </p:nvSpPr>
        <p:spPr>
          <a:xfrm>
            <a:off x="865617" y="4406077"/>
            <a:ext cx="5083929" cy="337962"/>
          </a:xfrm>
          <a:prstGeom prst="rect">
            <a:avLst/>
          </a:prstGeom>
          <a:noFill/>
        </p:spPr>
        <p:txBody>
          <a:bodyPr wrap="square" lIns="0" rIns="0" tIns="0" bIns="0" anchor="t">
            <a:noAutofit/>
          </a:bodyPr>
          <a:lstStyle/>
          <a:p>
            <a:pPr algn="l">
              <a:lnSpc>
                <a:spcPts val="1330"/>
              </a:lnSpc>
              <a:spcBef>
                <a:spcPts val="0"/>
              </a:spcBef>
              <a:spcAft>
                <a:spcPts val="0"/>
              </a:spcAft>
              <a:buNone/>
            </a:pPr>
            <a:r>
              <a:rPr sz="1010" b="1" i="0">
                <a:solidFill>
                  <a:srgbClr val="000000"/>
                </a:solidFill>
                <a:latin typeface="Arial"/>
                <a:cs typeface="Arial"/>
              </a:rPr>
              <a:t>Activa el caso.</a:t>
            </a:r>
            <a:r>
              <a:rPr sz="1010" b="0" i="0">
                <a:solidFill>
                  <a:srgbClr val="000000"/>
                </a:solidFill>
                <a:latin typeface="Arial"/>
                <a:cs typeface="Arial"/>
              </a:rPr>
              <a:t> La PUI se autentica en nuestro </a:t>
            </a:r>
            <a:r>
              <a:rPr sz="930" b="0" i="0">
                <a:solidFill>
                  <a:srgbClr val="000000"/>
                </a:solidFill>
                <a:latin typeface="Courier New"/>
                <a:cs typeface="Courier New"/>
              </a:rPr>
              <a:t>/login</a:t>
            </a:r>
            <a:r>
              <a:rPr sz="1010" b="0" i="0">
                <a:solidFill>
                  <a:srgbClr val="000000"/>
                </a:solidFill>
                <a:latin typeface="Arial"/>
                <a:cs typeface="Arial"/>
              </a:rPr>
              <a:t> y llama a </a:t>
            </a:r>
            <a:r>
              <a:rPr sz="930" b="0" i="0">
                <a:solidFill>
                  <a:srgbClr val="000000"/>
                </a:solidFill>
                <a:latin typeface="Courier New"/>
                <a:cs typeface="Courier New"/>
              </a:rPr>
              <a:t>/activar-reporte</a:t>
            </a:r>
            <a:r>
              <a:rPr sz="1010" b="0" i="0">
                <a:solidFill>
                  <a:srgbClr val="000000"/>
                </a:solidFill>
                <a:latin typeface="Arial"/>
                <a:cs typeface="Arial"/>
              </a:rPr>
              <a:t>; guardamos el caso con la CURP cifrada y respondemos de inmediato.</a:t>
            </a:r>
          </a:p>
        </p:txBody>
      </p:sp>
      <p:sp>
        <p:nvSpPr>
          <p:cNvPr id="43" name="Oval 42"/>
          <p:cNvSpPr/>
          <p:nvPr/>
        </p:nvSpPr>
        <p:spPr>
          <a:xfrm>
            <a:off x="6242147" y="438998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4</a:t>
            </a:r>
          </a:p>
        </p:txBody>
      </p:sp>
      <p:sp>
        <p:nvSpPr>
          <p:cNvPr id="44" name="TextBox 43"/>
          <p:cNvSpPr txBox="1"/>
          <p:nvPr/>
        </p:nvSpPr>
        <p:spPr>
          <a:xfrm>
            <a:off x="6534755" y="4406077"/>
            <a:ext cx="5083929" cy="337962"/>
          </a:xfrm>
          <a:prstGeom prst="rect">
            <a:avLst/>
          </a:prstGeom>
          <a:noFill/>
        </p:spPr>
        <p:txBody>
          <a:bodyPr wrap="square" lIns="0" rIns="0" tIns="0" bIns="0" anchor="t">
            <a:noAutofit/>
          </a:bodyPr>
          <a:lstStyle/>
          <a:p>
            <a:pPr algn="l">
              <a:lnSpc>
                <a:spcPts val="1330"/>
              </a:lnSpc>
              <a:spcBef>
                <a:spcPts val="0"/>
              </a:spcBef>
              <a:spcAft>
                <a:spcPts val="0"/>
              </a:spcAft>
              <a:buNone/>
            </a:pPr>
            <a:r>
              <a:rPr sz="1010" b="1" i="0">
                <a:solidFill>
                  <a:srgbClr val="000000"/>
                </a:solidFill>
                <a:latin typeface="Arial"/>
                <a:cs typeface="Arial"/>
              </a:rPr>
              <a:t>Reportamos.</a:t>
            </a:r>
            <a:r>
              <a:rPr sz="1010" b="0" i="0">
                <a:solidFill>
                  <a:srgbClr val="000000"/>
                </a:solidFill>
                <a:latin typeface="Arial"/>
                <a:cs typeface="Arial"/>
              </a:rPr>
              <a:t> Enviamos </a:t>
            </a:r>
            <a:r>
              <a:rPr sz="930" b="0" i="0">
                <a:solidFill>
                  <a:srgbClr val="000000"/>
                </a:solidFill>
                <a:latin typeface="Courier New"/>
                <a:cs typeface="Courier New"/>
              </a:rPr>
              <a:t>/notificar-coincidencia</a:t>
            </a:r>
            <a:r>
              <a:rPr sz="1010" b="0" i="0">
                <a:solidFill>
                  <a:srgbClr val="000000"/>
                </a:solidFill>
                <a:latin typeface="Arial"/>
                <a:cs typeface="Arial"/>
              </a:rPr>
              <a:t> con los datos que autorice Legal y cerramos el histórico con </a:t>
            </a:r>
            <a:r>
              <a:rPr sz="930" b="0" i="0">
                <a:solidFill>
                  <a:srgbClr val="000000"/>
                </a:solidFill>
                <a:latin typeface="Courier New"/>
                <a:cs typeface="Courier New"/>
              </a:rPr>
              <a:t>/busqueda-finalizada</a:t>
            </a:r>
            <a:r>
              <a:rPr sz="1010" b="0" i="0">
                <a:solidFill>
                  <a:srgbClr val="000000"/>
                </a:solidFill>
                <a:latin typeface="Arial"/>
                <a:cs typeface="Arial"/>
              </a:rPr>
              <a:t>.</a:t>
            </a:r>
          </a:p>
        </p:txBody>
      </p:sp>
      <p:sp>
        <p:nvSpPr>
          <p:cNvPr id="45" name="Oval 44"/>
          <p:cNvSpPr/>
          <p:nvPr/>
        </p:nvSpPr>
        <p:spPr>
          <a:xfrm>
            <a:off x="573009" y="478890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46" name="TextBox 45"/>
          <p:cNvSpPr txBox="1"/>
          <p:nvPr/>
        </p:nvSpPr>
        <p:spPr>
          <a:xfrm>
            <a:off x="865617" y="4804998"/>
            <a:ext cx="5083929" cy="337962"/>
          </a:xfrm>
          <a:prstGeom prst="rect">
            <a:avLst/>
          </a:prstGeom>
          <a:noFill/>
        </p:spPr>
        <p:txBody>
          <a:bodyPr wrap="square" lIns="0" rIns="0" tIns="0" bIns="0" anchor="t">
            <a:noAutofit/>
          </a:bodyPr>
          <a:lstStyle/>
          <a:p>
            <a:pPr algn="l">
              <a:lnSpc>
                <a:spcPts val="1330"/>
              </a:lnSpc>
              <a:spcBef>
                <a:spcPts val="0"/>
              </a:spcBef>
              <a:spcAft>
                <a:spcPts val="0"/>
              </a:spcAft>
              <a:buNone/>
            </a:pPr>
            <a:r>
              <a:rPr sz="1010" b="1" i="0">
                <a:solidFill>
                  <a:srgbClr val="000000"/>
                </a:solidFill>
                <a:latin typeface="Arial"/>
                <a:cs typeface="Arial"/>
              </a:rPr>
              <a:t>Buscamos la CURP.</a:t>
            </a:r>
            <a:r>
              <a:rPr sz="1010" b="0" i="0">
                <a:solidFill>
                  <a:srgbClr val="000000"/>
                </a:solidFill>
                <a:latin typeface="Arial"/>
                <a:cs typeface="Arial"/>
              </a:rPr>
              <a:t> Fase 1 sin fechas, fase 2 con ventana de hasta 12 años y fase 3 periódica mientras el caso siga activo.</a:t>
            </a:r>
          </a:p>
        </p:txBody>
      </p:sp>
      <p:sp>
        <p:nvSpPr>
          <p:cNvPr id="47" name="Oval 46"/>
          <p:cNvSpPr/>
          <p:nvPr/>
        </p:nvSpPr>
        <p:spPr>
          <a:xfrm>
            <a:off x="6242147" y="478890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5</a:t>
            </a:r>
          </a:p>
        </p:txBody>
      </p:sp>
      <p:sp>
        <p:nvSpPr>
          <p:cNvPr id="48" name="TextBox 47"/>
          <p:cNvSpPr txBox="1"/>
          <p:nvPr/>
        </p:nvSpPr>
        <p:spPr>
          <a:xfrm>
            <a:off x="6534755" y="4804998"/>
            <a:ext cx="5083929" cy="337962"/>
          </a:xfrm>
          <a:prstGeom prst="rect">
            <a:avLst/>
          </a:prstGeom>
          <a:noFill/>
        </p:spPr>
        <p:txBody>
          <a:bodyPr wrap="square" lIns="0" rIns="0" tIns="0" bIns="0" anchor="t">
            <a:noAutofit/>
          </a:bodyPr>
          <a:lstStyle/>
          <a:p>
            <a:pPr algn="l">
              <a:lnSpc>
                <a:spcPts val="1330"/>
              </a:lnSpc>
              <a:spcBef>
                <a:spcPts val="0"/>
              </a:spcBef>
              <a:spcAft>
                <a:spcPts val="0"/>
              </a:spcAft>
              <a:buNone/>
            </a:pPr>
            <a:r>
              <a:rPr sz="1010" b="1" i="0">
                <a:solidFill>
                  <a:srgbClr val="000000"/>
                </a:solidFill>
                <a:latin typeface="Arial"/>
                <a:cs typeface="Arial"/>
              </a:rPr>
              <a:t>Desactiva.</a:t>
            </a:r>
            <a:r>
              <a:rPr sz="1010" b="0" i="0">
                <a:solidFill>
                  <a:srgbClr val="000000"/>
                </a:solidFill>
                <a:latin typeface="Arial"/>
                <a:cs typeface="Arial"/>
              </a:rPr>
              <a:t> La PUI llama a </a:t>
            </a:r>
            <a:r>
              <a:rPr sz="930" b="0" i="0">
                <a:solidFill>
                  <a:srgbClr val="000000"/>
                </a:solidFill>
                <a:latin typeface="Courier New"/>
                <a:cs typeface="Courier New"/>
              </a:rPr>
              <a:t>/desactivar-reporte</a:t>
            </a:r>
            <a:r>
              <a:rPr sz="1010" b="0" i="0">
                <a:solidFill>
                  <a:srgbClr val="000000"/>
                </a:solidFill>
                <a:latin typeface="Arial"/>
                <a:cs typeface="Arial"/>
              </a:rPr>
              <a:t> y detenemos búsquedas y envíos del caso.</a:t>
            </a:r>
          </a:p>
        </p:txBody>
      </p:sp>
      <p:sp>
        <p:nvSpPr>
          <p:cNvPr id="49" name="Oval 48"/>
          <p:cNvSpPr/>
          <p:nvPr/>
        </p:nvSpPr>
        <p:spPr>
          <a:xfrm>
            <a:off x="573009" y="518782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
        <p:nvSpPr>
          <p:cNvPr id="50" name="TextBox 49"/>
          <p:cNvSpPr txBox="1"/>
          <p:nvPr/>
        </p:nvSpPr>
        <p:spPr>
          <a:xfrm>
            <a:off x="865617" y="5203918"/>
            <a:ext cx="5083929" cy="337962"/>
          </a:xfrm>
          <a:prstGeom prst="rect">
            <a:avLst/>
          </a:prstGeom>
          <a:noFill/>
        </p:spPr>
        <p:txBody>
          <a:bodyPr wrap="square" lIns="0" rIns="0" tIns="0" bIns="0" anchor="t">
            <a:noAutofit/>
          </a:bodyPr>
          <a:lstStyle/>
          <a:p>
            <a:pPr algn="l">
              <a:lnSpc>
                <a:spcPts val="1330"/>
              </a:lnSpc>
              <a:spcBef>
                <a:spcPts val="0"/>
              </a:spcBef>
              <a:spcAft>
                <a:spcPts val="0"/>
              </a:spcAft>
              <a:buNone/>
            </a:pPr>
            <a:r>
              <a:rPr sz="1010" b="1" i="0">
                <a:solidFill>
                  <a:srgbClr val="000000"/>
                </a:solidFill>
                <a:latin typeface="Arial"/>
                <a:cs typeface="Arial"/>
              </a:rPr>
              <a:t>La API interna responde</a:t>
            </a:r>
            <a:r>
              <a:rPr sz="1010" b="0" i="0">
                <a:solidFill>
                  <a:srgbClr val="000000"/>
                </a:solidFill>
                <a:latin typeface="Arial"/>
                <a:cs typeface="Arial"/>
              </a:rPr>
              <a:t> con la persona y sus eventos (reservación, check-in, abordaje, empleo).</a:t>
            </a:r>
          </a:p>
        </p:txBody>
      </p:sp>
      <p:sp>
        <p:nvSpPr>
          <p:cNvPr id="51" name="Nota"/>
          <p:cNvSpPr/>
          <p:nvPr/>
        </p:nvSpPr>
        <p:spPr>
          <a:xfrm>
            <a:off x="573009" y="5658329"/>
            <a:ext cx="11045675" cy="516935"/>
          </a:xfrm>
          <a:prstGeom prst="roundRect">
            <a:avLst>
              <a:gd name="adj" fmla="val 17688"/>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67"/>
              </a:lnSpc>
              <a:spcBef>
                <a:spcPts val="0"/>
              </a:spcBef>
              <a:spcAft>
                <a:spcPts val="0"/>
              </a:spcAft>
              <a:buNone/>
            </a:pPr>
            <a:r>
              <a:rPr sz="960" b="1" i="0">
                <a:solidFill>
                  <a:srgbClr val="000000"/>
                </a:solidFill>
                <a:latin typeface="Arial"/>
                <a:cs typeface="Arial"/>
              </a:rPr>
              <a:t>Las cajas punteadas son precondiciones.</a:t>
            </a:r>
            <a:r>
              <a:rPr sz="960" b="0" i="0">
                <a:solidFill>
                  <a:srgbClr val="000000"/>
                </a:solidFill>
                <a:latin typeface="Arial"/>
                <a:cs typeface="Arial"/>
              </a:rPr>
              <a:t> Con la entrega por iterables ya no hace falta tenerlas todas el primer día: cada iterable requiere lo suyo, listo antes de arrancarlo (lámina 8). La especificación v1.3 de la API interna es una buena base, pero le falta paginación por cursor y un token de sincronización para las fases 2 y 3 (lámina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Cinco iterables de valor: </a:t>
            </a:r>
            <a:r>
              <a:rPr sz="2400" b="1" i="0">
                <a:solidFill>
                  <a:srgbClr val="5300DF"/>
                </a:solidFill>
                <a:latin typeface="Arial"/>
                <a:cs typeface="Arial"/>
              </a:rPr>
              <a:t>cada uno se puede liberar a Producción</a:t>
            </a:r>
            <a:r>
              <a:rPr sz="2400" b="1" i="0">
                <a:solidFill>
                  <a:srgbClr val="280265"/>
                </a:solidFill>
                <a:latin typeface="Arial"/>
                <a:cs typeface="Arial"/>
              </a:rPr>
              <a:t> por sí solo</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3</a:t>
            </a:r>
          </a:p>
        </p:txBody>
      </p:sp>
      <p:sp>
        <p:nvSpPr>
          <p:cNvPr id="6" name="Nota"/>
          <p:cNvSpPr/>
          <p:nvPr/>
        </p:nvSpPr>
        <p:spPr>
          <a:xfrm>
            <a:off x="573009" y="5632579"/>
            <a:ext cx="11045675" cy="542685"/>
          </a:xfrm>
          <a:prstGeom prst="roundRect">
            <a:avLst>
              <a:gd name="adj" fmla="val 16849"/>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368"/>
              </a:lnSpc>
              <a:spcBef>
                <a:spcPts val="0"/>
              </a:spcBef>
              <a:spcAft>
                <a:spcPts val="0"/>
              </a:spcAft>
              <a:buNone/>
            </a:pPr>
            <a:r>
              <a:rPr sz="1040" b="1" i="0">
                <a:solidFill>
                  <a:srgbClr val="000000"/>
                </a:solidFill>
                <a:latin typeface="Arial"/>
                <a:cs typeface="Arial"/>
              </a:rPr>
              <a:t>Ningún iterable deja nada para el final:</a:t>
            </a:r>
            <a:r>
              <a:rPr sz="1040" b="0" i="0">
                <a:solidFill>
                  <a:srgbClr val="000000"/>
                </a:solidFill>
                <a:latin typeface="Arial"/>
                <a:cs typeface="Arial"/>
              </a:rPr>
              <a:t> cada uno sale probado, seguro, auditado, monitoreado y desplegable con el pipeline, y Viva decide cuándo lo lleva a Producción. Recomendamos conectar con la PUI cuando las tres fases estén en Producción (iterable 4), porque el manual exige las tres; el iterable 5 refuerza la operación.</a:t>
            </a:r>
          </a:p>
        </p:txBody>
      </p:sp>
      <p:sp>
        <p:nvSpPr>
          <p:cNvPr id="7" name="Iterable 1"/>
          <p:cNvSpPr/>
          <p:nvPr/>
        </p:nvSpPr>
        <p:spPr>
          <a:xfrm>
            <a:off x="573009" y="1341086"/>
            <a:ext cx="3592486" cy="1993350"/>
          </a:xfrm>
          <a:prstGeom prst="roundRect">
            <a:avLst>
              <a:gd name="adj" fmla="val 550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Iterable 1 · liberable en la semana 4</a:t>
            </a:r>
          </a:p>
          <a:p>
            <a:pPr algn="l" marL="274320" indent="0">
              <a:lnSpc>
                <a:spcPts val="1464"/>
              </a:lnSpc>
              <a:spcBef>
                <a:spcPts val="0"/>
              </a:spcBef>
              <a:spcAft>
                <a:spcPts val="400"/>
              </a:spcAft>
              <a:buNone/>
            </a:pPr>
            <a:r>
              <a:rPr sz="1200" b="1" i="0">
                <a:solidFill>
                  <a:srgbClr val="280265"/>
                </a:solidFill>
                <a:latin typeface="Arial"/>
                <a:cs typeface="Arial"/>
              </a:rPr>
              <a:t>La PUI registra y da de baja sus casos</a:t>
            </a:r>
          </a:p>
          <a:p>
            <a:pPr algn="l">
              <a:lnSpc>
                <a:spcPts val="1330"/>
              </a:lnSpc>
              <a:spcBef>
                <a:spcPts val="0"/>
              </a:spcBef>
              <a:spcAft>
                <a:spcPts val="300"/>
              </a:spcAft>
              <a:buNone/>
            </a:pPr>
            <a:r>
              <a:rPr sz="1010" b="0" i="0">
                <a:solidFill>
                  <a:srgbClr val="000000"/>
                </a:solidFill>
                <a:latin typeface="Arial"/>
                <a:cs typeface="Arial"/>
              </a:rPr>
              <a:t>Se autentica, activa, prueba y desactiva reportes por CURP. Cada caso queda cifrado, sin duplicados y auditado desde la primera llamada.</a:t>
            </a:r>
          </a:p>
        </p:txBody>
      </p:sp>
      <p:sp>
        <p:nvSpPr>
          <p:cNvPr id="8" name="Iterable 1 · número"/>
          <p:cNvSpPr/>
          <p:nvPr/>
        </p:nvSpPr>
        <p:spPr>
          <a:xfrm>
            <a:off x="743693" y="167075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Iterable 2"/>
          <p:cNvSpPr/>
          <p:nvPr/>
        </p:nvSpPr>
        <p:spPr>
          <a:xfrm>
            <a:off x="4299604" y="1341086"/>
            <a:ext cx="3592486" cy="1993350"/>
          </a:xfrm>
          <a:prstGeom prst="roundRect">
            <a:avLst>
              <a:gd name="adj" fmla="val 550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Iterable 2 · liberable en la semana 5</a:t>
            </a:r>
          </a:p>
          <a:p>
            <a:pPr algn="l" marL="274320" indent="0">
              <a:lnSpc>
                <a:spcPts val="1464"/>
              </a:lnSpc>
              <a:spcBef>
                <a:spcPts val="0"/>
              </a:spcBef>
              <a:spcAft>
                <a:spcPts val="400"/>
              </a:spcAft>
              <a:buNone/>
            </a:pPr>
            <a:r>
              <a:rPr sz="1200" b="1" i="0">
                <a:solidFill>
                  <a:srgbClr val="280265"/>
                </a:solidFill>
                <a:latin typeface="Arial"/>
                <a:cs typeface="Arial"/>
              </a:rPr>
              <a:t>Encontramos lo más reciente y lo notificamos</a:t>
            </a:r>
          </a:p>
          <a:p>
            <a:pPr algn="l">
              <a:lnSpc>
                <a:spcPts val="1330"/>
              </a:lnSpc>
              <a:spcBef>
                <a:spcPts val="0"/>
              </a:spcBef>
              <a:spcAft>
                <a:spcPts val="300"/>
              </a:spcAft>
              <a:buNone/>
            </a:pPr>
            <a:r>
              <a:rPr sz="1010" b="0" i="0">
                <a:solidFill>
                  <a:srgbClr val="000000"/>
                </a:solidFill>
                <a:latin typeface="Arial"/>
                <a:cs typeface="Arial"/>
              </a:rPr>
              <a:t>Fase 1: buscamos la CURP en Reservaciones y Recursos Humanos y enviamos a la PUI la coincidencia, solo con los datos que aprueba Legal y con reintentos.</a:t>
            </a:r>
          </a:p>
        </p:txBody>
      </p:sp>
      <p:sp>
        <p:nvSpPr>
          <p:cNvPr id="10" name="Iterable 2 · número"/>
          <p:cNvSpPr/>
          <p:nvPr/>
        </p:nvSpPr>
        <p:spPr>
          <a:xfrm>
            <a:off x="4470288" y="167075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Iterable 3"/>
          <p:cNvSpPr/>
          <p:nvPr/>
        </p:nvSpPr>
        <p:spPr>
          <a:xfrm>
            <a:off x="8026199" y="1341086"/>
            <a:ext cx="3592486" cy="1993350"/>
          </a:xfrm>
          <a:prstGeom prst="roundRect">
            <a:avLst>
              <a:gd name="adj" fmla="val 550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Iterable 3 · liberable en la semana 6</a:t>
            </a:r>
          </a:p>
          <a:p>
            <a:pPr algn="l" marL="274320" indent="0">
              <a:lnSpc>
                <a:spcPts val="1464"/>
              </a:lnSpc>
              <a:spcBef>
                <a:spcPts val="0"/>
              </a:spcBef>
              <a:spcAft>
                <a:spcPts val="400"/>
              </a:spcAft>
              <a:buNone/>
            </a:pPr>
            <a:r>
              <a:rPr sz="1200" b="1" i="0">
                <a:solidFill>
                  <a:srgbClr val="280265"/>
                </a:solidFill>
                <a:latin typeface="Arial"/>
                <a:cs typeface="Arial"/>
              </a:rPr>
              <a:t>Buscamos hasta 12 años atrás y cerramos el histórico</a:t>
            </a:r>
          </a:p>
          <a:p>
            <a:pPr algn="l">
              <a:lnSpc>
                <a:spcPts val="1330"/>
              </a:lnSpc>
              <a:spcBef>
                <a:spcPts val="0"/>
              </a:spcBef>
              <a:spcAft>
                <a:spcPts val="300"/>
              </a:spcAft>
              <a:buNone/>
            </a:pPr>
            <a:r>
              <a:rPr sz="1010" b="0" i="0">
                <a:solidFill>
                  <a:srgbClr val="000000"/>
                </a:solidFill>
                <a:latin typeface="Arial"/>
                <a:cs typeface="Arial"/>
              </a:rPr>
              <a:t>Fase 2: cada vuelo, check-in, abordaje o empleo desde la fecha de desaparición se notifica por separado y se cierra con </a:t>
            </a:r>
            <a:r>
              <a:rPr sz="930" b="0" i="0">
                <a:solidFill>
                  <a:srgbClr val="000000"/>
                </a:solidFill>
                <a:latin typeface="Courier New"/>
                <a:cs typeface="Courier New"/>
              </a:rPr>
              <a:t>/busqueda-finalizada</a:t>
            </a:r>
            <a:r>
              <a:rPr sz="1010" b="0" i="0">
                <a:solidFill>
                  <a:srgbClr val="000000"/>
                </a:solidFill>
                <a:latin typeface="Arial"/>
                <a:cs typeface="Arial"/>
              </a:rPr>
              <a:t>.</a:t>
            </a:r>
          </a:p>
        </p:txBody>
      </p:sp>
      <p:sp>
        <p:nvSpPr>
          <p:cNvPr id="12" name="Iterable 3 · número"/>
          <p:cNvSpPr/>
          <p:nvPr/>
        </p:nvSpPr>
        <p:spPr>
          <a:xfrm>
            <a:off x="8196883" y="1670754"/>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
        <p:nvSpPr>
          <p:cNvPr id="13" name="Iterable 4"/>
          <p:cNvSpPr/>
          <p:nvPr/>
        </p:nvSpPr>
        <p:spPr>
          <a:xfrm>
            <a:off x="573009" y="3468545"/>
            <a:ext cx="3592486" cy="1993350"/>
          </a:xfrm>
          <a:prstGeom prst="roundRect">
            <a:avLst>
              <a:gd name="adj" fmla="val 550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Iterable 4 · liberable en la semana 7</a:t>
            </a:r>
          </a:p>
          <a:p>
            <a:pPr algn="l" marL="274320" indent="0">
              <a:lnSpc>
                <a:spcPts val="1464"/>
              </a:lnSpc>
              <a:spcBef>
                <a:spcPts val="0"/>
              </a:spcBef>
              <a:spcAft>
                <a:spcPts val="400"/>
              </a:spcAft>
              <a:buNone/>
            </a:pPr>
            <a:r>
              <a:rPr sz="1200" b="1" i="0">
                <a:solidFill>
                  <a:srgbClr val="280265"/>
                </a:solidFill>
                <a:latin typeface="Arial"/>
                <a:cs typeface="Arial"/>
              </a:rPr>
              <a:t>Seguimos vigilando mientras el caso esté activo</a:t>
            </a:r>
          </a:p>
          <a:p>
            <a:pPr algn="l">
              <a:lnSpc>
                <a:spcPts val="1330"/>
              </a:lnSpc>
              <a:spcBef>
                <a:spcPts val="0"/>
              </a:spcBef>
              <a:spcAft>
                <a:spcPts val="300"/>
              </a:spcAft>
              <a:buNone/>
            </a:pPr>
            <a:r>
              <a:rPr sz="1010" b="0" i="0">
                <a:solidFill>
                  <a:srgbClr val="000000"/>
                </a:solidFill>
                <a:latin typeface="Arial"/>
                <a:cs typeface="Arial"/>
              </a:rPr>
              <a:t>Fase 3: con la frecuencia que defina Viva, revisamos solo lo nuevo o modificado y lo notificamos, hasta que la PUI desactiva el caso.</a:t>
            </a:r>
          </a:p>
        </p:txBody>
      </p:sp>
      <p:sp>
        <p:nvSpPr>
          <p:cNvPr id="14" name="Iterable 4 · número"/>
          <p:cNvSpPr/>
          <p:nvPr/>
        </p:nvSpPr>
        <p:spPr>
          <a:xfrm>
            <a:off x="743693" y="3798213"/>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4</a:t>
            </a:r>
          </a:p>
        </p:txBody>
      </p:sp>
      <p:sp>
        <p:nvSpPr>
          <p:cNvPr id="15" name="Iterable 5"/>
          <p:cNvSpPr/>
          <p:nvPr/>
        </p:nvSpPr>
        <p:spPr>
          <a:xfrm>
            <a:off x="4299604" y="3468545"/>
            <a:ext cx="3592486" cy="1993350"/>
          </a:xfrm>
          <a:prstGeom prst="roundRect">
            <a:avLst>
              <a:gd name="adj" fmla="val 550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Iterable 5 · liberable en la semana 7</a:t>
            </a:r>
          </a:p>
          <a:p>
            <a:pPr algn="l" marL="274320" indent="0">
              <a:lnSpc>
                <a:spcPts val="1464"/>
              </a:lnSpc>
              <a:spcBef>
                <a:spcPts val="0"/>
              </a:spcBef>
              <a:spcAft>
                <a:spcPts val="400"/>
              </a:spcAft>
              <a:buNone/>
            </a:pPr>
            <a:r>
              <a:rPr sz="1200" b="1" i="0">
                <a:solidFill>
                  <a:srgbClr val="280265"/>
                </a:solidFill>
                <a:latin typeface="Arial"/>
                <a:cs typeface="Arial"/>
              </a:rPr>
              <a:t>Nada se pierde: conciliación y reproceso</a:t>
            </a:r>
          </a:p>
          <a:p>
            <a:pPr algn="l">
              <a:lnSpc>
                <a:spcPts val="1330"/>
              </a:lnSpc>
              <a:spcBef>
                <a:spcPts val="0"/>
              </a:spcBef>
              <a:spcAft>
                <a:spcPts val="300"/>
              </a:spcAft>
              <a:buNone/>
            </a:pPr>
            <a:r>
              <a:rPr sz="1010" b="0" i="0">
                <a:solidFill>
                  <a:srgbClr val="000000"/>
                </a:solidFill>
                <a:latin typeface="Arial"/>
                <a:cs typeface="Arial"/>
              </a:rPr>
              <a:t>Comparamos con </a:t>
            </a:r>
            <a:r>
              <a:rPr sz="930" b="0" i="0">
                <a:solidFill>
                  <a:srgbClr val="000000"/>
                </a:solidFill>
                <a:latin typeface="Courier New"/>
                <a:cs typeface="Courier New"/>
              </a:rPr>
              <a:t>/reportes</a:t>
            </a:r>
            <a:r>
              <a:rPr sz="1010" b="0" i="0">
                <a:solidFill>
                  <a:srgbClr val="000000"/>
                </a:solidFill>
                <a:latin typeface="Arial"/>
                <a:cs typeface="Arial"/>
              </a:rPr>
              <a:t> de la PUI, reprocesamos lo fallido con control y cerramos con la regresión y la aceptación final.</a:t>
            </a:r>
          </a:p>
        </p:txBody>
      </p:sp>
      <p:sp>
        <p:nvSpPr>
          <p:cNvPr id="16" name="Iterable 5 · número"/>
          <p:cNvSpPr/>
          <p:nvPr/>
        </p:nvSpPr>
        <p:spPr>
          <a:xfrm>
            <a:off x="4470288" y="3798213"/>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5</a:t>
            </a:r>
          </a:p>
        </p:txBody>
      </p:sp>
      <p:sp>
        <p:nvSpPr>
          <p:cNvPr id="17" name="Iterable 6"/>
          <p:cNvSpPr/>
          <p:nvPr/>
        </p:nvSpPr>
        <p:spPr>
          <a:xfrm>
            <a:off x="8026199" y="3468545"/>
            <a:ext cx="3592486" cy="1993350"/>
          </a:xfrm>
          <a:prstGeom prst="roundRect">
            <a:avLst>
              <a:gd name="adj" fmla="val 5504"/>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22D0FF"/>
                </a:solidFill>
                <a:latin typeface="Arial"/>
                <a:cs typeface="Arial"/>
              </a:rPr>
              <a:t>En todos los iterables</a:t>
            </a:r>
          </a:p>
          <a:p>
            <a:pPr algn="l">
              <a:lnSpc>
                <a:spcPts val="1464"/>
              </a:lnSpc>
              <a:spcBef>
                <a:spcPts val="0"/>
              </a:spcBef>
              <a:spcAft>
                <a:spcPts val="400"/>
              </a:spcAft>
              <a:buNone/>
            </a:pPr>
            <a:r>
              <a:rPr sz="1200" b="1" i="0">
                <a:solidFill>
                  <a:srgbClr val="FFFFFF"/>
                </a:solidFill>
                <a:latin typeface="Arial"/>
                <a:cs typeface="Arial"/>
              </a:rPr>
              <a:t>Lo que exige Producción</a:t>
            </a:r>
          </a:p>
          <a:p>
            <a:pPr algn="l">
              <a:lnSpc>
                <a:spcPts val="1330"/>
              </a:lnSpc>
              <a:spcBef>
                <a:spcPts val="0"/>
              </a:spcBef>
              <a:spcAft>
                <a:spcPts val="300"/>
              </a:spcAft>
              <a:buNone/>
            </a:pPr>
            <a:r>
              <a:rPr sz="1010" b="0" i="0">
                <a:solidFill>
                  <a:srgbClr val="FFFFFF"/>
                </a:solidFill>
                <a:latin typeface="Arial"/>
                <a:cs typeface="Arial"/>
              </a:rPr>
              <a:t>Pruebas y regresión, SAST, SCA y DAST, bitácora de auditoría, trazabilidad, métricas y alarmas, IaC con reversa, runbook y aceptación de Viva (lámina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Iterables 1 y 2: </a:t>
            </a:r>
            <a:r>
              <a:rPr sz="2400" b="1" i="0">
                <a:solidFill>
                  <a:srgbClr val="5300DF"/>
                </a:solidFill>
                <a:latin typeface="Arial"/>
                <a:cs typeface="Arial"/>
              </a:rPr>
              <a:t>recibir el caso</a:t>
            </a:r>
            <a:r>
              <a:rPr sz="2400" b="1" i="0">
                <a:solidFill>
                  <a:srgbClr val="280265"/>
                </a:solidFill>
                <a:latin typeface="Arial"/>
                <a:cs typeface="Arial"/>
              </a:rPr>
              <a:t> y reportar la primera coincidencia</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4</a:t>
            </a:r>
          </a:p>
        </p:txBody>
      </p:sp>
      <p:sp>
        <p:nvSpPr>
          <p:cNvPr id="6" name="Detalle 1"/>
          <p:cNvSpPr/>
          <p:nvPr/>
        </p:nvSpPr>
        <p:spPr>
          <a:xfrm>
            <a:off x="573009" y="1341086"/>
            <a:ext cx="5437496" cy="4834178"/>
          </a:xfrm>
          <a:prstGeom prst="roundRect">
            <a:avLst>
              <a:gd name="adj" fmla="val 2269"/>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140"/>
              </a:lnSpc>
              <a:spcBef>
                <a:spcPts val="0"/>
              </a:spcBef>
              <a:spcAft>
                <a:spcPts val="300"/>
              </a:spcAft>
              <a:buNone/>
            </a:pPr>
            <a:r>
              <a:rPr sz="860" b="1" i="0" spc="100">
                <a:solidFill>
                  <a:srgbClr val="5300DF"/>
                </a:solidFill>
                <a:latin typeface="Arial"/>
                <a:cs typeface="Arial"/>
              </a:rPr>
              <a:t>Iterable 1 · semanas 1 a 4 · liberable al cierre de la semana 4</a:t>
            </a:r>
          </a:p>
          <a:p>
            <a:pPr algn="l">
              <a:lnSpc>
                <a:spcPts val="1639"/>
              </a:lnSpc>
              <a:spcBef>
                <a:spcPts val="0"/>
              </a:spcBef>
              <a:spcAft>
                <a:spcPts val="400"/>
              </a:spcAft>
              <a:buNone/>
            </a:pPr>
            <a:r>
              <a:rPr sz="1340" b="1" i="0">
                <a:solidFill>
                  <a:srgbClr val="280265"/>
                </a:solidFill>
                <a:latin typeface="Arial"/>
                <a:cs typeface="Arial"/>
              </a:rPr>
              <a:t>La PUI registra y da de baja sus casos</a:t>
            </a:r>
          </a:p>
          <a:p>
            <a:pPr algn="l">
              <a:lnSpc>
                <a:spcPts val="1292"/>
              </a:lnSpc>
              <a:spcBef>
                <a:spcPts val="0"/>
              </a:spcBef>
              <a:spcAft>
                <a:spcPts val="300"/>
              </a:spcAft>
              <a:buNone/>
            </a:pPr>
            <a:r>
              <a:rPr sz="980" b="0" i="1">
                <a:solidFill>
                  <a:srgbClr val="000000"/>
                </a:solidFill>
                <a:latin typeface="Arial"/>
                <a:cs typeface="Arial"/>
              </a:rPr>
              <a:t>Viva cumple con los endpoints de entrada del manual, con todo lo que Producción exige.</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construye</a:t>
            </a:r>
            <a:r>
              <a:rPr sz="960" b="0" i="0">
                <a:solidFill>
                  <a:srgbClr val="000000"/>
                </a:solidFill>
                <a:latin typeface="Arial"/>
                <a:cs typeface="Arial"/>
              </a:rPr>
              <a:t>	</a:t>
            </a:r>
            <a:r>
              <a:rPr sz="880" b="0" i="0">
                <a:solidFill>
                  <a:srgbClr val="000000"/>
                </a:solidFill>
                <a:latin typeface="Courier New"/>
                <a:cs typeface="Courier New"/>
              </a:rPr>
              <a:t>/login</a:t>
            </a:r>
            <a:r>
              <a:rPr sz="960" b="0" i="0">
                <a:solidFill>
                  <a:srgbClr val="000000"/>
                </a:solidFill>
                <a:latin typeface="Arial"/>
                <a:cs typeface="Arial"/>
              </a:rPr>
              <a:t>, </a:t>
            </a:r>
            <a:r>
              <a:rPr sz="880" b="0" i="0">
                <a:solidFill>
                  <a:srgbClr val="000000"/>
                </a:solidFill>
                <a:latin typeface="Courier New"/>
                <a:cs typeface="Courier New"/>
              </a:rPr>
              <a:t>/activar-reporte</a:t>
            </a:r>
            <a:r>
              <a:rPr sz="960" b="0" i="0">
                <a:solidFill>
                  <a:srgbClr val="000000"/>
                </a:solidFill>
                <a:latin typeface="Arial"/>
                <a:cs typeface="Arial"/>
              </a:rPr>
              <a:t>, </a:t>
            </a:r>
            <a:r>
              <a:rPr sz="880" b="0" i="0">
                <a:solidFill>
                  <a:srgbClr val="000000"/>
                </a:solidFill>
                <a:latin typeface="Courier New"/>
                <a:cs typeface="Courier New"/>
              </a:rPr>
              <a:t>/activar-reporte-prueba</a:t>
            </a:r>
            <a:r>
              <a:rPr sz="960" b="0" i="0">
                <a:solidFill>
                  <a:srgbClr val="000000"/>
                </a:solidFill>
                <a:latin typeface="Arial"/>
                <a:cs typeface="Arial"/>
              </a:rPr>
              <a:t> y </a:t>
            </a:r>
            <a:r>
              <a:rPr sz="880" b="0" i="0">
                <a:solidFill>
                  <a:srgbClr val="000000"/>
                </a:solidFill>
                <a:latin typeface="Courier New"/>
                <a:cs typeface="Courier New"/>
              </a:rPr>
              <a:t>/desactivar-reporte</a:t>
            </a:r>
            <a:r>
              <a:rPr sz="960" b="0" i="0">
                <a:solidFill>
                  <a:srgbClr val="000000"/>
                </a:solidFill>
                <a:latin typeface="Arial"/>
                <a:cs typeface="Arial"/>
              </a:rPr>
              <a:t>; validación de CURP, idempotencia, firmado del JSON y OpenAPI.</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Infraestructura que nace</a:t>
            </a:r>
            <a:r>
              <a:rPr sz="960" b="0" i="0">
                <a:solidFill>
                  <a:srgbClr val="000000"/>
                </a:solidFill>
                <a:latin typeface="Arial"/>
                <a:cs typeface="Arial"/>
              </a:rPr>
              <a:t>	</a:t>
            </a:r>
            <a:r>
              <a:rPr sz="960" b="0" i="0">
                <a:solidFill>
                  <a:srgbClr val="000000"/>
                </a:solidFill>
                <a:latin typeface="Arial"/>
                <a:cs typeface="Arial"/>
              </a:rPr>
              <a:t>Terraform base por ambiente, KMS, IAM, Cognito, API Gateway, WAF, dominio y TLS, tabla de casos; pipeline con SAST, SCA, DAST, promoción, reversa y smoke tests.</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prueba</a:t>
            </a:r>
            <a:r>
              <a:rPr sz="960" b="0" i="0">
                <a:solidFill>
                  <a:srgbClr val="000000"/>
                </a:solidFill>
                <a:latin typeface="Arial"/>
                <a:cs typeface="Arial"/>
              </a:rPr>
              <a:t>	</a:t>
            </a:r>
            <a:r>
              <a:rPr sz="960" b="0" i="0">
                <a:solidFill>
                  <a:srgbClr val="000000"/>
                </a:solidFill>
                <a:latin typeface="Arial"/>
                <a:cs typeface="Arial"/>
              </a:rPr>
              <a:t>Funcionales de entrada, scopes y CURP inválidas; contrato automatizado; seguridad de los 4 endpoints; carga con Celerabit; conectividad en el sandbox.</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Auditoría y operación</a:t>
            </a:r>
            <a:r>
              <a:rPr sz="960" b="0" i="0">
                <a:solidFill>
                  <a:srgbClr val="000000"/>
                </a:solidFill>
                <a:latin typeface="Arial"/>
                <a:cs typeface="Arial"/>
              </a:rPr>
              <a:t>	</a:t>
            </a:r>
            <a:r>
              <a:rPr sz="960" b="0" i="0">
                <a:solidFill>
                  <a:srgbClr val="000000"/>
                </a:solidFill>
                <a:latin typeface="Arial"/>
                <a:cs typeface="Arial"/>
              </a:rPr>
              <a:t>Bitácora inmutable con consultas de auditoría, </a:t>
            </a:r>
            <a:r>
              <a:rPr sz="880" b="0" i="0">
                <a:solidFill>
                  <a:srgbClr val="000000"/>
                </a:solidFill>
                <a:latin typeface="Courier New"/>
                <a:cs typeface="Courier New"/>
              </a:rPr>
              <a:t>correlationId</a:t>
            </a:r>
            <a:r>
              <a:rPr sz="960" b="0" i="0">
                <a:solidFill>
                  <a:srgbClr val="000000"/>
                </a:solidFill>
                <a:latin typeface="Arial"/>
                <a:cs typeface="Arial"/>
              </a:rPr>
              <a:t>, métricas y alarmas de entrada, CloudTrail y runbook.</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Requiere antes de arrancar</a:t>
            </a:r>
            <a:r>
              <a:rPr sz="960" b="0" i="0">
                <a:solidFill>
                  <a:srgbClr val="000000"/>
                </a:solidFill>
                <a:latin typeface="Arial"/>
                <a:cs typeface="Arial"/>
              </a:rPr>
              <a:t>	</a:t>
            </a:r>
            <a:r>
              <a:rPr sz="960" b="0" i="0">
                <a:solidFill>
                  <a:srgbClr val="000000"/>
                </a:solidFill>
                <a:latin typeface="Arial"/>
                <a:cs typeface="Arial"/>
              </a:rPr>
              <a:t>AWS, repositorio y Terraform; herramientas SAST, SCA y DAST; dominio y certificados; retención de la bitácora y acceso al sandbox de la PUI.</a:t>
            </a:r>
          </a:p>
          <a:p>
            <a:pPr algn="l">
              <a:lnSpc>
                <a:spcPts val="1165"/>
              </a:lnSpc>
              <a:spcBef>
                <a:spcPts val="400"/>
              </a:spcBef>
              <a:spcAft>
                <a:spcPts val="0"/>
              </a:spcAft>
              <a:buNone/>
            </a:pPr>
            <a:r>
              <a:rPr sz="880" b="1" i="0">
                <a:solidFill>
                  <a:srgbClr val="280265"/>
                </a:solidFill>
                <a:latin typeface="Arial"/>
                <a:cs typeface="Arial"/>
              </a:rPr>
              <a:t>Deja lista la base de Producción que heredan los demás: por eso es el iterable más grande (53 % del alcance).</a:t>
            </a:r>
          </a:p>
        </p:txBody>
      </p:sp>
      <p:sp>
        <p:nvSpPr>
          <p:cNvPr id="7" name="Detalle 2"/>
          <p:cNvSpPr/>
          <p:nvPr/>
        </p:nvSpPr>
        <p:spPr>
          <a:xfrm>
            <a:off x="6181189" y="1341086"/>
            <a:ext cx="5437496" cy="4834178"/>
          </a:xfrm>
          <a:prstGeom prst="roundRect">
            <a:avLst>
              <a:gd name="adj" fmla="val 2269"/>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140"/>
              </a:lnSpc>
              <a:spcBef>
                <a:spcPts val="0"/>
              </a:spcBef>
              <a:spcAft>
                <a:spcPts val="300"/>
              </a:spcAft>
              <a:buNone/>
            </a:pPr>
            <a:r>
              <a:rPr sz="860" b="1" i="0" spc="100">
                <a:solidFill>
                  <a:srgbClr val="5300DF"/>
                </a:solidFill>
                <a:latin typeface="Arial"/>
                <a:cs typeface="Arial"/>
              </a:rPr>
              <a:t>Iterable 2 · semanas 1 a 5 · liberable al cierre de la semana 5</a:t>
            </a:r>
          </a:p>
          <a:p>
            <a:pPr algn="l">
              <a:lnSpc>
                <a:spcPts val="1639"/>
              </a:lnSpc>
              <a:spcBef>
                <a:spcPts val="0"/>
              </a:spcBef>
              <a:spcAft>
                <a:spcPts val="400"/>
              </a:spcAft>
              <a:buNone/>
            </a:pPr>
            <a:r>
              <a:rPr sz="1340" b="1" i="0">
                <a:solidFill>
                  <a:srgbClr val="280265"/>
                </a:solidFill>
                <a:latin typeface="Arial"/>
                <a:cs typeface="Arial"/>
              </a:rPr>
              <a:t>Encontramos lo más reciente y lo notificamos</a:t>
            </a:r>
          </a:p>
          <a:p>
            <a:pPr algn="l">
              <a:lnSpc>
                <a:spcPts val="1292"/>
              </a:lnSpc>
              <a:spcBef>
                <a:spcPts val="0"/>
              </a:spcBef>
              <a:spcAft>
                <a:spcPts val="300"/>
              </a:spcAft>
              <a:buNone/>
            </a:pPr>
            <a:r>
              <a:rPr sz="980" b="0" i="1">
                <a:solidFill>
                  <a:srgbClr val="000000"/>
                </a:solidFill>
                <a:latin typeface="Arial"/>
                <a:cs typeface="Arial"/>
              </a:rPr>
              <a:t>La PUI empieza a recibir lo que Viva sabe de la persona: el primer valor real para la búsqueda.</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construye</a:t>
            </a:r>
            <a:r>
              <a:rPr sz="960" b="0" i="0">
                <a:solidFill>
                  <a:srgbClr val="000000"/>
                </a:solidFill>
                <a:latin typeface="Arial"/>
                <a:cs typeface="Arial"/>
              </a:rPr>
              <a:t>	</a:t>
            </a:r>
            <a:r>
              <a:rPr sz="960" b="0" i="0">
                <a:solidFill>
                  <a:srgbClr val="000000"/>
                </a:solidFill>
                <a:latin typeface="Arial"/>
                <a:cs typeface="Arial"/>
              </a:rPr>
              <a:t>Cliente de la API interna, estados del caso, fase 1, cliente y token de la PUI, notificador con reintentos y mapeo al contrato de la PUI.</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Infraestructura que nace</a:t>
            </a:r>
            <a:r>
              <a:rPr sz="960" b="0" i="0">
                <a:solidFill>
                  <a:srgbClr val="000000"/>
                </a:solidFill>
                <a:latin typeface="Arial"/>
                <a:cs typeface="Arial"/>
              </a:rPr>
              <a:t>	</a:t>
            </a:r>
            <a:r>
              <a:rPr sz="960" b="0" i="0">
                <a:solidFill>
                  <a:srgbClr val="000000"/>
                </a:solidFill>
                <a:latin typeface="Arial"/>
                <a:cs typeface="Arial"/>
              </a:rPr>
              <a:t>Red privada, NAT con IP fija, colas SQS de búsqueda y notificación con DLQ, y secretos de la PUI y de la API interna.</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prueba</a:t>
            </a:r>
            <a:r>
              <a:rPr sz="960" b="0" i="0">
                <a:solidFill>
                  <a:srgbClr val="000000"/>
                </a:solidFill>
                <a:latin typeface="Arial"/>
                <a:cs typeface="Arial"/>
              </a:rPr>
              <a:t>	</a:t>
            </a:r>
            <a:r>
              <a:rPr sz="960" b="0" i="0">
                <a:solidFill>
                  <a:srgbClr val="000000"/>
                </a:solidFill>
                <a:latin typeface="Arial"/>
                <a:cs typeface="Arial"/>
              </a:rPr>
              <a:t>Conexión a cada fuente, fase 1, notificación, reintentos y DLQ con simuladores; datos enviados frente a la matriz de Legal; regresión del iterable 1.</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Auditoría y operación</a:t>
            </a:r>
            <a:r>
              <a:rPr sz="960" b="0" i="0">
                <a:solidFill>
                  <a:srgbClr val="000000"/>
                </a:solidFill>
                <a:latin typeface="Arial"/>
                <a:cs typeface="Arial"/>
              </a:rPr>
              <a:t>	</a:t>
            </a:r>
            <a:r>
              <a:rPr sz="960" b="0" i="0">
                <a:solidFill>
                  <a:srgbClr val="000000"/>
                </a:solidFill>
                <a:latin typeface="Arial"/>
                <a:cs typeface="Arial"/>
              </a:rPr>
              <a:t>Cada consulta a la API interna y cada envío a la PUI quedan en la bitácora; métricas de latencia y errores, alarmas de colas y DLQ, runbook.</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Requiere antes de arrancar</a:t>
            </a:r>
            <a:r>
              <a:rPr sz="960" b="0" i="0">
                <a:solidFill>
                  <a:srgbClr val="000000"/>
                </a:solidFill>
                <a:latin typeface="Arial"/>
                <a:cs typeface="Arial"/>
              </a:rPr>
              <a:t>	</a:t>
            </a:r>
            <a:r>
              <a:rPr sz="960" b="0" i="0">
                <a:solidFill>
                  <a:srgbClr val="000000"/>
                </a:solidFill>
                <a:latin typeface="Arial"/>
                <a:cs typeface="Arial"/>
              </a:rPr>
              <a:t>El contrato v1.3 congelado. Antes de la semana 3, cuando empieza la búsqueda real: conexión a la API interna con CURP de prueba y matriz de datos aprobada por Legal.</a:t>
            </a:r>
          </a:p>
          <a:p>
            <a:pPr algn="l">
              <a:lnSpc>
                <a:spcPts val="1165"/>
              </a:lnSpc>
              <a:spcBef>
                <a:spcPts val="400"/>
              </a:spcBef>
              <a:spcAft>
                <a:spcPts val="0"/>
              </a:spcAft>
              <a:buNone/>
            </a:pPr>
            <a:r>
              <a:rPr sz="880" b="1" i="0">
                <a:solidFill>
                  <a:srgbClr val="280265"/>
                </a:solidFill>
                <a:latin typeface="Arial"/>
                <a:cs typeface="Arial"/>
              </a:rPr>
              <a:t>El cliente de la API interna se construye desde la semana 1 contra un simulador del contrato v1.3.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Iterables 3 y 4: buscar </a:t>
            </a:r>
            <a:r>
              <a:rPr sz="2400" b="1" i="0">
                <a:solidFill>
                  <a:srgbClr val="5300DF"/>
                </a:solidFill>
                <a:latin typeface="Arial"/>
                <a:cs typeface="Arial"/>
              </a:rPr>
              <a:t>hacia atrás</a:t>
            </a:r>
            <a:r>
              <a:rPr sz="2400" b="1" i="0">
                <a:solidFill>
                  <a:srgbClr val="280265"/>
                </a:solidFill>
                <a:latin typeface="Arial"/>
                <a:cs typeface="Arial"/>
              </a:rPr>
              <a:t> y seguir vigilando</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5</a:t>
            </a:r>
          </a:p>
        </p:txBody>
      </p:sp>
      <p:sp>
        <p:nvSpPr>
          <p:cNvPr id="6" name="Nota"/>
          <p:cNvSpPr/>
          <p:nvPr/>
        </p:nvSpPr>
        <p:spPr>
          <a:xfrm>
            <a:off x="573009" y="5651891"/>
            <a:ext cx="11045675" cy="523373"/>
          </a:xfrm>
          <a:prstGeom prst="roundRect">
            <a:avLst>
              <a:gd name="adj" fmla="val 17471"/>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Los iterables 3 y 4 se construyen en paralelo</a:t>
            </a:r>
            <a:r>
              <a:rPr sz="980" b="0" i="0">
                <a:solidFill>
                  <a:srgbClr val="FFFFFF"/>
                </a:solidFill>
                <a:latin typeface="Arial"/>
                <a:cs typeface="Arial"/>
              </a:rPr>
              <a:t>, uno por cada desarrollador, porque ambos reutilizan el cliente de la API interna y el notificador del iterable 2. Dependen del cambio de la lámina 9: si Viva no lo implementa, se usa la alternativa de consultas por año y por fecha de modificación, con más carga sobre la API interna.</a:t>
            </a:r>
          </a:p>
        </p:txBody>
      </p:sp>
      <p:sp>
        <p:nvSpPr>
          <p:cNvPr id="7" name="Detalle 1"/>
          <p:cNvSpPr/>
          <p:nvPr/>
        </p:nvSpPr>
        <p:spPr>
          <a:xfrm>
            <a:off x="573009" y="1341086"/>
            <a:ext cx="5437496" cy="4176696"/>
          </a:xfrm>
          <a:prstGeom prst="roundRect">
            <a:avLst>
              <a:gd name="adj" fmla="val 262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140"/>
              </a:lnSpc>
              <a:spcBef>
                <a:spcPts val="0"/>
              </a:spcBef>
              <a:spcAft>
                <a:spcPts val="300"/>
              </a:spcAft>
              <a:buNone/>
            </a:pPr>
            <a:r>
              <a:rPr sz="860" b="1" i="0" spc="100">
                <a:solidFill>
                  <a:srgbClr val="5300DF"/>
                </a:solidFill>
                <a:latin typeface="Arial"/>
                <a:cs typeface="Arial"/>
              </a:rPr>
              <a:t>Iterable 3 · semanas 4 a 6 · liberable al cierre de la semana 6</a:t>
            </a:r>
          </a:p>
          <a:p>
            <a:pPr algn="l">
              <a:lnSpc>
                <a:spcPts val="1639"/>
              </a:lnSpc>
              <a:spcBef>
                <a:spcPts val="0"/>
              </a:spcBef>
              <a:spcAft>
                <a:spcPts val="400"/>
              </a:spcAft>
              <a:buNone/>
            </a:pPr>
            <a:r>
              <a:rPr sz="1340" b="1" i="0">
                <a:solidFill>
                  <a:srgbClr val="280265"/>
                </a:solidFill>
                <a:latin typeface="Arial"/>
                <a:cs typeface="Arial"/>
              </a:rPr>
              <a:t>Buscamos hasta 12 años atrás y cerramos el histórico</a:t>
            </a:r>
          </a:p>
          <a:p>
            <a:pPr algn="l">
              <a:lnSpc>
                <a:spcPts val="1292"/>
              </a:lnSpc>
              <a:spcBef>
                <a:spcPts val="0"/>
              </a:spcBef>
              <a:spcAft>
                <a:spcPts val="300"/>
              </a:spcAft>
              <a:buNone/>
            </a:pPr>
            <a:r>
              <a:rPr sz="980" b="0" i="1">
                <a:solidFill>
                  <a:srgbClr val="000000"/>
                </a:solidFill>
                <a:latin typeface="Arial"/>
                <a:cs typeface="Arial"/>
              </a:rPr>
              <a:t>La PUI recibe el rastro histórico completo de la persona y sabe cuándo terminó la búsqueda.</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construye</a:t>
            </a:r>
            <a:r>
              <a:rPr sz="960" b="0" i="0">
                <a:solidFill>
                  <a:srgbClr val="000000"/>
                </a:solidFill>
                <a:latin typeface="Arial"/>
                <a:cs typeface="Arial"/>
              </a:rPr>
              <a:t>	</a:t>
            </a:r>
            <a:r>
              <a:rPr sz="960" b="0" i="0">
                <a:solidFill>
                  <a:srgbClr val="000000"/>
                </a:solidFill>
                <a:latin typeface="Arial"/>
                <a:cs typeface="Arial"/>
              </a:rPr>
              <a:t>Worker de fase 2 por páginas, desde la fecha de desaparición con tope de 12 años; una notificación por evento y cierre con </a:t>
            </a:r>
            <a:r>
              <a:rPr sz="880" b="0" i="0">
                <a:solidFill>
                  <a:srgbClr val="000000"/>
                </a:solidFill>
                <a:latin typeface="Courier New"/>
                <a:cs typeface="Courier New"/>
              </a:rPr>
              <a:t>/busqueda-finalizada</a:t>
            </a:r>
            <a:r>
              <a:rPr sz="960" b="0" i="0">
                <a:solidFill>
                  <a:srgbClr val="000000"/>
                </a:solidFill>
                <a:latin typeface="Arial"/>
                <a:cs typeface="Arial"/>
              </a:rPr>
              <a:t>, haya o no coincidencias.</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Infraestructura que se agrega</a:t>
            </a:r>
            <a:r>
              <a:rPr sz="960" b="0" i="0">
                <a:solidFill>
                  <a:srgbClr val="000000"/>
                </a:solidFill>
                <a:latin typeface="Arial"/>
                <a:cs typeface="Arial"/>
              </a:rPr>
              <a:t>	</a:t>
            </a:r>
            <a:r>
              <a:rPr sz="960" b="0" i="0">
                <a:solidFill>
                  <a:srgbClr val="000000"/>
                </a:solidFill>
                <a:latin typeface="Arial"/>
                <a:cs typeface="Arial"/>
              </a:rPr>
              <a:t>Cola de fase 2 por páginas y registro de cursores. Se enciende por parámetro, sin tocar lo ya liberado.</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prueba</a:t>
            </a:r>
            <a:r>
              <a:rPr sz="960" b="0" i="0">
                <a:solidFill>
                  <a:srgbClr val="000000"/>
                </a:solidFill>
                <a:latin typeface="Arial"/>
                <a:cs typeface="Arial"/>
              </a:rPr>
              <a:t>	</a:t>
            </a:r>
            <a:r>
              <a:rPr sz="960" b="0" i="0">
                <a:solidFill>
                  <a:srgbClr val="000000"/>
                </a:solidFill>
                <a:latin typeface="Arial"/>
                <a:cs typeface="Arial"/>
              </a:rPr>
              <a:t>Fase 2 por páginas, caso sin fecha de desaparición, reintento de una sola página y cierre; regresión de los iterables 1 y 2.</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Auditoría y operación</a:t>
            </a:r>
            <a:r>
              <a:rPr sz="960" b="0" i="0">
                <a:solidFill>
                  <a:srgbClr val="000000"/>
                </a:solidFill>
                <a:latin typeface="Arial"/>
                <a:cs typeface="Arial"/>
              </a:rPr>
              <a:t>	</a:t>
            </a:r>
            <a:r>
              <a:rPr sz="960" b="0" i="0">
                <a:solidFill>
                  <a:srgbClr val="000000"/>
                </a:solidFill>
                <a:latin typeface="Arial"/>
                <a:cs typeface="Arial"/>
              </a:rPr>
              <a:t>Cada página consultada y cada notificación de fase 2 quedan en la bitácora; duración de la fase en el tablero.</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Requiere antes de arrancar</a:t>
            </a:r>
            <a:r>
              <a:rPr sz="960" b="0" i="0">
                <a:solidFill>
                  <a:srgbClr val="000000"/>
                </a:solidFill>
                <a:latin typeface="Arial"/>
                <a:cs typeface="Arial"/>
              </a:rPr>
              <a:t>	</a:t>
            </a:r>
            <a:r>
              <a:rPr sz="960" b="0" i="0">
                <a:solidFill>
                  <a:srgbClr val="000000"/>
                </a:solidFill>
                <a:latin typeface="Arial"/>
                <a:cs typeface="Arial"/>
              </a:rPr>
              <a:t>Decisión sobre la paginación por cursor, tomada en la semana 2 (lámina 9), y cursor disponible en desarrollo.</a:t>
            </a:r>
          </a:p>
        </p:txBody>
      </p:sp>
      <p:sp>
        <p:nvSpPr>
          <p:cNvPr id="8" name="Detalle 2"/>
          <p:cNvSpPr/>
          <p:nvPr/>
        </p:nvSpPr>
        <p:spPr>
          <a:xfrm>
            <a:off x="6181189" y="1341086"/>
            <a:ext cx="5437496" cy="4176696"/>
          </a:xfrm>
          <a:prstGeom prst="roundRect">
            <a:avLst>
              <a:gd name="adj" fmla="val 262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140"/>
              </a:lnSpc>
              <a:spcBef>
                <a:spcPts val="0"/>
              </a:spcBef>
              <a:spcAft>
                <a:spcPts val="300"/>
              </a:spcAft>
              <a:buNone/>
            </a:pPr>
            <a:r>
              <a:rPr sz="860" b="1" i="0" spc="100">
                <a:solidFill>
                  <a:srgbClr val="5300DF"/>
                </a:solidFill>
                <a:latin typeface="Arial"/>
                <a:cs typeface="Arial"/>
              </a:rPr>
              <a:t>Iterable 4 · semanas 5 a 7 · liberable al cierre de la semana 7</a:t>
            </a:r>
          </a:p>
          <a:p>
            <a:pPr algn="l">
              <a:lnSpc>
                <a:spcPts val="1639"/>
              </a:lnSpc>
              <a:spcBef>
                <a:spcPts val="0"/>
              </a:spcBef>
              <a:spcAft>
                <a:spcPts val="400"/>
              </a:spcAft>
              <a:buNone/>
            </a:pPr>
            <a:r>
              <a:rPr sz="1340" b="1" i="0">
                <a:solidFill>
                  <a:srgbClr val="280265"/>
                </a:solidFill>
                <a:latin typeface="Arial"/>
                <a:cs typeface="Arial"/>
              </a:rPr>
              <a:t>Seguimos vigilando mientras el caso esté activo</a:t>
            </a:r>
          </a:p>
          <a:p>
            <a:pPr algn="l">
              <a:lnSpc>
                <a:spcPts val="1292"/>
              </a:lnSpc>
              <a:spcBef>
                <a:spcPts val="0"/>
              </a:spcBef>
              <a:spcAft>
                <a:spcPts val="300"/>
              </a:spcAft>
              <a:buNone/>
            </a:pPr>
            <a:r>
              <a:rPr sz="980" b="0" i="1">
                <a:solidFill>
                  <a:srgbClr val="000000"/>
                </a:solidFill>
                <a:latin typeface="Arial"/>
                <a:cs typeface="Arial"/>
              </a:rPr>
              <a:t>Si la persona aparece en una reserva nueva, la PUI se entera en el siguiente ciclo, sin esperar a otra búsqueda completa.</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construye</a:t>
            </a:r>
            <a:r>
              <a:rPr sz="960" b="0" i="0">
                <a:solidFill>
                  <a:srgbClr val="000000"/>
                </a:solidFill>
                <a:latin typeface="Arial"/>
                <a:cs typeface="Arial"/>
              </a:rPr>
              <a:t>	</a:t>
            </a:r>
            <a:r>
              <a:rPr sz="960" b="0" i="0">
                <a:solidFill>
                  <a:srgbClr val="000000"/>
                </a:solidFill>
                <a:latin typeface="Arial"/>
                <a:cs typeface="Arial"/>
              </a:rPr>
              <a:t>Planificador de casos activos y worker de fase 3 con token de sincronización o, si la API interna no lo ofrece, por fecha de modificación.</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Infraestructura que se agrega</a:t>
            </a:r>
            <a:r>
              <a:rPr sz="960" b="0" i="0">
                <a:solidFill>
                  <a:srgbClr val="000000"/>
                </a:solidFill>
                <a:latin typeface="Arial"/>
                <a:cs typeface="Arial"/>
              </a:rPr>
              <a:t>	</a:t>
            </a:r>
            <a:r>
              <a:rPr sz="960" b="0" i="0">
                <a:solidFill>
                  <a:srgbClr val="000000"/>
                </a:solidFill>
                <a:latin typeface="Arial"/>
                <a:cs typeface="Arial"/>
              </a:rPr>
              <a:t>EventBridge Scheduler, Lambda planificadora, cola de fase 3 y almacenamiento del token. También se enciende por parámetro.</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prueba</a:t>
            </a:r>
            <a:r>
              <a:rPr sz="960" b="0" i="0">
                <a:solidFill>
                  <a:srgbClr val="000000"/>
                </a:solidFill>
                <a:latin typeface="Arial"/>
                <a:cs typeface="Arial"/>
              </a:rPr>
              <a:t>	</a:t>
            </a:r>
            <a:r>
              <a:rPr sz="960" b="0" i="0">
                <a:solidFill>
                  <a:srgbClr val="000000"/>
                </a:solidFill>
                <a:latin typeface="Arial"/>
                <a:cs typeface="Arial"/>
              </a:rPr>
              <a:t>Fase 3 con token y con su alternativa, token vencido y desactivación; pruebas funcionales en el sandbox de la PUI; regresión de los iterables 1 a 3.</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Auditoría y operación</a:t>
            </a:r>
            <a:r>
              <a:rPr sz="960" b="0" i="0">
                <a:solidFill>
                  <a:srgbClr val="000000"/>
                </a:solidFill>
                <a:latin typeface="Arial"/>
                <a:cs typeface="Arial"/>
              </a:rPr>
              <a:t>	</a:t>
            </a:r>
            <a:r>
              <a:rPr sz="960" b="0" i="0">
                <a:solidFill>
                  <a:srgbClr val="000000"/>
                </a:solidFill>
                <a:latin typeface="Arial"/>
                <a:cs typeface="Arial"/>
              </a:rPr>
              <a:t>Cada ciclo de fase 3 queda en la bitácora; alarma si la fase 3 deja de correr; runbook de las fases 2 y 3.</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Requiere antes de arrancar</a:t>
            </a:r>
            <a:r>
              <a:rPr sz="960" b="0" i="0">
                <a:solidFill>
                  <a:srgbClr val="000000"/>
                </a:solidFill>
                <a:latin typeface="Arial"/>
                <a:cs typeface="Arial"/>
              </a:rPr>
              <a:t>	</a:t>
            </a:r>
            <a:r>
              <a:rPr sz="960" b="0" i="0">
                <a:solidFill>
                  <a:srgbClr val="000000"/>
                </a:solidFill>
                <a:latin typeface="Arial"/>
                <a:cs typeface="Arial"/>
              </a:rPr>
              <a:t>Token de sincronización en desarrollo (o usar fecha de modificación), frecuencia de la fase 3 y volumen esperado.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Iterable 5 y </a:t>
            </a:r>
            <a:r>
              <a:rPr sz="2400" b="1" i="0">
                <a:solidFill>
                  <a:srgbClr val="5300DF"/>
                </a:solidFill>
                <a:latin typeface="Arial"/>
                <a:cs typeface="Arial"/>
              </a:rPr>
              <a:t>lo que cumple cada iterable</a:t>
            </a:r>
            <a:r>
              <a:rPr sz="2400" b="1" i="0">
                <a:solidFill>
                  <a:srgbClr val="280265"/>
                </a:solidFill>
                <a:latin typeface="Arial"/>
                <a:cs typeface="Arial"/>
              </a:rPr>
              <a:t> antes de ir a Producción</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6</a:t>
            </a:r>
          </a:p>
        </p:txBody>
      </p:sp>
      <p:sp>
        <p:nvSpPr>
          <p:cNvPr id="6" name="Nota"/>
          <p:cNvSpPr/>
          <p:nvPr/>
        </p:nvSpPr>
        <p:spPr>
          <a:xfrm>
            <a:off x="573009" y="5651891"/>
            <a:ext cx="11045675" cy="523373"/>
          </a:xfrm>
          <a:prstGeom prst="roundRect">
            <a:avLst>
              <a:gd name="adj" fmla="val 1747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000000"/>
                </a:solidFill>
                <a:latin typeface="Arial"/>
                <a:cs typeface="Arial"/>
              </a:rPr>
              <a:t>Así se ve en Producción:</a:t>
            </a:r>
            <a:r>
              <a:rPr sz="980" b="0" i="0">
                <a:solidFill>
                  <a:srgbClr val="000000"/>
                </a:solidFill>
                <a:latin typeface="Arial"/>
                <a:cs typeface="Arial"/>
              </a:rPr>
              <a:t> si Viva libera cada iterable al aceptarlo, el 1 está en Producción desde la semana 5, el 2 desde la 6 y el 3 desde la 7. Con los iterables 4 y 5 en la semana 8, Viva puede conectar con la PUI con las tres fases. Las semanas 8 y 9 son de soporte (lámina 19).</a:t>
            </a:r>
          </a:p>
        </p:txBody>
      </p:sp>
      <p:sp>
        <p:nvSpPr>
          <p:cNvPr id="7" name="Detalle 1"/>
          <p:cNvSpPr/>
          <p:nvPr/>
        </p:nvSpPr>
        <p:spPr>
          <a:xfrm>
            <a:off x="573009" y="1341086"/>
            <a:ext cx="5437496" cy="4176696"/>
          </a:xfrm>
          <a:prstGeom prst="roundRect">
            <a:avLst>
              <a:gd name="adj" fmla="val 262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140"/>
              </a:lnSpc>
              <a:spcBef>
                <a:spcPts val="0"/>
              </a:spcBef>
              <a:spcAft>
                <a:spcPts val="300"/>
              </a:spcAft>
              <a:buNone/>
            </a:pPr>
            <a:r>
              <a:rPr sz="860" b="1" i="0" spc="100">
                <a:solidFill>
                  <a:srgbClr val="5300DF"/>
                </a:solidFill>
                <a:latin typeface="Arial"/>
                <a:cs typeface="Arial"/>
              </a:rPr>
              <a:t>Iterable 5 · semanas 6 y 7 · liberable al cierre de la semana 7</a:t>
            </a:r>
          </a:p>
          <a:p>
            <a:pPr algn="l">
              <a:lnSpc>
                <a:spcPts val="1639"/>
              </a:lnSpc>
              <a:spcBef>
                <a:spcPts val="0"/>
              </a:spcBef>
              <a:spcAft>
                <a:spcPts val="400"/>
              </a:spcAft>
              <a:buNone/>
            </a:pPr>
            <a:r>
              <a:rPr sz="1340" b="1" i="0">
                <a:solidFill>
                  <a:srgbClr val="280265"/>
                </a:solidFill>
                <a:latin typeface="Arial"/>
                <a:cs typeface="Arial"/>
              </a:rPr>
              <a:t>Nada se pierde: conciliación y reproceso</a:t>
            </a:r>
          </a:p>
          <a:p>
            <a:pPr algn="l">
              <a:lnSpc>
                <a:spcPts val="1292"/>
              </a:lnSpc>
              <a:spcBef>
                <a:spcPts val="0"/>
              </a:spcBef>
              <a:spcAft>
                <a:spcPts val="300"/>
              </a:spcAft>
              <a:buNone/>
            </a:pPr>
            <a:r>
              <a:rPr sz="980" b="0" i="1">
                <a:solidFill>
                  <a:srgbClr val="000000"/>
                </a:solidFill>
                <a:latin typeface="Arial"/>
                <a:cs typeface="Arial"/>
              </a:rPr>
              <a:t>La red de seguridad de la operación: si algo falla, se detecta, se corrige y queda evidencia.</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construye</a:t>
            </a:r>
            <a:r>
              <a:rPr sz="960" b="0" i="0">
                <a:solidFill>
                  <a:srgbClr val="000000"/>
                </a:solidFill>
                <a:latin typeface="Arial"/>
                <a:cs typeface="Arial"/>
              </a:rPr>
              <a:t>	</a:t>
            </a:r>
            <a:r>
              <a:rPr sz="960" b="0" i="0">
                <a:solidFill>
                  <a:srgbClr val="000000"/>
                </a:solidFill>
                <a:latin typeface="Arial"/>
                <a:cs typeface="Arial"/>
              </a:rPr>
              <a:t>Conciliación periódica con </a:t>
            </a:r>
            <a:r>
              <a:rPr sz="880" b="0" i="0">
                <a:solidFill>
                  <a:srgbClr val="000000"/>
                </a:solidFill>
                <a:latin typeface="Courier New"/>
                <a:cs typeface="Courier New"/>
              </a:rPr>
              <a:t>/reportes</a:t>
            </a:r>
            <a:r>
              <a:rPr sz="960" b="0" i="0">
                <a:solidFill>
                  <a:srgbClr val="000000"/>
                </a:solidFill>
                <a:latin typeface="Arial"/>
                <a:cs typeface="Arial"/>
              </a:rPr>
              <a:t> de la PUI y reproceso controlado desde la DLQ.</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Infraestructura que se agrega</a:t>
            </a:r>
            <a:r>
              <a:rPr sz="960" b="0" i="0">
                <a:solidFill>
                  <a:srgbClr val="000000"/>
                </a:solidFill>
                <a:latin typeface="Arial"/>
                <a:cs typeface="Arial"/>
              </a:rPr>
              <a:t>	</a:t>
            </a:r>
            <a:r>
              <a:rPr sz="960" b="0" i="0">
                <a:solidFill>
                  <a:srgbClr val="000000"/>
                </a:solidFill>
                <a:latin typeface="Arial"/>
                <a:cs typeface="Arial"/>
              </a:rPr>
              <a:t>Lambdas conciliadora y de reproceso, con su programación en EventBridge.</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Se prueba</a:t>
            </a:r>
            <a:r>
              <a:rPr sz="960" b="0" i="0">
                <a:solidFill>
                  <a:srgbClr val="000000"/>
                </a:solidFill>
                <a:latin typeface="Arial"/>
                <a:cs typeface="Arial"/>
              </a:rPr>
              <a:t>	</a:t>
            </a:r>
            <a:r>
              <a:rPr sz="960" b="0" i="0">
                <a:solidFill>
                  <a:srgbClr val="000000"/>
                </a:solidFill>
                <a:latin typeface="Arial"/>
                <a:cs typeface="Arial"/>
              </a:rPr>
              <a:t>Resiliencia ante caídas de la PUI y de la API interna, reproceso y conciliación; regresión final de extremo a extremo y aceptación final.</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Auditoría y operación</a:t>
            </a:r>
            <a:r>
              <a:rPr sz="960" b="0" i="0">
                <a:solidFill>
                  <a:srgbClr val="000000"/>
                </a:solidFill>
                <a:latin typeface="Arial"/>
                <a:cs typeface="Arial"/>
              </a:rPr>
              <a:t>	</a:t>
            </a:r>
            <a:r>
              <a:rPr sz="960" b="0" i="0">
                <a:solidFill>
                  <a:srgbClr val="000000"/>
                </a:solidFill>
                <a:latin typeface="Arial"/>
                <a:cs typeface="Arial"/>
              </a:rPr>
              <a:t>Cada corrección y reproceso queda en la bitácora; informe de seguridad consolidado, documentación final y transferencia.</a:t>
            </a:r>
          </a:p>
          <a:p>
            <a:pPr algn="l" marL="1527048" indent="-1527048">
              <a:lnSpc>
                <a:spcPts val="1267"/>
              </a:lnSpc>
              <a:spcBef>
                <a:spcPts val="0"/>
              </a:spcBef>
              <a:spcAft>
                <a:spcPts val="400"/>
              </a:spcAft>
              <a:buNone/>
              <a:tabLst>
                <a:tab pos="1527048" algn="l"/>
              </a:tabLst>
            </a:pPr>
            <a:r>
              <a:rPr sz="960" b="1" i="0">
                <a:solidFill>
                  <a:srgbClr val="000000"/>
                </a:solidFill>
                <a:latin typeface="Arial"/>
                <a:cs typeface="Arial"/>
              </a:rPr>
              <a:t>Requiere antes de arrancar</a:t>
            </a:r>
            <a:r>
              <a:rPr sz="960" b="0" i="0">
                <a:solidFill>
                  <a:srgbClr val="000000"/>
                </a:solidFill>
                <a:latin typeface="Arial"/>
                <a:cs typeface="Arial"/>
              </a:rPr>
              <a:t>	</a:t>
            </a:r>
            <a:r>
              <a:rPr sz="960" b="0" i="0">
                <a:solidFill>
                  <a:srgbClr val="000000"/>
                </a:solidFill>
                <a:latin typeface="Arial"/>
                <a:cs typeface="Arial"/>
              </a:rPr>
              <a:t>Quién recibe y atiende las alertas de Producción.</a:t>
            </a:r>
          </a:p>
        </p:txBody>
      </p:sp>
      <p:sp>
        <p:nvSpPr>
          <p:cNvPr id="8" name="Detalle 2"/>
          <p:cNvSpPr/>
          <p:nvPr/>
        </p:nvSpPr>
        <p:spPr>
          <a:xfrm>
            <a:off x="6181189" y="1341086"/>
            <a:ext cx="5437496" cy="4176696"/>
          </a:xfrm>
          <a:prstGeom prst="roundRect">
            <a:avLst>
              <a:gd name="adj" fmla="val 2627"/>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140"/>
              </a:lnSpc>
              <a:spcBef>
                <a:spcPts val="0"/>
              </a:spcBef>
              <a:spcAft>
                <a:spcPts val="300"/>
              </a:spcAft>
              <a:buNone/>
            </a:pPr>
            <a:r>
              <a:rPr sz="860" b="1" i="0" spc="100">
                <a:solidFill>
                  <a:srgbClr val="22D0FF"/>
                </a:solidFill>
                <a:latin typeface="Arial"/>
                <a:cs typeface="Arial"/>
              </a:rPr>
              <a:t>Definición de liberable · se cumple en los 5 iterables</a:t>
            </a:r>
          </a:p>
          <a:p>
            <a:pPr algn="l">
              <a:lnSpc>
                <a:spcPts val="1639"/>
              </a:lnSpc>
              <a:spcBef>
                <a:spcPts val="0"/>
              </a:spcBef>
              <a:spcAft>
                <a:spcPts val="400"/>
              </a:spcAft>
              <a:buNone/>
            </a:pPr>
            <a:r>
              <a:rPr sz="1340" b="1" i="0">
                <a:solidFill>
                  <a:srgbClr val="FFFFFF"/>
                </a:solidFill>
                <a:latin typeface="Arial"/>
                <a:cs typeface="Arial"/>
              </a:rPr>
              <a:t>Un iterable no se libera si le falta algo de esto</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Pruebas</a:t>
            </a:r>
            <a:r>
              <a:rPr sz="960" b="0" i="0">
                <a:solidFill>
                  <a:srgbClr val="FFFFFF"/>
                </a:solidFill>
                <a:latin typeface="Arial"/>
                <a:cs typeface="Arial"/>
              </a:rPr>
              <a:t>	</a:t>
            </a:r>
            <a:r>
              <a:rPr sz="960" b="0" i="0">
                <a:solidFill>
                  <a:srgbClr val="FFFFFF"/>
                </a:solidFill>
                <a:latin typeface="Arial"/>
                <a:cs typeface="Arial"/>
              </a:rPr>
              <a:t>Unitarias, funcionales, de contrato y regresión automatizada de todo lo ya liberado.</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Seguridad</a:t>
            </a:r>
            <a:r>
              <a:rPr sz="960" b="0" i="0">
                <a:solidFill>
                  <a:srgbClr val="FFFFFF"/>
                </a:solidFill>
                <a:latin typeface="Arial"/>
                <a:cs typeface="Arial"/>
              </a:rPr>
              <a:t>	</a:t>
            </a:r>
            <a:r>
              <a:rPr sz="960" b="0" i="0">
                <a:solidFill>
                  <a:srgbClr val="FFFFFF"/>
                </a:solidFill>
                <a:latin typeface="Arial"/>
                <a:cs typeface="Arial"/>
              </a:rPr>
              <a:t>SAST, SCA y DAST sin vulnerabilidades en lo que expone, y pruebas de seguridad de su superficie.</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Auditoría</a:t>
            </a:r>
            <a:r>
              <a:rPr sz="960" b="0" i="0">
                <a:solidFill>
                  <a:srgbClr val="FFFFFF"/>
                </a:solidFill>
                <a:latin typeface="Arial"/>
                <a:cs typeface="Arial"/>
              </a:rPr>
              <a:t>	</a:t>
            </a:r>
            <a:r>
              <a:rPr sz="960" b="0" i="0">
                <a:solidFill>
                  <a:srgbClr val="FFFFFF"/>
                </a:solidFill>
                <a:latin typeface="Arial"/>
                <a:cs typeface="Arial"/>
              </a:rPr>
              <a:t>Todas sus interacciones quedan en la bitácora inmutable.</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Trazabilidad</a:t>
            </a:r>
            <a:r>
              <a:rPr sz="960" b="0" i="0">
                <a:solidFill>
                  <a:srgbClr val="FFFFFF"/>
                </a:solidFill>
                <a:latin typeface="Arial"/>
                <a:cs typeface="Arial"/>
              </a:rPr>
              <a:t>	</a:t>
            </a:r>
            <a:r>
              <a:rPr sz="880" b="0" i="0">
                <a:solidFill>
                  <a:srgbClr val="FFFFFF"/>
                </a:solidFill>
                <a:latin typeface="Courier New"/>
                <a:cs typeface="Courier New"/>
              </a:rPr>
              <a:t>correlationId</a:t>
            </a:r>
            <a:r>
              <a:rPr sz="960" b="0" i="0">
                <a:solidFill>
                  <a:srgbClr val="FFFFFF"/>
                </a:solidFill>
                <a:latin typeface="Arial"/>
                <a:cs typeface="Arial"/>
              </a:rPr>
              <a:t> de punta a punta; la CURP nunca aparece en logs, URLs ni errores.</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Operación</a:t>
            </a:r>
            <a:r>
              <a:rPr sz="960" b="0" i="0">
                <a:solidFill>
                  <a:srgbClr val="FFFFFF"/>
                </a:solidFill>
                <a:latin typeface="Arial"/>
                <a:cs typeface="Arial"/>
              </a:rPr>
              <a:t>	</a:t>
            </a:r>
            <a:r>
              <a:rPr sz="960" b="0" i="0">
                <a:solidFill>
                  <a:srgbClr val="FFFFFF"/>
                </a:solidFill>
                <a:latin typeface="Arial"/>
                <a:cs typeface="Arial"/>
              </a:rPr>
              <a:t>Métricas, alarmas y su sección del runbook.</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Despliegue</a:t>
            </a:r>
            <a:r>
              <a:rPr sz="960" b="0" i="0">
                <a:solidFill>
                  <a:srgbClr val="FFFFFF"/>
                </a:solidFill>
                <a:latin typeface="Arial"/>
                <a:cs typeface="Arial"/>
              </a:rPr>
              <a:t>	</a:t>
            </a:r>
            <a:r>
              <a:rPr sz="960" b="0" i="0">
                <a:solidFill>
                  <a:srgbClr val="FFFFFF"/>
                </a:solidFill>
                <a:latin typeface="Arial"/>
                <a:cs typeface="Arial"/>
              </a:rPr>
              <a:t>IaC y pipeline con promoción, reversa y smoke tests.</a:t>
            </a:r>
          </a:p>
          <a:p>
            <a:pPr algn="l" marL="814292" indent="-814292">
              <a:lnSpc>
                <a:spcPts val="1267"/>
              </a:lnSpc>
              <a:spcBef>
                <a:spcPts val="0"/>
              </a:spcBef>
              <a:spcAft>
                <a:spcPts val="400"/>
              </a:spcAft>
              <a:buNone/>
              <a:tabLst>
                <a:tab pos="814292" algn="l"/>
              </a:tabLst>
            </a:pPr>
            <a:r>
              <a:rPr sz="960" b="1" i="0">
                <a:solidFill>
                  <a:srgbClr val="FFFFFF"/>
                </a:solidFill>
                <a:latin typeface="Arial"/>
                <a:cs typeface="Arial"/>
              </a:rPr>
              <a:t>Aceptación</a:t>
            </a:r>
            <a:r>
              <a:rPr sz="960" b="0" i="0">
                <a:solidFill>
                  <a:srgbClr val="FFFFFF"/>
                </a:solidFill>
                <a:latin typeface="Arial"/>
                <a:cs typeface="Arial"/>
              </a:rPr>
              <a:t>	</a:t>
            </a:r>
            <a:r>
              <a:rPr sz="960" b="0" i="0">
                <a:solidFill>
                  <a:srgbClr val="FFFFFF"/>
                </a:solidFill>
                <a:latin typeface="Arial"/>
                <a:cs typeface="Arial"/>
              </a:rPr>
              <a:t>Viva lo aprueba antes de liberarlo, y acompañamos la liberación.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¿Es viable en 7 semanas? </a:t>
            </a:r>
            <a:r>
              <a:rPr sz="2400" b="1" i="0">
                <a:solidFill>
                  <a:srgbClr val="5300DF"/>
                </a:solidFill>
                <a:latin typeface="Arial"/>
                <a:cs typeface="Arial"/>
              </a:rPr>
              <a:t>Sí, con condiciones.</a:t>
            </a:r>
            <a:r>
              <a:rPr sz="2400" b="1" i="0">
                <a:solidFill>
                  <a:srgbClr val="280265"/>
                </a:solidFill>
                <a:latin typeface="Arial"/>
                <a:cs typeface="Arial"/>
              </a:rPr>
              <a:t> Y esto es lo que no cabe</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7</a:t>
            </a:r>
          </a:p>
        </p:txBody>
      </p:sp>
      <p:sp>
        <p:nvSpPr>
          <p:cNvPr id="6" name="Nota"/>
          <p:cNvSpPr/>
          <p:nvPr/>
        </p:nvSpPr>
        <p:spPr>
          <a:xfrm>
            <a:off x="573009" y="5487738"/>
            <a:ext cx="11045675" cy="687526"/>
          </a:xfrm>
          <a:prstGeom prst="roundRect">
            <a:avLst>
              <a:gd name="adj" fmla="val 13299"/>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La regla de holgura:</a:t>
            </a:r>
            <a:r>
              <a:rPr sz="980" b="0" i="0">
                <a:solidFill>
                  <a:srgbClr val="FFFFFF"/>
                </a:solidFill>
                <a:latin typeface="Arial"/>
                <a:cs typeface="Arial"/>
              </a:rPr>
              <a:t> las pruebas, la seguridad y la auditoría corren dentro de cada iterable, así que cada cierre confirma y no descubre. El tramo más exigente es la infraestructura de las semanas 1 a 4, porque el iterable 1 deja lista toda la base de Producción. Si la holgura se agota antes de la semana 6, o si el DAST exige más de un ciclo de correcciones, el plan pasa a 8 semanas y lo avisamos en el seguimiento semanal.</a:t>
            </a:r>
          </a:p>
        </p:txBody>
      </p:sp>
      <p:sp>
        <p:nvSpPr>
          <p:cNvPr id="7" name="Bloque 1"/>
          <p:cNvSpPr/>
          <p:nvPr/>
        </p:nvSpPr>
        <p:spPr>
          <a:xfrm>
            <a:off x="573009" y="1341086"/>
            <a:ext cx="3584358" cy="3988160"/>
          </a:xfrm>
          <a:prstGeom prst="roundRect">
            <a:avLst>
              <a:gd name="adj" fmla="val 306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Lo que sí entregamos en 7 semanas</a:t>
            </a:r>
          </a:p>
          <a:p>
            <a:pPr algn="l" marL="155448" indent="-155448">
              <a:lnSpc>
                <a:spcPts val="1368"/>
              </a:lnSpc>
              <a:spcBef>
                <a:spcPts val="0"/>
              </a:spcBef>
              <a:spcAft>
                <a:spcPts val="300"/>
              </a:spcAft>
              <a:buClr>
                <a:srgbClr val="000000"/>
              </a:buClr>
              <a:buFont typeface="Arial"/>
              <a:buChar char="•"/>
            </a:pPr>
            <a:r>
              <a:rPr sz="1040" b="0" i="0">
                <a:solidFill>
                  <a:srgbClr val="000000"/>
                </a:solidFill>
                <a:latin typeface="Arial"/>
                <a:cs typeface="Arial"/>
              </a:rPr>
              <a:t>Los 5 iterables construidos, probados, auditados y aceptados, cada uno liberable a Producción.</a:t>
            </a:r>
          </a:p>
          <a:p>
            <a:pPr algn="l" marL="155448" indent="-155448">
              <a:lnSpc>
                <a:spcPts val="1368"/>
              </a:lnSpc>
              <a:spcBef>
                <a:spcPts val="0"/>
              </a:spcBef>
              <a:spcAft>
                <a:spcPts val="300"/>
              </a:spcAft>
              <a:buClr>
                <a:srgbClr val="000000"/>
              </a:buClr>
              <a:buFont typeface="Arial"/>
              <a:buChar char="•"/>
            </a:pPr>
            <a:r>
              <a:rPr sz="1040" b="0" i="0">
                <a:solidFill>
                  <a:srgbClr val="000000"/>
                </a:solidFill>
                <a:latin typeface="Arial"/>
                <a:cs typeface="Arial"/>
              </a:rPr>
              <a:t>Los iterables 1 a 3 en Producción dentro de las 7 semanas, si Viva los libera al aceptarlos (semanas 5, 6 y 7).</a:t>
            </a:r>
          </a:p>
          <a:p>
            <a:pPr algn="l" marL="155448" indent="-155448">
              <a:lnSpc>
                <a:spcPts val="1368"/>
              </a:lnSpc>
              <a:spcBef>
                <a:spcPts val="0"/>
              </a:spcBef>
              <a:spcAft>
                <a:spcPts val="300"/>
              </a:spcAft>
              <a:buClr>
                <a:srgbClr val="000000"/>
              </a:buClr>
              <a:buFont typeface="Arial"/>
              <a:buChar char="•"/>
            </a:pPr>
            <a:r>
              <a:rPr sz="1040" b="0" i="0">
                <a:solidFill>
                  <a:srgbClr val="000000"/>
                </a:solidFill>
                <a:latin typeface="Arial"/>
                <a:cs typeface="Arial"/>
              </a:rPr>
              <a:t>El paquete que pide la PUI, acumulado iterable a iterable: reportes SAST, SCA y DAST, bitácora y evidencias funcionales.</a:t>
            </a:r>
          </a:p>
          <a:p>
            <a:pPr algn="l" marL="155448" indent="-155448">
              <a:lnSpc>
                <a:spcPts val="1368"/>
              </a:lnSpc>
              <a:spcBef>
                <a:spcPts val="0"/>
              </a:spcBef>
              <a:spcAft>
                <a:spcPts val="300"/>
              </a:spcAft>
              <a:buClr>
                <a:srgbClr val="000000"/>
              </a:buClr>
              <a:buFont typeface="Arial"/>
              <a:buChar char="•"/>
            </a:pPr>
            <a:r>
              <a:rPr sz="1040" b="0" i="0">
                <a:solidFill>
                  <a:srgbClr val="000000"/>
                </a:solidFill>
                <a:latin typeface="Arial"/>
                <a:cs typeface="Arial"/>
              </a:rPr>
              <a:t>Pruebas en el sandbox de la PUI, si se habilita a tiempo.</a:t>
            </a:r>
          </a:p>
          <a:p>
            <a:pPr algn="l" marL="155448" indent="-155448">
              <a:lnSpc>
                <a:spcPts val="1368"/>
              </a:lnSpc>
              <a:spcBef>
                <a:spcPts val="0"/>
              </a:spcBef>
              <a:spcAft>
                <a:spcPts val="300"/>
              </a:spcAft>
              <a:buClr>
                <a:srgbClr val="000000"/>
              </a:buClr>
              <a:buFont typeface="Arial"/>
              <a:buChar char="•"/>
            </a:pPr>
            <a:r>
              <a:rPr sz="1040" b="0" i="0">
                <a:solidFill>
                  <a:srgbClr val="000000"/>
                </a:solidFill>
                <a:latin typeface="Arial"/>
                <a:cs typeface="Arial"/>
              </a:rPr>
              <a:t>Runbook, documentación y transferencia de conocimiento.</a:t>
            </a:r>
          </a:p>
        </p:txBody>
      </p:sp>
      <p:sp>
        <p:nvSpPr>
          <p:cNvPr id="8" name="Bloque 1 · número"/>
          <p:cNvSpPr/>
          <p:nvPr/>
        </p:nvSpPr>
        <p:spPr>
          <a:xfrm>
            <a:off x="743693"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Bloque 2"/>
          <p:cNvSpPr/>
          <p:nvPr/>
        </p:nvSpPr>
        <p:spPr>
          <a:xfrm>
            <a:off x="4303668" y="1341086"/>
            <a:ext cx="3584358" cy="3988160"/>
          </a:xfrm>
          <a:prstGeom prst="roundRect">
            <a:avLst>
              <a:gd name="adj" fmla="val 306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Condiciones para que sea viable</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Equipo dedicado trabajando en paralelo</a:t>
            </a:r>
            <a:r>
              <a:rPr sz="1040" b="0" i="0">
                <a:solidFill>
                  <a:srgbClr val="000000"/>
                </a:solidFill>
                <a:latin typeface="Arial"/>
                <a:cs typeface="Arial"/>
              </a:rPr>
              <a:t>, con un Scrum Master que gestiona los desbloqueos.</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Lo que requiere cada iterable, listo antes de que arranque</a:t>
            </a:r>
            <a:r>
              <a:rPr sz="1040" b="0" i="0">
                <a:solidFill>
                  <a:srgbClr val="000000"/>
                </a:solidFill>
                <a:latin typeface="Arial"/>
                <a:cs typeface="Arial"/>
              </a:rPr>
              <a:t> (lámina 8).</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API interna real en desarrollo</a:t>
            </a:r>
            <a:r>
              <a:rPr sz="1040" b="0" i="0">
                <a:solidFill>
                  <a:srgbClr val="000000"/>
                </a:solidFill>
                <a:latin typeface="Arial"/>
                <a:cs typeface="Arial"/>
              </a:rPr>
              <a:t> antes de la semana 3.</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Paginación decidida en la semana 2</a:t>
            </a:r>
            <a:r>
              <a:rPr sz="1040" b="0" i="0">
                <a:solidFill>
                  <a:srgbClr val="000000"/>
                </a:solidFill>
                <a:latin typeface="Arial"/>
                <a:cs typeface="Arial"/>
              </a:rPr>
              <a:t>; cursor en desarrollo antes de la semana 4 y token de sincronización antes de la 5.</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Usuarios de negocio desde el inicio</a:t>
            </a:r>
            <a:r>
              <a:rPr sz="1040" b="0" i="0">
                <a:solidFill>
                  <a:srgbClr val="000000"/>
                </a:solidFill>
                <a:latin typeface="Arial"/>
                <a:cs typeface="Arial"/>
              </a:rPr>
              <a:t>, alineados con lo que recibirán; aceptan cada iterable en 2 días hábiles y Viva lo libera con el pipeline.</a:t>
            </a:r>
          </a:p>
        </p:txBody>
      </p:sp>
      <p:sp>
        <p:nvSpPr>
          <p:cNvPr id="10" name="Bloque 2 · número"/>
          <p:cNvSpPr/>
          <p:nvPr/>
        </p:nvSpPr>
        <p:spPr>
          <a:xfrm>
            <a:off x="4474352"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Bloque 3"/>
          <p:cNvSpPr/>
          <p:nvPr/>
        </p:nvSpPr>
        <p:spPr>
          <a:xfrm>
            <a:off x="8034327" y="1341086"/>
            <a:ext cx="3584358" cy="3988160"/>
          </a:xfrm>
          <a:prstGeom prst="roundRect">
            <a:avLst>
              <a:gd name="adj" fmla="val 306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Lo que no es viable</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Operar con la PUI con las tres fases dentro de las 7 semanas:</a:t>
            </a:r>
            <a:r>
              <a:rPr sz="1040" b="0" i="0">
                <a:solidFill>
                  <a:srgbClr val="000000"/>
                </a:solidFill>
                <a:latin typeface="Arial"/>
                <a:cs typeface="Arial"/>
              </a:rPr>
              <a:t> el iterable 4 se acepta en la semana 7 y se libera, como pronto, en la semana 8; el soporte de 2 semanas es en la 8 y la 9.</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Mantener la fecha si algo de lo que requiere un iterable no está listo antes de arrancarlo:</a:t>
            </a:r>
            <a:r>
              <a:rPr sz="1040" b="0" i="0">
                <a:solidFill>
                  <a:srgbClr val="000000"/>
                </a:solidFill>
                <a:latin typeface="Arial"/>
                <a:cs typeface="Arial"/>
              </a:rPr>
              <a:t> ese iterable se corre lo mismo, y con él la fecha final.</a:t>
            </a:r>
          </a:p>
          <a:p>
            <a:pPr algn="l" marL="155448" indent="-155448">
              <a:lnSpc>
                <a:spcPts val="1368"/>
              </a:lnSpc>
              <a:spcBef>
                <a:spcPts val="0"/>
              </a:spcBef>
              <a:spcAft>
                <a:spcPts val="300"/>
              </a:spcAft>
              <a:buClr>
                <a:srgbClr val="000000"/>
              </a:buClr>
              <a:buFont typeface="Arial"/>
              <a:buChar char="•"/>
            </a:pPr>
            <a:r>
              <a:rPr sz="1040" b="1" i="0">
                <a:solidFill>
                  <a:srgbClr val="000000"/>
                </a:solidFill>
                <a:latin typeface="Arial"/>
                <a:cs typeface="Arial"/>
              </a:rPr>
              <a:t>Liberar con la PUI sin acceso al sandbox:</a:t>
            </a:r>
            <a:r>
              <a:rPr sz="1040" b="0" i="0">
                <a:solidFill>
                  <a:srgbClr val="000000"/>
                </a:solidFill>
                <a:latin typeface="Arial"/>
                <a:cs typeface="Arial"/>
              </a:rPr>
              <a:t> solo se valida con simuladores.</a:t>
            </a:r>
          </a:p>
        </p:txBody>
      </p:sp>
      <p:sp>
        <p:nvSpPr>
          <p:cNvPr id="12" name="Bloque 3 · número"/>
          <p:cNvSpPr/>
          <p:nvPr/>
        </p:nvSpPr>
        <p:spPr>
          <a:xfrm>
            <a:off x="8205010"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Lo que requiere cada iterable </a:t>
            </a:r>
            <a:r>
              <a:rPr sz="2400" b="1" i="0">
                <a:solidFill>
                  <a:srgbClr val="5300DF"/>
                </a:solidFill>
                <a:latin typeface="Arial"/>
                <a:cs typeface="Arial"/>
              </a:rPr>
              <a:t>antes de arrancar</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8</a:t>
            </a:r>
          </a:p>
        </p:txBody>
      </p:sp>
      <p:sp>
        <p:nvSpPr>
          <p:cNvPr id="6" name="Entrada"/>
          <p:cNvSpPr txBox="1"/>
          <p:nvPr/>
        </p:nvSpPr>
        <p:spPr>
          <a:xfrm>
            <a:off x="573009" y="1249646"/>
            <a:ext cx="11045675" cy="372343"/>
          </a:xfrm>
          <a:prstGeom prst="rect">
            <a:avLst/>
          </a:prstGeom>
          <a:noFill/>
        </p:spPr>
        <p:txBody>
          <a:bodyPr wrap="square" lIns="0" rIns="0" tIns="0" bIns="0" anchor="t">
            <a:noAutofit/>
          </a:bodyPr>
          <a:lstStyle/>
          <a:p>
            <a:pPr algn="l">
              <a:lnSpc>
                <a:spcPts val="1393"/>
              </a:lnSpc>
              <a:spcBef>
                <a:spcPts val="0"/>
              </a:spcBef>
              <a:spcAft>
                <a:spcPts val="0"/>
              </a:spcAft>
              <a:buNone/>
            </a:pPr>
            <a:r>
              <a:rPr sz="1060" b="0" i="0">
                <a:solidFill>
                  <a:srgbClr val="000000"/>
                </a:solidFill>
                <a:latin typeface="Arial"/>
                <a:cs typeface="Arial"/>
              </a:rPr>
              <a:t>Viva debe tener listo lo que requiere cada iterable </a:t>
            </a:r>
            <a:r>
              <a:rPr sz="1060" b="1" i="0">
                <a:solidFill>
                  <a:srgbClr val="000000"/>
                </a:solidFill>
                <a:latin typeface="Arial"/>
                <a:cs typeface="Arial"/>
              </a:rPr>
              <a:t>antes de que arranque</a:t>
            </a:r>
            <a:r>
              <a:rPr sz="1060" b="0" i="0">
                <a:solidFill>
                  <a:srgbClr val="000000"/>
                </a:solidFill>
                <a:latin typeface="Arial"/>
                <a:cs typeface="Arial"/>
              </a:rPr>
              <a:t>. Si algo falta, </a:t>
            </a:r>
            <a:r>
              <a:rPr sz="1060" b="1" i="0">
                <a:solidFill>
                  <a:srgbClr val="000000"/>
                </a:solidFill>
                <a:latin typeface="Arial"/>
                <a:cs typeface="Arial"/>
              </a:rPr>
              <a:t>ese iterable no arranca y la fecha final se corre lo mismo</a:t>
            </a:r>
            <a:r>
              <a:rPr sz="1060" b="0" i="0">
                <a:solidFill>
                  <a:srgbClr val="000000"/>
                </a:solidFill>
                <a:latin typeface="Arial"/>
                <a:cs typeface="Arial"/>
              </a:rPr>
              <a:t>. El Scrum Master lo revisa cada semana con los responsables de Viva.</a:t>
            </a:r>
          </a:p>
        </p:txBody>
      </p:sp>
      <p:sp>
        <p:nvSpPr>
          <p:cNvPr id="7" name="Requisitos 1"/>
          <p:cNvSpPr/>
          <p:nvPr/>
        </p:nvSpPr>
        <p:spPr>
          <a:xfrm>
            <a:off x="573009" y="1701235"/>
            <a:ext cx="3608741" cy="2368311"/>
          </a:xfrm>
          <a:prstGeom prst="roundRect">
            <a:avLst>
              <a:gd name="adj" fmla="val 4633"/>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34108" tIns="109725" rIns="134108" bIns="109725" wrap="square">
            <a:noAutofit/>
          </a:bodyPr>
          <a:lstStyle/>
          <a:p>
            <a:pPr algn="l">
              <a:lnSpc>
                <a:spcPts val="988"/>
              </a:lnSpc>
              <a:spcBef>
                <a:spcPts val="0"/>
              </a:spcBef>
              <a:spcAft>
                <a:spcPts val="300"/>
              </a:spcAft>
              <a:buNone/>
            </a:pPr>
            <a:r>
              <a:rPr sz="750" b="1" i="0" spc="100">
                <a:solidFill>
                  <a:srgbClr val="22D0FF"/>
                </a:solidFill>
                <a:latin typeface="Arial"/>
                <a:cs typeface="Arial"/>
              </a:rPr>
              <a:t>Antes de la semana 1</a:t>
            </a:r>
          </a:p>
          <a:p>
            <a:pPr algn="l">
              <a:lnSpc>
                <a:spcPts val="1288"/>
              </a:lnSpc>
              <a:spcBef>
                <a:spcPts val="0"/>
              </a:spcBef>
              <a:spcAft>
                <a:spcPts val="400"/>
              </a:spcAft>
              <a:buNone/>
            </a:pPr>
            <a:r>
              <a:rPr sz="1060" b="1" i="0">
                <a:solidFill>
                  <a:srgbClr val="FFFFFF"/>
                </a:solidFill>
                <a:latin typeface="Arial"/>
                <a:cs typeface="Arial"/>
              </a:rPr>
              <a:t>Para arrancar el proyecto</a:t>
            </a:r>
          </a:p>
          <a:p>
            <a:pPr algn="l">
              <a:lnSpc>
                <a:spcPts val="1077"/>
              </a:lnSpc>
              <a:spcBef>
                <a:spcPts val="300"/>
              </a:spcBef>
              <a:spcAft>
                <a:spcPts val="100"/>
              </a:spcAft>
              <a:buNone/>
            </a:pPr>
            <a:r>
              <a:rPr sz="819" b="1" i="0">
                <a:solidFill>
                  <a:srgbClr val="FFFFFF"/>
                </a:solidFill>
                <a:latin typeface="Arial"/>
                <a:cs typeface="Arial"/>
              </a:rPr>
              <a:t>Requiere</a:t>
            </a:r>
          </a:p>
          <a:p>
            <a:pPr algn="l" marL="155448" indent="-155448">
              <a:lnSpc>
                <a:spcPts val="1165"/>
              </a:lnSpc>
              <a:spcBef>
                <a:spcPts val="0"/>
              </a:spcBef>
              <a:spcAft>
                <a:spcPts val="300"/>
              </a:spcAft>
              <a:buClr>
                <a:srgbClr val="FFFFFF"/>
              </a:buClr>
              <a:buFont typeface="Arial"/>
              <a:buChar char="•"/>
            </a:pPr>
            <a:r>
              <a:rPr sz="880" b="0" i="0">
                <a:solidFill>
                  <a:srgbClr val="FFFFFF"/>
                </a:solidFill>
                <a:latin typeface="Arial"/>
                <a:cs typeface="Arial"/>
              </a:rPr>
              <a:t>Cuenta de AWS de desarrollo con permisos, red, salida aprobada y MFA.</a:t>
            </a:r>
          </a:p>
          <a:p>
            <a:pPr algn="l" marL="155448" indent="-155448">
              <a:lnSpc>
                <a:spcPts val="1165"/>
              </a:lnSpc>
              <a:spcBef>
                <a:spcPts val="0"/>
              </a:spcBef>
              <a:spcAft>
                <a:spcPts val="300"/>
              </a:spcAft>
              <a:buClr>
                <a:srgbClr val="FFFFFF"/>
              </a:buClr>
              <a:buFont typeface="Arial"/>
              <a:buChar char="•"/>
            </a:pPr>
            <a:r>
              <a:rPr sz="880" b="0" i="0">
                <a:solidFill>
                  <a:srgbClr val="FFFFFF"/>
                </a:solidFill>
                <a:latin typeface="Arial"/>
                <a:cs typeface="Arial"/>
              </a:rPr>
              <a:t>Repositorio y CI/CD en GitLab (por confirmar), OIDC hacia AWS y Terraform con estado.</a:t>
            </a:r>
          </a:p>
          <a:p>
            <a:pPr algn="l" marL="155448" indent="-155448">
              <a:lnSpc>
                <a:spcPts val="1165"/>
              </a:lnSpc>
              <a:spcBef>
                <a:spcPts val="0"/>
              </a:spcBef>
              <a:spcAft>
                <a:spcPts val="300"/>
              </a:spcAft>
              <a:buClr>
                <a:srgbClr val="FFFFFF"/>
              </a:buClr>
              <a:buFont typeface="Arial"/>
              <a:buChar char="•"/>
            </a:pPr>
            <a:r>
              <a:rPr sz="880" b="0" i="0">
                <a:solidFill>
                  <a:srgbClr val="FFFFFF"/>
                </a:solidFill>
                <a:latin typeface="Arial"/>
                <a:cs typeface="Arial"/>
              </a:rPr>
              <a:t>Patrocinador de Viva y un responsable por cada precondición.</a:t>
            </a:r>
          </a:p>
          <a:p>
            <a:pPr algn="l" marL="155448" indent="-155448">
              <a:lnSpc>
                <a:spcPts val="1165"/>
              </a:lnSpc>
              <a:spcBef>
                <a:spcPts val="0"/>
              </a:spcBef>
              <a:spcAft>
                <a:spcPts val="300"/>
              </a:spcAft>
              <a:buClr>
                <a:srgbClr val="FFFFFF"/>
              </a:buClr>
              <a:buFont typeface="Arial"/>
              <a:buChar char="•"/>
            </a:pPr>
            <a:r>
              <a:rPr sz="880" b="0" i="0">
                <a:solidFill>
                  <a:srgbClr val="FFFFFF"/>
                </a:solidFill>
                <a:latin typeface="Arial"/>
                <a:cs typeface="Arial"/>
              </a:rPr>
              <a:t>Proyecto en Jira.</a:t>
            </a:r>
          </a:p>
          <a:p>
            <a:pPr algn="l" marL="155448" indent="-155448">
              <a:lnSpc>
                <a:spcPts val="1165"/>
              </a:lnSpc>
              <a:spcBef>
                <a:spcPts val="0"/>
              </a:spcBef>
              <a:spcAft>
                <a:spcPts val="300"/>
              </a:spcAft>
              <a:buClr>
                <a:srgbClr val="FFFFFF"/>
              </a:buClr>
              <a:buFont typeface="Arial"/>
              <a:buChar char="•"/>
            </a:pPr>
            <a:r>
              <a:rPr sz="880" b="0" i="0">
                <a:solidFill>
                  <a:srgbClr val="FFFFFF"/>
                </a:solidFill>
                <a:latin typeface="Arial"/>
                <a:cs typeface="Arial"/>
              </a:rPr>
              <a:t>Usuarios de negocio asignados desde el inicio: acuerdan qué recibirán en cada iterable y lo reciben en cuanto está listo.</a:t>
            </a:r>
          </a:p>
        </p:txBody>
      </p:sp>
      <p:sp>
        <p:nvSpPr>
          <p:cNvPr id="8" name="Requisitos 2"/>
          <p:cNvSpPr/>
          <p:nvPr/>
        </p:nvSpPr>
        <p:spPr>
          <a:xfrm>
            <a:off x="4291476" y="1701235"/>
            <a:ext cx="3608741" cy="2368311"/>
          </a:xfrm>
          <a:prstGeom prst="roundRect">
            <a:avLst>
              <a:gd name="adj" fmla="val 4633"/>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34108" tIns="109725" rIns="134108" bIns="109725" wrap="square">
            <a:noAutofit/>
          </a:bodyPr>
          <a:lstStyle/>
          <a:p>
            <a:pPr algn="l">
              <a:lnSpc>
                <a:spcPts val="988"/>
              </a:lnSpc>
              <a:spcBef>
                <a:spcPts val="0"/>
              </a:spcBef>
              <a:spcAft>
                <a:spcPts val="300"/>
              </a:spcAft>
              <a:buNone/>
            </a:pPr>
            <a:r>
              <a:rPr sz="750" b="1" i="0" spc="100">
                <a:solidFill>
                  <a:srgbClr val="5300DF"/>
                </a:solidFill>
                <a:latin typeface="Arial"/>
                <a:cs typeface="Arial"/>
              </a:rPr>
              <a:t>Iterable 1 · arranca en la semana 1 · liberable al cierre de la 4</a:t>
            </a:r>
          </a:p>
          <a:p>
            <a:pPr algn="l">
              <a:lnSpc>
                <a:spcPts val="1288"/>
              </a:lnSpc>
              <a:spcBef>
                <a:spcPts val="0"/>
              </a:spcBef>
              <a:spcAft>
                <a:spcPts val="400"/>
              </a:spcAft>
              <a:buNone/>
            </a:pPr>
            <a:r>
              <a:rPr sz="1060" b="1" i="0">
                <a:solidFill>
                  <a:srgbClr val="280265"/>
                </a:solidFill>
                <a:latin typeface="Arial"/>
                <a:cs typeface="Arial"/>
              </a:rPr>
              <a:t>La PUI registra y da de baja sus casos</a:t>
            </a:r>
          </a:p>
          <a:p>
            <a:pPr algn="l">
              <a:lnSpc>
                <a:spcPts val="1077"/>
              </a:lnSpc>
              <a:spcBef>
                <a:spcPts val="300"/>
              </a:spcBef>
              <a:spcAft>
                <a:spcPts val="100"/>
              </a:spcAft>
              <a:buNone/>
            </a:pPr>
            <a:r>
              <a:rPr sz="819" b="1" i="0">
                <a:solidFill>
                  <a:srgbClr val="280265"/>
                </a:solidFill>
                <a:latin typeface="Arial"/>
                <a:cs typeface="Arial"/>
              </a:rPr>
              <a:t>Requiere antes de arrancar</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Herramientas SAST, SCA y DAST, y si la PUI acepta sus reportes.</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Dominio, DNS, certificados e IP de origen de la PUI.</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Retención y acceso de la bitácora (Legal).</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Registro de Viva en la PUI y acceso al sandbox.</a:t>
            </a:r>
          </a:p>
          <a:p>
            <a:pPr algn="l">
              <a:lnSpc>
                <a:spcPts val="1077"/>
              </a:lnSpc>
              <a:spcBef>
                <a:spcPts val="300"/>
              </a:spcBef>
              <a:spcAft>
                <a:spcPts val="100"/>
              </a:spcAft>
              <a:buNone/>
            </a:pPr>
            <a:r>
              <a:rPr sz="819" b="1" i="0">
                <a:solidFill>
                  <a:srgbClr val="280265"/>
                </a:solidFill>
                <a:latin typeface="Arial"/>
                <a:cs typeface="Arial"/>
              </a:rPr>
              <a:t>Para liberarlo</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QA y Producción listos con paridad certificada, y ventana de Celerabit.</a:t>
            </a:r>
          </a:p>
        </p:txBody>
      </p:sp>
      <p:sp>
        <p:nvSpPr>
          <p:cNvPr id="9" name="Requisitos 3"/>
          <p:cNvSpPr/>
          <p:nvPr/>
        </p:nvSpPr>
        <p:spPr>
          <a:xfrm>
            <a:off x="8009943" y="1701235"/>
            <a:ext cx="3608741" cy="2368311"/>
          </a:xfrm>
          <a:prstGeom prst="roundRect">
            <a:avLst>
              <a:gd name="adj" fmla="val 4633"/>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34108" tIns="109725" rIns="134108" bIns="109725" wrap="square">
            <a:noAutofit/>
          </a:bodyPr>
          <a:lstStyle/>
          <a:p>
            <a:pPr algn="l">
              <a:lnSpc>
                <a:spcPts val="988"/>
              </a:lnSpc>
              <a:spcBef>
                <a:spcPts val="0"/>
              </a:spcBef>
              <a:spcAft>
                <a:spcPts val="300"/>
              </a:spcAft>
              <a:buNone/>
            </a:pPr>
            <a:r>
              <a:rPr sz="750" b="1" i="0" spc="100">
                <a:solidFill>
                  <a:srgbClr val="5300DF"/>
                </a:solidFill>
                <a:latin typeface="Arial"/>
                <a:cs typeface="Arial"/>
              </a:rPr>
              <a:t>Iterable 2 · arranca en la semana 1 · liberable al cierre de la 5</a:t>
            </a:r>
          </a:p>
          <a:p>
            <a:pPr algn="l">
              <a:lnSpc>
                <a:spcPts val="1288"/>
              </a:lnSpc>
              <a:spcBef>
                <a:spcPts val="0"/>
              </a:spcBef>
              <a:spcAft>
                <a:spcPts val="400"/>
              </a:spcAft>
              <a:buNone/>
            </a:pPr>
            <a:r>
              <a:rPr sz="1060" b="1" i="0">
                <a:solidFill>
                  <a:srgbClr val="280265"/>
                </a:solidFill>
                <a:latin typeface="Arial"/>
                <a:cs typeface="Arial"/>
              </a:rPr>
              <a:t>Encontramos lo más reciente y lo notificamos</a:t>
            </a:r>
          </a:p>
          <a:p>
            <a:pPr algn="l">
              <a:lnSpc>
                <a:spcPts val="1077"/>
              </a:lnSpc>
              <a:spcBef>
                <a:spcPts val="300"/>
              </a:spcBef>
              <a:spcAft>
                <a:spcPts val="100"/>
              </a:spcAft>
              <a:buNone/>
            </a:pPr>
            <a:r>
              <a:rPr sz="819" b="1" i="0">
                <a:solidFill>
                  <a:srgbClr val="280265"/>
                </a:solidFill>
                <a:latin typeface="Arial"/>
                <a:cs typeface="Arial"/>
              </a:rPr>
              <a:t>Requiere antes de arrancar</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Contrato v1.3 de la API interna congelado, para construir contra un simulador.</a:t>
            </a:r>
          </a:p>
          <a:p>
            <a:pPr algn="l">
              <a:lnSpc>
                <a:spcPts val="1077"/>
              </a:lnSpc>
              <a:spcBef>
                <a:spcPts val="300"/>
              </a:spcBef>
              <a:spcAft>
                <a:spcPts val="100"/>
              </a:spcAft>
              <a:buNone/>
            </a:pPr>
            <a:r>
              <a:rPr sz="819" b="1" i="0">
                <a:solidFill>
                  <a:srgbClr val="280265"/>
                </a:solidFill>
                <a:latin typeface="Arial"/>
                <a:cs typeface="Arial"/>
              </a:rPr>
              <a:t>Requiere antes de la semana 3, cuando empieza la búsqueda real</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Conexión a Reservaciones y Recursos Humanos en desarrollo, con CURP de prueba.</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Matriz de datos aprobada por Legal y regla para varias coincidencias.</a:t>
            </a:r>
          </a:p>
        </p:txBody>
      </p:sp>
      <p:sp>
        <p:nvSpPr>
          <p:cNvPr id="10" name="Requisitos 4"/>
          <p:cNvSpPr/>
          <p:nvPr/>
        </p:nvSpPr>
        <p:spPr>
          <a:xfrm>
            <a:off x="573009" y="4179272"/>
            <a:ext cx="3608741" cy="1995992"/>
          </a:xfrm>
          <a:prstGeom prst="roundRect">
            <a:avLst>
              <a:gd name="adj" fmla="val 549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34108" tIns="109725" rIns="134108" bIns="109725" wrap="square">
            <a:noAutofit/>
          </a:bodyPr>
          <a:lstStyle/>
          <a:p>
            <a:pPr algn="l">
              <a:lnSpc>
                <a:spcPts val="988"/>
              </a:lnSpc>
              <a:spcBef>
                <a:spcPts val="0"/>
              </a:spcBef>
              <a:spcAft>
                <a:spcPts val="300"/>
              </a:spcAft>
              <a:buNone/>
            </a:pPr>
            <a:r>
              <a:rPr sz="750" b="1" i="0" spc="100">
                <a:solidFill>
                  <a:srgbClr val="5300DF"/>
                </a:solidFill>
                <a:latin typeface="Arial"/>
                <a:cs typeface="Arial"/>
              </a:rPr>
              <a:t>Iterable 3 · arranca en la semana 4 · liberable al cierre de la 6</a:t>
            </a:r>
          </a:p>
          <a:p>
            <a:pPr algn="l">
              <a:lnSpc>
                <a:spcPts val="1288"/>
              </a:lnSpc>
              <a:spcBef>
                <a:spcPts val="0"/>
              </a:spcBef>
              <a:spcAft>
                <a:spcPts val="400"/>
              </a:spcAft>
              <a:buNone/>
            </a:pPr>
            <a:r>
              <a:rPr sz="1060" b="1" i="0">
                <a:solidFill>
                  <a:srgbClr val="280265"/>
                </a:solidFill>
                <a:latin typeface="Arial"/>
                <a:cs typeface="Arial"/>
              </a:rPr>
              <a:t>Histórico de hasta 12 años</a:t>
            </a:r>
          </a:p>
          <a:p>
            <a:pPr algn="l">
              <a:lnSpc>
                <a:spcPts val="1077"/>
              </a:lnSpc>
              <a:spcBef>
                <a:spcPts val="300"/>
              </a:spcBef>
              <a:spcAft>
                <a:spcPts val="100"/>
              </a:spcAft>
              <a:buNone/>
            </a:pPr>
            <a:r>
              <a:rPr sz="819" b="1" i="0">
                <a:solidFill>
                  <a:srgbClr val="280265"/>
                </a:solidFill>
                <a:latin typeface="Arial"/>
                <a:cs typeface="Arial"/>
              </a:rPr>
              <a:t>Requiere antes de arrancar</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Decisión sobre la paginación por cursor, tomada en la semana 2 (lámina 9).</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Cursor disponible en desarrollo.</a:t>
            </a:r>
          </a:p>
        </p:txBody>
      </p:sp>
      <p:sp>
        <p:nvSpPr>
          <p:cNvPr id="11" name="Requisitos 5"/>
          <p:cNvSpPr/>
          <p:nvPr/>
        </p:nvSpPr>
        <p:spPr>
          <a:xfrm>
            <a:off x="4291476" y="4179272"/>
            <a:ext cx="3608741" cy="1995992"/>
          </a:xfrm>
          <a:prstGeom prst="roundRect">
            <a:avLst>
              <a:gd name="adj" fmla="val 549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34108" tIns="109725" rIns="134108" bIns="109725" wrap="square">
            <a:noAutofit/>
          </a:bodyPr>
          <a:lstStyle/>
          <a:p>
            <a:pPr algn="l">
              <a:lnSpc>
                <a:spcPts val="988"/>
              </a:lnSpc>
              <a:spcBef>
                <a:spcPts val="0"/>
              </a:spcBef>
              <a:spcAft>
                <a:spcPts val="300"/>
              </a:spcAft>
              <a:buNone/>
            </a:pPr>
            <a:r>
              <a:rPr sz="750" b="1" i="0" spc="100">
                <a:solidFill>
                  <a:srgbClr val="5300DF"/>
                </a:solidFill>
                <a:latin typeface="Arial"/>
                <a:cs typeface="Arial"/>
              </a:rPr>
              <a:t>Iterable 4 · arranca en la semana 5 · liberable al cierre de la 7</a:t>
            </a:r>
          </a:p>
          <a:p>
            <a:pPr algn="l">
              <a:lnSpc>
                <a:spcPts val="1288"/>
              </a:lnSpc>
              <a:spcBef>
                <a:spcPts val="0"/>
              </a:spcBef>
              <a:spcAft>
                <a:spcPts val="400"/>
              </a:spcAft>
              <a:buNone/>
            </a:pPr>
            <a:r>
              <a:rPr sz="1060" b="1" i="0">
                <a:solidFill>
                  <a:srgbClr val="280265"/>
                </a:solidFill>
                <a:latin typeface="Arial"/>
                <a:cs typeface="Arial"/>
              </a:rPr>
              <a:t>Vigilancia continua</a:t>
            </a:r>
          </a:p>
          <a:p>
            <a:pPr algn="l">
              <a:lnSpc>
                <a:spcPts val="1077"/>
              </a:lnSpc>
              <a:spcBef>
                <a:spcPts val="300"/>
              </a:spcBef>
              <a:spcAft>
                <a:spcPts val="100"/>
              </a:spcAft>
              <a:buNone/>
            </a:pPr>
            <a:r>
              <a:rPr sz="819" b="1" i="0">
                <a:solidFill>
                  <a:srgbClr val="280265"/>
                </a:solidFill>
                <a:latin typeface="Arial"/>
                <a:cs typeface="Arial"/>
              </a:rPr>
              <a:t>Requiere antes de arrancar</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Token de sincronización en desarrollo, o la decisión de usar fecha de modificación.</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Frecuencia de la fase 3 y volumen esperado de casos.</a:t>
            </a:r>
          </a:p>
          <a:p>
            <a:pPr algn="l">
              <a:lnSpc>
                <a:spcPts val="1077"/>
              </a:lnSpc>
              <a:spcBef>
                <a:spcPts val="300"/>
              </a:spcBef>
              <a:spcAft>
                <a:spcPts val="100"/>
              </a:spcAft>
              <a:buNone/>
            </a:pPr>
            <a:r>
              <a:rPr sz="819" b="1" i="0">
                <a:solidFill>
                  <a:srgbClr val="280265"/>
                </a:solidFill>
                <a:latin typeface="Arial"/>
                <a:cs typeface="Arial"/>
              </a:rPr>
              <a:t>Para liberarlo</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Ventana de Celerabit del flujo completo y ambiente que se certifica con el sandbox.</a:t>
            </a:r>
          </a:p>
        </p:txBody>
      </p:sp>
      <p:sp>
        <p:nvSpPr>
          <p:cNvPr id="12" name="Requisitos 6"/>
          <p:cNvSpPr/>
          <p:nvPr/>
        </p:nvSpPr>
        <p:spPr>
          <a:xfrm>
            <a:off x="8009943" y="4179272"/>
            <a:ext cx="3608741" cy="1995992"/>
          </a:xfrm>
          <a:prstGeom prst="roundRect">
            <a:avLst>
              <a:gd name="adj" fmla="val 549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34108" tIns="109725" rIns="134108" bIns="109725" wrap="square">
            <a:noAutofit/>
          </a:bodyPr>
          <a:lstStyle/>
          <a:p>
            <a:pPr algn="l">
              <a:lnSpc>
                <a:spcPts val="988"/>
              </a:lnSpc>
              <a:spcBef>
                <a:spcPts val="0"/>
              </a:spcBef>
              <a:spcAft>
                <a:spcPts val="300"/>
              </a:spcAft>
              <a:buNone/>
            </a:pPr>
            <a:r>
              <a:rPr sz="750" b="1" i="0" spc="100">
                <a:solidFill>
                  <a:srgbClr val="5300DF"/>
                </a:solidFill>
                <a:latin typeface="Arial"/>
                <a:cs typeface="Arial"/>
              </a:rPr>
              <a:t>Iterable 5 · arranca en la semana 6 · liberable al cierre de la 7</a:t>
            </a:r>
          </a:p>
          <a:p>
            <a:pPr algn="l">
              <a:lnSpc>
                <a:spcPts val="1288"/>
              </a:lnSpc>
              <a:spcBef>
                <a:spcPts val="0"/>
              </a:spcBef>
              <a:spcAft>
                <a:spcPts val="400"/>
              </a:spcAft>
              <a:buNone/>
            </a:pPr>
            <a:r>
              <a:rPr sz="1060" b="1" i="0">
                <a:solidFill>
                  <a:srgbClr val="280265"/>
                </a:solidFill>
                <a:latin typeface="Arial"/>
                <a:cs typeface="Arial"/>
              </a:rPr>
              <a:t>Conciliación y reproceso</a:t>
            </a:r>
          </a:p>
          <a:p>
            <a:pPr algn="l">
              <a:lnSpc>
                <a:spcPts val="1077"/>
              </a:lnSpc>
              <a:spcBef>
                <a:spcPts val="300"/>
              </a:spcBef>
              <a:spcAft>
                <a:spcPts val="100"/>
              </a:spcAft>
              <a:buNone/>
            </a:pPr>
            <a:r>
              <a:rPr sz="819" b="1" i="0">
                <a:solidFill>
                  <a:srgbClr val="280265"/>
                </a:solidFill>
                <a:latin typeface="Arial"/>
                <a:cs typeface="Arial"/>
              </a:rPr>
              <a:t>Requiere antes de arrancar</a:t>
            </a:r>
          </a:p>
          <a:p>
            <a:pPr algn="l" marL="155448" indent="-155448">
              <a:lnSpc>
                <a:spcPts val="1165"/>
              </a:lnSpc>
              <a:spcBef>
                <a:spcPts val="0"/>
              </a:spcBef>
              <a:spcAft>
                <a:spcPts val="300"/>
              </a:spcAft>
              <a:buClr>
                <a:srgbClr val="000000"/>
              </a:buClr>
              <a:buFont typeface="Arial"/>
              <a:buChar char="•"/>
            </a:pPr>
            <a:r>
              <a:rPr sz="880" b="0" i="0">
                <a:solidFill>
                  <a:srgbClr val="000000"/>
                </a:solidFill>
                <a:latin typeface="Arial"/>
                <a:cs typeface="Arial"/>
              </a:rPr>
              <a:t>Quién recibe y atiende las alertas de Producción.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Solicitud de cambio a la API interna de Viva: </a:t>
            </a:r>
            <a:r>
              <a:rPr sz="2400" b="1" i="0">
                <a:solidFill>
                  <a:srgbClr val="5300DF"/>
                </a:solidFill>
                <a:latin typeface="Arial"/>
                <a:cs typeface="Arial"/>
              </a:rPr>
              <a:t>paginación por cursor</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9</a:t>
            </a:r>
          </a:p>
        </p:txBody>
      </p:sp>
      <p:sp>
        <p:nvSpPr>
          <p:cNvPr id="6" name="Nota"/>
          <p:cNvSpPr/>
          <p:nvPr/>
        </p:nvSpPr>
        <p:spPr>
          <a:xfrm>
            <a:off x="573009" y="5658329"/>
            <a:ext cx="11045675" cy="516935"/>
          </a:xfrm>
          <a:prstGeom prst="roundRect">
            <a:avLst>
              <a:gd name="adj" fmla="val 17688"/>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67"/>
              </a:lnSpc>
              <a:spcBef>
                <a:spcPts val="0"/>
              </a:spcBef>
              <a:spcAft>
                <a:spcPts val="0"/>
              </a:spcAft>
              <a:buNone/>
            </a:pPr>
            <a:r>
              <a:rPr sz="960" b="1" i="0">
                <a:solidFill>
                  <a:srgbClr val="FFFFFF"/>
                </a:solidFill>
                <a:latin typeface="Arial"/>
                <a:cs typeface="Arial"/>
              </a:rPr>
              <a:t>Si no se implementa:</a:t>
            </a:r>
            <a:r>
              <a:rPr sz="960" b="0" i="0">
                <a:solidFill>
                  <a:srgbClr val="FFFFFF"/>
                </a:solidFill>
                <a:latin typeface="Arial"/>
                <a:cs typeface="Arial"/>
              </a:rPr>
              <a:t> la fase 2 se parte en consultas de un año y la fase 3 filtra por fecha de modificación (</a:t>
            </a:r>
            <a:r>
              <a:rPr sz="880" b="0" i="0">
                <a:solidFill>
                  <a:srgbClr val="FFFFFF"/>
                </a:solidFill>
                <a:latin typeface="Courier New"/>
                <a:cs typeface="Courier New"/>
              </a:rPr>
              <a:t>updatedSince</a:t>
            </a:r>
            <a:r>
              <a:rPr sz="960" b="0" i="0">
                <a:solidFill>
                  <a:srgbClr val="FFFFFF"/>
                </a:solidFill>
                <a:latin typeface="Arial"/>
                <a:cs typeface="Arial"/>
              </a:rPr>
              <a:t>). Funciona y no mueve el plan, pero con más carga sobre la API interna y sin garantía cuando un año concentra muchos eventos. Los iterables 1 y 2 no dependen de este cambio.</a:t>
            </a:r>
          </a:p>
        </p:txBody>
      </p:sp>
      <p:sp>
        <p:nvSpPr>
          <p:cNvPr id="7" name="Por qué"/>
          <p:cNvSpPr/>
          <p:nvPr/>
        </p:nvSpPr>
        <p:spPr>
          <a:xfrm>
            <a:off x="573009" y="1341086"/>
            <a:ext cx="5582606" cy="1477927"/>
          </a:xfrm>
          <a:prstGeom prst="roundRect">
            <a:avLst>
              <a:gd name="adj" fmla="val 742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64"/>
              </a:lnSpc>
              <a:spcBef>
                <a:spcPts val="0"/>
              </a:spcBef>
              <a:spcAft>
                <a:spcPts val="400"/>
              </a:spcAft>
              <a:buNone/>
            </a:pPr>
            <a:r>
              <a:rPr sz="1200" b="1" i="0">
                <a:solidFill>
                  <a:srgbClr val="280265"/>
                </a:solidFill>
                <a:latin typeface="Arial"/>
                <a:cs typeface="Arial"/>
              </a:rPr>
              <a:t>Por qué</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Una persona puede acumular cientos o miles de eventos en 12 años, y la v1.3 los devuelve en una sola respuesta.</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Una respuesta así pone en riesgo los tiempos y la memoria de la API interna y de nuestras Lambdas.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Filtrar por fecha del evento no detecta en la fase 3 los cambios sobre eventos antiguos.</a:t>
            </a:r>
          </a:p>
        </p:txBody>
      </p:sp>
      <p:sp>
        <p:nvSpPr>
          <p:cNvPr id="8" name="Por qué · número"/>
          <p:cNvSpPr/>
          <p:nvPr/>
        </p:nvSpPr>
        <p:spPr>
          <a:xfrm>
            <a:off x="743693" y="1479766"/>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Cambio al contrato"/>
          <p:cNvSpPr/>
          <p:nvPr/>
        </p:nvSpPr>
        <p:spPr>
          <a:xfrm>
            <a:off x="573009" y="2953122"/>
            <a:ext cx="5582606" cy="2571098"/>
          </a:xfrm>
          <a:prstGeom prst="roundRect">
            <a:avLst>
              <a:gd name="adj" fmla="val 426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64"/>
              </a:lnSpc>
              <a:spcBef>
                <a:spcPts val="0"/>
              </a:spcBef>
              <a:spcAft>
                <a:spcPts val="400"/>
              </a:spcAft>
              <a:buNone/>
            </a:pPr>
            <a:r>
              <a:rPr sz="1200" b="1" i="0">
                <a:solidFill>
                  <a:srgbClr val="280265"/>
                </a:solidFill>
                <a:latin typeface="Arial"/>
                <a:cs typeface="Arial"/>
              </a:rPr>
              <a:t>Cambio al contrato </a:t>
            </a:r>
            <a:r>
              <a:rPr sz="1100" b="1" i="0">
                <a:solidFill>
                  <a:srgbClr val="280265"/>
                </a:solidFill>
                <a:latin typeface="Courier New"/>
                <a:cs typeface="Courier New"/>
              </a:rPr>
              <a:t>POST /v1/person-records/search</a:t>
            </a:r>
          </a:p>
        </p:txBody>
      </p:sp>
      <p:sp>
        <p:nvSpPr>
          <p:cNvPr id="10" name="Cambio al contrato · número"/>
          <p:cNvSpPr/>
          <p:nvPr/>
        </p:nvSpPr>
        <p:spPr>
          <a:xfrm>
            <a:off x="743693" y="3091802"/>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Código"/>
          <p:cNvSpPr/>
          <p:nvPr/>
        </p:nvSpPr>
        <p:spPr>
          <a:xfrm>
            <a:off x="743693" y="3372726"/>
            <a:ext cx="5241239" cy="2005193"/>
          </a:xfrm>
          <a:prstGeom prst="roundRect">
            <a:avLst>
              <a:gd name="adj" fmla="val 2736"/>
            </a:avLst>
          </a:prstGeom>
          <a:solidFill>
            <a:srgbClr val="282E3F"/>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tIns="73152" rIns="109728" bIns="73152" wrap="square">
            <a:noAutofit/>
          </a:bodyPr>
          <a:lstStyle/>
          <a:p>
            <a:pPr algn="l">
              <a:lnSpc>
                <a:spcPts val="1076"/>
              </a:lnSpc>
              <a:spcBef>
                <a:spcPts val="0"/>
              </a:spcBef>
              <a:spcAft>
                <a:spcPts val="0"/>
              </a:spcAft>
              <a:buNone/>
            </a:pPr>
            <a:r>
              <a:rPr sz="830" b="0" i="0">
                <a:solidFill>
                  <a:srgbClr val="EBEBFF"/>
                </a:solidFill>
                <a:latin typeface="Courier New"/>
                <a:cs typeface="Courier New"/>
              </a:rPr>
              <a:t>// Fases 1 y 2: recorrer por páginas</a:t>
            </a:r>
          </a:p>
          <a:p>
            <a:pPr algn="l">
              <a:lnSpc>
                <a:spcPts val="1076"/>
              </a:lnSpc>
              <a:spcBef>
                <a:spcPts val="0"/>
              </a:spcBef>
              <a:spcAft>
                <a:spcPts val="0"/>
              </a:spcAft>
              <a:buNone/>
            </a:pPr>
            <a:r>
              <a:rPr sz="830" b="0" i="0">
                <a:solidFill>
                  <a:srgbClr val="FFFFFF"/>
                </a:solidFill>
                <a:latin typeface="Courier New"/>
                <a:cs typeface="Courier New"/>
              </a:rPr>
              <a:t>{ "curp": "XEXX010101HNEXXXA0",</a:t>
            </a:r>
          </a:p>
          <a:p>
            <a:pPr algn="l">
              <a:lnSpc>
                <a:spcPts val="1076"/>
              </a:lnSpc>
              <a:spcBef>
                <a:spcPts val="0"/>
              </a:spcBef>
              <a:spcAft>
                <a:spcPts val="0"/>
              </a:spcAft>
              <a:buNone/>
            </a:pPr>
            <a:r>
              <a:rPr sz="830" b="0" i="0">
                <a:solidFill>
                  <a:srgbClr val="FFFFFF"/>
                </a:solidFill>
                <a:latin typeface="Courier New"/>
                <a:cs typeface="Courier New"/>
              </a:rPr>
              <a:t>  "fromDate": "2014-10-22", "toDate": "2026-10-22",</a:t>
            </a:r>
          </a:p>
          <a:p>
            <a:pPr algn="l">
              <a:lnSpc>
                <a:spcPts val="1076"/>
              </a:lnSpc>
              <a:spcBef>
                <a:spcPts val="0"/>
              </a:spcBef>
              <a:spcAft>
                <a:spcPts val="0"/>
              </a:spcAft>
              <a:buNone/>
            </a:pPr>
            <a:r>
              <a:rPr sz="830" b="0" i="0">
                <a:solidFill>
                  <a:srgbClr val="FFFFFF"/>
                </a:solidFill>
                <a:latin typeface="Courier New"/>
                <a:cs typeface="Courier New"/>
              </a:rPr>
              <a:t>  </a:t>
            </a:r>
            <a:r>
              <a:rPr sz="830" b="1" i="0">
                <a:solidFill>
                  <a:srgbClr val="FFFFFF"/>
                </a:solidFill>
                <a:latin typeface="Courier New"/>
                <a:cs typeface="Courier New"/>
              </a:rPr>
              <a:t>"pageSize": 100, "cursor": null</a:t>
            </a:r>
            <a:r>
              <a:rPr sz="830" b="0" i="0">
                <a:solidFill>
                  <a:srgbClr val="FFFFFF"/>
                </a:solidFill>
                <a:latin typeface="Courier New"/>
                <a:cs typeface="Courier New"/>
              </a:rPr>
              <a:t> }</a:t>
            </a:r>
          </a:p>
          <a:p>
            <a:pPr algn="l">
              <a:lnSpc>
                <a:spcPts val="1076"/>
              </a:lnSpc>
              <a:spcBef>
                <a:spcPts val="0"/>
              </a:spcBef>
              <a:spcAft>
                <a:spcPts val="0"/>
              </a:spcAft>
              <a:buNone/>
            </a:pPr>
            <a:r>
              <a:rPr sz="830" b="0" i="0">
                <a:solidFill>
                  <a:srgbClr val="FFFFFF"/>
                </a:solidFill>
                <a:latin typeface="Courier New"/>
                <a:cs typeface="Courier New"/>
              </a:rPr>
              <a:t> </a:t>
            </a:r>
          </a:p>
          <a:p>
            <a:pPr algn="l">
              <a:lnSpc>
                <a:spcPts val="1076"/>
              </a:lnSpc>
              <a:spcBef>
                <a:spcPts val="0"/>
              </a:spcBef>
              <a:spcAft>
                <a:spcPts val="0"/>
              </a:spcAft>
              <a:buNone/>
            </a:pPr>
            <a:r>
              <a:rPr sz="830" b="0" i="0">
                <a:solidFill>
                  <a:srgbClr val="EBEBFF"/>
                </a:solidFill>
                <a:latin typeface="Courier New"/>
                <a:cs typeface="Courier New"/>
              </a:rPr>
              <a:t>// Respuesta</a:t>
            </a:r>
          </a:p>
          <a:p>
            <a:pPr algn="l">
              <a:lnSpc>
                <a:spcPts val="1076"/>
              </a:lnSpc>
              <a:spcBef>
                <a:spcPts val="0"/>
              </a:spcBef>
              <a:spcAft>
                <a:spcPts val="0"/>
              </a:spcAft>
              <a:buNone/>
            </a:pPr>
            <a:r>
              <a:rPr sz="830" b="0" i="0">
                <a:solidFill>
                  <a:srgbClr val="FFFFFF"/>
                </a:solidFill>
                <a:latin typeface="Courier New"/>
                <a:cs typeface="Courier New"/>
              </a:rPr>
              <a:t>{ "results": [ ... hasta 100 eventos ... ],</a:t>
            </a:r>
          </a:p>
          <a:p>
            <a:pPr algn="l">
              <a:lnSpc>
                <a:spcPts val="1076"/>
              </a:lnSpc>
              <a:spcBef>
                <a:spcPts val="0"/>
              </a:spcBef>
              <a:spcAft>
                <a:spcPts val="0"/>
              </a:spcAft>
              <a:buNone/>
            </a:pPr>
            <a:r>
              <a:rPr sz="830" b="0" i="0">
                <a:solidFill>
                  <a:srgbClr val="FFFFFF"/>
                </a:solidFill>
                <a:latin typeface="Courier New"/>
                <a:cs typeface="Courier New"/>
              </a:rPr>
              <a:t>  </a:t>
            </a:r>
            <a:r>
              <a:rPr sz="830" b="1" i="0">
                <a:solidFill>
                  <a:srgbClr val="FFFFFF"/>
                </a:solidFill>
                <a:latin typeface="Courier New"/>
                <a:cs typeface="Courier New"/>
              </a:rPr>
              <a:t>"page": { "nextCursor": "eyJ1IjoiMjAxOS...", "hasMore": true },
  "syncToken": null</a:t>
            </a:r>
            <a:r>
              <a:rPr sz="830" b="0" i="0">
                <a:solidFill>
                  <a:srgbClr val="FFFFFF"/>
                </a:solidFill>
                <a:latin typeface="Courier New"/>
                <a:cs typeface="Courier New"/>
              </a:rPr>
              <a:t> }</a:t>
            </a:r>
          </a:p>
          <a:p>
            <a:pPr algn="l">
              <a:lnSpc>
                <a:spcPts val="1076"/>
              </a:lnSpc>
              <a:spcBef>
                <a:spcPts val="0"/>
              </a:spcBef>
              <a:spcAft>
                <a:spcPts val="0"/>
              </a:spcAft>
              <a:buNone/>
            </a:pPr>
            <a:r>
              <a:rPr sz="830" b="0" i="0">
                <a:solidFill>
                  <a:srgbClr val="FFFFFF"/>
                </a:solidFill>
                <a:latin typeface="Courier New"/>
                <a:cs typeface="Courier New"/>
              </a:rPr>
              <a:t> </a:t>
            </a:r>
          </a:p>
          <a:p>
            <a:pPr algn="l">
              <a:lnSpc>
                <a:spcPts val="1076"/>
              </a:lnSpc>
              <a:spcBef>
                <a:spcPts val="0"/>
              </a:spcBef>
              <a:spcAft>
                <a:spcPts val="0"/>
              </a:spcAft>
              <a:buNone/>
            </a:pPr>
            <a:r>
              <a:rPr sz="830" b="0" i="0">
                <a:solidFill>
                  <a:srgbClr val="EBEBFF"/>
                </a:solidFill>
                <a:latin typeface="Courier New"/>
                <a:cs typeface="Courier New"/>
              </a:rPr>
              <a:t>// Fase 3: solo lo nuevo o modificado</a:t>
            </a:r>
          </a:p>
          <a:p>
            <a:pPr algn="l">
              <a:lnSpc>
                <a:spcPts val="1076"/>
              </a:lnSpc>
              <a:spcBef>
                <a:spcPts val="0"/>
              </a:spcBef>
              <a:spcAft>
                <a:spcPts val="0"/>
              </a:spcAft>
              <a:buNone/>
            </a:pPr>
            <a:r>
              <a:rPr sz="830" b="0" i="0">
                <a:solidFill>
                  <a:srgbClr val="FFFFFF"/>
                </a:solidFill>
                <a:latin typeface="Courier New"/>
                <a:cs typeface="Courier New"/>
              </a:rPr>
              <a:t>{ "curp": "XEXX010101HNEXXXA0", </a:t>
            </a:r>
            <a:r>
              <a:rPr sz="830" b="1" i="0">
                <a:solidFill>
                  <a:srgbClr val="FFFFFF"/>
                </a:solidFill>
                <a:latin typeface="Courier New"/>
                <a:cs typeface="Courier New"/>
              </a:rPr>
              <a:t>"syncToken": "c3luYzoyMDI2..."</a:t>
            </a:r>
            <a:r>
              <a:rPr sz="830" b="0" i="0">
                <a:solidFill>
                  <a:srgbClr val="FFFFFF"/>
                </a:solidFill>
                <a:latin typeface="Courier New"/>
                <a:cs typeface="Courier New"/>
              </a:rPr>
              <a:t> }</a:t>
            </a:r>
          </a:p>
        </p:txBody>
      </p:sp>
      <p:sp>
        <p:nvSpPr>
          <p:cNvPr id="12" name="Reglas"/>
          <p:cNvSpPr/>
          <p:nvPr/>
        </p:nvSpPr>
        <p:spPr>
          <a:xfrm>
            <a:off x="6301916" y="1341086"/>
            <a:ext cx="5316768" cy="2111094"/>
          </a:xfrm>
          <a:prstGeom prst="roundRect">
            <a:avLst>
              <a:gd name="adj" fmla="val 519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64"/>
              </a:lnSpc>
              <a:spcBef>
                <a:spcPts val="0"/>
              </a:spcBef>
              <a:spcAft>
                <a:spcPts val="400"/>
              </a:spcAft>
              <a:buNone/>
            </a:pPr>
            <a:r>
              <a:rPr sz="1200" b="1" i="0">
                <a:solidFill>
                  <a:srgbClr val="280265"/>
                </a:solidFill>
                <a:latin typeface="Arial"/>
                <a:cs typeface="Arial"/>
              </a:rPr>
              <a:t>Reglas que debe cumplir</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Orden estable</a:t>
            </a:r>
            <a:r>
              <a:rPr sz="940" b="0" i="0">
                <a:solidFill>
                  <a:srgbClr val="000000"/>
                </a:solidFill>
                <a:latin typeface="Arial"/>
                <a:cs typeface="Arial"/>
              </a:rPr>
              <a:t> por </a:t>
            </a:r>
            <a:r>
              <a:rPr sz="869" b="0" i="0">
                <a:solidFill>
                  <a:srgbClr val="000000"/>
                </a:solidFill>
                <a:latin typeface="Courier New"/>
                <a:cs typeface="Courier New"/>
              </a:rPr>
              <a:t>updatedAt</a:t>
            </a:r>
            <a:r>
              <a:rPr sz="940" b="0" i="0">
                <a:solidFill>
                  <a:srgbClr val="000000"/>
                </a:solidFill>
                <a:latin typeface="Arial"/>
                <a:cs typeface="Arial"/>
              </a:rPr>
              <a:t> y </a:t>
            </a:r>
            <a:r>
              <a:rPr sz="869" b="0" i="0">
                <a:solidFill>
                  <a:srgbClr val="000000"/>
                </a:solidFill>
                <a:latin typeface="Courier New"/>
                <a:cs typeface="Courier New"/>
              </a:rPr>
              <a:t>eventId</a:t>
            </a:r>
            <a:r>
              <a:rPr sz="940" b="0" i="0">
                <a:solidFill>
                  <a:srgbClr val="000000"/>
                </a:solidFill>
                <a:latin typeface="Arial"/>
                <a:cs typeface="Arial"/>
              </a:rPr>
              <a:t>, igual en todas las páginas.</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Cursor por posición del último elemento</a:t>
            </a:r>
            <a:r>
              <a:rPr sz="940" b="0" i="0">
                <a:solidFill>
                  <a:srgbClr val="000000"/>
                </a:solidFill>
                <a:latin typeface="Arial"/>
                <a:cs typeface="Arial"/>
              </a:rPr>
              <a:t> (keyset), no por número de página: así un evento nuevo no corre la lista.</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Cursor opaco</a:t>
            </a:r>
            <a:r>
              <a:rPr sz="940" b="0" i="0">
                <a:solidFill>
                  <a:srgbClr val="000000"/>
                </a:solidFill>
                <a:latin typeface="Arial"/>
                <a:cs typeface="Arial"/>
              </a:rPr>
              <a:t>, con vencimiento documentado.</a:t>
            </a:r>
          </a:p>
          <a:p>
            <a:pPr algn="l" marL="155448" indent="-155448">
              <a:lnSpc>
                <a:spcPts val="1241"/>
              </a:lnSpc>
              <a:spcBef>
                <a:spcPts val="0"/>
              </a:spcBef>
              <a:spcAft>
                <a:spcPts val="300"/>
              </a:spcAft>
              <a:buClr>
                <a:srgbClr val="000000"/>
              </a:buClr>
              <a:buFont typeface="Arial"/>
              <a:buChar char="•"/>
            </a:pPr>
            <a:r>
              <a:rPr sz="869" b="1" i="0">
                <a:solidFill>
                  <a:srgbClr val="000000"/>
                </a:solidFill>
                <a:latin typeface="Courier New"/>
                <a:cs typeface="Courier New"/>
              </a:rPr>
              <a:t>pageSize</a:t>
            </a:r>
            <a:r>
              <a:rPr sz="940" b="1" i="0">
                <a:solidFill>
                  <a:srgbClr val="000000"/>
                </a:solidFill>
                <a:latin typeface="Arial"/>
                <a:cs typeface="Arial"/>
              </a:rPr>
              <a:t> máximo acordado</a:t>
            </a:r>
            <a:r>
              <a:rPr sz="940" b="0" i="0">
                <a:solidFill>
                  <a:srgbClr val="000000"/>
                </a:solidFill>
                <a:latin typeface="Arial"/>
                <a:cs typeface="Arial"/>
              </a:rPr>
              <a:t>, por ejemplo 100 eventos.</a:t>
            </a:r>
          </a:p>
          <a:p>
            <a:pPr algn="l" marL="155448" indent="-155448">
              <a:lnSpc>
                <a:spcPts val="1241"/>
              </a:lnSpc>
              <a:spcBef>
                <a:spcPts val="0"/>
              </a:spcBef>
              <a:spcAft>
                <a:spcPts val="300"/>
              </a:spcAft>
              <a:buClr>
                <a:srgbClr val="000000"/>
              </a:buClr>
              <a:buFont typeface="Arial"/>
              <a:buChar char="•"/>
            </a:pPr>
            <a:r>
              <a:rPr sz="869" b="1" i="0">
                <a:solidFill>
                  <a:srgbClr val="000000"/>
                </a:solidFill>
                <a:latin typeface="Courier New"/>
                <a:cs typeface="Courier New"/>
              </a:rPr>
              <a:t>syncToken</a:t>
            </a:r>
            <a:r>
              <a:rPr sz="940" b="1" i="0">
                <a:solidFill>
                  <a:srgbClr val="000000"/>
                </a:solidFill>
                <a:latin typeface="Arial"/>
                <a:cs typeface="Arial"/>
              </a:rPr>
              <a:t> en la última página.</a:t>
            </a:r>
            <a:r>
              <a:rPr sz="940" b="0" i="0">
                <a:solidFill>
                  <a:srgbClr val="000000"/>
                </a:solidFill>
                <a:latin typeface="Arial"/>
                <a:cs typeface="Arial"/>
              </a:rPr>
              <a:t> Con él se devuelve solo lo creado, modificado o cancelado desde entonces.</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Error 410 si el token venció</a:t>
            </a:r>
            <a:r>
              <a:rPr sz="940" b="0" i="0">
                <a:solidFill>
                  <a:srgbClr val="000000"/>
                </a:solidFill>
                <a:latin typeface="Arial"/>
                <a:cs typeface="Arial"/>
              </a:rPr>
              <a:t>; en ese caso hacemos una sincronización completa.</a:t>
            </a:r>
          </a:p>
        </p:txBody>
      </p:sp>
      <p:sp>
        <p:nvSpPr>
          <p:cNvPr id="13" name="Reglas · número"/>
          <p:cNvSpPr/>
          <p:nvPr/>
        </p:nvSpPr>
        <p:spPr>
          <a:xfrm>
            <a:off x="6472600" y="1479766"/>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
        <p:nvSpPr>
          <p:cNvPr id="14" name="Cuándo"/>
          <p:cNvSpPr/>
          <p:nvPr/>
        </p:nvSpPr>
        <p:spPr>
          <a:xfrm>
            <a:off x="6301916" y="3586289"/>
            <a:ext cx="5316768" cy="1937930"/>
          </a:xfrm>
          <a:prstGeom prst="roundRect">
            <a:avLst>
              <a:gd name="adj" fmla="val 5662"/>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64"/>
              </a:lnSpc>
              <a:spcBef>
                <a:spcPts val="0"/>
              </a:spcBef>
              <a:spcAft>
                <a:spcPts val="400"/>
              </a:spcAft>
              <a:buNone/>
            </a:pPr>
            <a:r>
              <a:rPr sz="1200" b="1" i="0">
                <a:solidFill>
                  <a:srgbClr val="280265"/>
                </a:solidFill>
                <a:latin typeface="Arial"/>
                <a:cs typeface="Arial"/>
              </a:rPr>
              <a:t>Cuándo lo necesitamos</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Semana 2:</a:t>
            </a:r>
            <a:r>
              <a:rPr sz="940" b="0" i="0">
                <a:solidFill>
                  <a:srgbClr val="000000"/>
                </a:solidFill>
                <a:latin typeface="Arial"/>
                <a:cs typeface="Arial"/>
              </a:rPr>
              <a:t> la decisión de Viva, para diseñar las fases 2 y 3.</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Antes de la semana 4:</a:t>
            </a:r>
            <a:r>
              <a:rPr sz="940" b="0" i="0">
                <a:solidFill>
                  <a:srgbClr val="000000"/>
                </a:solidFill>
                <a:latin typeface="Arial"/>
                <a:cs typeface="Arial"/>
              </a:rPr>
              <a:t> el cursor en desarrollo, para arrancar el iterable 3.</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Antes de la semana 5:</a:t>
            </a:r>
            <a:r>
              <a:rPr sz="940" b="0" i="0">
                <a:solidFill>
                  <a:srgbClr val="000000"/>
                </a:solidFill>
                <a:latin typeface="Arial"/>
                <a:cs typeface="Arial"/>
              </a:rPr>
              <a:t> el token de sincronización en desarrollo, para arrancar el iterable 4.</a:t>
            </a:r>
          </a:p>
        </p:txBody>
      </p:sp>
      <p:sp>
        <p:nvSpPr>
          <p:cNvPr id="15" name="Cuándo · número"/>
          <p:cNvSpPr/>
          <p:nvPr/>
        </p:nvSpPr>
        <p:spPr>
          <a:xfrm>
            <a:off x="6472600" y="3724969"/>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Cómo funciona (1 de 3): </a:t>
            </a:r>
            <a:r>
              <a:rPr sz="2400" b="1" i="0">
                <a:solidFill>
                  <a:srgbClr val="5300DF"/>
                </a:solidFill>
                <a:latin typeface="Arial"/>
                <a:cs typeface="Arial"/>
              </a:rPr>
              <a:t>recibir</a:t>
            </a:r>
            <a:r>
              <a:rPr sz="2400" b="1" i="0">
                <a:solidFill>
                  <a:srgbClr val="280265"/>
                </a:solidFill>
                <a:latin typeface="Arial"/>
                <a:cs typeface="Arial"/>
              </a:rPr>
              <a:t> el caso y buscar lo más reciente</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10</a:t>
            </a:r>
          </a:p>
        </p:txBody>
      </p:sp>
      <p:sp>
        <p:nvSpPr>
          <p:cNvPr id="6" name="Entrada"/>
          <p:cNvSpPr txBox="1"/>
          <p:nvPr/>
        </p:nvSpPr>
        <p:spPr>
          <a:xfrm>
            <a:off x="573009" y="1249646"/>
            <a:ext cx="10162021" cy="404530"/>
          </a:xfrm>
          <a:prstGeom prst="rect">
            <a:avLst/>
          </a:prstGeom>
          <a:noFill/>
        </p:spPr>
        <p:txBody>
          <a:bodyPr wrap="square" lIns="0" rIns="0" tIns="0" bIns="0" anchor="t">
            <a:noAutofit/>
          </a:bodyPr>
          <a:lstStyle/>
          <a:p>
            <a:pPr algn="l">
              <a:lnSpc>
                <a:spcPts val="1520"/>
              </a:lnSpc>
              <a:spcBef>
                <a:spcPts val="0"/>
              </a:spcBef>
              <a:spcAft>
                <a:spcPts val="0"/>
              </a:spcAft>
              <a:buNone/>
            </a:pPr>
            <a:r>
              <a:rPr sz="1150" b="0" i="0">
                <a:solidFill>
                  <a:srgbClr val="000000"/>
                </a:solidFill>
                <a:latin typeface="Arial"/>
                <a:cs typeface="Arial"/>
              </a:rPr>
              <a:t>Ejemplo: la PUI reporta la CURP </a:t>
            </a:r>
            <a:r>
              <a:rPr sz="1060" b="0" i="0">
                <a:solidFill>
                  <a:srgbClr val="000000"/>
                </a:solidFill>
                <a:latin typeface="Courier New"/>
                <a:cs typeface="Courier New"/>
              </a:rPr>
              <a:t>XEXX010101HNEXXXA0</a:t>
            </a:r>
            <a:r>
              <a:rPr sz="1150" b="0" i="0">
                <a:solidFill>
                  <a:srgbClr val="000000"/>
                </a:solidFill>
                <a:latin typeface="Arial"/>
                <a:cs typeface="Arial"/>
              </a:rPr>
              <a:t>. La solución funciona como intermediario: recibe el caso, busca en la API interna de Viva y le reporta a la PUI lo que encuentra.</a:t>
            </a:r>
          </a:p>
        </p:txBody>
      </p:sp>
      <p:sp>
        <p:nvSpPr>
          <p:cNvPr id="7" name="Paso 1"/>
          <p:cNvSpPr/>
          <p:nvPr/>
        </p:nvSpPr>
        <p:spPr>
          <a:xfrm>
            <a:off x="573009" y="1757805"/>
            <a:ext cx="3568102" cy="4417459"/>
          </a:xfrm>
          <a:prstGeom prst="roundRect">
            <a:avLst>
              <a:gd name="adj" fmla="val 307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Entrada </a:t>
            </a:r>
            <a:r>
              <a:rPr sz="750" b="1" i="0" spc="100">
                <a:solidFill>
                  <a:srgbClr val="5300DF"/>
                </a:solidFill>
                <a:latin typeface="Arial"/>
                <a:cs typeface="Arial"/>
              </a:rPr>
              <a:t>  ·  ITERABLE 1</a:t>
            </a:r>
          </a:p>
          <a:p>
            <a:pPr algn="l">
              <a:lnSpc>
                <a:spcPts val="1639"/>
              </a:lnSpc>
              <a:spcBef>
                <a:spcPts val="0"/>
              </a:spcBef>
              <a:spcAft>
                <a:spcPts val="400"/>
              </a:spcAft>
              <a:buNone/>
            </a:pPr>
            <a:r>
              <a:rPr sz="1340" b="1" i="0">
                <a:solidFill>
                  <a:srgbClr val="280265"/>
                </a:solidFill>
                <a:latin typeface="Arial"/>
                <a:cs typeface="Arial"/>
              </a:rPr>
              <a:t>La PUI entrega el caso</a:t>
            </a:r>
          </a:p>
          <a:p>
            <a:pPr algn="l" marL="274320" indent="-274320">
              <a:lnSpc>
                <a:spcPts val="1457"/>
              </a:lnSpc>
              <a:spcBef>
                <a:spcPts val="0"/>
              </a:spcBef>
              <a:spcAft>
                <a:spcPts val="600"/>
              </a:spcAft>
              <a:buClr>
                <a:srgbClr val="5300DF"/>
              </a:buClr>
              <a:buFont typeface="Arial"/>
              <a:buAutoNum type="arabicPlain" startAt="1"/>
            </a:pPr>
            <a:r>
              <a:rPr sz="1100" b="0" i="0">
                <a:solidFill>
                  <a:srgbClr val="000000"/>
                </a:solidFill>
                <a:latin typeface="Arial"/>
                <a:cs typeface="Arial"/>
              </a:rPr>
              <a:t>La PUI se autentica en nuestro </a:t>
            </a:r>
            <a:r>
              <a:rPr sz="1019" b="0" i="0">
                <a:solidFill>
                  <a:srgbClr val="000000"/>
                </a:solidFill>
                <a:latin typeface="Courier New"/>
                <a:cs typeface="Courier New"/>
              </a:rPr>
              <a:t>/login</a:t>
            </a:r>
            <a:r>
              <a:rPr sz="1100" b="0" i="0">
                <a:solidFill>
                  <a:srgbClr val="000000"/>
                </a:solidFill>
                <a:latin typeface="Arial"/>
                <a:cs typeface="Arial"/>
              </a:rPr>
              <a:t> y recibe un JWT.</a:t>
            </a:r>
          </a:p>
          <a:p>
            <a:pPr algn="l" marL="274320" indent="-274320">
              <a:lnSpc>
                <a:spcPts val="1457"/>
              </a:lnSpc>
              <a:spcBef>
                <a:spcPts val="0"/>
              </a:spcBef>
              <a:spcAft>
                <a:spcPts val="600"/>
              </a:spcAft>
              <a:buClr>
                <a:srgbClr val="5300DF"/>
              </a:buClr>
              <a:buFont typeface="Arial"/>
              <a:buAutoNum type="arabicPlain" startAt="1"/>
            </a:pPr>
            <a:r>
              <a:rPr sz="1100" b="0" i="0">
                <a:solidFill>
                  <a:srgbClr val="000000"/>
                </a:solidFill>
                <a:latin typeface="Arial"/>
                <a:cs typeface="Arial"/>
              </a:rPr>
              <a:t>Llama a </a:t>
            </a:r>
            <a:r>
              <a:rPr sz="1019" b="0" i="0">
                <a:solidFill>
                  <a:srgbClr val="000000"/>
                </a:solidFill>
                <a:latin typeface="Courier New"/>
                <a:cs typeface="Courier New"/>
              </a:rPr>
              <a:t>/activar-reporte</a:t>
            </a:r>
            <a:r>
              <a:rPr sz="1100" b="0" i="0">
                <a:solidFill>
                  <a:srgbClr val="000000"/>
                </a:solidFill>
                <a:latin typeface="Arial"/>
                <a:cs typeface="Arial"/>
              </a:rPr>
              <a:t> con la CURP; WAF y API Gateway validan tráfico y token antes de ejecutar código.</a:t>
            </a:r>
          </a:p>
          <a:p>
            <a:pPr algn="l" marL="274320" indent="-274320">
              <a:lnSpc>
                <a:spcPts val="1457"/>
              </a:lnSpc>
              <a:spcBef>
                <a:spcPts val="0"/>
              </a:spcBef>
              <a:spcAft>
                <a:spcPts val="600"/>
              </a:spcAft>
              <a:buClr>
                <a:srgbClr val="5300DF"/>
              </a:buClr>
              <a:buFont typeface="Arial"/>
              <a:buAutoNum type="arabicPlain" startAt="1"/>
            </a:pPr>
            <a:r>
              <a:rPr sz="1100" b="0" i="0">
                <a:solidFill>
                  <a:srgbClr val="000000"/>
                </a:solidFill>
                <a:latin typeface="Arial"/>
                <a:cs typeface="Arial"/>
              </a:rPr>
              <a:t>Una Lambda valida la CURP, evita duplicados, guarda el caso cifrado en DynamoDB y, desde el iterable 2, deja un mensaje en la cola SQS.</a:t>
            </a:r>
          </a:p>
          <a:p>
            <a:pPr algn="l" marL="274320" indent="-274320">
              <a:lnSpc>
                <a:spcPts val="1457"/>
              </a:lnSpc>
              <a:spcBef>
                <a:spcPts val="0"/>
              </a:spcBef>
              <a:spcAft>
                <a:spcPts val="600"/>
              </a:spcAft>
              <a:buClr>
                <a:srgbClr val="5300DF"/>
              </a:buClr>
              <a:buFont typeface="Arial"/>
              <a:buAutoNum type="arabicPlain" startAt="1"/>
            </a:pPr>
            <a:r>
              <a:rPr sz="1100" b="0" i="0">
                <a:solidFill>
                  <a:srgbClr val="000000"/>
                </a:solidFill>
                <a:latin typeface="Arial"/>
                <a:cs typeface="Arial"/>
              </a:rPr>
              <a:t>La PUI recibe «recibido» en segundos; la búsqueda espera en la cola y se reintenta si la API interna falla.</a:t>
            </a:r>
          </a:p>
        </p:txBody>
      </p:sp>
      <p:sp>
        <p:nvSpPr>
          <p:cNvPr id="8" name="Paso 2"/>
          <p:cNvSpPr/>
          <p:nvPr/>
        </p:nvSpPr>
        <p:spPr>
          <a:xfrm>
            <a:off x="4311796" y="1757805"/>
            <a:ext cx="3568102" cy="4417459"/>
          </a:xfrm>
          <a:prstGeom prst="roundRect">
            <a:avLst>
              <a:gd name="adj" fmla="val 307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Fase 1 </a:t>
            </a:r>
            <a:r>
              <a:rPr sz="750" b="1" i="0" spc="100">
                <a:solidFill>
                  <a:srgbClr val="5300DF"/>
                </a:solidFill>
                <a:latin typeface="Arial"/>
                <a:cs typeface="Arial"/>
              </a:rPr>
              <a:t>  ·  ITERABLE 2</a:t>
            </a:r>
          </a:p>
          <a:p>
            <a:pPr algn="l">
              <a:lnSpc>
                <a:spcPts val="1639"/>
              </a:lnSpc>
              <a:spcBef>
                <a:spcPts val="0"/>
              </a:spcBef>
              <a:spcAft>
                <a:spcPts val="400"/>
              </a:spcAft>
              <a:buNone/>
            </a:pPr>
            <a:r>
              <a:rPr sz="1340" b="1" i="0">
                <a:solidFill>
                  <a:srgbClr val="280265"/>
                </a:solidFill>
                <a:latin typeface="Arial"/>
                <a:cs typeface="Arial"/>
              </a:rPr>
              <a:t>Lo más reciente</a:t>
            </a:r>
          </a:p>
          <a:p>
            <a:pPr algn="l" marL="274320" indent="-274320">
              <a:lnSpc>
                <a:spcPts val="1457"/>
              </a:lnSpc>
              <a:spcBef>
                <a:spcPts val="0"/>
              </a:spcBef>
              <a:spcAft>
                <a:spcPts val="600"/>
              </a:spcAft>
              <a:buClr>
                <a:srgbClr val="5300DF"/>
              </a:buClr>
              <a:buFont typeface="Arial"/>
              <a:buAutoNum type="arabicPlain" startAt="5"/>
            </a:pPr>
            <a:r>
              <a:rPr sz="1100" b="0" i="0">
                <a:solidFill>
                  <a:srgbClr val="000000"/>
                </a:solidFill>
                <a:latin typeface="Arial"/>
                <a:cs typeface="Arial"/>
              </a:rPr>
              <a:t>El worker de fase 1 toma el mensaje de la cola.</a:t>
            </a:r>
          </a:p>
          <a:p>
            <a:pPr algn="l" marL="274320" indent="-274320">
              <a:lnSpc>
                <a:spcPts val="1457"/>
              </a:lnSpc>
              <a:spcBef>
                <a:spcPts val="0"/>
              </a:spcBef>
              <a:spcAft>
                <a:spcPts val="600"/>
              </a:spcAft>
              <a:buClr>
                <a:srgbClr val="5300DF"/>
              </a:buClr>
              <a:buFont typeface="Arial"/>
              <a:buAutoNum type="arabicPlain" startAt="5"/>
            </a:pPr>
            <a:r>
              <a:rPr sz="1100" b="0" i="0">
                <a:solidFill>
                  <a:srgbClr val="000000"/>
                </a:solidFill>
                <a:latin typeface="Arial"/>
                <a:cs typeface="Arial"/>
              </a:rPr>
              <a:t>Consulta la API interna sin fechas; esta busca en Reservaciones (Navitaire) y en Recursos Humanos.</a:t>
            </a:r>
          </a:p>
          <a:p>
            <a:pPr algn="l" marL="274320" indent="-274320">
              <a:lnSpc>
                <a:spcPts val="1457"/>
              </a:lnSpc>
              <a:spcBef>
                <a:spcPts val="0"/>
              </a:spcBef>
              <a:spcAft>
                <a:spcPts val="600"/>
              </a:spcAft>
              <a:buClr>
                <a:srgbClr val="5300DF"/>
              </a:buClr>
              <a:buFont typeface="Arial"/>
              <a:buAutoNum type="arabicPlain" startAt="5"/>
            </a:pPr>
            <a:r>
              <a:rPr sz="1100" b="0" i="0">
                <a:solidFill>
                  <a:srgbClr val="000000"/>
                </a:solidFill>
                <a:latin typeface="Arial"/>
                <a:cs typeface="Arial"/>
              </a:rPr>
              <a:t>La API responde, por ejemplo, con una reserva próxima y los datos de contacto.</a:t>
            </a:r>
          </a:p>
          <a:p>
            <a:pPr algn="l" marL="274320" indent="-274320">
              <a:lnSpc>
                <a:spcPts val="1457"/>
              </a:lnSpc>
              <a:spcBef>
                <a:spcPts val="0"/>
              </a:spcBef>
              <a:spcAft>
                <a:spcPts val="600"/>
              </a:spcAft>
              <a:buClr>
                <a:srgbClr val="5300DF"/>
              </a:buClr>
              <a:buFont typeface="Arial"/>
              <a:buAutoNum type="arabicPlain" startAt="5"/>
            </a:pPr>
            <a:r>
              <a:rPr sz="1100" b="0" i="0">
                <a:solidFill>
                  <a:srgbClr val="000000"/>
                </a:solidFill>
                <a:latin typeface="Arial"/>
                <a:cs typeface="Arial"/>
              </a:rPr>
              <a:t>Si hay datos, deja un único aviso en la cola de notificación; si no hay, la fase 1 no notifica.</a:t>
            </a:r>
          </a:p>
        </p:txBody>
      </p:sp>
      <p:sp>
        <p:nvSpPr>
          <p:cNvPr id="9" name="Paso 3"/>
          <p:cNvSpPr/>
          <p:nvPr/>
        </p:nvSpPr>
        <p:spPr>
          <a:xfrm>
            <a:off x="8050582" y="1757805"/>
            <a:ext cx="3568102" cy="4417459"/>
          </a:xfrm>
          <a:prstGeom prst="roundRect">
            <a:avLst>
              <a:gd name="adj" fmla="val 307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Notificación </a:t>
            </a:r>
            <a:r>
              <a:rPr sz="750" b="1" i="0" spc="100">
                <a:solidFill>
                  <a:srgbClr val="5300DF"/>
                </a:solidFill>
                <a:latin typeface="Arial"/>
                <a:cs typeface="Arial"/>
              </a:rPr>
              <a:t>  ·  ITERABLE 2</a:t>
            </a:r>
          </a:p>
          <a:p>
            <a:pPr algn="l">
              <a:lnSpc>
                <a:spcPts val="1639"/>
              </a:lnSpc>
              <a:spcBef>
                <a:spcPts val="0"/>
              </a:spcBef>
              <a:spcAft>
                <a:spcPts val="400"/>
              </a:spcAft>
              <a:buNone/>
            </a:pPr>
            <a:r>
              <a:rPr sz="1340" b="1" i="0">
                <a:solidFill>
                  <a:srgbClr val="280265"/>
                </a:solidFill>
                <a:latin typeface="Arial"/>
                <a:cs typeface="Arial"/>
              </a:rPr>
              <a:t>Reportar a la PUI por servicio web</a:t>
            </a:r>
          </a:p>
          <a:p>
            <a:pPr algn="l" marL="274320" indent="-274320">
              <a:lnSpc>
                <a:spcPts val="1457"/>
              </a:lnSpc>
              <a:spcBef>
                <a:spcPts val="0"/>
              </a:spcBef>
              <a:spcAft>
                <a:spcPts val="600"/>
              </a:spcAft>
              <a:buClr>
                <a:srgbClr val="5300DF"/>
              </a:buClr>
              <a:buFont typeface="Arial"/>
              <a:buAutoNum type="arabicPlain" startAt="9"/>
            </a:pPr>
            <a:r>
              <a:rPr sz="1100" b="0" i="0">
                <a:solidFill>
                  <a:srgbClr val="000000"/>
                </a:solidFill>
                <a:latin typeface="Arial"/>
                <a:cs typeface="Arial"/>
              </a:rPr>
              <a:t>La Lambda notificadora toma el aviso de nuestra cola interna; la PUI no ve esa cola.</a:t>
            </a:r>
          </a:p>
          <a:p>
            <a:pPr algn="l" marL="274320" indent="-274320">
              <a:lnSpc>
                <a:spcPts val="1457"/>
              </a:lnSpc>
              <a:spcBef>
                <a:spcPts val="0"/>
              </a:spcBef>
              <a:spcAft>
                <a:spcPts val="600"/>
              </a:spcAft>
              <a:buClr>
                <a:srgbClr val="5300DF"/>
              </a:buClr>
              <a:buFont typeface="Arial"/>
              <a:buAutoNum type="arabicPlain" startAt="9"/>
            </a:pPr>
            <a:r>
              <a:rPr sz="1100" b="0" i="0">
                <a:solidFill>
                  <a:srgbClr val="000000"/>
                </a:solidFill>
                <a:latin typeface="Arial"/>
                <a:cs typeface="Arial"/>
              </a:rPr>
              <a:t>Obtiene el JWT de la PUI (vigencia de una hora) con credenciales de Secrets Manager.</a:t>
            </a:r>
          </a:p>
          <a:p>
            <a:pPr algn="l" marL="274320" indent="-274320">
              <a:lnSpc>
                <a:spcPts val="1457"/>
              </a:lnSpc>
              <a:spcBef>
                <a:spcPts val="0"/>
              </a:spcBef>
              <a:spcAft>
                <a:spcPts val="600"/>
              </a:spcAft>
              <a:buClr>
                <a:srgbClr val="5300DF"/>
              </a:buClr>
              <a:buFont typeface="Arial"/>
              <a:buAutoNum type="arabicPlain" startAt="9"/>
            </a:pPr>
            <a:r>
              <a:rPr sz="1100" b="0" i="0">
                <a:solidFill>
                  <a:srgbClr val="000000"/>
                </a:solidFill>
                <a:latin typeface="Arial"/>
                <a:cs typeface="Arial"/>
              </a:rPr>
              <a:t>Llama por HTTPS a </a:t>
            </a:r>
            <a:r>
              <a:rPr sz="1019" b="0" i="0">
                <a:solidFill>
                  <a:srgbClr val="000000"/>
                </a:solidFill>
                <a:latin typeface="Courier New"/>
                <a:cs typeface="Courier New"/>
              </a:rPr>
              <a:t>/notificar-coincidencia</a:t>
            </a:r>
            <a:r>
              <a:rPr sz="1100" b="0" i="0">
                <a:solidFill>
                  <a:srgbClr val="000000"/>
                </a:solidFill>
                <a:latin typeface="Arial"/>
                <a:cs typeface="Arial"/>
              </a:rPr>
              <a:t> con </a:t>
            </a:r>
            <a:r>
              <a:rPr sz="1019" b="0" i="0">
                <a:solidFill>
                  <a:srgbClr val="000000"/>
                </a:solidFill>
                <a:latin typeface="Courier New"/>
                <a:cs typeface="Courier New"/>
              </a:rPr>
              <a:t>fase_busqueda</a:t>
            </a:r>
            <a:r>
              <a:rPr sz="1100" b="0" i="0">
                <a:solidFill>
                  <a:srgbClr val="000000"/>
                </a:solidFill>
                <a:latin typeface="Arial"/>
                <a:cs typeface="Arial"/>
              </a:rPr>
              <a:t> y solo los campos aprobados por Legal.</a:t>
            </a:r>
          </a:p>
          <a:p>
            <a:pPr algn="l" marL="274320" indent="-274320">
              <a:lnSpc>
                <a:spcPts val="1457"/>
              </a:lnSpc>
              <a:spcBef>
                <a:spcPts val="0"/>
              </a:spcBef>
              <a:spcAft>
                <a:spcPts val="600"/>
              </a:spcAft>
              <a:buClr>
                <a:srgbClr val="5300DF"/>
              </a:buClr>
              <a:buFont typeface="Arial"/>
              <a:buAutoNum type="arabicPlain" startAt="9"/>
            </a:pPr>
            <a:r>
              <a:rPr sz="1100" b="0" i="0">
                <a:solidFill>
                  <a:srgbClr val="000000"/>
                </a:solidFill>
                <a:latin typeface="Arial"/>
                <a:cs typeface="Arial"/>
              </a:rPr>
              <a:t>Si la PUI no responde, el aviso vuelve a la cola y se reintenta; tras varios intentos pasa a la DLQ.</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Cómo funciona (2 de 3): buscar </a:t>
            </a:r>
            <a:r>
              <a:rPr sz="2400" b="1" i="0">
                <a:solidFill>
                  <a:srgbClr val="5300DF"/>
                </a:solidFill>
                <a:latin typeface="Arial"/>
                <a:cs typeface="Arial"/>
              </a:rPr>
              <a:t>hacia atrás</a:t>
            </a:r>
            <a:r>
              <a:rPr sz="2400" b="1" i="0">
                <a:solidFill>
                  <a:srgbClr val="280265"/>
                </a:solidFill>
                <a:latin typeface="Arial"/>
                <a:cs typeface="Arial"/>
              </a:rPr>
              <a:t> y seguir vigilando</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11</a:t>
            </a:r>
          </a:p>
        </p:txBody>
      </p:sp>
      <p:sp>
        <p:nvSpPr>
          <p:cNvPr id="6" name="Nota"/>
          <p:cNvSpPr/>
          <p:nvPr/>
        </p:nvSpPr>
        <p:spPr>
          <a:xfrm>
            <a:off x="573009" y="5651891"/>
            <a:ext cx="11045675" cy="523373"/>
          </a:xfrm>
          <a:prstGeom prst="roundRect">
            <a:avLst>
              <a:gd name="adj" fmla="val 17471"/>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Esto requiere el cambio de la lámina 9</a:t>
            </a:r>
            <a:r>
              <a:rPr sz="980" b="0" i="0">
                <a:solidFill>
                  <a:srgbClr val="FFFFFF"/>
                </a:solidFill>
                <a:latin typeface="Arial"/>
                <a:cs typeface="Arial"/>
              </a:rPr>
              <a:t> en la API interna: paginación por cursor y token de sincronización. Sin él, la fase 2 se parte en consultas de un año y la fase 3 filtra por fecha de modificación.</a:t>
            </a:r>
          </a:p>
        </p:txBody>
      </p:sp>
      <p:sp>
        <p:nvSpPr>
          <p:cNvPr id="7" name="Paso 1"/>
          <p:cNvSpPr/>
          <p:nvPr/>
        </p:nvSpPr>
        <p:spPr>
          <a:xfrm>
            <a:off x="573009" y="1341086"/>
            <a:ext cx="5437496" cy="4176696"/>
          </a:xfrm>
          <a:prstGeom prst="roundRect">
            <a:avLst>
              <a:gd name="adj" fmla="val 262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Fase 2 </a:t>
            </a:r>
            <a:r>
              <a:rPr sz="750" b="1" i="0" spc="100">
                <a:solidFill>
                  <a:srgbClr val="5300DF"/>
                </a:solidFill>
                <a:latin typeface="Arial"/>
                <a:cs typeface="Arial"/>
              </a:rPr>
              <a:t>  ·  ITERABLE 3</a:t>
            </a:r>
          </a:p>
          <a:p>
            <a:pPr algn="l">
              <a:lnSpc>
                <a:spcPts val="1639"/>
              </a:lnSpc>
              <a:spcBef>
                <a:spcPts val="0"/>
              </a:spcBef>
              <a:spcAft>
                <a:spcPts val="400"/>
              </a:spcAft>
              <a:buNone/>
            </a:pPr>
            <a:r>
              <a:rPr sz="1340" b="1" i="0">
                <a:solidFill>
                  <a:srgbClr val="280265"/>
                </a:solidFill>
                <a:latin typeface="Arial"/>
                <a:cs typeface="Arial"/>
              </a:rPr>
              <a:t>Histórico de hasta 12 años</a:t>
            </a:r>
          </a:p>
          <a:p>
            <a:pPr algn="l" marL="274320" indent="-274320">
              <a:lnSpc>
                <a:spcPts val="1584"/>
              </a:lnSpc>
              <a:spcBef>
                <a:spcPts val="0"/>
              </a:spcBef>
              <a:spcAft>
                <a:spcPts val="600"/>
              </a:spcAft>
              <a:buClr>
                <a:srgbClr val="5300DF"/>
              </a:buClr>
              <a:buFont typeface="Arial"/>
              <a:buAutoNum type="arabicPlain" startAt="13"/>
            </a:pPr>
            <a:r>
              <a:rPr sz="1200" b="0" i="0">
                <a:solidFill>
                  <a:srgbClr val="000000"/>
                </a:solidFill>
                <a:latin typeface="Arial"/>
                <a:cs typeface="Arial"/>
              </a:rPr>
              <a:t>Al terminar la fase 1, el worker consulta la API interna desde la fecha de desaparición que envía la PUI, con tope de 12 años. Sin esa fecha, la fase se omite (por confirmar si igual se envía el cierre).</a:t>
            </a:r>
          </a:p>
          <a:p>
            <a:pPr algn="l" marL="274320" indent="-274320">
              <a:lnSpc>
                <a:spcPts val="1584"/>
              </a:lnSpc>
              <a:spcBef>
                <a:spcPts val="0"/>
              </a:spcBef>
              <a:spcAft>
                <a:spcPts val="600"/>
              </a:spcAft>
              <a:buClr>
                <a:srgbClr val="5300DF"/>
              </a:buClr>
              <a:buFont typeface="Arial"/>
              <a:buAutoNum type="arabicPlain" startAt="13"/>
            </a:pPr>
            <a:r>
              <a:rPr sz="1200" b="0" i="0">
                <a:solidFill>
                  <a:srgbClr val="000000"/>
                </a:solidFill>
                <a:latin typeface="Arial"/>
                <a:cs typeface="Arial"/>
              </a:rPr>
              <a:t>La API interna entrega los eventos por páginas. Cada página es un mensaje en la cola y, si una falla, se reintenta solo esa página.</a:t>
            </a:r>
          </a:p>
          <a:p>
            <a:pPr algn="l" marL="274320" indent="-274320">
              <a:lnSpc>
                <a:spcPts val="1584"/>
              </a:lnSpc>
              <a:spcBef>
                <a:spcPts val="0"/>
              </a:spcBef>
              <a:spcAft>
                <a:spcPts val="600"/>
              </a:spcAft>
              <a:buClr>
                <a:srgbClr val="5300DF"/>
              </a:buClr>
              <a:buFont typeface="Arial"/>
              <a:buAutoNum type="arabicPlain" startAt="13"/>
            </a:pPr>
            <a:r>
              <a:rPr sz="1200" b="0" i="0">
                <a:solidFill>
                  <a:srgbClr val="000000"/>
                </a:solidFill>
                <a:latin typeface="Arial"/>
                <a:cs typeface="Arial"/>
              </a:rPr>
              <a:t>Cada evento encontrado (un vuelo, un check-in, un empleo) se notifica por separado con el paso de notificación.</a:t>
            </a:r>
          </a:p>
          <a:p>
            <a:pPr algn="l" marL="274320" indent="-274320">
              <a:lnSpc>
                <a:spcPts val="1584"/>
              </a:lnSpc>
              <a:spcBef>
                <a:spcPts val="0"/>
              </a:spcBef>
              <a:spcAft>
                <a:spcPts val="600"/>
              </a:spcAft>
              <a:buClr>
                <a:srgbClr val="5300DF"/>
              </a:buClr>
              <a:buFont typeface="Arial"/>
              <a:buAutoNum type="arabicPlain" startAt="13"/>
            </a:pPr>
            <a:r>
              <a:rPr sz="1200" b="0" i="0">
                <a:solidFill>
                  <a:srgbClr val="000000"/>
                </a:solidFill>
                <a:latin typeface="Arial"/>
                <a:cs typeface="Arial"/>
              </a:rPr>
              <a:t>Cuando la última página de cada fuente llega sin más resultados, se envía </a:t>
            </a:r>
            <a:r>
              <a:rPr sz="1100" b="0" i="0">
                <a:solidFill>
                  <a:srgbClr val="000000"/>
                </a:solidFill>
                <a:latin typeface="Courier New"/>
                <a:cs typeface="Courier New"/>
              </a:rPr>
              <a:t>/busqueda-finalizada</a:t>
            </a:r>
            <a:r>
              <a:rPr sz="1200" b="0" i="0">
                <a:solidFill>
                  <a:srgbClr val="000000"/>
                </a:solidFill>
                <a:latin typeface="Arial"/>
                <a:cs typeface="Arial"/>
              </a:rPr>
              <a:t>, aunque no haya coincidencias.</a:t>
            </a:r>
          </a:p>
        </p:txBody>
      </p:sp>
      <p:sp>
        <p:nvSpPr>
          <p:cNvPr id="8" name="Paso 2"/>
          <p:cNvSpPr/>
          <p:nvPr/>
        </p:nvSpPr>
        <p:spPr>
          <a:xfrm>
            <a:off x="6181189" y="1341086"/>
            <a:ext cx="5437496" cy="4176696"/>
          </a:xfrm>
          <a:prstGeom prst="roundRect">
            <a:avLst>
              <a:gd name="adj" fmla="val 262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Fase 3 </a:t>
            </a:r>
            <a:r>
              <a:rPr sz="750" b="1" i="0" spc="100">
                <a:solidFill>
                  <a:srgbClr val="5300DF"/>
                </a:solidFill>
                <a:latin typeface="Arial"/>
                <a:cs typeface="Arial"/>
              </a:rPr>
              <a:t>  ·  ITERABLE 4</a:t>
            </a:r>
          </a:p>
          <a:p>
            <a:pPr algn="l">
              <a:lnSpc>
                <a:spcPts val="1639"/>
              </a:lnSpc>
              <a:spcBef>
                <a:spcPts val="0"/>
              </a:spcBef>
              <a:spcAft>
                <a:spcPts val="400"/>
              </a:spcAft>
              <a:buNone/>
            </a:pPr>
            <a:r>
              <a:rPr sz="1340" b="1" i="0">
                <a:solidFill>
                  <a:srgbClr val="280265"/>
                </a:solidFill>
                <a:latin typeface="Arial"/>
                <a:cs typeface="Arial"/>
              </a:rPr>
              <a:t>Vigilancia mientras el caso esté activo</a:t>
            </a:r>
          </a:p>
          <a:p>
            <a:pPr algn="l" marL="274320" indent="-274320">
              <a:lnSpc>
                <a:spcPts val="1584"/>
              </a:lnSpc>
              <a:spcBef>
                <a:spcPts val="0"/>
              </a:spcBef>
              <a:spcAft>
                <a:spcPts val="600"/>
              </a:spcAft>
              <a:buClr>
                <a:srgbClr val="5300DF"/>
              </a:buClr>
              <a:buFont typeface="Arial"/>
              <a:buAutoNum type="arabicPlain" startAt="17"/>
            </a:pPr>
            <a:r>
              <a:rPr sz="1200" b="0" i="0">
                <a:solidFill>
                  <a:srgbClr val="000000"/>
                </a:solidFill>
                <a:latin typeface="Arial"/>
                <a:cs typeface="Arial"/>
              </a:rPr>
              <a:t>EventBridge funciona como despertador, con la frecuencia que defina Viva.</a:t>
            </a:r>
          </a:p>
          <a:p>
            <a:pPr algn="l" marL="274320" indent="-274320">
              <a:lnSpc>
                <a:spcPts val="1584"/>
              </a:lnSpc>
              <a:spcBef>
                <a:spcPts val="0"/>
              </a:spcBef>
              <a:spcAft>
                <a:spcPts val="600"/>
              </a:spcAft>
              <a:buClr>
                <a:srgbClr val="5300DF"/>
              </a:buClr>
              <a:buFont typeface="Arial"/>
              <a:buAutoNum type="arabicPlain" startAt="17"/>
            </a:pPr>
            <a:r>
              <a:rPr sz="1200" b="0" i="0">
                <a:solidFill>
                  <a:srgbClr val="000000"/>
                </a:solidFill>
                <a:latin typeface="Arial"/>
                <a:cs typeface="Arial"/>
              </a:rPr>
              <a:t>Una Lambda planificadora lee en DynamoDB los casos activos y los pone en la cola de fase 3.</a:t>
            </a:r>
          </a:p>
          <a:p>
            <a:pPr algn="l" marL="274320" indent="-274320">
              <a:lnSpc>
                <a:spcPts val="1584"/>
              </a:lnSpc>
              <a:spcBef>
                <a:spcPts val="0"/>
              </a:spcBef>
              <a:spcAft>
                <a:spcPts val="600"/>
              </a:spcAft>
              <a:buClr>
                <a:srgbClr val="5300DF"/>
              </a:buClr>
              <a:buFont typeface="Arial"/>
              <a:buAutoNum type="arabicPlain" startAt="17"/>
            </a:pPr>
            <a:r>
              <a:rPr sz="1200" b="0" i="0">
                <a:solidFill>
                  <a:srgbClr val="000000"/>
                </a:solidFill>
                <a:latin typeface="Arial"/>
                <a:cs typeface="Arial"/>
              </a:rPr>
              <a:t>El worker envía el token de sincronización guardado y la API interna devuelve solo lo creado, modificado o cancelado desde la última consulta.</a:t>
            </a:r>
          </a:p>
          <a:p>
            <a:pPr algn="l" marL="274320" indent="-274320">
              <a:lnSpc>
                <a:spcPts val="1584"/>
              </a:lnSpc>
              <a:spcBef>
                <a:spcPts val="0"/>
              </a:spcBef>
              <a:spcAft>
                <a:spcPts val="600"/>
              </a:spcAft>
              <a:buClr>
                <a:srgbClr val="5300DF"/>
              </a:buClr>
              <a:buFont typeface="Arial"/>
              <a:buAutoNum type="arabicPlain" startAt="17"/>
            </a:pPr>
            <a:r>
              <a:rPr sz="1200" b="0" i="0">
                <a:solidFill>
                  <a:srgbClr val="000000"/>
                </a:solidFill>
                <a:latin typeface="Arial"/>
                <a:cs typeface="Arial"/>
              </a:rPr>
              <a:t>Si hay algo nuevo, por ejemplo una reserva creada ayer, se notifica y se guarda el token nuevo.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Cómo funciona (3 de 3): </a:t>
            </a:r>
            <a:r>
              <a:rPr sz="2400" b="1" i="0">
                <a:solidFill>
                  <a:srgbClr val="5300DF"/>
                </a:solidFill>
                <a:latin typeface="Arial"/>
                <a:cs typeface="Arial"/>
              </a:rPr>
              <a:t>cerrar</a:t>
            </a:r>
            <a:r>
              <a:rPr sz="2400" b="1" i="0">
                <a:solidFill>
                  <a:srgbClr val="280265"/>
                </a:solidFill>
                <a:latin typeface="Arial"/>
                <a:cs typeface="Arial"/>
              </a:rPr>
              <a:t> el caso y operar con seguridad</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12</a:t>
            </a:r>
          </a:p>
        </p:txBody>
      </p:sp>
      <p:sp>
        <p:nvSpPr>
          <p:cNvPr id="6" name="Nota"/>
          <p:cNvSpPr/>
          <p:nvPr/>
        </p:nvSpPr>
        <p:spPr>
          <a:xfrm>
            <a:off x="573009" y="5651891"/>
            <a:ext cx="11045675" cy="523373"/>
          </a:xfrm>
          <a:prstGeom prst="roundRect">
            <a:avLst>
              <a:gd name="adj" fmla="val 17471"/>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En una frase:</a:t>
            </a:r>
            <a:r>
              <a:rPr sz="980" b="0" i="0">
                <a:solidFill>
                  <a:srgbClr val="FFFFFF"/>
                </a:solidFill>
                <a:latin typeface="Arial"/>
                <a:cs typeface="Arial"/>
              </a:rPr>
              <a:t> la PUI entrega una CURP; la solución la guarda y la busca en la API interna de Viva, primero lo reciente, luego 12 años atrás y después de forma periódica. Cada hallazgo se reporta a la PUI con reintentos, hasta que la PUI cierra el caso.</a:t>
            </a:r>
          </a:p>
        </p:txBody>
      </p:sp>
      <p:sp>
        <p:nvSpPr>
          <p:cNvPr id="7" name="Paso 1"/>
          <p:cNvSpPr/>
          <p:nvPr/>
        </p:nvSpPr>
        <p:spPr>
          <a:xfrm>
            <a:off x="573009" y="1341086"/>
            <a:ext cx="3568102" cy="4176696"/>
          </a:xfrm>
          <a:prstGeom prst="roundRect">
            <a:avLst>
              <a:gd name="adj" fmla="val 307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Desactivación </a:t>
            </a:r>
            <a:r>
              <a:rPr sz="750" b="1" i="0" spc="100">
                <a:solidFill>
                  <a:srgbClr val="5300DF"/>
                </a:solidFill>
                <a:latin typeface="Arial"/>
                <a:cs typeface="Arial"/>
              </a:rPr>
              <a:t>  ·  ITERABLE 1</a:t>
            </a:r>
          </a:p>
          <a:p>
            <a:pPr algn="l">
              <a:lnSpc>
                <a:spcPts val="1639"/>
              </a:lnSpc>
              <a:spcBef>
                <a:spcPts val="0"/>
              </a:spcBef>
              <a:spcAft>
                <a:spcPts val="400"/>
              </a:spcAft>
              <a:buNone/>
            </a:pPr>
            <a:r>
              <a:rPr sz="1340" b="1" i="0">
                <a:solidFill>
                  <a:srgbClr val="280265"/>
                </a:solidFill>
                <a:latin typeface="Arial"/>
                <a:cs typeface="Arial"/>
              </a:rPr>
              <a:t>La PUI cierra el caso</a:t>
            </a:r>
          </a:p>
          <a:p>
            <a:pPr algn="l" marL="274320" indent="-274320">
              <a:lnSpc>
                <a:spcPts val="1457"/>
              </a:lnSpc>
              <a:spcBef>
                <a:spcPts val="0"/>
              </a:spcBef>
              <a:spcAft>
                <a:spcPts val="600"/>
              </a:spcAft>
              <a:buClr>
                <a:srgbClr val="5300DF"/>
              </a:buClr>
              <a:buFont typeface="Arial"/>
              <a:buAutoNum type="arabicPlain" startAt="21"/>
            </a:pPr>
            <a:r>
              <a:rPr sz="1100" b="0" i="0">
                <a:solidFill>
                  <a:srgbClr val="000000"/>
                </a:solidFill>
                <a:latin typeface="Arial"/>
                <a:cs typeface="Arial"/>
              </a:rPr>
              <a:t>Cuando el caso se resuelve, la PUI llama a </a:t>
            </a:r>
            <a:r>
              <a:rPr sz="1019" b="0" i="0">
                <a:solidFill>
                  <a:srgbClr val="000000"/>
                </a:solidFill>
                <a:latin typeface="Courier New"/>
                <a:cs typeface="Courier New"/>
              </a:rPr>
              <a:t>/desactivar-reporte</a:t>
            </a:r>
            <a:r>
              <a:rPr sz="1100" b="0" i="0">
                <a:solidFill>
                  <a:srgbClr val="000000"/>
                </a:solidFill>
                <a:latin typeface="Arial"/>
                <a:cs typeface="Arial"/>
              </a:rPr>
              <a:t>.</a:t>
            </a:r>
          </a:p>
          <a:p>
            <a:pPr algn="l" marL="274320" indent="-274320">
              <a:lnSpc>
                <a:spcPts val="1457"/>
              </a:lnSpc>
              <a:spcBef>
                <a:spcPts val="0"/>
              </a:spcBef>
              <a:spcAft>
                <a:spcPts val="600"/>
              </a:spcAft>
              <a:buClr>
                <a:srgbClr val="5300DF"/>
              </a:buClr>
              <a:buFont typeface="Arial"/>
              <a:buAutoNum type="arabicPlain" startAt="21"/>
            </a:pPr>
            <a:r>
              <a:rPr sz="1100" b="0" i="0">
                <a:solidFill>
                  <a:srgbClr val="000000"/>
                </a:solidFill>
                <a:latin typeface="Arial"/>
                <a:cs typeface="Arial"/>
              </a:rPr>
              <a:t>Una Lambda marca el caso como inactivo. La fase 3 deja de incluirlo y no se envían más notificaciones.</a:t>
            </a:r>
          </a:p>
        </p:txBody>
      </p:sp>
      <p:sp>
        <p:nvSpPr>
          <p:cNvPr id="8" name="Paso 2"/>
          <p:cNvSpPr/>
          <p:nvPr/>
        </p:nvSpPr>
        <p:spPr>
          <a:xfrm>
            <a:off x="4311796" y="1341086"/>
            <a:ext cx="3568102" cy="4176696"/>
          </a:xfrm>
          <a:prstGeom prst="roundRect">
            <a:avLst>
              <a:gd name="adj" fmla="val 307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Conciliación y auditoría </a:t>
            </a:r>
            <a:r>
              <a:rPr sz="750" b="1" i="0" spc="100">
                <a:solidFill>
                  <a:srgbClr val="5300DF"/>
                </a:solidFill>
                <a:latin typeface="Arial"/>
                <a:cs typeface="Arial"/>
              </a:rPr>
              <a:t>  ·  AUDITORÍA DESDE EL 1</a:t>
            </a:r>
          </a:p>
          <a:p>
            <a:pPr algn="l">
              <a:lnSpc>
                <a:spcPts val="1639"/>
              </a:lnSpc>
              <a:spcBef>
                <a:spcPts val="0"/>
              </a:spcBef>
              <a:spcAft>
                <a:spcPts val="400"/>
              </a:spcAft>
              <a:buNone/>
            </a:pPr>
            <a:r>
              <a:rPr sz="1340" b="1" i="0">
                <a:solidFill>
                  <a:srgbClr val="280265"/>
                </a:solidFill>
                <a:latin typeface="Arial"/>
                <a:cs typeface="Arial"/>
              </a:rPr>
              <a:t>Red de seguridad y evidencia</a:t>
            </a:r>
          </a:p>
          <a:p>
            <a:pPr algn="l" marL="274320" indent="-274320">
              <a:lnSpc>
                <a:spcPts val="1457"/>
              </a:lnSpc>
              <a:spcBef>
                <a:spcPts val="0"/>
              </a:spcBef>
              <a:spcAft>
                <a:spcPts val="600"/>
              </a:spcAft>
              <a:buClr>
                <a:srgbClr val="5300DF"/>
              </a:buClr>
              <a:buFont typeface="Arial"/>
              <a:buAutoNum type="arabicPlain" startAt="23"/>
            </a:pPr>
            <a:r>
              <a:rPr sz="1100" b="0" i="0">
                <a:solidFill>
                  <a:srgbClr val="000000"/>
                </a:solidFill>
                <a:latin typeface="Arial"/>
                <a:cs typeface="Arial"/>
              </a:rPr>
              <a:t>Cada cierto tiempo, una Lambda compara </a:t>
            </a:r>
            <a:r>
              <a:rPr sz="1019" b="0" i="0">
                <a:solidFill>
                  <a:srgbClr val="000000"/>
                </a:solidFill>
                <a:latin typeface="Courier New"/>
                <a:cs typeface="Courier New"/>
              </a:rPr>
              <a:t>/reportes</a:t>
            </a:r>
            <a:r>
              <a:rPr sz="1100" b="0" i="0">
                <a:solidFill>
                  <a:srgbClr val="000000"/>
                </a:solidFill>
                <a:latin typeface="Arial"/>
                <a:cs typeface="Arial"/>
              </a:rPr>
              <a:t> de la PUI con los casos guardados.</a:t>
            </a:r>
          </a:p>
          <a:p>
            <a:pPr algn="l" marL="274320" indent="-274320">
              <a:lnSpc>
                <a:spcPts val="1457"/>
              </a:lnSpc>
              <a:spcBef>
                <a:spcPts val="0"/>
              </a:spcBef>
              <a:spcAft>
                <a:spcPts val="600"/>
              </a:spcAft>
              <a:buClr>
                <a:srgbClr val="5300DF"/>
              </a:buClr>
              <a:buFont typeface="Arial"/>
              <a:buAutoNum type="arabicPlain" startAt="23"/>
            </a:pPr>
            <a:r>
              <a:rPr sz="1100" b="0" i="0">
                <a:solidFill>
                  <a:srgbClr val="000000"/>
                </a:solidFill>
                <a:latin typeface="Arial"/>
                <a:cs typeface="Arial"/>
              </a:rPr>
              <a:t>Si algo no cuadra, se corrige.</a:t>
            </a:r>
          </a:p>
          <a:p>
            <a:pPr algn="l" marL="274320" indent="-274320">
              <a:lnSpc>
                <a:spcPts val="1457"/>
              </a:lnSpc>
              <a:spcBef>
                <a:spcPts val="0"/>
              </a:spcBef>
              <a:spcAft>
                <a:spcPts val="600"/>
              </a:spcAft>
              <a:buClr>
                <a:srgbClr val="5300DF"/>
              </a:buClr>
              <a:buFont typeface="Arial"/>
              <a:buAutoNum type="arabicPlain" startAt="23"/>
            </a:pPr>
            <a:r>
              <a:rPr sz="1100" b="0" i="0">
                <a:solidFill>
                  <a:srgbClr val="000000"/>
                </a:solidFill>
                <a:latin typeface="Arial"/>
                <a:cs typeface="Arial"/>
              </a:rPr>
              <a:t>Cada activación, consulta y envío queda en una bitácora que nadie puede modificar ni borrar.</a:t>
            </a:r>
          </a:p>
          <a:p>
            <a:pPr algn="l" marL="274320" indent="-274320">
              <a:lnSpc>
                <a:spcPts val="1457"/>
              </a:lnSpc>
              <a:spcBef>
                <a:spcPts val="0"/>
              </a:spcBef>
              <a:spcAft>
                <a:spcPts val="600"/>
              </a:spcAft>
              <a:buClr>
                <a:srgbClr val="5300DF"/>
              </a:buClr>
              <a:buFont typeface="Arial"/>
              <a:buAutoNum type="arabicPlain" startAt="23"/>
            </a:pPr>
            <a:r>
              <a:rPr sz="1100" b="0" i="0">
                <a:solidFill>
                  <a:srgbClr val="000000"/>
                </a:solidFill>
                <a:latin typeface="Arial"/>
                <a:cs typeface="Arial"/>
              </a:rPr>
              <a:t>Para auditar se consulta qué se envió, cuándo y qué respondió la PUI; ver los datos exige un permiso especial.</a:t>
            </a:r>
          </a:p>
        </p:txBody>
      </p:sp>
      <p:sp>
        <p:nvSpPr>
          <p:cNvPr id="9" name="Paso 3"/>
          <p:cNvSpPr/>
          <p:nvPr/>
        </p:nvSpPr>
        <p:spPr>
          <a:xfrm>
            <a:off x="8050582" y="1341086"/>
            <a:ext cx="3568102" cy="4176696"/>
          </a:xfrm>
          <a:prstGeom prst="roundRect">
            <a:avLst>
              <a:gd name="adj" fmla="val 307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Transversal </a:t>
            </a:r>
            <a:r>
              <a:rPr sz="750" b="1" i="0" spc="100">
                <a:solidFill>
                  <a:srgbClr val="5300DF"/>
                </a:solidFill>
                <a:latin typeface="Arial"/>
                <a:cs typeface="Arial"/>
              </a:rPr>
              <a:t>  ·  ITERABLES 1 A 5</a:t>
            </a:r>
          </a:p>
          <a:p>
            <a:pPr algn="l">
              <a:lnSpc>
                <a:spcPts val="1639"/>
              </a:lnSpc>
              <a:spcBef>
                <a:spcPts val="0"/>
              </a:spcBef>
              <a:spcAft>
                <a:spcPts val="400"/>
              </a:spcAft>
              <a:buNone/>
            </a:pPr>
            <a:r>
              <a:rPr sz="1340" b="1" i="0">
                <a:solidFill>
                  <a:srgbClr val="280265"/>
                </a:solidFill>
                <a:latin typeface="Arial"/>
                <a:cs typeface="Arial"/>
              </a:rPr>
              <a:t>Lo que rodea todo</a:t>
            </a:r>
          </a:p>
          <a:p>
            <a:pPr algn="l" marL="274320" indent="-274320">
              <a:lnSpc>
                <a:spcPts val="1457"/>
              </a:lnSpc>
              <a:spcBef>
                <a:spcPts val="0"/>
              </a:spcBef>
              <a:spcAft>
                <a:spcPts val="600"/>
              </a:spcAft>
              <a:buClr>
                <a:srgbClr val="5300DF"/>
              </a:buClr>
              <a:buFont typeface="Arial"/>
              <a:buChar char="•"/>
            </a:pPr>
            <a:r>
              <a:rPr sz="1100" b="1" i="0">
                <a:solidFill>
                  <a:srgbClr val="000000"/>
                </a:solidFill>
                <a:latin typeface="Arial"/>
                <a:cs typeface="Arial"/>
              </a:rPr>
              <a:t>Red privada:</a:t>
            </a:r>
            <a:r>
              <a:rPr sz="1100" b="0" i="0">
                <a:solidFill>
                  <a:srgbClr val="000000"/>
                </a:solidFill>
                <a:latin typeface="Arial"/>
                <a:cs typeface="Arial"/>
              </a:rPr>
              <a:t> las Lambdas no son accesibles desde Internet; API Gateway es la única puerta de entrada.</a:t>
            </a:r>
          </a:p>
          <a:p>
            <a:pPr algn="l" marL="274320" indent="-274320">
              <a:lnSpc>
                <a:spcPts val="1457"/>
              </a:lnSpc>
              <a:spcBef>
                <a:spcPts val="0"/>
              </a:spcBef>
              <a:spcAft>
                <a:spcPts val="600"/>
              </a:spcAft>
              <a:buClr>
                <a:srgbClr val="5300DF"/>
              </a:buClr>
              <a:buFont typeface="Arial"/>
              <a:buChar char="•"/>
            </a:pPr>
            <a:r>
              <a:rPr sz="1100" b="1" i="0">
                <a:solidFill>
                  <a:srgbClr val="000000"/>
                </a:solidFill>
                <a:latin typeface="Arial"/>
                <a:cs typeface="Arial"/>
              </a:rPr>
              <a:t>Cifrado:</a:t>
            </a:r>
            <a:r>
              <a:rPr sz="1100" b="0" i="0">
                <a:solidFill>
                  <a:srgbClr val="000000"/>
                </a:solidFill>
                <a:latin typeface="Arial"/>
                <a:cs typeface="Arial"/>
              </a:rPr>
              <a:t> KMS protege la CURP, que nunca se escribe en los logs.</a:t>
            </a:r>
          </a:p>
          <a:p>
            <a:pPr algn="l" marL="274320" indent="-274320">
              <a:lnSpc>
                <a:spcPts val="1457"/>
              </a:lnSpc>
              <a:spcBef>
                <a:spcPts val="0"/>
              </a:spcBef>
              <a:spcAft>
                <a:spcPts val="600"/>
              </a:spcAft>
              <a:buClr>
                <a:srgbClr val="5300DF"/>
              </a:buClr>
              <a:buFont typeface="Arial"/>
              <a:buChar char="•"/>
            </a:pPr>
            <a:r>
              <a:rPr sz="1100" b="1" i="0">
                <a:solidFill>
                  <a:srgbClr val="000000"/>
                </a:solidFill>
                <a:latin typeface="Arial"/>
                <a:cs typeface="Arial"/>
              </a:rPr>
              <a:t>Monitoreo:</a:t>
            </a:r>
            <a:r>
              <a:rPr sz="1100" b="0" i="0">
                <a:solidFill>
                  <a:srgbClr val="000000"/>
                </a:solidFill>
                <a:latin typeface="Arial"/>
                <a:cs typeface="Arial"/>
              </a:rPr>
              <a:t> CloudWatch muestra métricas y alerta, por ejemplo, si se acumulan fallidos o la fase 3 deja de correr.</a:t>
            </a:r>
          </a:p>
          <a:p>
            <a:pPr algn="l" marL="274320" indent="-274320">
              <a:lnSpc>
                <a:spcPts val="1457"/>
              </a:lnSpc>
              <a:spcBef>
                <a:spcPts val="0"/>
              </a:spcBef>
              <a:spcAft>
                <a:spcPts val="600"/>
              </a:spcAft>
              <a:buClr>
                <a:srgbClr val="5300DF"/>
              </a:buClr>
              <a:buFont typeface="Arial"/>
              <a:buChar char="•"/>
            </a:pPr>
            <a:r>
              <a:rPr sz="1100" b="1" i="0">
                <a:solidFill>
                  <a:srgbClr val="000000"/>
                </a:solidFill>
                <a:latin typeface="Arial"/>
                <a:cs typeface="Arial"/>
              </a:rPr>
              <a:t>IaC y pipeline:</a:t>
            </a:r>
            <a:r>
              <a:rPr sz="1100" b="0" i="0">
                <a:solidFill>
                  <a:srgbClr val="000000"/>
                </a:solidFill>
                <a:latin typeface="Arial"/>
                <a:cs typeface="Arial"/>
              </a:rPr>
              <a:t> todo está escrito como código y crece con cada iterable, para que Viva cree lo mismo en QA y Producción.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Lo que </a:t>
            </a:r>
            <a:r>
              <a:rPr sz="2400" b="1" i="0">
                <a:solidFill>
                  <a:srgbClr val="5300DF"/>
                </a:solidFill>
                <a:latin typeface="Arial"/>
                <a:cs typeface="Arial"/>
              </a:rPr>
              <a:t>entregamos</a:t>
            </a:r>
            <a:r>
              <a:rPr sz="2400" b="1" i="0">
                <a:solidFill>
                  <a:srgbClr val="280265"/>
                </a:solidFill>
                <a:latin typeface="Arial"/>
                <a:cs typeface="Arial"/>
              </a:rPr>
              <a:t>: cada iterable suma su parte de cada bloque</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13</a:t>
            </a:r>
          </a:p>
        </p:txBody>
      </p:sp>
      <p:sp>
        <p:nvSpPr>
          <p:cNvPr id="6" name="Nota"/>
          <p:cNvSpPr/>
          <p:nvPr/>
        </p:nvSpPr>
        <p:spPr>
          <a:xfrm>
            <a:off x="573009" y="5651891"/>
            <a:ext cx="11045675" cy="523373"/>
          </a:xfrm>
          <a:prstGeom prst="roundRect">
            <a:avLst>
              <a:gd name="adj" fmla="val 17471"/>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Fuera de alcance:</a:t>
            </a:r>
            <a:r>
              <a:rPr sz="980" b="0" i="0">
                <a:solidFill>
                  <a:srgbClr val="FFFFFF"/>
                </a:solidFill>
                <a:latin typeface="Arial"/>
                <a:cs typeface="Arial"/>
              </a:rPr>
              <a:t> construir la API interna de Viva o habilitar el acceso a Navitaire; fotos y huellas; pruebas de penetración de un tercero certificado; y ejecutar pruebas en Producción. Después de las 2 semanas de soporte incluidas (lámina 19), la continuidad se cotiza aparte.</a:t>
            </a:r>
          </a:p>
        </p:txBody>
      </p:sp>
      <p:sp>
        <p:nvSpPr>
          <p:cNvPr id="7" name="Bloque 1"/>
          <p:cNvSpPr/>
          <p:nvPr/>
        </p:nvSpPr>
        <p:spPr>
          <a:xfrm>
            <a:off x="573009" y="1341086"/>
            <a:ext cx="3592486" cy="1588904"/>
          </a:xfrm>
          <a:prstGeom prst="roundRect">
            <a:avLst>
              <a:gd name="adj" fmla="val 690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Arquitectura y diseño</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Arquitectura lógica, física y de despliegue.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Diagramas de secuencia de las tres fases.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Modelo de datos y estados del caso.</a:t>
            </a:r>
          </a:p>
        </p:txBody>
      </p:sp>
      <p:sp>
        <p:nvSpPr>
          <p:cNvPr id="8" name="Bloque 1 · número"/>
          <p:cNvSpPr/>
          <p:nvPr/>
        </p:nvSpPr>
        <p:spPr>
          <a:xfrm>
            <a:off x="743693"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Bloque 2"/>
          <p:cNvSpPr/>
          <p:nvPr/>
        </p:nvSpPr>
        <p:spPr>
          <a:xfrm>
            <a:off x="4299604" y="1341086"/>
            <a:ext cx="3592486" cy="1588904"/>
          </a:xfrm>
          <a:prstGeom prst="roundRect">
            <a:avLst>
              <a:gd name="adj" fmla="val 690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Contratos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OpenAPI 3.x y JSON Schemas de </a:t>
            </a:r>
            <a:r>
              <a:rPr sz="869" b="0" i="0">
                <a:solidFill>
                  <a:srgbClr val="000000"/>
                </a:solidFill>
                <a:latin typeface="Courier New"/>
                <a:cs typeface="Courier New"/>
              </a:rPr>
              <a:t>/login</a:t>
            </a:r>
            <a:r>
              <a:rPr sz="940" b="0" i="0">
                <a:solidFill>
                  <a:srgbClr val="000000"/>
                </a:solidFill>
                <a:latin typeface="Arial"/>
                <a:cs typeface="Arial"/>
              </a:rPr>
              <a:t>, </a:t>
            </a:r>
            <a:r>
              <a:rPr sz="869" b="0" i="0">
                <a:solidFill>
                  <a:srgbClr val="000000"/>
                </a:solidFill>
                <a:latin typeface="Courier New"/>
                <a:cs typeface="Courier New"/>
              </a:rPr>
              <a:t>/activar-reporte</a:t>
            </a:r>
            <a:r>
              <a:rPr sz="940" b="0" i="0">
                <a:solidFill>
                  <a:srgbClr val="000000"/>
                </a:solidFill>
                <a:latin typeface="Arial"/>
                <a:cs typeface="Arial"/>
              </a:rPr>
              <a:t>, </a:t>
            </a:r>
            <a:r>
              <a:rPr sz="869" b="0" i="0">
                <a:solidFill>
                  <a:srgbClr val="000000"/>
                </a:solidFill>
                <a:latin typeface="Courier New"/>
                <a:cs typeface="Courier New"/>
              </a:rPr>
              <a:t>/activar-reporte-prueba</a:t>
            </a:r>
            <a:r>
              <a:rPr sz="940" b="0" i="0">
                <a:solidFill>
                  <a:srgbClr val="000000"/>
                </a:solidFill>
                <a:latin typeface="Arial"/>
                <a:cs typeface="Arial"/>
              </a:rPr>
              <a:t> y </a:t>
            </a:r>
            <a:r>
              <a:rPr sz="869" b="0" i="0">
                <a:solidFill>
                  <a:srgbClr val="000000"/>
                </a:solidFill>
                <a:latin typeface="Courier New"/>
                <a:cs typeface="Courier New"/>
              </a:rPr>
              <a:t>/desactivar-reporte</a:t>
            </a:r>
            <a:r>
              <a:rPr sz="940" b="0" i="0">
                <a:solidFill>
                  <a:srgbClr val="000000"/>
                </a:solidFill>
                <a:latin typeface="Arial"/>
                <a:cs typeface="Arial"/>
              </a:rPr>
              <a:t>.</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Contrato del cliente de la API interna y del cliente de la PUI.</a:t>
            </a:r>
          </a:p>
        </p:txBody>
      </p:sp>
      <p:sp>
        <p:nvSpPr>
          <p:cNvPr id="10" name="Bloque 2 · número"/>
          <p:cNvSpPr/>
          <p:nvPr/>
        </p:nvSpPr>
        <p:spPr>
          <a:xfrm>
            <a:off x="4470288"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Bloque 3"/>
          <p:cNvSpPr/>
          <p:nvPr/>
        </p:nvSpPr>
        <p:spPr>
          <a:xfrm>
            <a:off x="8026199" y="1341086"/>
            <a:ext cx="3592486" cy="1588904"/>
          </a:xfrm>
          <a:prstGeom prst="roundRect">
            <a:avLst>
              <a:gd name="adj" fmla="val 690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Código e infraestructura</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Código Node.js de las Lambdas y la librería común.</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IaC en Terraform por módulos de capacidad, parametrizada por ambiente, con dominio propio y TLS.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Pipelines de build, IaC y promoción, con SAST, SCA, DAST y reversa.</a:t>
            </a:r>
          </a:p>
        </p:txBody>
      </p:sp>
      <p:sp>
        <p:nvSpPr>
          <p:cNvPr id="12" name="Bloque 3 · número"/>
          <p:cNvSpPr/>
          <p:nvPr/>
        </p:nvSpPr>
        <p:spPr>
          <a:xfrm>
            <a:off x="8196883"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
        <p:nvSpPr>
          <p:cNvPr id="13" name="Bloque 4"/>
          <p:cNvSpPr/>
          <p:nvPr/>
        </p:nvSpPr>
        <p:spPr>
          <a:xfrm>
            <a:off x="573009" y="3064099"/>
            <a:ext cx="3592486" cy="2453683"/>
          </a:xfrm>
          <a:prstGeom prst="roundRect">
            <a:avLst>
              <a:gd name="adj" fmla="val 447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Pruebas y evidencias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Pruebas unitarias del equipo de desarrollo, incluidas aunque la práctica habitual de Viva no las tiene.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Evidencias por iterable de pruebas de contrato, integración, resiliencia y extremo a extremo (lámina 14).</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Pruebas de aceptación con el negocio de Viva y matriz de trazabilidad.</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Pruebas de desempeño, sujetas al alcance y capacidad acordados con Celerabit (lámina 15).</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Evidencias de la certificación en el sandbox de la PUI, si se habilita.</a:t>
            </a:r>
          </a:p>
        </p:txBody>
      </p:sp>
      <p:sp>
        <p:nvSpPr>
          <p:cNvPr id="14" name="Bloque 4 · número"/>
          <p:cNvSpPr/>
          <p:nvPr/>
        </p:nvSpPr>
        <p:spPr>
          <a:xfrm>
            <a:off x="743693" y="3205011"/>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4</a:t>
            </a:r>
          </a:p>
        </p:txBody>
      </p:sp>
      <p:sp>
        <p:nvSpPr>
          <p:cNvPr id="15" name="Bloque 5"/>
          <p:cNvSpPr/>
          <p:nvPr/>
        </p:nvSpPr>
        <p:spPr>
          <a:xfrm>
            <a:off x="4299604" y="3064099"/>
            <a:ext cx="3592486" cy="2453683"/>
          </a:xfrm>
          <a:prstGeom prst="roundRect">
            <a:avLst>
              <a:gd name="adj" fmla="val 447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Seguridad</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Reporte consolidado de pruebas de seguridad: controles ejecutados, hallazgos, riesgos, recomendaciones y retest.</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Pruebas de seguridad de las APIs, con informe y retest (lámina 16).</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Endurecimiento para el DAST y firmado del JSON de respuesta que exige la PUI.</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Bitácora de auditoría inmutable y evidencia de que la CURP no aparece en logs.</a:t>
            </a:r>
          </a:p>
        </p:txBody>
      </p:sp>
      <p:sp>
        <p:nvSpPr>
          <p:cNvPr id="16" name="Bloque 5 · número"/>
          <p:cNvSpPr/>
          <p:nvPr/>
        </p:nvSpPr>
        <p:spPr>
          <a:xfrm>
            <a:off x="4470288" y="3205011"/>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5</a:t>
            </a:r>
          </a:p>
        </p:txBody>
      </p:sp>
      <p:sp>
        <p:nvSpPr>
          <p:cNvPr id="17" name="Bloque 6"/>
          <p:cNvSpPr/>
          <p:nvPr/>
        </p:nvSpPr>
        <p:spPr>
          <a:xfrm>
            <a:off x="8026199" y="3064099"/>
            <a:ext cx="3592486" cy="2453683"/>
          </a:xfrm>
          <a:prstGeom prst="roundRect">
            <a:avLst>
              <a:gd name="adj" fmla="val 447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Operación</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Dashboard y alarmas de los 9 indicadores de la sección 13 del diseño, con trazabilidad por </a:t>
            </a:r>
            <a:r>
              <a:rPr sz="869" b="0" i="0">
                <a:solidFill>
                  <a:srgbClr val="000000"/>
                </a:solidFill>
                <a:latin typeface="Courier New"/>
                <a:cs typeface="Courier New"/>
              </a:rPr>
              <a:t>correlationId</a:t>
            </a:r>
            <a:r>
              <a:rPr sz="940" b="0" i="0">
                <a:solidFill>
                  <a:srgbClr val="000000"/>
                </a:solidFill>
                <a:latin typeface="Arial"/>
                <a:cs typeface="Arial"/>
              </a:rPr>
              <a:t>.</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Runbook, plan de despliegue y reversa.</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Estimación del costo de operación en AWS.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Una liberación por iterable, reporte semanal del Scrum Master y transferencia de conocimiento.</a:t>
            </a:r>
          </a:p>
        </p:txBody>
      </p:sp>
      <p:sp>
        <p:nvSpPr>
          <p:cNvPr id="18" name="Bloque 6 · número"/>
          <p:cNvSpPr/>
          <p:nvPr/>
        </p:nvSpPr>
        <p:spPr>
          <a:xfrm>
            <a:off x="8196883" y="3205011"/>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Calidad en cada iterable: el analista de calidad, </a:t>
            </a:r>
            <a:r>
              <a:rPr sz="2400" b="1" i="0">
                <a:solidFill>
                  <a:srgbClr val="5300DF"/>
                </a:solidFill>
                <a:latin typeface="Arial"/>
                <a:cs typeface="Arial"/>
              </a:rPr>
              <a:t>socio del negocio</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14</a:t>
            </a:r>
          </a:p>
        </p:txBody>
      </p:sp>
      <p:sp>
        <p:nvSpPr>
          <p:cNvPr id="6" name="Entrada"/>
          <p:cNvSpPr txBox="1"/>
          <p:nvPr/>
        </p:nvSpPr>
        <p:spPr>
          <a:xfrm>
            <a:off x="573009" y="1249646"/>
            <a:ext cx="10162021" cy="404530"/>
          </a:xfrm>
          <a:prstGeom prst="rect">
            <a:avLst/>
          </a:prstGeom>
          <a:noFill/>
        </p:spPr>
        <p:txBody>
          <a:bodyPr wrap="square" lIns="0" rIns="0" tIns="0" bIns="0" anchor="t">
            <a:noAutofit/>
          </a:bodyPr>
          <a:lstStyle/>
          <a:p>
            <a:pPr algn="l">
              <a:lnSpc>
                <a:spcPts val="1520"/>
              </a:lnSpc>
              <a:spcBef>
                <a:spcPts val="0"/>
              </a:spcBef>
              <a:spcAft>
                <a:spcPts val="0"/>
              </a:spcAft>
              <a:buNone/>
            </a:pPr>
            <a:r>
              <a:rPr sz="1150" b="0" i="0">
                <a:solidFill>
                  <a:srgbClr val="000000"/>
                </a:solidFill>
                <a:latin typeface="Arial"/>
                <a:cs typeface="Arial"/>
              </a:rPr>
              <a:t>Un analista de calidad senior acompaña al equipo desde la semana 1. Las pruebas se ejecutan dentro de cada iterable, a medida que se construye, y ninguno se da por terminado sin sus evidencias. Al final solo quedan la regresión y la aceptación, que confirman lo ya probado.</a:t>
            </a:r>
          </a:p>
        </p:txBody>
      </p:sp>
      <p:sp>
        <p:nvSpPr>
          <p:cNvPr id="7" name="Calidad 1"/>
          <p:cNvSpPr/>
          <p:nvPr/>
        </p:nvSpPr>
        <p:spPr>
          <a:xfrm>
            <a:off x="573009" y="1757805"/>
            <a:ext cx="2660837" cy="3679313"/>
          </a:xfrm>
          <a:prstGeom prst="roundRect">
            <a:avLst>
              <a:gd name="adj" fmla="val 4123"/>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1 · Antes de codificar</a:t>
            </a:r>
          </a:p>
          <a:p>
            <a:pPr algn="l">
              <a:lnSpc>
                <a:spcPts val="1405"/>
              </a:lnSpc>
              <a:spcBef>
                <a:spcPts val="0"/>
              </a:spcBef>
              <a:spcAft>
                <a:spcPts val="400"/>
              </a:spcAft>
              <a:buNone/>
            </a:pPr>
            <a:r>
              <a:rPr sz="1150" b="1" i="0">
                <a:solidFill>
                  <a:srgbClr val="280265"/>
                </a:solidFill>
                <a:latin typeface="Arial"/>
                <a:cs typeface="Arial"/>
              </a:rPr>
              <a:t>Criterios que Viva aprueba</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Criterios de aceptación por iterable, acordados desde el inicio con los usuarios de negocio, en formato Dado / Cuando / Entonces.</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Reglas del negocio verificables: matriz de datos, fases e idempotencia.</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Trazabilidad de requisito a evidencia.</a:t>
            </a:r>
          </a:p>
        </p:txBody>
      </p:sp>
      <p:sp>
        <p:nvSpPr>
          <p:cNvPr id="8" name="Calidad 2"/>
          <p:cNvSpPr/>
          <p:nvPr/>
        </p:nvSpPr>
        <p:spPr>
          <a:xfrm>
            <a:off x="3367955" y="1757805"/>
            <a:ext cx="2660837" cy="3679313"/>
          </a:xfrm>
          <a:prstGeom prst="roundRect">
            <a:avLst>
              <a:gd name="adj" fmla="val 4123"/>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2 · Iterable a iterable</a:t>
            </a:r>
          </a:p>
          <a:p>
            <a:pPr algn="l">
              <a:lnSpc>
                <a:spcPts val="1405"/>
              </a:lnSpc>
              <a:spcBef>
                <a:spcPts val="0"/>
              </a:spcBef>
              <a:spcAft>
                <a:spcPts val="400"/>
              </a:spcAft>
              <a:buNone/>
            </a:pPr>
            <a:r>
              <a:rPr sz="1150" b="1" i="0">
                <a:solidFill>
                  <a:srgbClr val="280265"/>
                </a:solidFill>
                <a:latin typeface="Arial"/>
                <a:cs typeface="Arial"/>
              </a:rPr>
              <a:t>Terminado quiere decir probado</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Cada iterable cierra con pruebas funcionales, de contrato y regresión de lo ya liberado.</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Contrato, validación de CURP, idempotencia, scopes por ruta y manejo de errores.</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Las pruebas unitarias son responsabilidad del equipo de desarrollo.</a:t>
            </a:r>
          </a:p>
        </p:txBody>
      </p:sp>
      <p:sp>
        <p:nvSpPr>
          <p:cNvPr id="9" name="Calidad 3"/>
          <p:cNvSpPr/>
          <p:nvPr/>
        </p:nvSpPr>
        <p:spPr>
          <a:xfrm>
            <a:off x="6162901" y="1757805"/>
            <a:ext cx="2660837" cy="3679313"/>
          </a:xfrm>
          <a:prstGeom prst="roundRect">
            <a:avLst>
              <a:gd name="adj" fmla="val 4123"/>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3 · Integración </a:t>
            </a:r>
            <a:r>
              <a:rPr sz="750" b="1" i="0" spc="100">
                <a:solidFill>
                  <a:srgbClr val="5300DF"/>
                </a:solidFill>
                <a:latin typeface="Arial"/>
                <a:cs typeface="Arial"/>
              </a:rPr>
              <a:t>  ·  VALOR AGREGADO</a:t>
            </a:r>
          </a:p>
          <a:p>
            <a:pPr algn="l">
              <a:lnSpc>
                <a:spcPts val="1405"/>
              </a:lnSpc>
              <a:spcBef>
                <a:spcPts val="0"/>
              </a:spcBef>
              <a:spcAft>
                <a:spcPts val="400"/>
              </a:spcAft>
              <a:buNone/>
            </a:pPr>
            <a:r>
              <a:rPr sz="1150" b="1" i="0">
                <a:solidFill>
                  <a:srgbClr val="280265"/>
                </a:solidFill>
                <a:latin typeface="Arial"/>
                <a:cs typeface="Arial"/>
              </a:rPr>
              <a:t>Automatización acotada de APIs</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Base automatizada de contrato y smoke/regresión para los 4 endpoints expuestos, que corre en el pipeline desde el iterable 1.</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Simuladores de la PUI y de la API interna desde la semana 1, para no esperar a los sistemas reales.</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Las pruebas exploratorias conservan ejecución manual.</a:t>
            </a:r>
          </a:p>
        </p:txBody>
      </p:sp>
      <p:sp>
        <p:nvSpPr>
          <p:cNvPr id="10" name="Calidad 4"/>
          <p:cNvSpPr/>
          <p:nvPr/>
        </p:nvSpPr>
        <p:spPr>
          <a:xfrm>
            <a:off x="8957848" y="1757805"/>
            <a:ext cx="2660837" cy="3679313"/>
          </a:xfrm>
          <a:prstGeom prst="roundRect">
            <a:avLst>
              <a:gd name="adj" fmla="val 4123"/>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a:lnSpc>
                <a:spcPts val="1203"/>
              </a:lnSpc>
              <a:spcBef>
                <a:spcPts val="0"/>
              </a:spcBef>
              <a:spcAft>
                <a:spcPts val="300"/>
              </a:spcAft>
              <a:buNone/>
            </a:pPr>
            <a:r>
              <a:rPr sz="910" b="1" i="0" spc="100">
                <a:solidFill>
                  <a:srgbClr val="5300DF"/>
                </a:solidFill>
                <a:latin typeface="Arial"/>
                <a:cs typeface="Arial"/>
              </a:rPr>
              <a:t>4 · Pruebas de aceptación</a:t>
            </a:r>
          </a:p>
          <a:p>
            <a:pPr algn="l">
              <a:lnSpc>
                <a:spcPts val="1405"/>
              </a:lnSpc>
              <a:spcBef>
                <a:spcPts val="0"/>
              </a:spcBef>
              <a:spcAft>
                <a:spcPts val="400"/>
              </a:spcAft>
              <a:buNone/>
            </a:pPr>
            <a:r>
              <a:rPr sz="1150" b="1" i="0">
                <a:solidFill>
                  <a:srgbClr val="280265"/>
                </a:solidFill>
                <a:latin typeface="Arial"/>
                <a:cs typeface="Arial"/>
              </a:rPr>
              <a:t>Con el negocio de Viva</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Viva acepta cada iterable antes de liberarlo; la aceptación final es en la semana 7.</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Tech and Solve prepara, ejecuta y documenta las evidencias.</a:t>
            </a:r>
          </a:p>
          <a:p>
            <a:pPr algn="l" marL="155448" indent="-155448">
              <a:lnSpc>
                <a:spcPts val="1267"/>
              </a:lnSpc>
              <a:spcBef>
                <a:spcPts val="0"/>
              </a:spcBef>
              <a:spcAft>
                <a:spcPts val="300"/>
              </a:spcAft>
              <a:buClr>
                <a:srgbClr val="000000"/>
              </a:buClr>
              <a:buFont typeface="Arial"/>
              <a:buChar char="•"/>
            </a:pPr>
            <a:r>
              <a:rPr sz="960" b="0" i="0">
                <a:solidFill>
                  <a:srgbClr val="000000"/>
                </a:solidFill>
                <a:latin typeface="Arial"/>
                <a:cs typeface="Arial"/>
              </a:rPr>
              <a:t>Certificación de la integración en el sandbox de la PUI, si se habilita.</a:t>
            </a:r>
          </a:p>
        </p:txBody>
      </p:sp>
      <p:sp>
        <p:nvSpPr>
          <p:cNvPr id="11" name="Rol 1"/>
          <p:cNvSpPr/>
          <p:nvPr/>
        </p:nvSpPr>
        <p:spPr>
          <a:xfrm>
            <a:off x="573009" y="5559036"/>
            <a:ext cx="2688268" cy="616228"/>
          </a:xfrm>
          <a:prstGeom prst="roundRect">
            <a:avLst>
              <a:gd name="adj" fmla="val 13354"/>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5" tIns="73150" rIns="109725" bIns="73150" wrap="square">
            <a:noAutofit/>
          </a:bodyPr>
          <a:lstStyle/>
          <a:p>
            <a:pPr algn="l">
              <a:lnSpc>
                <a:spcPts val="1292"/>
              </a:lnSpc>
              <a:spcBef>
                <a:spcPts val="0"/>
              </a:spcBef>
              <a:spcAft>
                <a:spcPts val="100"/>
              </a:spcAft>
              <a:buNone/>
            </a:pPr>
            <a:r>
              <a:rPr sz="980" b="1" i="0">
                <a:solidFill>
                  <a:srgbClr val="FFFFFF"/>
                </a:solidFill>
                <a:latin typeface="Arial"/>
                <a:cs typeface="Arial"/>
              </a:rPr>
              <a:t>Desarrollo</a:t>
            </a:r>
          </a:p>
          <a:p>
            <a:pPr algn="l">
              <a:lnSpc>
                <a:spcPts val="1203"/>
              </a:lnSpc>
              <a:spcBef>
                <a:spcPts val="0"/>
              </a:spcBef>
              <a:spcAft>
                <a:spcPts val="0"/>
              </a:spcAft>
              <a:buNone/>
            </a:pPr>
            <a:r>
              <a:rPr sz="910" b="0" i="0">
                <a:solidFill>
                  <a:srgbClr val="FFFFFF"/>
                </a:solidFill>
                <a:latin typeface="Arial"/>
                <a:cs typeface="Arial"/>
              </a:rPr>
              <a:t>Pruebas unitarias de cada historia.</a:t>
            </a:r>
          </a:p>
        </p:txBody>
      </p:sp>
      <p:sp>
        <p:nvSpPr>
          <p:cNvPr id="12" name="Rol 2"/>
          <p:cNvSpPr/>
          <p:nvPr/>
        </p:nvSpPr>
        <p:spPr>
          <a:xfrm>
            <a:off x="3358812" y="5559036"/>
            <a:ext cx="2688268" cy="616228"/>
          </a:xfrm>
          <a:prstGeom prst="roundRect">
            <a:avLst>
              <a:gd name="adj" fmla="val 1335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5" tIns="73150" rIns="109725" bIns="73150" wrap="square">
            <a:noAutofit/>
          </a:bodyPr>
          <a:lstStyle/>
          <a:p>
            <a:pPr algn="l">
              <a:lnSpc>
                <a:spcPts val="1292"/>
              </a:lnSpc>
              <a:spcBef>
                <a:spcPts val="0"/>
              </a:spcBef>
              <a:spcAft>
                <a:spcPts val="100"/>
              </a:spcAft>
              <a:buNone/>
            </a:pPr>
            <a:r>
              <a:rPr sz="980" b="1" i="0">
                <a:solidFill>
                  <a:srgbClr val="000000"/>
                </a:solidFill>
                <a:latin typeface="Arial"/>
                <a:cs typeface="Arial"/>
              </a:rPr>
              <a:t>Equipo de calidad</a:t>
            </a:r>
          </a:p>
          <a:p>
            <a:pPr algn="l">
              <a:lnSpc>
                <a:spcPts val="1203"/>
              </a:lnSpc>
              <a:spcBef>
                <a:spcPts val="0"/>
              </a:spcBef>
              <a:spcAft>
                <a:spcPts val="0"/>
              </a:spcAft>
              <a:buNone/>
            </a:pPr>
            <a:r>
              <a:rPr sz="910" b="0" i="0">
                <a:solidFill>
                  <a:srgbClr val="000000"/>
                </a:solidFill>
                <a:latin typeface="Arial"/>
                <a:cs typeface="Arial"/>
              </a:rPr>
              <a:t>Funcionales, contrato, integración, resiliencia, extremo a extremo y aceptación.</a:t>
            </a:r>
          </a:p>
        </p:txBody>
      </p:sp>
      <p:sp>
        <p:nvSpPr>
          <p:cNvPr id="13" name="Rol 3"/>
          <p:cNvSpPr/>
          <p:nvPr/>
        </p:nvSpPr>
        <p:spPr>
          <a:xfrm>
            <a:off x="6144614" y="5559036"/>
            <a:ext cx="2688268" cy="616228"/>
          </a:xfrm>
          <a:prstGeom prst="roundRect">
            <a:avLst>
              <a:gd name="adj" fmla="val 1335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5" tIns="73150" rIns="109725" bIns="73150" wrap="square">
            <a:noAutofit/>
          </a:bodyPr>
          <a:lstStyle/>
          <a:p>
            <a:pPr algn="l">
              <a:lnSpc>
                <a:spcPts val="1292"/>
              </a:lnSpc>
              <a:spcBef>
                <a:spcPts val="0"/>
              </a:spcBef>
              <a:spcAft>
                <a:spcPts val="100"/>
              </a:spcAft>
              <a:buNone/>
            </a:pPr>
            <a:r>
              <a:rPr sz="980" b="1" i="0">
                <a:solidFill>
                  <a:srgbClr val="000000"/>
                </a:solidFill>
                <a:latin typeface="Arial"/>
                <a:cs typeface="Arial"/>
              </a:rPr>
              <a:t>Celerabit</a:t>
            </a:r>
          </a:p>
          <a:p>
            <a:pPr algn="l">
              <a:lnSpc>
                <a:spcPts val="1203"/>
              </a:lnSpc>
              <a:spcBef>
                <a:spcPts val="0"/>
              </a:spcBef>
              <a:spcAft>
                <a:spcPts val="0"/>
              </a:spcAft>
              <a:buNone/>
            </a:pPr>
            <a:r>
              <a:rPr sz="910" b="0" i="0">
                <a:solidFill>
                  <a:srgbClr val="000000"/>
                </a:solidFill>
                <a:latin typeface="Arial"/>
                <a:cs typeface="Arial"/>
              </a:rPr>
              <a:t>Desempeño, sin costo adicional (lámina 15).</a:t>
            </a:r>
          </a:p>
        </p:txBody>
      </p:sp>
      <p:sp>
        <p:nvSpPr>
          <p:cNvPr id="14" name="Rol 4"/>
          <p:cNvSpPr/>
          <p:nvPr/>
        </p:nvSpPr>
        <p:spPr>
          <a:xfrm>
            <a:off x="8930416" y="5559036"/>
            <a:ext cx="2688268" cy="616228"/>
          </a:xfrm>
          <a:prstGeom prst="roundRect">
            <a:avLst>
              <a:gd name="adj" fmla="val 1335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5" tIns="73150" rIns="109725" bIns="73150" wrap="square">
            <a:noAutofit/>
          </a:bodyPr>
          <a:lstStyle/>
          <a:p>
            <a:pPr algn="l">
              <a:lnSpc>
                <a:spcPts val="1292"/>
              </a:lnSpc>
              <a:spcBef>
                <a:spcPts val="0"/>
              </a:spcBef>
              <a:spcAft>
                <a:spcPts val="100"/>
              </a:spcAft>
              <a:buNone/>
            </a:pPr>
            <a:r>
              <a:rPr sz="980" b="1" i="0">
                <a:solidFill>
                  <a:srgbClr val="000000"/>
                </a:solidFill>
                <a:latin typeface="Arial"/>
                <a:cs typeface="Arial"/>
              </a:rPr>
              <a:t>Líder de calidad</a:t>
            </a:r>
          </a:p>
          <a:p>
            <a:pPr algn="l">
              <a:lnSpc>
                <a:spcPts val="1203"/>
              </a:lnSpc>
              <a:spcBef>
                <a:spcPts val="0"/>
              </a:spcBef>
              <a:spcAft>
                <a:spcPts val="0"/>
              </a:spcAft>
              <a:buNone/>
            </a:pPr>
            <a:r>
              <a:rPr sz="910" b="0" i="0">
                <a:solidFill>
                  <a:srgbClr val="000000"/>
                </a:solidFill>
                <a:latin typeface="Arial"/>
                <a:cs typeface="Arial"/>
              </a:rPr>
              <a:t>Seguridad de las APIs y seguimiento (lámina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0265"/>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FFFFFF"/>
                </a:solidFill>
                <a:latin typeface="Arial"/>
                <a:cs typeface="Arial"/>
              </a:rPr>
              <a:t>Pruebas de desempeño con </a:t>
            </a:r>
            <a:r>
              <a:rPr sz="2400" b="1" i="0">
                <a:solidFill>
                  <a:srgbClr val="22D0FF"/>
                </a:solidFill>
                <a:latin typeface="Arial"/>
                <a:cs typeface="Arial"/>
              </a:rPr>
              <a:t>Celerabit</a:t>
            </a:r>
          </a:p>
        </p:txBody>
      </p:sp>
      <p:pic>
        <p:nvPicPr>
          <p:cNvPr id="3" name="Picture 2" descr="logo_white.png"/>
          <p:cNvPicPr>
            <a:picLocks noChangeAspect="1"/>
          </p:cNvPicPr>
          <p:nvPr/>
        </p:nvPicPr>
        <p:blipFill>
          <a:blip r:embed="rId2"/>
          <a:stretch>
            <a:fillRect/>
          </a:stretch>
        </p:blipFill>
        <p:spPr>
          <a:xfrm>
            <a:off x="10180065" y="316984"/>
            <a:ext cx="1438620" cy="780751"/>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EBEBFF"/>
                </a:solidFill>
                <a:latin typeface="Arial"/>
                <a:cs typeface="Arial"/>
              </a:rPr>
              <a:t>Integración PUI · Viva Aerobus</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EBEBFF"/>
                </a:solidFill>
                <a:latin typeface="Arial"/>
                <a:cs typeface="Arial"/>
              </a:rPr>
              <a:t>15</a:t>
            </a:r>
          </a:p>
        </p:txBody>
      </p:sp>
      <p:sp>
        <p:nvSpPr>
          <p:cNvPr id="6" name="Subtítulo"/>
          <p:cNvSpPr txBox="1"/>
          <p:nvPr/>
        </p:nvSpPr>
        <p:spPr>
          <a:xfrm>
            <a:off x="573009" y="850381"/>
            <a:ext cx="8229600" cy="320040"/>
          </a:xfrm>
          <a:prstGeom prst="rect">
            <a:avLst/>
          </a:prstGeom>
          <a:noFill/>
        </p:spPr>
        <p:txBody>
          <a:bodyPr wrap="square" lIns="0" rIns="0" tIns="0" bIns="0" anchor="t">
            <a:noAutofit/>
          </a:bodyPr>
          <a:lstStyle/>
          <a:p>
            <a:pPr algn="l">
              <a:lnSpc>
                <a:spcPts val="2280"/>
              </a:lnSpc>
              <a:spcBef>
                <a:spcPts val="0"/>
              </a:spcBef>
              <a:spcAft>
                <a:spcPts val="0"/>
              </a:spcAft>
              <a:buNone/>
            </a:pPr>
            <a:r>
              <a:rPr sz="1730" b="0" i="0">
                <a:solidFill>
                  <a:srgbClr val="EBEBFF"/>
                </a:solidFill>
                <a:latin typeface="Arial"/>
                <a:cs typeface="Arial"/>
              </a:rPr>
              <a:t>El servicio de desempeño que Viva ya tiene.</a:t>
            </a:r>
          </a:p>
        </p:txBody>
      </p:sp>
      <p:sp>
        <p:nvSpPr>
          <p:cNvPr id="7" name="Desempeño 1"/>
          <p:cNvSpPr/>
          <p:nvPr/>
        </p:nvSpPr>
        <p:spPr>
          <a:xfrm>
            <a:off x="573009" y="1414254"/>
            <a:ext cx="4135798" cy="3328456"/>
          </a:xfrm>
          <a:prstGeom prst="roundRect">
            <a:avLst>
              <a:gd name="adj" fmla="val 3296"/>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219450" tIns="195067" rIns="219450" bIns="195067" wrap="square">
            <a:noAutofit/>
          </a:bodyPr>
          <a:lstStyle/>
          <a:p>
            <a:pPr algn="l">
              <a:lnSpc>
                <a:spcPts val="1330"/>
              </a:lnSpc>
              <a:spcBef>
                <a:spcPts val="0"/>
              </a:spcBef>
              <a:spcAft>
                <a:spcPts val="300"/>
              </a:spcAft>
              <a:buNone/>
            </a:pPr>
            <a:r>
              <a:rPr sz="1010" b="1" i="0" spc="100">
                <a:solidFill>
                  <a:srgbClr val="5300DF"/>
                </a:solidFill>
                <a:latin typeface="Arial"/>
                <a:cs typeface="Arial"/>
              </a:rPr>
              <a:t>Qué probaremos de la integración</a:t>
            </a:r>
          </a:p>
          <a:p>
            <a:pPr algn="l" marL="155448" indent="-155448">
              <a:lnSpc>
                <a:spcPts val="1647"/>
              </a:lnSpc>
              <a:spcBef>
                <a:spcPts val="0"/>
              </a:spcBef>
              <a:spcAft>
                <a:spcPts val="300"/>
              </a:spcAft>
              <a:buClr>
                <a:srgbClr val="000000"/>
              </a:buClr>
              <a:buFont typeface="Arial"/>
              <a:buChar char="•"/>
            </a:pPr>
            <a:r>
              <a:rPr sz="1250" b="0" i="0">
                <a:solidFill>
                  <a:srgbClr val="000000"/>
                </a:solidFill>
                <a:latin typeface="Arial"/>
                <a:cs typeface="Arial"/>
              </a:rPr>
              <a:t>Los endpoints de entrada (token, activar y desactivar) bajo carga: latencia p90, p95 y p99, rendimiento y errores.</a:t>
            </a:r>
          </a:p>
          <a:p>
            <a:pPr algn="l" marL="155448" indent="-155448">
              <a:lnSpc>
                <a:spcPts val="1647"/>
              </a:lnSpc>
              <a:spcBef>
                <a:spcPts val="0"/>
              </a:spcBef>
              <a:spcAft>
                <a:spcPts val="300"/>
              </a:spcAft>
              <a:buClr>
                <a:srgbClr val="000000"/>
              </a:buClr>
              <a:buFont typeface="Arial"/>
              <a:buChar char="•"/>
            </a:pPr>
            <a:r>
              <a:rPr sz="1250" b="0" i="0">
                <a:solidFill>
                  <a:srgbClr val="000000"/>
                </a:solidFill>
                <a:latin typeface="Arial"/>
                <a:cs typeface="Arial"/>
              </a:rPr>
              <a:t>El flujo asíncrono con simuladores: colas, workers y notificador frente a los límites de Navitaire y de la PUI.</a:t>
            </a:r>
          </a:p>
        </p:txBody>
      </p:sp>
      <p:sp>
        <p:nvSpPr>
          <p:cNvPr id="8" name="Desempeño 2"/>
          <p:cNvSpPr/>
          <p:nvPr/>
        </p:nvSpPr>
        <p:spPr>
          <a:xfrm>
            <a:off x="4855108" y="1414254"/>
            <a:ext cx="3308638" cy="3328456"/>
          </a:xfrm>
          <a:prstGeom prst="roundRect">
            <a:avLst>
              <a:gd name="adj" fmla="val 3316"/>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219450" tIns="195067" rIns="219450" bIns="195067" wrap="square">
            <a:noAutofit/>
          </a:bodyPr>
          <a:lstStyle/>
          <a:p>
            <a:pPr algn="l">
              <a:lnSpc>
                <a:spcPts val="1330"/>
              </a:lnSpc>
              <a:spcBef>
                <a:spcPts val="0"/>
              </a:spcBef>
              <a:spcAft>
                <a:spcPts val="300"/>
              </a:spcAft>
              <a:buNone/>
            </a:pPr>
            <a:r>
              <a:rPr sz="1010" b="1" i="0" spc="100">
                <a:solidFill>
                  <a:srgbClr val="5300DF"/>
                </a:solidFill>
                <a:latin typeface="Arial"/>
                <a:cs typeface="Arial"/>
              </a:rPr>
              <a:t>Disparo desde el pipeline</a:t>
            </a:r>
          </a:p>
          <a:p>
            <a:pPr algn="l" marL="155448" indent="-155448">
              <a:lnSpc>
                <a:spcPts val="1647"/>
              </a:lnSpc>
              <a:spcBef>
                <a:spcPts val="0"/>
              </a:spcBef>
              <a:spcAft>
                <a:spcPts val="300"/>
              </a:spcAft>
              <a:buClr>
                <a:srgbClr val="000000"/>
              </a:buClr>
              <a:buFont typeface="Arial"/>
              <a:buChar char="•"/>
            </a:pPr>
            <a:r>
              <a:rPr sz="1250" b="0" i="0">
                <a:solidFill>
                  <a:srgbClr val="000000"/>
                </a:solidFill>
                <a:latin typeface="Arial"/>
                <a:cs typeface="Arial"/>
              </a:rPr>
              <a:t>La suite se puede disparar desde el pipeline de CI/CD, según las herramientas, permisos y definición acordada con Viva.</a:t>
            </a:r>
          </a:p>
          <a:p>
            <a:pPr algn="l" marL="155448" indent="-155448">
              <a:lnSpc>
                <a:spcPts val="1647"/>
              </a:lnSpc>
              <a:spcBef>
                <a:spcPts val="0"/>
              </a:spcBef>
              <a:spcAft>
                <a:spcPts val="300"/>
              </a:spcAft>
              <a:buClr>
                <a:srgbClr val="000000"/>
              </a:buClr>
              <a:buFont typeface="Arial"/>
              <a:buChar char="•"/>
            </a:pPr>
            <a:r>
              <a:rPr sz="1250" b="0" i="0">
                <a:solidFill>
                  <a:srgbClr val="000000"/>
                </a:solidFill>
                <a:latin typeface="Arial"/>
                <a:cs typeface="Arial"/>
              </a:rPr>
              <a:t>Umbrales de latencia y error para detectar degradaciones entre versiones.</a:t>
            </a:r>
          </a:p>
        </p:txBody>
      </p:sp>
      <p:sp>
        <p:nvSpPr>
          <p:cNvPr id="9" name="Desempeño 3"/>
          <p:cNvSpPr/>
          <p:nvPr/>
        </p:nvSpPr>
        <p:spPr>
          <a:xfrm>
            <a:off x="8310047" y="1414254"/>
            <a:ext cx="3308638" cy="3328456"/>
          </a:xfrm>
          <a:prstGeom prst="roundRect">
            <a:avLst>
              <a:gd name="adj" fmla="val 3316"/>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219450" tIns="195067" rIns="219450" bIns="195067" wrap="square">
            <a:noAutofit/>
          </a:bodyPr>
          <a:lstStyle/>
          <a:p>
            <a:pPr algn="l">
              <a:lnSpc>
                <a:spcPts val="1330"/>
              </a:lnSpc>
              <a:spcBef>
                <a:spcPts val="0"/>
              </a:spcBef>
              <a:spcAft>
                <a:spcPts val="300"/>
              </a:spcAft>
              <a:buNone/>
            </a:pPr>
            <a:r>
              <a:rPr sz="1010" b="1" i="0" spc="100">
                <a:solidFill>
                  <a:srgbClr val="5300DF"/>
                </a:solidFill>
                <a:latin typeface="Arial"/>
                <a:cs typeface="Arial"/>
              </a:rPr>
              <a:t>Cuándo</a:t>
            </a:r>
          </a:p>
          <a:p>
            <a:pPr algn="l" marL="155448" indent="-155448">
              <a:lnSpc>
                <a:spcPts val="1647"/>
              </a:lnSpc>
              <a:spcBef>
                <a:spcPts val="0"/>
              </a:spcBef>
              <a:spcAft>
                <a:spcPts val="300"/>
              </a:spcAft>
              <a:buClr>
                <a:srgbClr val="000000"/>
              </a:buClr>
              <a:buFont typeface="Arial"/>
              <a:buChar char="•"/>
            </a:pPr>
            <a:r>
              <a:rPr sz="1250" b="0" i="0">
                <a:solidFill>
                  <a:srgbClr val="000000"/>
                </a:solidFill>
                <a:latin typeface="Arial"/>
                <a:cs typeface="Arial"/>
              </a:rPr>
              <a:t>Semana 4: carga sobre los endpoints de entrada, antes de liberar el iterable 1.</a:t>
            </a:r>
          </a:p>
          <a:p>
            <a:pPr algn="l" marL="155448" indent="-155448">
              <a:lnSpc>
                <a:spcPts val="1647"/>
              </a:lnSpc>
              <a:spcBef>
                <a:spcPts val="0"/>
              </a:spcBef>
              <a:spcAft>
                <a:spcPts val="300"/>
              </a:spcAft>
              <a:buClr>
                <a:srgbClr val="000000"/>
              </a:buClr>
              <a:buFont typeface="Arial"/>
              <a:buChar char="•"/>
            </a:pPr>
            <a:r>
              <a:rPr sz="1250" b="0" i="0">
                <a:solidFill>
                  <a:srgbClr val="000000"/>
                </a:solidFill>
                <a:latin typeface="Arial"/>
                <a:cs typeface="Arial"/>
              </a:rPr>
              <a:t>Semana 6: flujo asíncrono completo, antes de liberar los iterables 4 y 5.</a:t>
            </a:r>
          </a:p>
        </p:txBody>
      </p:sp>
      <p:sp>
        <p:nvSpPr>
          <p:cNvPr id="10" name="Sin costo"/>
          <p:cNvSpPr/>
          <p:nvPr/>
        </p:nvSpPr>
        <p:spPr>
          <a:xfrm>
            <a:off x="573009" y="4986545"/>
            <a:ext cx="11045675" cy="868680"/>
          </a:xfrm>
          <a:prstGeom prst="roundRect">
            <a:avLst>
              <a:gd name="adj" fmla="val 12631"/>
            </a:avLst>
          </a:prstGeom>
          <a:solidFill>
            <a:srgbClr val="22D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68217" rIns="268217" wrap="square">
            <a:noAutofit/>
          </a:bodyPr>
          <a:lstStyle/>
          <a:p>
            <a:pPr algn="l">
              <a:lnSpc>
                <a:spcPts val="1785"/>
              </a:lnSpc>
              <a:spcBef>
                <a:spcPts val="0"/>
              </a:spcBef>
              <a:spcAft>
                <a:spcPts val="0"/>
              </a:spcAft>
              <a:buNone/>
            </a:pPr>
            <a:r>
              <a:rPr sz="3870" b="1" i="0">
                <a:solidFill>
                  <a:srgbClr val="280265"/>
                </a:solidFill>
                <a:latin typeface="Arial"/>
                <a:cs typeface="Arial"/>
              </a:rPr>
              <a:t>$0   </a:t>
            </a:r>
            <a:r>
              <a:rPr sz="1490" b="1" i="0">
                <a:solidFill>
                  <a:srgbClr val="280265"/>
                </a:solidFill>
                <a:latin typeface="Arial"/>
                <a:cs typeface="Arial"/>
              </a:rPr>
              <a:t>adicionales en este proyecto:</a:t>
            </a:r>
            <a:r>
              <a:rPr sz="1490" b="0" i="0">
                <a:solidFill>
                  <a:srgbClr val="280265"/>
                </a:solidFill>
                <a:latin typeface="Arial"/>
                <a:cs typeface="Arial"/>
              </a:rPr>
              <a:t> las pruebas de desempeño se ejecutan dentro del plan de Celerabit que Viva ya tiene contratado.</a:t>
            </a:r>
          </a:p>
        </p:txBody>
      </p:sp>
      <p:pic>
        <p:nvPicPr>
          <p:cNvPr id="11" name="Picture 10" descr="viva.png"/>
          <p:cNvPicPr>
            <a:picLocks noChangeAspect="1"/>
          </p:cNvPicPr>
          <p:nvPr/>
        </p:nvPicPr>
        <p:blipFill>
          <a:blip r:embed="rId3"/>
          <a:stretch>
            <a:fillRect/>
          </a:stretch>
        </p:blipFill>
        <p:spPr>
          <a:xfrm>
            <a:off x="11014401" y="6492249"/>
            <a:ext cx="604283" cy="231642"/>
          </a:xfrm>
          <a:prstGeom prst="rect">
            <a:avLst/>
          </a:prstGeom>
        </p:spPr>
      </p:pic>
      <p:sp>
        <p:nvSpPr>
          <p:cNvPr id="12" name="TextBox 11"/>
          <p:cNvSpPr txBox="1"/>
          <p:nvPr/>
        </p:nvSpPr>
        <p:spPr>
          <a:xfrm>
            <a:off x="10694361" y="6473961"/>
            <a:ext cx="274320" cy="231642"/>
          </a:xfrm>
          <a:prstGeom prst="rect">
            <a:avLst/>
          </a:prstGeom>
          <a:noFill/>
        </p:spPr>
        <p:txBody>
          <a:bodyPr wrap="square" lIns="0" rIns="0" tIns="0" bIns="0" anchor="ctr">
            <a:noAutofit/>
          </a:bodyPr>
          <a:lstStyle/>
          <a:p>
            <a:pPr algn="ctr">
              <a:lnSpc>
                <a:spcPts val="1248"/>
              </a:lnSpc>
              <a:spcBef>
                <a:spcPts val="0"/>
              </a:spcBef>
              <a:spcAft>
                <a:spcPts val="0"/>
              </a:spcAft>
              <a:buNone/>
            </a:pPr>
            <a:r>
              <a:rPr sz="1250" b="0" i="0">
                <a:solidFill>
                  <a:srgbClr val="FFFFFF"/>
                </a:solidFill>
                <a:latin typeface="Arial"/>
                <a:cs typeface="Arial"/>
              </a:rPr>
              <a:t>×</a:t>
            </a:r>
          </a:p>
        </p:txBody>
      </p:sp>
      <p:pic>
        <p:nvPicPr>
          <p:cNvPr id="13" name="Picture 12" descr="celerabit.png"/>
          <p:cNvPicPr>
            <a:picLocks noChangeAspect="1"/>
          </p:cNvPicPr>
          <p:nvPr/>
        </p:nvPicPr>
        <p:blipFill>
          <a:blip r:embed="rId4"/>
          <a:stretch>
            <a:fillRect/>
          </a:stretch>
        </p:blipFill>
        <p:spPr>
          <a:xfrm>
            <a:off x="9467005" y="6492249"/>
            <a:ext cx="1181634" cy="23164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Pruebas de seguridad de las APIs: </a:t>
            </a:r>
            <a:r>
              <a:rPr sz="2400" b="1" i="0">
                <a:solidFill>
                  <a:srgbClr val="5300DF"/>
                </a:solidFill>
                <a:latin typeface="Arial"/>
                <a:cs typeface="Arial"/>
              </a:rPr>
              <a:t>qué verificamos, qué entregamos y cuándo</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16</a:t>
            </a:r>
          </a:p>
        </p:txBody>
      </p:sp>
      <p:sp>
        <p:nvSpPr>
          <p:cNvPr id="6" name="Nota"/>
          <p:cNvSpPr/>
          <p:nvPr/>
        </p:nvSpPr>
        <p:spPr>
          <a:xfrm>
            <a:off x="573009" y="5487738"/>
            <a:ext cx="11045675" cy="687526"/>
          </a:xfrm>
          <a:prstGeom prst="roundRect">
            <a:avLst>
              <a:gd name="adj" fmla="val 13299"/>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Pruebas sobre la solución, en ambiente de desarrollo y con datos sintéticos.</a:t>
            </a:r>
            <a:r>
              <a:rPr sz="980" b="0" i="0">
                <a:solidFill>
                  <a:srgbClr val="FFFFFF"/>
                </a:solidFill>
                <a:latin typeface="Arial"/>
                <a:cs typeface="Arial"/>
              </a:rPr>
              <a:t> El manual de la PUI exige que la URL base y los endpoints queden libres de vulnerabilidades críticas, altas, medias y bajas; por eso cada iterable pasa el DAST antes de liberarse. Fuera de alcance: pruebas de penetración de un tercero certificado; pruebas sobre la PUI, Navitaire u otros sistemas de terceros; y pruebas en Producción.</a:t>
            </a:r>
          </a:p>
        </p:txBody>
      </p:sp>
      <p:sp>
        <p:nvSpPr>
          <p:cNvPr id="7" name="Bloque 1"/>
          <p:cNvSpPr/>
          <p:nvPr/>
        </p:nvSpPr>
        <p:spPr>
          <a:xfrm>
            <a:off x="573009" y="1341086"/>
            <a:ext cx="3584358" cy="3988160"/>
          </a:xfrm>
          <a:prstGeom prst="roundRect">
            <a:avLst>
              <a:gd name="adj" fmla="val 306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Qué verificamos</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Autenticación:</a:t>
            </a:r>
            <a:r>
              <a:rPr sz="980" b="0" i="0">
                <a:solidFill>
                  <a:srgbClr val="000000"/>
                </a:solidFill>
                <a:latin typeface="Arial"/>
                <a:cs typeface="Arial"/>
              </a:rPr>
              <a:t> /login y tokens de Cognito alterados, vencidos o de otra audiencia.</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Autorización:</a:t>
            </a:r>
            <a:r>
              <a:rPr sz="980" b="0" i="0">
                <a:solidFill>
                  <a:srgbClr val="000000"/>
                </a:solidFill>
                <a:latin typeface="Arial"/>
                <a:cs typeface="Arial"/>
              </a:rPr>
              <a:t> cada scope solo llama a sus rutas.</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Datos expuestos:</a:t>
            </a:r>
            <a:r>
              <a:rPr sz="980" b="0" i="0">
                <a:solidFill>
                  <a:srgbClr val="000000"/>
                </a:solidFill>
                <a:latin typeface="Arial"/>
                <a:cs typeface="Arial"/>
              </a:rPr>
              <a:t> lo que sale hacia la PUI frente a la matriz aprobada por Legal.</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Entradas y errores:</a:t>
            </a:r>
            <a:r>
              <a:rPr sz="980" b="0" i="0">
                <a:solidFill>
                  <a:srgbClr val="000000"/>
                </a:solidFill>
                <a:latin typeface="Arial"/>
                <a:cs typeface="Arial"/>
              </a:rPr>
              <a:t> CURP y contrato mal formados, payloads excesivos y límites de tráfico, sin filtrar información en los errores.</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Privacidad:</a:t>
            </a:r>
            <a:r>
              <a:rPr sz="980" b="0" i="0">
                <a:solidFill>
                  <a:srgbClr val="000000"/>
                </a:solidFill>
                <a:latin typeface="Arial"/>
                <a:cs typeface="Arial"/>
              </a:rPr>
              <a:t> la CURP no aparece en logs, URLs ni errores.</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Controles de entrega:</a:t>
            </a:r>
            <a:r>
              <a:rPr sz="980" b="0" i="0">
                <a:solidFill>
                  <a:srgbClr val="000000"/>
                </a:solidFill>
                <a:latin typeface="Arial"/>
                <a:cs typeface="Arial"/>
              </a:rPr>
              <a:t> SAST, SCA, IaC y DAST en el pipeline desde el iterable 1.</a:t>
            </a:r>
          </a:p>
        </p:txBody>
      </p:sp>
      <p:sp>
        <p:nvSpPr>
          <p:cNvPr id="8" name="Bloque 1 · número"/>
          <p:cNvSpPr/>
          <p:nvPr/>
        </p:nvSpPr>
        <p:spPr>
          <a:xfrm>
            <a:off x="743693"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Bloque 2"/>
          <p:cNvSpPr/>
          <p:nvPr/>
        </p:nvSpPr>
        <p:spPr>
          <a:xfrm>
            <a:off x="4303668" y="1341086"/>
            <a:ext cx="3584358" cy="3988160"/>
          </a:xfrm>
          <a:prstGeom prst="roundRect">
            <a:avLst>
              <a:gd name="adj" fmla="val 306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Qué entregamos</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Informe de seguridad de las APIs:</a:t>
            </a:r>
            <a:r>
              <a:rPr sz="980" b="0" i="0">
                <a:solidFill>
                  <a:srgbClr val="000000"/>
                </a:solidFill>
                <a:latin typeface="Arial"/>
                <a:cs typeface="Arial"/>
              </a:rPr>
              <a:t> hallazgos clasificados por severidad según OWASP API Security Top 10.</a:t>
            </a:r>
          </a:p>
          <a:p>
            <a:pPr algn="l" marL="155448" indent="-155448">
              <a:lnSpc>
                <a:spcPts val="1292"/>
              </a:lnSpc>
              <a:spcBef>
                <a:spcPts val="0"/>
              </a:spcBef>
              <a:spcAft>
                <a:spcPts val="300"/>
              </a:spcAft>
              <a:buClr>
                <a:srgbClr val="000000"/>
              </a:buClr>
              <a:buFont typeface="Arial"/>
              <a:buChar char="•"/>
            </a:pPr>
            <a:r>
              <a:rPr sz="980" b="0" i="0">
                <a:solidFill>
                  <a:srgbClr val="000000"/>
                </a:solidFill>
                <a:latin typeface="Arial"/>
                <a:cs typeface="Arial"/>
              </a:rPr>
              <a:t>Evidencia de controles estáticos y validaciones dinámicas ejecutadas sobre las APIs.</a:t>
            </a:r>
          </a:p>
          <a:p>
            <a:pPr algn="l" marL="155448" indent="-155448">
              <a:lnSpc>
                <a:spcPts val="1292"/>
              </a:lnSpc>
              <a:spcBef>
                <a:spcPts val="0"/>
              </a:spcBef>
              <a:spcAft>
                <a:spcPts val="300"/>
              </a:spcAft>
              <a:buClr>
                <a:srgbClr val="000000"/>
              </a:buClr>
              <a:buFont typeface="Arial"/>
              <a:buChar char="•"/>
            </a:pPr>
            <a:r>
              <a:rPr sz="980" b="0" i="0">
                <a:solidFill>
                  <a:srgbClr val="000000"/>
                </a:solidFill>
                <a:latin typeface="Arial"/>
                <a:cs typeface="Arial"/>
              </a:rPr>
              <a:t>Evidencia reproducible y recomendación de corrección de cada hallazgo.</a:t>
            </a:r>
          </a:p>
          <a:p>
            <a:pPr algn="l" marL="155448" indent="-155448">
              <a:lnSpc>
                <a:spcPts val="1292"/>
              </a:lnSpc>
              <a:spcBef>
                <a:spcPts val="0"/>
              </a:spcBef>
              <a:spcAft>
                <a:spcPts val="300"/>
              </a:spcAft>
              <a:buClr>
                <a:srgbClr val="000000"/>
              </a:buClr>
              <a:buFont typeface="Arial"/>
              <a:buChar char="•"/>
            </a:pPr>
            <a:r>
              <a:rPr sz="980" b="0" i="0">
                <a:solidFill>
                  <a:srgbClr val="000000"/>
                </a:solidFill>
                <a:latin typeface="Arial"/>
                <a:cs typeface="Arial"/>
              </a:rPr>
              <a:t>Retest de las correcciones y versión final del informe.</a:t>
            </a:r>
          </a:p>
        </p:txBody>
      </p:sp>
      <p:sp>
        <p:nvSpPr>
          <p:cNvPr id="10" name="Bloque 2 · número"/>
          <p:cNvSpPr/>
          <p:nvPr/>
        </p:nvSpPr>
        <p:spPr>
          <a:xfrm>
            <a:off x="4474352"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Bloque 3"/>
          <p:cNvSpPr/>
          <p:nvPr/>
        </p:nvSpPr>
        <p:spPr>
          <a:xfrm>
            <a:off x="8034327" y="1341086"/>
            <a:ext cx="3584358" cy="3988160"/>
          </a:xfrm>
          <a:prstGeom prst="roundRect">
            <a:avLst>
              <a:gd name="adj" fmla="val 306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Cuándo: en cada iterable</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Semanas 1 y 2:</a:t>
            </a:r>
            <a:r>
              <a:rPr sz="980" b="0" i="0">
                <a:solidFill>
                  <a:srgbClr val="000000"/>
                </a:solidFill>
                <a:latin typeface="Arial"/>
                <a:cs typeface="Arial"/>
              </a:rPr>
              <a:t> modelo de amenazas de las APIs, junto con el diseño.</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Semanas 3 y 4 · iterable 1:</a:t>
            </a:r>
            <a:r>
              <a:rPr sz="980" b="0" i="0">
                <a:solidFill>
                  <a:srgbClr val="000000"/>
                </a:solidFill>
                <a:latin typeface="Arial"/>
                <a:cs typeface="Arial"/>
              </a:rPr>
              <a:t> los 4 endpoints expuestos, DAST y endurecimiento, porque toda la superficie expuesta nace aquí.</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Semana 5 · iterable 2:</a:t>
            </a:r>
            <a:r>
              <a:rPr sz="980" b="0" i="0">
                <a:solidFill>
                  <a:srgbClr val="000000"/>
                </a:solidFill>
                <a:latin typeface="Arial"/>
                <a:cs typeface="Arial"/>
              </a:rPr>
              <a:t> datos enviados a la PUI frente a la matriz de Legal.</a:t>
            </a:r>
          </a:p>
          <a:p>
            <a:pPr algn="l" marL="155448" indent="-155448">
              <a:lnSpc>
                <a:spcPts val="1292"/>
              </a:lnSpc>
              <a:spcBef>
                <a:spcPts val="0"/>
              </a:spcBef>
              <a:spcAft>
                <a:spcPts val="300"/>
              </a:spcAft>
              <a:buClr>
                <a:srgbClr val="000000"/>
              </a:buClr>
              <a:buFont typeface="Arial"/>
              <a:buChar char="•"/>
            </a:pPr>
            <a:r>
              <a:rPr sz="980" b="1" i="0">
                <a:solidFill>
                  <a:srgbClr val="000000"/>
                </a:solidFill>
                <a:latin typeface="Arial"/>
                <a:cs typeface="Arial"/>
              </a:rPr>
              <a:t>Cada liberación:</a:t>
            </a:r>
            <a:r>
              <a:rPr sz="980" b="0" i="0">
                <a:solidFill>
                  <a:srgbClr val="000000"/>
                </a:solidFill>
                <a:latin typeface="Arial"/>
                <a:cs typeface="Arial"/>
              </a:rPr>
              <a:t> SAST, SCA y DAST sin hallazgos; informe consolidado y retest en las semanas 6 y 7.</a:t>
            </a:r>
          </a:p>
        </p:txBody>
      </p:sp>
      <p:sp>
        <p:nvSpPr>
          <p:cNvPr id="12" name="Bloque 3 · número"/>
          <p:cNvSpPr/>
          <p:nvPr/>
        </p:nvSpPr>
        <p:spPr>
          <a:xfrm>
            <a:off x="8205010"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Dudas a resolver </a:t>
            </a:r>
            <a:r>
              <a:rPr sz="2400" b="1" i="0">
                <a:solidFill>
                  <a:srgbClr val="5300DF"/>
                </a:solidFill>
                <a:latin typeface="Arial"/>
                <a:cs typeface="Arial"/>
              </a:rPr>
              <a:t>antes de iniciar</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17</a:t>
            </a:r>
          </a:p>
        </p:txBody>
      </p:sp>
      <p:sp>
        <p:nvSpPr>
          <p:cNvPr id="6" name="Nota"/>
          <p:cNvSpPr/>
          <p:nvPr/>
        </p:nvSpPr>
        <p:spPr>
          <a:xfrm>
            <a:off x="573009" y="4944479"/>
            <a:ext cx="11045675" cy="1230785"/>
          </a:xfrm>
          <a:prstGeom prst="roundRect">
            <a:avLst>
              <a:gd name="adj" fmla="val 7429"/>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200"/>
              </a:spcAft>
              <a:buNone/>
            </a:pPr>
            <a:r>
              <a:rPr sz="980" b="1" i="0">
                <a:solidFill>
                  <a:srgbClr val="FFFFFF"/>
                </a:solidFill>
                <a:latin typeface="Arial"/>
                <a:cs typeface="Arial"/>
              </a:rPr>
              <a:t>Otras dudas abiertas.</a:t>
            </a:r>
          </a:p>
          <a:p>
            <a:pPr algn="l">
              <a:lnSpc>
                <a:spcPts val="1292"/>
              </a:lnSpc>
              <a:spcBef>
                <a:spcPts val="0"/>
              </a:spcBef>
              <a:spcAft>
                <a:spcPts val="200"/>
              </a:spcAft>
              <a:buNone/>
            </a:pPr>
            <a:r>
              <a:rPr sz="980" b="1" i="0">
                <a:solidFill>
                  <a:srgbClr val="FFFFFF"/>
                </a:solidFill>
                <a:latin typeface="Arial"/>
                <a:cs typeface="Arial"/>
              </a:rPr>
              <a:t>Con la PUI:</a:t>
            </a:r>
            <a:r>
              <a:rPr sz="980" b="0" i="0">
                <a:solidFill>
                  <a:srgbClr val="FFFFFF"/>
                </a:solidFill>
                <a:latin typeface="Arial"/>
                <a:cs typeface="Arial"/>
              </a:rPr>
              <a:t> si se puede certificar por partes o solo la solución completa; si hay que firmar el JSON de respuesta y qué significa «tokens no reutilizables»; si se envía </a:t>
            </a:r>
            <a:r>
              <a:rPr sz="900" b="0" i="0">
                <a:solidFill>
                  <a:srgbClr val="FFFFFF"/>
                </a:solidFill>
                <a:latin typeface="Courier New"/>
                <a:cs typeface="Courier New"/>
              </a:rPr>
              <a:t>/busqueda-finalizada</a:t>
            </a:r>
            <a:r>
              <a:rPr sz="980" b="0" i="0">
                <a:solidFill>
                  <a:srgbClr val="FFFFFF"/>
                </a:solidFill>
                <a:latin typeface="Arial"/>
                <a:cs typeface="Arial"/>
              </a:rPr>
              <a:t> cuando no hay fecha de desaparición; si el equipo de desarrollo tendrá cuenta propia de sandbox; y si exige pruebas de penetración de un tercero (en ese caso, Viva las contrata con su proveedor).</a:t>
            </a:r>
          </a:p>
          <a:p>
            <a:pPr algn="l">
              <a:lnSpc>
                <a:spcPts val="1292"/>
              </a:lnSpc>
              <a:spcBef>
                <a:spcPts val="0"/>
              </a:spcBef>
              <a:spcAft>
                <a:spcPts val="0"/>
              </a:spcAft>
              <a:buNone/>
            </a:pPr>
            <a:r>
              <a:rPr sz="980" b="1" i="0">
                <a:solidFill>
                  <a:srgbClr val="FFFFFF"/>
                </a:solidFill>
                <a:latin typeface="Arial"/>
                <a:cs typeface="Arial"/>
              </a:rPr>
              <a:t>Con Viva:</a:t>
            </a:r>
            <a:r>
              <a:rPr sz="980" b="0" i="0">
                <a:solidFill>
                  <a:srgbClr val="FFFFFF"/>
                </a:solidFill>
                <a:latin typeface="Arial"/>
                <a:cs typeface="Arial"/>
              </a:rPr>
              <a:t> si implementa la paginación de la lámina 9; quién recibe y atiende las alertas (y si van también a Datadog); y si el «soporte operativo» del diseño requiere continuidad después de las 2 semanas de soporte incluidas (lámina 19).</a:t>
            </a:r>
          </a:p>
        </p:txBody>
      </p:sp>
      <p:sp>
        <p:nvSpPr>
          <p:cNvPr id="7" name="Bloque 1"/>
          <p:cNvSpPr/>
          <p:nvPr/>
        </p:nvSpPr>
        <p:spPr>
          <a:xfrm>
            <a:off x="573009" y="1341086"/>
            <a:ext cx="3584358" cy="3444900"/>
          </a:xfrm>
          <a:prstGeom prst="roundRect">
            <a:avLst>
              <a:gd name="adj" fmla="val 318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¿Con qué herramientas se miden SAST, SCA y DAST?</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¿Usamos el SonarQube de Viva? Si es así, ¿el equipo tendrá acceso al dashboard y a reglas actualizadas?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¿O hay otra herramienta corporativa? Si no la hay, ¿Viva acepta herramientas de código abierto?</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¿Qué herramienta de DAST corre en el pipeline de liberación, y la PUI acepta sus reportes de Producción?</a:t>
            </a:r>
          </a:p>
          <a:p>
            <a:pPr algn="l">
              <a:lnSpc>
                <a:spcPts val="1241"/>
              </a:lnSpc>
              <a:spcBef>
                <a:spcPts val="400"/>
              </a:spcBef>
              <a:spcAft>
                <a:spcPts val="0"/>
              </a:spcAft>
              <a:buNone/>
            </a:pPr>
            <a:r>
              <a:rPr sz="940" b="0" i="1">
                <a:solidFill>
                  <a:srgbClr val="000000"/>
                </a:solidFill>
                <a:latin typeface="Arial"/>
                <a:cs typeface="Arial"/>
              </a:rPr>
              <a:t>Se necesita antes de arrancar el iterable 1: define su pipeline y el formato de los reportes que exige la PUI.</a:t>
            </a:r>
          </a:p>
        </p:txBody>
      </p:sp>
      <p:sp>
        <p:nvSpPr>
          <p:cNvPr id="8" name="Bloque 1 · número"/>
          <p:cNvSpPr/>
          <p:nvPr/>
        </p:nvSpPr>
        <p:spPr>
          <a:xfrm>
            <a:off x="743693"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Bloque 2"/>
          <p:cNvSpPr/>
          <p:nvPr/>
        </p:nvSpPr>
        <p:spPr>
          <a:xfrm>
            <a:off x="4303668" y="1341086"/>
            <a:ext cx="3584358" cy="3444900"/>
          </a:xfrm>
          <a:prstGeom prst="roundRect">
            <a:avLst>
              <a:gd name="adj" fmla="val 318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¿Viva liberará cada iterable al aceptarlo?</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Sí (recomendado):</a:t>
            </a:r>
            <a:r>
              <a:rPr sz="940" b="0" i="0">
                <a:solidFill>
                  <a:srgbClr val="000000"/>
                </a:solidFill>
                <a:latin typeface="Arial"/>
                <a:cs typeface="Arial"/>
              </a:rPr>
              <a:t> la primera liberación es en la semana 5, las diferencias de ambiente aparecen temprano y cada liberación es pequeña y con reversa.</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Solo al final:</a:t>
            </a:r>
            <a:r>
              <a:rPr sz="940" b="0" i="0">
                <a:solidFill>
                  <a:srgbClr val="000000"/>
                </a:solidFill>
                <a:latin typeface="Arial"/>
                <a:cs typeface="Arial"/>
              </a:rPr>
              <a:t> funciona, pero todo el riesgo se concentra en la semana 8.</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¿Y cuándo se conecta con la PUI: con las tres fases en Producción (recomendado) o antes, si la PUI lo permite?</a:t>
            </a:r>
          </a:p>
          <a:p>
            <a:pPr algn="l">
              <a:lnSpc>
                <a:spcPts val="1241"/>
              </a:lnSpc>
              <a:spcBef>
                <a:spcPts val="400"/>
              </a:spcBef>
              <a:spcAft>
                <a:spcPts val="0"/>
              </a:spcAft>
              <a:buNone/>
            </a:pPr>
            <a:r>
              <a:rPr sz="940" b="0" i="1">
                <a:solidFill>
                  <a:srgbClr val="000000"/>
                </a:solidFill>
                <a:latin typeface="Arial"/>
                <a:cs typeface="Arial"/>
              </a:rPr>
              <a:t>Define cuándo aparecen los riesgos de ambiente y cuándo opera Viva con la PUI.</a:t>
            </a:r>
          </a:p>
        </p:txBody>
      </p:sp>
      <p:sp>
        <p:nvSpPr>
          <p:cNvPr id="10" name="Bloque 2 · número"/>
          <p:cNvSpPr/>
          <p:nvPr/>
        </p:nvSpPr>
        <p:spPr>
          <a:xfrm>
            <a:off x="4474352"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Bloque 3"/>
          <p:cNvSpPr/>
          <p:nvPr/>
        </p:nvSpPr>
        <p:spPr>
          <a:xfrm>
            <a:off x="8034327" y="1341086"/>
            <a:ext cx="3584358" cy="3444900"/>
          </a:xfrm>
          <a:prstGeom prst="roundRect">
            <a:avLst>
              <a:gd name="adj" fmla="val 3185"/>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522"/>
              </a:lnSpc>
              <a:spcBef>
                <a:spcPts val="0"/>
              </a:spcBef>
              <a:spcAft>
                <a:spcPts val="400"/>
              </a:spcAft>
              <a:buNone/>
            </a:pPr>
            <a:r>
              <a:rPr sz="1250" b="1" i="0">
                <a:solidFill>
                  <a:srgbClr val="280265"/>
                </a:solidFill>
                <a:latin typeface="Arial"/>
                <a:cs typeface="Arial"/>
              </a:rPr>
              <a:t>¿Qué herramientas de IaC y CI/CD usa Viva?</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Por defecto proponemos Terraform. ¿Viva lo tiene habilitado o exige otra herramienta (AWS CDK, CloudFormation/SAM)?</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¿Dónde se guarda el estado y hay módulos o plantillas corporativas obligatorias?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¿El repositorio y el pipeline están en GitLab? Si es así, ¿GitLab CI puede desplegar con OIDC en cada cuenta de AWS?</a:t>
            </a:r>
          </a:p>
          <a:p>
            <a:pPr algn="l">
              <a:lnSpc>
                <a:spcPts val="1241"/>
              </a:lnSpc>
              <a:spcBef>
                <a:spcPts val="400"/>
              </a:spcBef>
              <a:spcAft>
                <a:spcPts val="0"/>
              </a:spcAft>
              <a:buNone/>
            </a:pPr>
            <a:r>
              <a:rPr sz="940" b="0" i="1">
                <a:solidFill>
                  <a:srgbClr val="000000"/>
                </a:solidFill>
                <a:latin typeface="Arial"/>
                <a:cs typeface="Arial"/>
              </a:rPr>
              <a:t>Se necesita el día 1: es lo primero que se construye en el iterable 1.</a:t>
            </a:r>
          </a:p>
        </p:txBody>
      </p:sp>
      <p:sp>
        <p:nvSpPr>
          <p:cNvPr id="12" name="Bloque 3 · número"/>
          <p:cNvSpPr/>
          <p:nvPr/>
        </p:nvSpPr>
        <p:spPr>
          <a:xfrm>
            <a:off x="8205010" y="1483485"/>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Términos y </a:t>
            </a:r>
            <a:r>
              <a:rPr sz="2400" b="1" i="0">
                <a:solidFill>
                  <a:srgbClr val="5300DF"/>
                </a:solidFill>
                <a:latin typeface="Arial"/>
                <a:cs typeface="Arial"/>
              </a:rPr>
              <a:t>condiciones</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18</a:t>
            </a:r>
          </a:p>
        </p:txBody>
      </p:sp>
      <p:sp>
        <p:nvSpPr>
          <p:cNvPr id="6" name="Bloque 1"/>
          <p:cNvSpPr/>
          <p:nvPr/>
        </p:nvSpPr>
        <p:spPr>
          <a:xfrm>
            <a:off x="573009" y="1341086"/>
            <a:ext cx="3592486" cy="2271177"/>
          </a:xfrm>
          <a:prstGeom prst="roundRect">
            <a:avLst>
              <a:gd name="adj" fmla="val 483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Alcance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Incluye los 5 iterables (láminas 3 a 6) y lo de la lámina 13, con acompañamiento a cada liberación y 2 semanas de soporte en Producción (lámina 19).</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No incluye construir la API interna ni el acceso a Navitaire, fotos y huellas, ni pruebas de penetración.</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La continuidad del soporte después de esas 2 semanas se cotiza aparte.</a:t>
            </a:r>
          </a:p>
        </p:txBody>
      </p:sp>
      <p:sp>
        <p:nvSpPr>
          <p:cNvPr id="7" name="Bloque 1 · número"/>
          <p:cNvSpPr/>
          <p:nvPr/>
        </p:nvSpPr>
        <p:spPr>
          <a:xfrm>
            <a:off x="743693"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8" name="Bloque 2"/>
          <p:cNvSpPr/>
          <p:nvPr/>
        </p:nvSpPr>
        <p:spPr>
          <a:xfrm>
            <a:off x="4299604" y="1341086"/>
            <a:ext cx="3592486" cy="2271177"/>
          </a:xfrm>
          <a:prstGeom prst="roundRect">
            <a:avLst>
              <a:gd name="adj" fmla="val 483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Ambientes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Tech and Solve solo accede a desarrollo.</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Viva despliega QA y Producción con el pipeline entregado y puede liberar cada iterable al aceptarlo, desde la semana 5.</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Antes de la primera liberación, Viva certifica por escrito que QA y Producción son iguales a desarrollo salvo parámetros y secretos.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Los ajustes por diferencias de ambiente se estiman como actividad nueva.</a:t>
            </a:r>
          </a:p>
        </p:txBody>
      </p:sp>
      <p:sp>
        <p:nvSpPr>
          <p:cNvPr id="9" name="Bloque 2 · número"/>
          <p:cNvSpPr/>
          <p:nvPr/>
        </p:nvSpPr>
        <p:spPr>
          <a:xfrm>
            <a:off x="4470288"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0" name="Bloque 3"/>
          <p:cNvSpPr/>
          <p:nvPr/>
        </p:nvSpPr>
        <p:spPr>
          <a:xfrm>
            <a:off x="8026199" y="1341086"/>
            <a:ext cx="3592486" cy="2271177"/>
          </a:xfrm>
          <a:prstGeom prst="roundRect">
            <a:avLst>
              <a:gd name="adj" fmla="val 4831"/>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Dudas abiertas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Las dudas de la lámina 17 se resuelven en las fechas que ahí se indican.</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El firmado del JSON ya está incluido; otra respuesta que cambie el alcance se estima como actividad adicional.</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Lo que requiere cada iterable antes de arrancar está en la lámina 8.</a:t>
            </a:r>
          </a:p>
        </p:txBody>
      </p:sp>
      <p:sp>
        <p:nvSpPr>
          <p:cNvPr id="11" name="Bloque 3 · número"/>
          <p:cNvSpPr/>
          <p:nvPr/>
        </p:nvSpPr>
        <p:spPr>
          <a:xfrm>
            <a:off x="8196883"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
        <p:nvSpPr>
          <p:cNvPr id="12" name="Bloque 4"/>
          <p:cNvSpPr/>
          <p:nvPr/>
        </p:nvSpPr>
        <p:spPr>
          <a:xfrm>
            <a:off x="573009" y="3746372"/>
            <a:ext cx="3592486" cy="2428892"/>
          </a:xfrm>
          <a:prstGeom prst="roundRect">
            <a:avLst>
              <a:gd name="adj" fmla="val 451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Tiempos y cambios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Las 7 semanas cuentan desde que está listo lo que requieren el proyecto y el iterable 1 (lámina 8).</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Si lo que requiere un iterable no está listo antes de que arranque, ese iterable y la fecha final se corren el mismo tiempo.</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Cada iterable se libera cuando Viva lo acepta; la conexión con la PUI con las tres fases es, como pronto, en la semana 8 y depende de Viva y la PUI.</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Los cambios posteriores al inicio se estiman aparte.</a:t>
            </a:r>
          </a:p>
        </p:txBody>
      </p:sp>
      <p:sp>
        <p:nvSpPr>
          <p:cNvPr id="13" name="Bloque 4 · número"/>
          <p:cNvSpPr/>
          <p:nvPr/>
        </p:nvSpPr>
        <p:spPr>
          <a:xfrm>
            <a:off x="743693" y="3887283"/>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4</a:t>
            </a:r>
          </a:p>
        </p:txBody>
      </p:sp>
      <p:sp>
        <p:nvSpPr>
          <p:cNvPr id="14" name="Bloque 5"/>
          <p:cNvSpPr/>
          <p:nvPr/>
        </p:nvSpPr>
        <p:spPr>
          <a:xfrm>
            <a:off x="4299604" y="3746372"/>
            <a:ext cx="3592486" cy="2428892"/>
          </a:xfrm>
          <a:prstGeom prst="roundRect">
            <a:avLst>
              <a:gd name="adj" fmla="val 451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Aceptación</a:t>
            </a:r>
          </a:p>
          <a:p>
            <a:pPr algn="l" marL="155448" indent="-155448">
              <a:lnSpc>
                <a:spcPts val="1241"/>
              </a:lnSpc>
              <a:spcBef>
                <a:spcPts val="0"/>
              </a:spcBef>
              <a:spcAft>
                <a:spcPts val="300"/>
              </a:spcAft>
              <a:buClr>
                <a:srgbClr val="000000"/>
              </a:buClr>
              <a:buFont typeface="Arial"/>
              <a:buChar char="•"/>
            </a:pPr>
            <a:r>
              <a:rPr sz="940" b="1" i="0">
                <a:solidFill>
                  <a:srgbClr val="000000"/>
                </a:solidFill>
                <a:latin typeface="Arial"/>
                <a:cs typeface="Arial"/>
              </a:rPr>
              <a:t>Viva acepta cada iterable antes de liberarlo</a:t>
            </a:r>
            <a:r>
              <a:rPr sz="940" b="0" i="0">
                <a:solidFill>
                  <a:srgbClr val="000000"/>
                </a:solidFill>
                <a:latin typeface="Arial"/>
                <a:cs typeface="Arial"/>
              </a:rPr>
              <a:t> y aprueba la aceptación final con el responsable funcional que designe.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Las validaciones en QA, Producción o sandbox de la PUI las ejecuta Viva o la PUI, o se acompañan cuando habiliten los accesos.</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Defectos de la solución: se corrigen sin costo durante las 2 semanas de soporte.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Fallas por cambios en contratos de la API interna o de la PUI: cambio de alcance, se cobra aparte.</a:t>
            </a:r>
          </a:p>
        </p:txBody>
      </p:sp>
      <p:sp>
        <p:nvSpPr>
          <p:cNvPr id="15" name="Bloque 5 · número"/>
          <p:cNvSpPr/>
          <p:nvPr/>
        </p:nvSpPr>
        <p:spPr>
          <a:xfrm>
            <a:off x="4470288" y="3887283"/>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5</a:t>
            </a:r>
          </a:p>
        </p:txBody>
      </p:sp>
      <p:sp>
        <p:nvSpPr>
          <p:cNvPr id="16" name="Bloque 6"/>
          <p:cNvSpPr/>
          <p:nvPr/>
        </p:nvSpPr>
        <p:spPr>
          <a:xfrm>
            <a:off x="8026199" y="3746372"/>
            <a:ext cx="3592486" cy="2428892"/>
          </a:xfrm>
          <a:prstGeom prst="roundRect">
            <a:avLst>
              <a:gd name="adj" fmla="val 4517"/>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Inversión</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Valor del proyecto: </a:t>
            </a:r>
            <a:r>
              <a:rPr sz="940" b="1" i="0">
                <a:solidFill>
                  <a:srgbClr val="000000"/>
                </a:solidFill>
                <a:latin typeface="Arial"/>
                <a:cs typeface="Arial"/>
              </a:rPr>
              <a:t>[PENDIENTE]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Forma de pago, por ejemplo por iterable aceptado: </a:t>
            </a:r>
            <a:r>
              <a:rPr sz="940" b="1" i="0">
                <a:solidFill>
                  <a:srgbClr val="000000"/>
                </a:solidFill>
                <a:latin typeface="Arial"/>
                <a:cs typeface="Arial"/>
              </a:rPr>
              <a:t>[PENDIENTE]</a:t>
            </a:r>
          </a:p>
          <a:p>
            <a:pPr algn="l" marL="155448" indent="-155448">
              <a:lnSpc>
                <a:spcPts val="1241"/>
              </a:lnSpc>
              <a:spcBef>
                <a:spcPts val="0"/>
              </a:spcBef>
              <a:spcAft>
                <a:spcPts val="300"/>
              </a:spcAft>
              <a:buClr>
                <a:srgbClr val="000000"/>
              </a:buClr>
              <a:buFont typeface="Arial"/>
              <a:buChar char="•"/>
            </a:pPr>
            <a:r>
              <a:rPr sz="940" b="0" i="0">
                <a:solidFill>
                  <a:srgbClr val="000000"/>
                </a:solidFill>
                <a:latin typeface="Arial"/>
                <a:cs typeface="Arial"/>
              </a:rPr>
              <a:t>Continuidad del soporte después de las 2 semanas, si Viva la requiere: </a:t>
            </a:r>
            <a:r>
              <a:rPr sz="940" b="1" i="0">
                <a:solidFill>
                  <a:srgbClr val="000000"/>
                </a:solidFill>
                <a:latin typeface="Arial"/>
                <a:cs typeface="Arial"/>
              </a:rPr>
              <a:t>[PENDIENTE]</a:t>
            </a:r>
          </a:p>
        </p:txBody>
      </p:sp>
      <p:sp>
        <p:nvSpPr>
          <p:cNvPr id="17" name="Bloque 6 · número"/>
          <p:cNvSpPr/>
          <p:nvPr/>
        </p:nvSpPr>
        <p:spPr>
          <a:xfrm>
            <a:off x="8196883" y="3887283"/>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73009" y="438901"/>
            <a:ext cx="8778020" cy="755885"/>
          </a:xfrm>
        </p:spPr>
        <p:txBody>
          <a:bodyPr lIns="0" rIns="0" tIns="0" bIns="0" anchor="t" wrap="square">
            <a:noAutofit/>
          </a:bodyPr>
          <a:lstStyle/>
          <a:p>
            <a:pPr algn="l">
              <a:lnSpc>
                <a:spcPts val="2832"/>
              </a:lnSpc>
              <a:spcBef>
                <a:spcPts val="0"/>
              </a:spcBef>
              <a:spcAft>
                <a:spcPts val="0"/>
              </a:spcAft>
              <a:buNone/>
            </a:pPr>
            <a:r>
              <a:rPr sz="2400" b="1" i="0">
                <a:solidFill>
                  <a:srgbClr val="280265"/>
                </a:solidFill>
                <a:latin typeface="Arial"/>
                <a:cs typeface="Arial"/>
              </a:rPr>
              <a:t>Soporte de 2 semanas </a:t>
            </a:r>
            <a:r>
              <a:rPr sz="2400" b="1" i="0">
                <a:solidFill>
                  <a:srgbClr val="5300DF"/>
                </a:solidFill>
                <a:latin typeface="Arial"/>
                <a:cs typeface="Arial"/>
              </a:rPr>
              <a:t>después de liberar a Producción</a:t>
            </a:r>
          </a:p>
        </p:txBody>
      </p:sp>
      <p:pic>
        <p:nvPicPr>
          <p:cNvPr id="3" name="Picture 2" descr="logo_dark.png"/>
          <p:cNvPicPr>
            <a:picLocks noChangeAspect="1"/>
          </p:cNvPicPr>
          <p:nvPr/>
        </p:nvPicPr>
        <p:blipFill>
          <a:blip r:embed="rId2"/>
          <a:stretch>
            <a:fillRect/>
          </a:stretch>
        </p:blipFill>
        <p:spPr>
          <a:xfrm>
            <a:off x="10180065" y="316984"/>
            <a:ext cx="1438620" cy="780002"/>
          </a:xfrm>
          <a:prstGeom prst="rect">
            <a:avLst/>
          </a:prstGeom>
        </p:spPr>
      </p:pic>
      <p:sp>
        <p:nvSpPr>
          <p:cNvPr id="4" name="Pie"/>
          <p:cNvSpPr txBox="1"/>
          <p:nvPr/>
        </p:nvSpPr>
        <p:spPr>
          <a:xfrm>
            <a:off x="573009" y="6519676"/>
            <a:ext cx="9601200" cy="182880"/>
          </a:xfrm>
          <a:prstGeom prst="rect">
            <a:avLst/>
          </a:prstGeom>
          <a:noFill/>
        </p:spPr>
        <p:txBody>
          <a:bodyPr wrap="square" lIns="0" rIns="0" tIns="0" bIns="0" anchor="t">
            <a:noAutofit/>
          </a:bodyPr>
          <a:lstStyle/>
          <a:p>
            <a:pPr algn="l">
              <a:lnSpc>
                <a:spcPts val="1003"/>
              </a:lnSpc>
              <a:spcBef>
                <a:spcPts val="0"/>
              </a:spcBef>
              <a:spcAft>
                <a:spcPts val="0"/>
              </a:spcAft>
              <a:buNone/>
            </a:pPr>
            <a:r>
              <a:rPr sz="910" b="0" i="0">
                <a:solidFill>
                  <a:srgbClr val="000000"/>
                </a:solidFill>
                <a:latin typeface="Arial"/>
                <a:cs typeface="Arial"/>
              </a:rPr>
              <a:t>Integración PUI · Viva Aerobus · Contratos según el Manual Técnico de la PUI para Instituciones Diversas v1.0 (DOF, 23/01/2026)</a:t>
            </a:r>
          </a:p>
        </p:txBody>
      </p:sp>
      <p:sp>
        <p:nvSpPr>
          <p:cNvPr id="5" name="Número"/>
          <p:cNvSpPr txBox="1"/>
          <p:nvPr/>
        </p:nvSpPr>
        <p:spPr>
          <a:xfrm>
            <a:off x="11070045" y="6519676"/>
            <a:ext cx="548640" cy="182880"/>
          </a:xfrm>
          <a:prstGeom prst="rect">
            <a:avLst/>
          </a:prstGeom>
          <a:noFill/>
        </p:spPr>
        <p:txBody>
          <a:bodyPr wrap="square" lIns="0" rIns="0" tIns="0" bIns="0" anchor="t">
            <a:noAutofit/>
          </a:bodyPr>
          <a:lstStyle/>
          <a:p>
            <a:pPr algn="r">
              <a:lnSpc>
                <a:spcPts val="1003"/>
              </a:lnSpc>
              <a:spcBef>
                <a:spcPts val="0"/>
              </a:spcBef>
              <a:spcAft>
                <a:spcPts val="0"/>
              </a:spcAft>
              <a:buNone/>
            </a:pPr>
            <a:r>
              <a:rPr sz="910" b="1" i="0">
                <a:solidFill>
                  <a:srgbClr val="000000"/>
                </a:solidFill>
                <a:latin typeface="Arial"/>
                <a:cs typeface="Arial"/>
              </a:rPr>
              <a:t>19</a:t>
            </a:r>
          </a:p>
        </p:txBody>
      </p:sp>
      <p:sp>
        <p:nvSpPr>
          <p:cNvPr id="6" name="Nota"/>
          <p:cNvSpPr/>
          <p:nvPr/>
        </p:nvSpPr>
        <p:spPr>
          <a:xfrm>
            <a:off x="573009" y="5816044"/>
            <a:ext cx="11045675" cy="359220"/>
          </a:xfrm>
          <a:prstGeom prst="roundRect">
            <a:avLst>
              <a:gd name="adj" fmla="val 25455"/>
            </a:avLst>
          </a:prstGeom>
          <a:solidFill>
            <a:srgbClr val="280265"/>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0" tIns="97533" rIns="146300" bIns="97533" wrap="square">
            <a:noAutofit/>
          </a:bodyPr>
          <a:lstStyle/>
          <a:p>
            <a:pPr algn="l">
              <a:lnSpc>
                <a:spcPts val="1292"/>
              </a:lnSpc>
              <a:spcBef>
                <a:spcPts val="0"/>
              </a:spcBef>
              <a:spcAft>
                <a:spcPts val="0"/>
              </a:spcAft>
              <a:buNone/>
            </a:pPr>
            <a:r>
              <a:rPr sz="980" b="1" i="0">
                <a:solidFill>
                  <a:srgbClr val="FFFFFF"/>
                </a:solidFill>
                <a:latin typeface="Arial"/>
                <a:cs typeface="Arial"/>
              </a:rPr>
              <a:t>Después de las 2 semanas:</a:t>
            </a:r>
            <a:r>
              <a:rPr sz="980" b="0" i="0">
                <a:solidFill>
                  <a:srgbClr val="FFFFFF"/>
                </a:solidFill>
                <a:latin typeface="Arial"/>
                <a:cs typeface="Arial"/>
              </a:rPr>
              <a:t> si Viva requiere continuidad, el soporte se acuerda y se cotiza aparte del proyecto.</a:t>
            </a:r>
          </a:p>
        </p:txBody>
      </p:sp>
      <p:sp>
        <p:nvSpPr>
          <p:cNvPr id="7" name="Bloque 1"/>
          <p:cNvSpPr/>
          <p:nvPr/>
        </p:nvSpPr>
        <p:spPr>
          <a:xfrm>
            <a:off x="573009" y="1341086"/>
            <a:ext cx="3592486" cy="4340849"/>
          </a:xfrm>
          <a:prstGeom prst="roundRect">
            <a:avLst>
              <a:gd name="adj" fmla="val 305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Qué incluye</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Atención de incidentes y consultas sobre la solución.</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Diagnóstico con los logs, métricas y la bitácora que Viva comparta.</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Corrección de defectos y de nuevas vulnerabilidades en dependencias, con retest.</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Acompañamiento en los despliegues de corrección que ejecute Viva.</a:t>
            </a:r>
          </a:p>
        </p:txBody>
      </p:sp>
      <p:sp>
        <p:nvSpPr>
          <p:cNvPr id="8" name="Bloque 1 · número"/>
          <p:cNvSpPr/>
          <p:nvPr/>
        </p:nvSpPr>
        <p:spPr>
          <a:xfrm>
            <a:off x="743693"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1</a:t>
            </a:r>
          </a:p>
        </p:txBody>
      </p:sp>
      <p:sp>
        <p:nvSpPr>
          <p:cNvPr id="9" name="Bloque 2"/>
          <p:cNvSpPr/>
          <p:nvPr/>
        </p:nvSpPr>
        <p:spPr>
          <a:xfrm>
            <a:off x="4299604" y="1341086"/>
            <a:ext cx="3592486" cy="4340849"/>
          </a:xfrm>
          <a:prstGeom prst="roundRect">
            <a:avLst>
              <a:gd name="adj" fmla="val 305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Cómo funciona</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Arranca con la liberación a Producción del último iterable y dura 2 semanas (semanas 8 y 9).</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Está incluido en el valor del proyecto.</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Cierra con un informe de lo atendido.</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Horario laboral normal, con respuesta en las siguientes 24 horas.</a:t>
            </a:r>
          </a:p>
        </p:txBody>
      </p:sp>
      <p:sp>
        <p:nvSpPr>
          <p:cNvPr id="10" name="Bloque 2 · número"/>
          <p:cNvSpPr/>
          <p:nvPr/>
        </p:nvSpPr>
        <p:spPr>
          <a:xfrm>
            <a:off x="4470288"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2</a:t>
            </a:r>
          </a:p>
        </p:txBody>
      </p:sp>
      <p:sp>
        <p:nvSpPr>
          <p:cNvPr id="11" name="Bloque 3"/>
          <p:cNvSpPr/>
          <p:nvPr/>
        </p:nvSpPr>
        <p:spPr>
          <a:xfrm>
            <a:off x="8026199" y="1341086"/>
            <a:ext cx="3592486" cy="4340849"/>
          </a:xfrm>
          <a:prstGeom prst="roundRect">
            <a:avLst>
              <a:gd name="adj" fmla="val 3054"/>
            </a:avLst>
          </a:prstGeom>
          <a:solidFill>
            <a:srgbClr val="EBEBFF"/>
          </a:solidFill>
          <a:ln>
            <a:noFill/>
          </a:ln>
          <a:effectLst/>
        </p:spPr>
        <p:style>
          <a:lnRef idx="1">
            <a:schemeClr val="accent1"/>
          </a:lnRef>
          <a:fillRef idx="3">
            <a:schemeClr val="accent1"/>
          </a:fillRef>
          <a:effectRef idx="2">
            <a:schemeClr val="accent1"/>
          </a:effectRef>
          <a:fontRef idx="minor">
            <a:schemeClr val="lt1"/>
          </a:fontRef>
        </p:style>
        <p:txBody>
          <a:bodyPr rtlCol="0" anchor="t" lIns="170683" tIns="146300" rIns="170683" bIns="146300" wrap="square">
            <a:noAutofit/>
          </a:bodyPr>
          <a:lstStyle/>
          <a:p>
            <a:pPr algn="l" marL="274320" indent="0">
              <a:lnSpc>
                <a:spcPts val="1499"/>
              </a:lnSpc>
              <a:spcBef>
                <a:spcPts val="0"/>
              </a:spcBef>
              <a:spcAft>
                <a:spcPts val="400"/>
              </a:spcAft>
              <a:buNone/>
            </a:pPr>
            <a:r>
              <a:rPr sz="1230" b="1" i="0">
                <a:solidFill>
                  <a:srgbClr val="280265"/>
                </a:solidFill>
                <a:latin typeface="Arial"/>
                <a:cs typeface="Arial"/>
              </a:rPr>
              <a:t>Qué no incluye</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Operación 24×7 ni guardias.</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Acceso o despliegues directos en QA y Producción: los ejecuta Viva.</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Funcionalidades nuevas: se estiman aparte.</a:t>
            </a:r>
          </a:p>
          <a:p>
            <a:pPr algn="l" marL="155448" indent="-155448">
              <a:lnSpc>
                <a:spcPts val="1393"/>
              </a:lnSpc>
              <a:spcBef>
                <a:spcPts val="0"/>
              </a:spcBef>
              <a:spcAft>
                <a:spcPts val="300"/>
              </a:spcAft>
              <a:buClr>
                <a:srgbClr val="000000"/>
              </a:buClr>
              <a:buFont typeface="Arial"/>
              <a:buChar char="•"/>
            </a:pPr>
            <a:r>
              <a:rPr sz="1060" b="0" i="0">
                <a:solidFill>
                  <a:srgbClr val="000000"/>
                </a:solidFill>
                <a:latin typeface="Arial"/>
                <a:cs typeface="Arial"/>
              </a:rPr>
              <a:t>Adaptaciones por cambios en los contratos de la API interna o de la PUI: son cambios de alcance y se cobran aparte.</a:t>
            </a:r>
          </a:p>
        </p:txBody>
      </p:sp>
      <p:sp>
        <p:nvSpPr>
          <p:cNvPr id="12" name="Bloque 3 · número"/>
          <p:cNvSpPr/>
          <p:nvPr/>
        </p:nvSpPr>
        <p:spPr>
          <a:xfrm>
            <a:off x="8196883" y="1481997"/>
            <a:ext cx="201168" cy="201168"/>
          </a:xfrm>
          <a:prstGeom prst="ellipse">
            <a:avLst/>
          </a:prstGeom>
          <a:solidFill>
            <a:srgbClr val="5300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lnSpc>
                <a:spcPts val="900"/>
              </a:lnSpc>
              <a:spcBef>
                <a:spcPts val="0"/>
              </a:spcBef>
              <a:spcAft>
                <a:spcPts val="0"/>
              </a:spcAft>
              <a:buNone/>
            </a:pPr>
            <a:r>
              <a:rPr sz="900" b="1" i="0">
                <a:solidFill>
                  <a:srgbClr val="FFFFFF"/>
                </a:solidFill>
                <a:latin typeface="Arial"/>
                <a:cs typeface="Arial"/>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