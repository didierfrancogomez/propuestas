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753a5c0-f333-7138-6483-4e5e1fb7e4dc}">
          <p14:sldIdLst>
            <p14:sldId id="256"/>
          </p14:sldIdLst>
        </p14:section>
        <p14:section name="El equipo" id="{7966ece1-124a-5ffb-aa96-085c04d335f5}">
          <p14:sldIdLst>
            <p14:sldId id="257"/>
            <p14:sldId id="258"/>
            <p14:sldId id="259"/>
            <p14:sldId id="260"/>
            <p14:sldId id="261"/>
          </p14:sldIdLst>
        </p14:section>
        <p14:section name="El proceso" id="{1cf95cb7-eddc-8bd8-1487-e4bc8656852e}">
          <p14:sldIdLst>
            <p14:sldId id="262"/>
            <p14:sldId id="263"/>
            <p14:sldId id="264"/>
            <p14:sldId id="265"/>
            <p14:sldId id="266"/>
            <p14:sldId id="267"/>
          </p14:sldIdLst>
        </p14:section>
        <p14:section name="Cómo se avanza" id="{a2f47201-7ae7-dc83-e64c-8cf7392e0861}">
          <p14:sldIdLst>
            <p14:sldId id="268"/>
            <p14:sldId id="269"/>
            <p14:sldId id="270"/>
            <p14:sldId id="271"/>
          </p14:sldIdLst>
        </p14:section>
        <p14:section name="Cómo se cuida el ritmo" id="{f8df09eb-0bb3-dcb4-6a4b-336003fab566}">
          <p14:sldIdLst>
            <p14:sldId id="272"/>
            <p14:sldId id="273"/>
          </p14:sldIdLst>
        </p14:section>
        <p14:section name="Lo que asume" id="{0ae2b20c-6496-a573-9082-66514e3508b8}">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El equipo construye los sistemas agénticos; el front y la integración son de otros equipos. Trabaja por sprints: SURA define las historias y recibe cada demo. Todo lo que sigue es una sugerencia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en tres ideas. 1) Las historias de usuario se definen con SURA, y SURA decide el orden. 2) Las ceremonias son internas del equipo y no consumen la agenda de SURA. 3) Al cierre de cada sprint hay demo y entrega del incremento.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equipo construye los agentes y lo que los gobierna. Coordinación en su nivel 1 decide con reglas duras: no tiene agente que construir. Los agentes se enchufan en lo que construyen los otros equipos, y el contrato entre ambos se cierra en el arranque.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arquitecto define el cómo con el equipo, se alinea con arquitectura de SURA y revisa que se cumpla. Los dos desarrolladores implementan las historias con esas prácticas; cada uno lidera un gestor y es suplente del otro.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arquitecto no implementa historias: define con el equipo cómo se construye, lo alinea con arquitectura de SURA y revisa que el equipo lo cumpla. Lo que es fácil de cambiar lo decide el equipo dentro del sprint, sin esperarlo.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tres personas, el riesgo es que un conocimiento viva en una sola cabeza. Cada fila tiene al menos dos personas. Se rota en pareja para que el suplente sea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las diez etapas de nuestro proceso de desarrollo ágil. Las etapas 1 y 2 preparan el trabajo con SURA; de la 3 a la 8 es el sprint, que se repite; 9 y 10 llevan el resultado a producción. Dentro del sprint todo es interno salvo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tallas que existen hoy son de épicas: sirven para ordenar el backlog. De cada épica se desprenden historias de usuario, que el equipo estima en puntos, y el sprint se llena según la velocidad del equipo. Los puntos del ejemplo son ilustrativos.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sesión de historias es el espacio de SURA dentro de la iteración. De ahí sale la historia con su criterio de aceptación; el equipo la estima en puntos y resuelve el detalle técnico en el refinamiento interno. El ejemplo sale del alcance del Gestor de Evaluación.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Diez días hábiles es el sprint estándar de SuraHis y es lo que fija la hoja de seguimiento. SURA tiene tres citas: la alineación del arquitecto con arquitectura de SURA, la sesión de historias, que prepara el siguiente sprint, y la demo con entrega. Todo lo demás es interno. Las duraciones son sugeridas.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 entra en tres momentos: la alineación de arquitectura, la sesión de historias y la demo con entrega. Las demás ceremonias son internas. El arquitecto no implementa: define, alinea y revisa.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sprint cierra con demo y entrega. El paso a producción ocurre en los cortes limpios y siempre lo aprueba una persona. La demo se hace con datos sintéticos, nunca con datos reales de pacientes.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capas, primero se construyen todos los agentes y al final se mide si aciertan. Por rebanadas, cada historia termina con su agente, sus casos en el golden set, la compuerta sin regresión y la traza.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 orden sugerido; el orden real lo decide SURA en el backlog, sesión a sesión. Los cortes a producción dependen también del front, la integración y Siniestro Integral, que construyen otros equipos.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Definición de listo y de hecho. Incluye lo propio de los agentes, golden set y traza, y lo que exige nuestro proceso de desarrollo con IA: especificación mínima antes de generar código, y cada cambio rastreable a su historia con la marca de si se hizo con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simuladores, casi ninguna dependencia bloquea: cuando el equipo dueño llega, solo se cambia la fuente. La excepción es la plataforma agéntica: sin modelo no hay agente. El plazo de cada dependencia lo declara su dueño.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personas implican como máximo dos cosas en curso. Si aparece una tercera, se termina una antes. Los acuerdos son revisables en cada retro.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del equipo, nunca para evaluar a personas. Si un número se mueve, la retro pregunta qué cambió. La velocidad se mide en puntos terminados por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supuestos que más pesan: que los otros equipos avancen en paralelo, porque sin ellos los agentes quedan construidos pero sin dónde operar, y que la plataforma agéntica esté habilitada a tiempo, porque sin modelo no hay agente.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prácticas ágiles se presentan como práctica de industria.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82512"/>
            <a:ext cx="603504" cy="316382"/>
          </a:xfrm>
          <a:prstGeom prst="rect">
            <a:avLst/>
          </a:prstGeom>
        </p:spPr>
      </p:pic>
      <p:sp>
        <p:nvSpPr>
          <p:cNvPr id="3" name="Text 0"/>
          <p:cNvSpPr/>
          <p:nvPr/>
        </p:nvSpPr>
        <p:spPr>
          <a:xfrm>
            <a:off x="1280160" y="6382512"/>
            <a:ext cx="7315200" cy="320040"/>
          </a:xfrm>
          <a:prstGeom prst="rect">
            <a:avLst/>
          </a:prstGeom>
          <a:noFill/>
          <a:ln/>
        </p:spPr>
        <p:txBody>
          <a:bodyPr wrap="square" lIns="0" tIns="0" rIns="0" bIns="0" rtlCol="0" anchor="ctr"/>
          <a:lstStyle/>
          <a:p>
            <a:pPr indent="0" marL="0">
              <a:buNone/>
            </a:pPr>
            <a:r>
              <a:rPr lang="en-US" sz="1100" dirty="0">
                <a:solidFill>
                  <a:schemeClr val="accent6"/>
                </a:solidFill>
              </a:rPr>
              <a:t>Dinámica de trabajo del equipo · MVP de gestores · SURA</a:t>
            </a:r>
            <a:endParaRPr lang="en-US" sz="1100" dirty="0"/>
          </a:p>
        </p:txBody>
      </p:sp>
      <p:sp>
        <p:nvSpPr>
          <p:cNvPr id="4" name="Text 1"/>
          <p:cNvSpPr/>
          <p:nvPr>
            <p:ph idx="102" type="title" hasCustomPrompt="1"/>
          </p:nvPr>
        </p:nvSpPr>
        <p:spPr>
          <a:xfrm>
            <a:off x="548640" y="411480"/>
            <a:ext cx="11064240" cy="96012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agilemanifesto.org/iso/es/manifesto.html"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scrumguides.org/scrum-guide.html" TargetMode="Externa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scrumguides.org/scrum-guide.html" TargetMode="External"/><Relationship Id="rId2" Type="http://schemas.openxmlformats.org/officeDocument/2006/relationships/hyperlink" Target="https://agilemanifesto.org/iso/es/manifesto.html" TargetMode="External"/><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863840" y="0"/>
            <a:ext cx="4327855" cy="6858000"/>
          </a:xfrm>
          <a:prstGeom prst="rect">
            <a:avLst/>
          </a:prstGeom>
          <a:solidFill>
            <a:schemeClr val="tx2"/>
          </a:solidFill>
          <a:ln w="12700">
            <a:solidFill>
              <a:schemeClr val="tx2"/>
            </a:solidFill>
            <a:prstDash val="solid"/>
          </a:ln>
        </p:spPr>
      </p:sp>
      <p:pic>
        <p:nvPicPr>
          <p:cNvPr id="3" name="Image 0" descr="preencoded.png">    </p:cNvPr>
          <p:cNvPicPr>
            <a:picLocks noChangeAspect="1"/>
          </p:cNvPicPr>
          <p:nvPr/>
        </p:nvPicPr>
        <p:blipFill>
          <a:blip r:embed="rId1"/>
          <a:stretch>
            <a:fillRect/>
          </a:stretch>
        </p:blipFill>
        <p:spPr>
          <a:xfrm>
            <a:off x="731520" y="640080"/>
            <a:ext cx="1737360" cy="909828"/>
          </a:xfrm>
          <a:prstGeom prst="rect">
            <a:avLst/>
          </a:prstGeom>
        </p:spPr>
      </p:pic>
      <p:sp>
        <p:nvSpPr>
          <p:cNvPr id="4" name="Text 1"/>
          <p:cNvSpPr txBox="1"/>
          <p:nvPr/>
        </p:nvSpPr>
        <p:spPr>
          <a:xfrm>
            <a:off x="731520" y="2148840"/>
            <a:ext cx="6766560" cy="1554480"/>
          </a:xfrm>
          <a:prstGeom prst="rect">
            <a:avLst/>
          </a:prstGeom>
          <a:noFill/>
          <a:ln/>
        </p:spPr>
        <p:txBody>
          <a:bodyPr wrap="square" lIns="0" tIns="0" rIns="0" bIns="0" rtlCol="0" anchor="t"/>
          <a:lstStyle/>
          <a:p>
            <a:pPr indent="0" marL="0">
              <a:buNone/>
            </a:pPr>
            <a:r>
              <a:rPr lang="en-US" sz="4000" b="1" dirty="0">
                <a:solidFill>
                  <a:schemeClr val="tx2"/>
                </a:solidFill>
                <a:latin typeface="+mj-lt" pitchFamily="34" charset="0"/>
                <a:ea typeface="+mj-lt" pitchFamily="34" charset="-122"/>
                <a:cs typeface="+mj-lt" pitchFamily="34" charset="-120"/>
              </a:rPr>
              <a:t>Dinámica de trabajo del equipo</a:t>
            </a:r>
            <a:endParaRPr lang="en-US" sz="4000" dirty="0"/>
          </a:p>
        </p:txBody>
      </p:sp>
      <p:sp>
        <p:nvSpPr>
          <p:cNvPr id="5" name="Text 2"/>
          <p:cNvSpPr txBox="1"/>
          <p:nvPr/>
        </p:nvSpPr>
        <p:spPr>
          <a:xfrm>
            <a:off x="731520" y="3840480"/>
            <a:ext cx="6583680" cy="1371600"/>
          </a:xfrm>
          <a:prstGeom prst="rect">
            <a:avLst/>
          </a:prstGeom>
          <a:noFill/>
          <a:ln/>
        </p:spPr>
        <p:txBody>
          <a:bodyPr wrap="square" lIns="0" tIns="0" rIns="0" bIns="0" rtlCol="0" anchor="t"/>
          <a:lstStyle/>
          <a:p>
            <a:pPr indent="0" marL="0">
              <a:buNone/>
            </a:pPr>
            <a:r>
              <a:rPr lang="en-US" sz="2000" dirty="0">
                <a:solidFill>
                  <a:schemeClr val="accent6"/>
                </a:solidFill>
              </a:rPr>
              <a:t>Un arquitecto y dos desarrolladores construyen los sistemas agénticos del MVP de gestores, por sprints: cómo se organizan, qué ritmo llevan y cómo se estima.</a:t>
            </a:r>
            <a:endParaRPr lang="en-US" sz="2000" dirty="0"/>
          </a:p>
        </p:txBody>
      </p:sp>
      <p:sp>
        <p:nvSpPr>
          <p:cNvPr id="6" name="Text 3"/>
          <p:cNvSpPr txBox="1"/>
          <p:nvPr/>
        </p:nvSpPr>
        <p:spPr>
          <a:xfrm>
            <a:off x="731520" y="5760720"/>
            <a:ext cx="6766560" cy="640080"/>
          </a:xfrm>
          <a:prstGeom prst="rect">
            <a:avLst/>
          </a:prstGeom>
          <a:noFill/>
          <a:ln/>
        </p:spPr>
        <p:txBody>
          <a:bodyPr wrap="square" lIns="0" tIns="0" rIns="0" bIns="0" rtlCol="0" anchor="t"/>
          <a:lstStyle/>
          <a:p>
            <a:pPr indent="0" marL="0">
              <a:buNone/>
            </a:pPr>
            <a:r>
              <a:rPr lang="en-US" sz="1300" dirty="0">
                <a:solidFill>
                  <a:schemeClr val="accent6"/>
                </a:solidFill>
              </a:rPr>
              <a:t>Tech and Solve · SURA, MVP de gestores de autorizaciones de salud</a:t>
            </a:r>
            <a:endParaRPr lang="en-US" sz="1300" dirty="0"/>
          </a:p>
          <a:p>
            <a:pPr indent="0" marL="0">
              <a:buNone/>
            </a:pPr>
            <a:r>
              <a:rPr lang="en-US" sz="1300" dirty="0">
                <a:solidFill>
                  <a:schemeClr val="accent6"/>
                </a:solidFill>
              </a:rPr>
              <a:t>Octubre de 2026 · Sugerencia de trabajo, debatible y ajustable</a:t>
            </a:r>
            <a:endParaRPr lang="en-US" sz="1300" dirty="0"/>
          </a:p>
        </p:txBody>
      </p:sp>
      <p:sp>
        <p:nvSpPr>
          <p:cNvPr id="7" name="Shape 4"/>
          <p:cNvSpPr/>
          <p:nvPr/>
        </p:nvSpPr>
        <p:spPr>
          <a:xfrm>
            <a:off x="8503920" y="1874520"/>
            <a:ext cx="1051560" cy="1051560"/>
          </a:xfrm>
          <a:prstGeom prst="ellipse">
            <a:avLst/>
          </a:prstGeom>
          <a:solidFill>
            <a:schemeClr val="bg1"/>
          </a:solidFill>
          <a:ln w="12700">
            <a:solidFill>
              <a:schemeClr val="bg1"/>
            </a:solidFill>
            <a:prstDash val="solid"/>
          </a:ln>
        </p:spPr>
      </p:sp>
      <p:sp>
        <p:nvSpPr>
          <p:cNvPr id="8" name="Text 5"/>
          <p:cNvSpPr txBox="1"/>
          <p:nvPr/>
        </p:nvSpPr>
        <p:spPr>
          <a:xfrm>
            <a:off x="8503920" y="1874520"/>
            <a:ext cx="1051560" cy="1051560"/>
          </a:xfrm>
          <a:prstGeom prst="rect">
            <a:avLst/>
          </a:prstGeom>
          <a:noFill/>
          <a:ln/>
        </p:spPr>
        <p:txBody>
          <a:bodyPr wrap="square" lIns="0" tIns="0" rIns="0" bIns="0" rtlCol="0" anchor="ctr"/>
          <a:lstStyle/>
          <a:p>
            <a:pPr algn="ctr" indent="0" marL="0">
              <a:buNone/>
            </a:pPr>
            <a:r>
              <a:rPr lang="en-US" sz="1800" b="1" dirty="0">
                <a:solidFill>
                  <a:schemeClr val="tx2"/>
                </a:solidFill>
              </a:rPr>
              <a:t>Arq.</a:t>
            </a:r>
            <a:endParaRPr lang="en-US" sz="1800" dirty="0"/>
          </a:p>
        </p:txBody>
      </p:sp>
      <p:sp>
        <p:nvSpPr>
          <p:cNvPr id="9" name="Text 6"/>
          <p:cNvSpPr txBox="1"/>
          <p:nvPr/>
        </p:nvSpPr>
        <p:spPr>
          <a:xfrm>
            <a:off x="9784080" y="1874520"/>
            <a:ext cx="2103120" cy="1051560"/>
          </a:xfrm>
          <a:prstGeom prst="rect">
            <a:avLst/>
          </a:prstGeom>
          <a:noFill/>
          <a:ln/>
        </p:spPr>
        <p:txBody>
          <a:bodyPr wrap="square" lIns="0" tIns="0" rIns="0" bIns="0" rtlCol="0" anchor="ctr"/>
          <a:lstStyle/>
          <a:p>
            <a:pPr indent="0" marL="0">
              <a:buNone/>
            </a:pPr>
            <a:r>
              <a:rPr lang="en-US" sz="1600" b="1" dirty="0">
                <a:solidFill>
                  <a:schemeClr val="bg1"/>
                </a:solidFill>
              </a:rPr>
              <a:t>Arquitecto</a:t>
            </a:r>
            <a:endParaRPr lang="en-US" sz="1600" dirty="0"/>
          </a:p>
          <a:p>
            <a:pPr indent="0" marL="0">
              <a:buNone/>
            </a:pPr>
            <a:r>
              <a:rPr lang="en-US" sz="1600" b="1" dirty="0">
                <a:solidFill>
                  <a:schemeClr val="bg1"/>
                </a:solidFill>
              </a:rPr>
              <a:t>parcial</a:t>
            </a:r>
            <a:endParaRPr lang="en-US" sz="1600" dirty="0"/>
          </a:p>
        </p:txBody>
      </p:sp>
      <p:sp>
        <p:nvSpPr>
          <p:cNvPr id="10" name="Shape 7"/>
          <p:cNvSpPr/>
          <p:nvPr/>
        </p:nvSpPr>
        <p:spPr>
          <a:xfrm>
            <a:off x="8503920" y="3246120"/>
            <a:ext cx="1051560" cy="1051560"/>
          </a:xfrm>
          <a:prstGeom prst="ellipse">
            <a:avLst/>
          </a:prstGeom>
          <a:solidFill>
            <a:schemeClr val="bg1"/>
          </a:solidFill>
          <a:ln w="12700">
            <a:solidFill>
              <a:schemeClr val="bg1"/>
            </a:solidFill>
            <a:prstDash val="solid"/>
          </a:ln>
        </p:spPr>
      </p:sp>
      <p:sp>
        <p:nvSpPr>
          <p:cNvPr id="11" name="Text 8"/>
          <p:cNvSpPr txBox="1"/>
          <p:nvPr/>
        </p:nvSpPr>
        <p:spPr>
          <a:xfrm>
            <a:off x="8503920" y="3246120"/>
            <a:ext cx="1051560" cy="1051560"/>
          </a:xfrm>
          <a:prstGeom prst="rect">
            <a:avLst/>
          </a:prstGeom>
          <a:noFill/>
          <a:ln/>
        </p:spPr>
        <p:txBody>
          <a:bodyPr wrap="square" lIns="0" tIns="0" rIns="0" bIns="0" rtlCol="0" anchor="ctr"/>
          <a:lstStyle/>
          <a:p>
            <a:pPr algn="ctr" indent="0" marL="0">
              <a:buNone/>
            </a:pPr>
            <a:r>
              <a:rPr lang="en-US" sz="1800" b="1" dirty="0">
                <a:solidFill>
                  <a:schemeClr val="tx2"/>
                </a:solidFill>
              </a:rPr>
              <a:t>Dev A</a:t>
            </a:r>
            <a:endParaRPr lang="en-US" sz="1800" dirty="0"/>
          </a:p>
        </p:txBody>
      </p:sp>
      <p:sp>
        <p:nvSpPr>
          <p:cNvPr id="12" name="Text 9"/>
          <p:cNvSpPr txBox="1"/>
          <p:nvPr/>
        </p:nvSpPr>
        <p:spPr>
          <a:xfrm>
            <a:off x="9784080" y="3246120"/>
            <a:ext cx="2103120" cy="1051560"/>
          </a:xfrm>
          <a:prstGeom prst="rect">
            <a:avLst/>
          </a:prstGeom>
          <a:noFill/>
          <a:ln/>
        </p:spPr>
        <p:txBody>
          <a:bodyPr wrap="square" lIns="0" tIns="0" rIns="0" bIns="0" rtlCol="0" anchor="ctr"/>
          <a:lstStyle/>
          <a:p>
            <a:pPr indent="0" marL="0">
              <a:buNone/>
            </a:pPr>
            <a:r>
              <a:rPr lang="en-US" sz="1600" b="1" dirty="0">
                <a:solidFill>
                  <a:schemeClr val="bg1"/>
                </a:solidFill>
              </a:rPr>
              <a:t>Desarrollador A</a:t>
            </a:r>
            <a:endParaRPr lang="en-US" sz="1600" dirty="0"/>
          </a:p>
        </p:txBody>
      </p:sp>
      <p:sp>
        <p:nvSpPr>
          <p:cNvPr id="13" name="Shape 10"/>
          <p:cNvSpPr/>
          <p:nvPr/>
        </p:nvSpPr>
        <p:spPr>
          <a:xfrm>
            <a:off x="8503920" y="4617720"/>
            <a:ext cx="1051560" cy="1051560"/>
          </a:xfrm>
          <a:prstGeom prst="ellipse">
            <a:avLst/>
          </a:prstGeom>
          <a:solidFill>
            <a:schemeClr val="bg1"/>
          </a:solidFill>
          <a:ln w="12700">
            <a:solidFill>
              <a:schemeClr val="bg1"/>
            </a:solidFill>
            <a:prstDash val="solid"/>
          </a:ln>
        </p:spPr>
      </p:sp>
      <p:sp>
        <p:nvSpPr>
          <p:cNvPr id="14" name="Text 11"/>
          <p:cNvSpPr txBox="1"/>
          <p:nvPr/>
        </p:nvSpPr>
        <p:spPr>
          <a:xfrm>
            <a:off x="8503920" y="4617720"/>
            <a:ext cx="1051560" cy="1051560"/>
          </a:xfrm>
          <a:prstGeom prst="rect">
            <a:avLst/>
          </a:prstGeom>
          <a:noFill/>
          <a:ln/>
        </p:spPr>
        <p:txBody>
          <a:bodyPr wrap="square" lIns="0" tIns="0" rIns="0" bIns="0" rtlCol="0" anchor="ctr"/>
          <a:lstStyle/>
          <a:p>
            <a:pPr algn="ctr" indent="0" marL="0">
              <a:buNone/>
            </a:pPr>
            <a:r>
              <a:rPr lang="en-US" sz="1800" b="1" dirty="0">
                <a:solidFill>
                  <a:schemeClr val="tx2"/>
                </a:solidFill>
              </a:rPr>
              <a:t>Dev B</a:t>
            </a:r>
            <a:endParaRPr lang="en-US" sz="1800" dirty="0"/>
          </a:p>
        </p:txBody>
      </p:sp>
      <p:sp>
        <p:nvSpPr>
          <p:cNvPr id="15" name="Text 12"/>
          <p:cNvSpPr txBox="1"/>
          <p:nvPr/>
        </p:nvSpPr>
        <p:spPr>
          <a:xfrm>
            <a:off x="9784080" y="4617720"/>
            <a:ext cx="2103120" cy="1051560"/>
          </a:xfrm>
          <a:prstGeom prst="rect">
            <a:avLst/>
          </a:prstGeom>
          <a:noFill/>
          <a:ln/>
        </p:spPr>
        <p:txBody>
          <a:bodyPr wrap="square" lIns="0" tIns="0" rIns="0" bIns="0" rtlCol="0" anchor="ctr"/>
          <a:lstStyle/>
          <a:p>
            <a:pPr indent="0" marL="0">
              <a:buNone/>
            </a:pPr>
            <a:r>
              <a:rPr lang="en-US" sz="1600" b="1" dirty="0">
                <a:solidFill>
                  <a:schemeClr val="bg1"/>
                </a:solidFill>
              </a:rPr>
              <a:t>Desarrollador 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Trabajamos por sprints: SURA define las historias y recibe cada demo</a:t>
            </a:r>
            <a:endParaRPr lang="en-US" sz="2800" dirty="0"/>
          </a:p>
        </p:txBody>
      </p:sp>
      <p:sp>
        <p:nvSpPr>
          <p:cNvPr id="4" name="Shape 1"/>
          <p:cNvSpPr/>
          <p:nvPr/>
        </p:nvSpPr>
        <p:spPr>
          <a:xfrm>
            <a:off x="548640" y="1691640"/>
            <a:ext cx="3474720" cy="3200400"/>
          </a:xfrm>
          <a:prstGeom prst="roundRect">
            <a:avLst>
              <a:gd name="adj" fmla="val 2286"/>
            </a:avLst>
          </a:prstGeom>
          <a:solidFill>
            <a:schemeClr val="accent4"/>
          </a:solidFill>
          <a:ln w="12700">
            <a:solidFill>
              <a:srgbClr val="DCD8EC"/>
            </a:solidFill>
            <a:prstDash val="solid"/>
          </a:ln>
        </p:spPr>
      </p:sp>
      <p:sp>
        <p:nvSpPr>
          <p:cNvPr id="5" name="Shape 2"/>
          <p:cNvSpPr/>
          <p:nvPr/>
        </p:nvSpPr>
        <p:spPr>
          <a:xfrm>
            <a:off x="868680" y="2011680"/>
            <a:ext cx="685800" cy="685800"/>
          </a:xfrm>
          <a:prstGeom prst="ellipse">
            <a:avLst/>
          </a:prstGeom>
          <a:solidFill>
            <a:schemeClr val="accent1"/>
          </a:solidFill>
          <a:ln w="12700">
            <a:solidFill>
              <a:schemeClr val="accent1"/>
            </a:solidFill>
            <a:prstDash val="solid"/>
          </a:ln>
        </p:spPr>
      </p:sp>
      <p:sp>
        <p:nvSpPr>
          <p:cNvPr id="6" name="Text 3"/>
          <p:cNvSpPr txBox="1"/>
          <p:nvPr/>
        </p:nvSpPr>
        <p:spPr>
          <a:xfrm>
            <a:off x="868680" y="201168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7" name="Text 4"/>
          <p:cNvSpPr txBox="1"/>
          <p:nvPr/>
        </p:nvSpPr>
        <p:spPr>
          <a:xfrm>
            <a:off x="868680" y="2926080"/>
            <a:ext cx="2834640" cy="685800"/>
          </a:xfrm>
          <a:prstGeom prst="rect">
            <a:avLst/>
          </a:prstGeom>
          <a:noFill/>
          <a:ln/>
        </p:spPr>
        <p:txBody>
          <a:bodyPr wrap="square" lIns="0" tIns="0" rIns="0" bIns="0" rtlCol="0" anchor="t"/>
          <a:lstStyle/>
          <a:p>
            <a:pPr indent="0" marL="0">
              <a:buNone/>
            </a:pPr>
            <a:r>
              <a:rPr lang="en-US" sz="2000" b="1" dirty="0">
                <a:solidFill>
                  <a:schemeClr val="tx2"/>
                </a:solidFill>
              </a:rPr>
              <a:t>Historias con SURA</a:t>
            </a:r>
            <a:endParaRPr lang="en-US" sz="2000" dirty="0"/>
          </a:p>
        </p:txBody>
      </p:sp>
      <p:sp>
        <p:nvSpPr>
          <p:cNvPr id="8" name="Text 5"/>
          <p:cNvSpPr txBox="1"/>
          <p:nvPr/>
        </p:nvSpPr>
        <p:spPr>
          <a:xfrm>
            <a:off x="868680" y="3657600"/>
            <a:ext cx="2834640" cy="1188720"/>
          </a:xfrm>
          <a:prstGeom prst="rect">
            <a:avLst/>
          </a:prstGeom>
          <a:noFill/>
          <a:ln/>
        </p:spPr>
        <p:txBody>
          <a:bodyPr wrap="square" lIns="0" tIns="0" rIns="0" bIns="0" rtlCol="0" anchor="t"/>
          <a:lstStyle/>
          <a:p>
            <a:pPr indent="0" marL="0">
              <a:buNone/>
            </a:pPr>
            <a:r>
              <a:rPr lang="en-US" sz="1500" dirty="0">
                <a:solidFill>
                  <a:schemeClr val="tx1"/>
                </a:solidFill>
              </a:rPr>
              <a:t>Lo que se construye se define con SURA como historias de usuario con su criterio de aceptación. SURA decide el orden.</a:t>
            </a:r>
            <a:endParaRPr lang="en-US" sz="1500" dirty="0"/>
          </a:p>
        </p:txBody>
      </p:sp>
      <p:sp>
        <p:nvSpPr>
          <p:cNvPr id="9" name="Shape 6"/>
          <p:cNvSpPr/>
          <p:nvPr/>
        </p:nvSpPr>
        <p:spPr>
          <a:xfrm>
            <a:off x="4343400" y="1691640"/>
            <a:ext cx="3474720" cy="3200400"/>
          </a:xfrm>
          <a:prstGeom prst="roundRect">
            <a:avLst>
              <a:gd name="adj" fmla="val 2286"/>
            </a:avLst>
          </a:prstGeom>
          <a:solidFill>
            <a:schemeClr val="accent4"/>
          </a:solidFill>
          <a:ln w="12700">
            <a:solidFill>
              <a:srgbClr val="DCD8EC"/>
            </a:solidFill>
            <a:prstDash val="solid"/>
          </a:ln>
        </p:spPr>
      </p:sp>
      <p:sp>
        <p:nvSpPr>
          <p:cNvPr id="10" name="Shape 7"/>
          <p:cNvSpPr/>
          <p:nvPr/>
        </p:nvSpPr>
        <p:spPr>
          <a:xfrm>
            <a:off x="4663440" y="2011680"/>
            <a:ext cx="685800" cy="685800"/>
          </a:xfrm>
          <a:prstGeom prst="ellipse">
            <a:avLst/>
          </a:prstGeom>
          <a:solidFill>
            <a:schemeClr val="accent1"/>
          </a:solidFill>
          <a:ln w="12700">
            <a:solidFill>
              <a:schemeClr val="accent1"/>
            </a:solidFill>
            <a:prstDash val="solid"/>
          </a:ln>
        </p:spPr>
      </p:sp>
      <p:sp>
        <p:nvSpPr>
          <p:cNvPr id="11" name="Text 8"/>
          <p:cNvSpPr txBox="1"/>
          <p:nvPr/>
        </p:nvSpPr>
        <p:spPr>
          <a:xfrm>
            <a:off x="4663440" y="201168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Text 9"/>
          <p:cNvSpPr txBox="1"/>
          <p:nvPr/>
        </p:nvSpPr>
        <p:spPr>
          <a:xfrm>
            <a:off x="4663440" y="2926080"/>
            <a:ext cx="2834640" cy="685800"/>
          </a:xfrm>
          <a:prstGeom prst="rect">
            <a:avLst/>
          </a:prstGeom>
          <a:noFill/>
          <a:ln/>
        </p:spPr>
        <p:txBody>
          <a:bodyPr wrap="square" lIns="0" tIns="0" rIns="0" bIns="0" rtlCol="0" anchor="t"/>
          <a:lstStyle/>
          <a:p>
            <a:pPr indent="0" marL="0">
              <a:buNone/>
            </a:pPr>
            <a:r>
              <a:rPr lang="en-US" sz="2000" b="1" dirty="0">
                <a:solidFill>
                  <a:schemeClr val="tx2"/>
                </a:solidFill>
              </a:rPr>
              <a:t>Ceremonias en casa</a:t>
            </a:r>
            <a:endParaRPr lang="en-US" sz="2000" dirty="0"/>
          </a:p>
        </p:txBody>
      </p:sp>
      <p:sp>
        <p:nvSpPr>
          <p:cNvPr id="13" name="Text 10"/>
          <p:cNvSpPr txBox="1"/>
          <p:nvPr/>
        </p:nvSpPr>
        <p:spPr>
          <a:xfrm>
            <a:off x="4663440" y="3657600"/>
            <a:ext cx="2834640" cy="1188720"/>
          </a:xfrm>
          <a:prstGeom prst="rect">
            <a:avLst/>
          </a:prstGeom>
          <a:noFill/>
          <a:ln/>
        </p:spPr>
        <p:txBody>
          <a:bodyPr wrap="square" lIns="0" tIns="0" rIns="0" bIns="0" rtlCol="0" anchor="t"/>
          <a:lstStyle/>
          <a:p>
            <a:pPr indent="0" marL="0">
              <a:buNone/>
            </a:pPr>
            <a:r>
              <a:rPr lang="en-US" sz="1500" dirty="0">
                <a:solidFill>
                  <a:schemeClr val="tx1"/>
                </a:solidFill>
              </a:rPr>
              <a:t>Planning, daily, refinamiento técnico y retro son internas del equipo: no consumen la agenda de SURA.</a:t>
            </a:r>
            <a:endParaRPr lang="en-US" sz="1500" dirty="0"/>
          </a:p>
        </p:txBody>
      </p:sp>
      <p:sp>
        <p:nvSpPr>
          <p:cNvPr id="14" name="Shape 11"/>
          <p:cNvSpPr/>
          <p:nvPr/>
        </p:nvSpPr>
        <p:spPr>
          <a:xfrm>
            <a:off x="8138160" y="1691640"/>
            <a:ext cx="3474720" cy="3200400"/>
          </a:xfrm>
          <a:prstGeom prst="roundRect">
            <a:avLst>
              <a:gd name="adj" fmla="val 2286"/>
            </a:avLst>
          </a:prstGeom>
          <a:solidFill>
            <a:schemeClr val="accent4"/>
          </a:solidFill>
          <a:ln w="12700">
            <a:solidFill>
              <a:srgbClr val="DCD8EC"/>
            </a:solidFill>
            <a:prstDash val="solid"/>
          </a:ln>
        </p:spPr>
      </p:sp>
      <p:sp>
        <p:nvSpPr>
          <p:cNvPr id="15" name="Shape 12"/>
          <p:cNvSpPr/>
          <p:nvPr/>
        </p:nvSpPr>
        <p:spPr>
          <a:xfrm>
            <a:off x="8458200" y="2011680"/>
            <a:ext cx="685800" cy="685800"/>
          </a:xfrm>
          <a:prstGeom prst="ellipse">
            <a:avLst/>
          </a:prstGeom>
          <a:solidFill>
            <a:schemeClr val="accent1"/>
          </a:solidFill>
          <a:ln w="12700">
            <a:solidFill>
              <a:schemeClr val="accent1"/>
            </a:solidFill>
            <a:prstDash val="solid"/>
          </a:ln>
        </p:spPr>
      </p:sp>
      <p:sp>
        <p:nvSpPr>
          <p:cNvPr id="16" name="Text 13"/>
          <p:cNvSpPr txBox="1"/>
          <p:nvPr/>
        </p:nvSpPr>
        <p:spPr>
          <a:xfrm>
            <a:off x="8458200" y="201168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7" name="Text 14"/>
          <p:cNvSpPr txBox="1"/>
          <p:nvPr/>
        </p:nvSpPr>
        <p:spPr>
          <a:xfrm>
            <a:off x="8458200" y="2926080"/>
            <a:ext cx="2834640" cy="685800"/>
          </a:xfrm>
          <a:prstGeom prst="rect">
            <a:avLst/>
          </a:prstGeom>
          <a:noFill/>
          <a:ln/>
        </p:spPr>
        <p:txBody>
          <a:bodyPr wrap="square" lIns="0" tIns="0" rIns="0" bIns="0" rtlCol="0" anchor="t"/>
          <a:lstStyle/>
          <a:p>
            <a:pPr indent="0" marL="0">
              <a:buNone/>
            </a:pPr>
            <a:r>
              <a:rPr lang="en-US" sz="2000" b="1" dirty="0">
                <a:solidFill>
                  <a:schemeClr val="tx2"/>
                </a:solidFill>
              </a:rPr>
              <a:t>Demo y entrega</a:t>
            </a:r>
            <a:endParaRPr lang="en-US" sz="2000" dirty="0"/>
          </a:p>
        </p:txBody>
      </p:sp>
      <p:sp>
        <p:nvSpPr>
          <p:cNvPr id="18" name="Text 15"/>
          <p:cNvSpPr txBox="1"/>
          <p:nvPr/>
        </p:nvSpPr>
        <p:spPr>
          <a:xfrm>
            <a:off x="8458200" y="3657600"/>
            <a:ext cx="2834640" cy="1188720"/>
          </a:xfrm>
          <a:prstGeom prst="rect">
            <a:avLst/>
          </a:prstGeom>
          <a:noFill/>
          <a:ln/>
        </p:spPr>
        <p:txBody>
          <a:bodyPr wrap="square" lIns="0" tIns="0" rIns="0" bIns="0" rtlCol="0" anchor="t"/>
          <a:lstStyle/>
          <a:p>
            <a:pPr indent="0" marL="0">
              <a:buNone/>
            </a:pPr>
            <a:r>
              <a:rPr lang="en-US" sz="1500" dirty="0">
                <a:solidFill>
                  <a:schemeClr val="tx1"/>
                </a:solidFill>
              </a:rPr>
              <a:t>Al cierre de cada sprint SURA ve funcionando lo terminado y recibe el incremento, con lo aprendido vuelto al backlog.</a:t>
            </a:r>
            <a:endParaRPr lang="en-US" sz="1500" dirty="0"/>
          </a:p>
        </p:txBody>
      </p:sp>
      <p:sp>
        <p:nvSpPr>
          <p:cNvPr id="19" name="Text 16"/>
          <p:cNvSpPr txBox="1"/>
          <p:nvPr/>
        </p:nvSpPr>
        <p:spPr>
          <a:xfrm>
            <a:off x="548640" y="5120640"/>
            <a:ext cx="11064240" cy="731520"/>
          </a:xfrm>
          <a:prstGeom prst="rect">
            <a:avLst/>
          </a:prstGeom>
          <a:noFill/>
          <a:ln/>
        </p:spPr>
        <p:txBody>
          <a:bodyPr wrap="square" lIns="0" tIns="0" rIns="0" bIns="0" rtlCol="0" anchor="t"/>
          <a:lstStyle/>
          <a:p>
            <a:pPr indent="0" marL="0">
              <a:buNone/>
            </a:pPr>
            <a:r>
              <a:rPr lang="en-US" sz="1800" b="1" dirty="0">
                <a:solidFill>
                  <a:schemeClr val="tx2"/>
                </a:solidFill>
              </a:rPr>
              <a:t>Iteraciones de diez días hábiles: SURA está al principio, para definir, y al final, para ver y recibir. El trabajo de en medio es del equipo.</a:t>
            </a:r>
            <a:endParaRPr lang="en-US" sz="1800" dirty="0"/>
          </a:p>
        </p:txBody>
      </p:sp>
      <p:sp>
        <p:nvSpPr>
          <p:cNvPr id="20" name="Text 17"/>
          <p:cNvSpPr txBox="1"/>
          <p:nvPr/>
        </p:nvSpPr>
        <p:spPr>
          <a:xfrm>
            <a:off x="548640" y="5943600"/>
            <a:ext cx="11064240" cy="365760"/>
          </a:xfrm>
          <a:prstGeom prst="rect">
            <a:avLst/>
          </a:prstGeom>
          <a:noFill/>
          <a:ln/>
        </p:spPr>
        <p:txBody>
          <a:bodyPr wrap="square" lIns="0" tIns="0" rIns="0" bIns="0" rtlCol="0" anchor="b"/>
          <a:lstStyle/>
          <a:p>
            <a:pPr indent="0" marL="0">
              <a:buNone/>
            </a:pPr>
            <a:r>
              <a:rPr lang="en-US" sz="1100" dirty="0">
                <a:solidFill>
                  <a:schemeClr val="accent6"/>
                </a:solidFill>
              </a:rPr>
              <a:t>Práctica de industria, no norma ni requisito: los cuatro valores del </a:t>
            </a:r>
            <a:pPr indent="0" marL="0">
              <a:buNone/>
            </a:pPr>
            <a:r>
              <a:rPr lang="en-US" sz="11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Manifiesto por el Desarrollo Ágil de Software</a:t>
            </a:r>
            <a:pPr indent="0" marL="0">
              <a:buNone/>
            </a:pPr>
            <a:r>
              <a:rPr lang="en-US" sz="1100" dirty="0">
                <a:solidFill>
                  <a:schemeClr val="accent6"/>
                </a:solidFill>
              </a:rPr>
              <a:t> (agilemanifesto.org): individuos e interacciones, software funcionando, colaboración con el cliente y respuesta ante el cambio.</a:t>
            </a:r>
            <a:endParaRPr lang="en-US" sz="11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Construimos los sistemas agénticos; el front y la integración son de otros equipos</a:t>
            </a:r>
            <a:endParaRPr lang="en-US" sz="2800" dirty="0"/>
          </a:p>
        </p:txBody>
      </p:sp>
      <p:sp>
        <p:nvSpPr>
          <p:cNvPr id="4" name="Shape 1"/>
          <p:cNvSpPr/>
          <p:nvPr/>
        </p:nvSpPr>
        <p:spPr>
          <a:xfrm>
            <a:off x="548640" y="1600200"/>
            <a:ext cx="5440680" cy="4206240"/>
          </a:xfrm>
          <a:prstGeom prst="roundRect">
            <a:avLst>
              <a:gd name="adj" fmla="val 1739"/>
            </a:avLst>
          </a:prstGeom>
          <a:solidFill>
            <a:schemeClr val="bg2"/>
          </a:solidFill>
          <a:ln w="12700">
            <a:solidFill>
              <a:schemeClr val="bg2"/>
            </a:solidFill>
            <a:prstDash val="solid"/>
          </a:ln>
        </p:spPr>
      </p:sp>
      <p:sp>
        <p:nvSpPr>
          <p:cNvPr id="5" name="Text 2"/>
          <p:cNvSpPr txBox="1"/>
          <p:nvPr/>
        </p:nvSpPr>
        <p:spPr>
          <a:xfrm>
            <a:off x="822960" y="1783080"/>
            <a:ext cx="4892040" cy="365760"/>
          </a:xfrm>
          <a:prstGeom prst="rect">
            <a:avLst/>
          </a:prstGeom>
          <a:noFill/>
          <a:ln/>
        </p:spPr>
        <p:txBody>
          <a:bodyPr wrap="square" lIns="0" tIns="0" rIns="0" bIns="0" rtlCol="0" anchor="t"/>
          <a:lstStyle/>
          <a:p>
            <a:pPr indent="0" marL="0">
              <a:buNone/>
            </a:pPr>
            <a:r>
              <a:rPr lang="en-US" sz="1700" b="1" dirty="0">
                <a:solidFill>
                  <a:schemeClr val="tx2"/>
                </a:solidFill>
              </a:rPr>
              <a:t>Lo construye este equipo</a:t>
            </a:r>
            <a:endParaRPr lang="en-US" sz="1700" dirty="0"/>
          </a:p>
        </p:txBody>
      </p:sp>
      <p:sp>
        <p:nvSpPr>
          <p:cNvPr id="6" name="Text 3"/>
          <p:cNvSpPr txBox="1"/>
          <p:nvPr/>
        </p:nvSpPr>
        <p:spPr>
          <a:xfrm>
            <a:off x="822960" y="2331720"/>
            <a:ext cx="4892040" cy="3291840"/>
          </a:xfrm>
          <a:prstGeom prst="rect">
            <a:avLst/>
          </a:prstGeom>
          <a:noFill/>
          <a:ln/>
        </p:spPr>
        <p:txBody>
          <a:bodyPr wrap="square" lIns="0" tIns="0" rIns="0" bIns="0" rtlCol="0" anchor="t"/>
          <a:lstStyle/>
          <a:p>
            <a:pPr indent="0" marL="0">
              <a:buNone/>
            </a:pPr>
            <a:r>
              <a:rPr lang="en-US" sz="1500" b="1" dirty="0">
                <a:solidFill>
                  <a:schemeClr val="accent1"/>
                </a:solidFill>
              </a:rPr>
              <a:t>Los agentes</a:t>
            </a:r>
            <a:endParaRPr lang="en-US" sz="1500" dirty="0"/>
          </a:p>
          <a:p>
            <a:pPr indent="0" marL="0">
              <a:buNone/>
            </a:pPr>
            <a:r>
              <a:rPr lang="en-US" sz="1500" dirty="0">
                <a:solidFill>
                  <a:schemeClr val="tx1"/>
                </a:solidFill>
              </a:rPr>
              <a:t>Clasificador, enrutador, extractores, request builder, LLM-as-a-judge, pertinencia médica, duplicidad, concepto al escalar y auditor.</a:t>
            </a:r>
            <a:endParaRPr lang="en-US" sz="1500" dirty="0"/>
          </a:p>
          <a:p>
            <a:pPr indent="0" marL="0">
              <a:buNone/>
            </a:pPr>
            <a:r>
              <a:rPr lang="en-US" sz="800" dirty="0">
                <a:solidFill>
                  <a:schemeClr val="tx1"/>
                </a:solidFill>
              </a:rPr>
              <a:t> </a:t>
            </a:r>
            <a:endParaRPr lang="en-US" sz="1500" dirty="0"/>
          </a:p>
          <a:p>
            <a:pPr indent="0" marL="0">
              <a:buNone/>
            </a:pPr>
            <a:r>
              <a:rPr lang="en-US" sz="1500" b="1" dirty="0">
                <a:solidFill>
                  <a:schemeClr val="accent1"/>
                </a:solidFill>
              </a:rPr>
              <a:t>Lo que los gobierna</a:t>
            </a:r>
            <a:endParaRPr lang="en-US" sz="1500" dirty="0"/>
          </a:p>
          <a:p>
            <a:pPr indent="0" marL="0">
              <a:buNone/>
            </a:pPr>
            <a:r>
              <a:rPr lang="en-US" sz="1500" dirty="0">
                <a:solidFill>
                  <a:schemeClr val="tx1"/>
                </a:solidFill>
              </a:rPr>
              <a:t>Golden set, compuerta, traza de la decisión, umbrales, calibración del juez y techos de autonomía.</a:t>
            </a:r>
            <a:endParaRPr lang="en-US" sz="1500" dirty="0"/>
          </a:p>
        </p:txBody>
      </p:sp>
      <p:sp>
        <p:nvSpPr>
          <p:cNvPr id="7" name="Shape 4"/>
          <p:cNvSpPr/>
          <p:nvPr/>
        </p:nvSpPr>
        <p:spPr>
          <a:xfrm>
            <a:off x="6172200" y="1600200"/>
            <a:ext cx="5440680" cy="4206240"/>
          </a:xfrm>
          <a:prstGeom prst="roundRect">
            <a:avLst>
              <a:gd name="adj" fmla="val 1739"/>
            </a:avLst>
          </a:prstGeom>
          <a:solidFill>
            <a:schemeClr val="accent4"/>
          </a:solidFill>
          <a:ln w="12700">
            <a:solidFill>
              <a:srgbClr val="DCD8EC"/>
            </a:solidFill>
            <a:prstDash val="solid"/>
          </a:ln>
        </p:spPr>
      </p:sp>
      <p:sp>
        <p:nvSpPr>
          <p:cNvPr id="8" name="Text 5"/>
          <p:cNvSpPr txBox="1"/>
          <p:nvPr/>
        </p:nvSpPr>
        <p:spPr>
          <a:xfrm>
            <a:off x="6446520" y="1783080"/>
            <a:ext cx="4892040" cy="365760"/>
          </a:xfrm>
          <a:prstGeom prst="rect">
            <a:avLst/>
          </a:prstGeom>
          <a:noFill/>
          <a:ln/>
        </p:spPr>
        <p:txBody>
          <a:bodyPr wrap="square" lIns="0" tIns="0" rIns="0" bIns="0" rtlCol="0" anchor="t"/>
          <a:lstStyle/>
          <a:p>
            <a:pPr indent="0" marL="0">
              <a:buNone/>
            </a:pPr>
            <a:r>
              <a:rPr lang="en-US" sz="1700" b="1" dirty="0">
                <a:solidFill>
                  <a:schemeClr val="accent6"/>
                </a:solidFill>
              </a:rPr>
              <a:t>Lo construyen otros equipos</a:t>
            </a:r>
            <a:endParaRPr lang="en-US" sz="1700" dirty="0"/>
          </a:p>
        </p:txBody>
      </p:sp>
      <p:sp>
        <p:nvSpPr>
          <p:cNvPr id="9" name="Text 6"/>
          <p:cNvSpPr txBox="1"/>
          <p:nvPr/>
        </p:nvSpPr>
        <p:spPr>
          <a:xfrm>
            <a:off x="6446520" y="2331720"/>
            <a:ext cx="4892040" cy="329184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tx1"/>
                </a:solidFill>
              </a:rPr>
              <a:t>Front Angular y canales</a:t>
            </a:r>
            <a:endParaRPr lang="en-US" sz="1500" dirty="0"/>
          </a:p>
          <a:p>
            <a:pPr marL="342900" indent="-342900">
              <a:spcAft>
                <a:spcPts val="900"/>
              </a:spcAft>
              <a:buSzPct val="100000"/>
              <a:buChar char="•"/>
            </a:pPr>
            <a:r>
              <a:rPr lang="en-US" sz="1500" dirty="0">
                <a:solidFill>
                  <a:schemeClr val="tx1"/>
                </a:solidFill>
              </a:rPr>
              <a:t>API orquestadora de cada gestor e integración con el core</a:t>
            </a:r>
            <a:endParaRPr lang="en-US" sz="1500" dirty="0"/>
          </a:p>
          <a:p>
            <a:pPr marL="342900" indent="-342900">
              <a:spcAft>
                <a:spcPts val="900"/>
              </a:spcAft>
              <a:buSzPct val="100000"/>
              <a:buChar char="•"/>
            </a:pPr>
            <a:r>
              <a:rPr lang="en-US" sz="1500" dirty="0">
                <a:solidFill>
                  <a:schemeClr val="tx1"/>
                </a:solidFill>
              </a:rPr>
              <a:t>Contrato de eventos y torre de control, capas 1 y 2</a:t>
            </a:r>
            <a:endParaRPr lang="en-US" sz="1500" dirty="0"/>
          </a:p>
          <a:p>
            <a:pPr marL="342900" indent="-342900">
              <a:spcAft>
                <a:spcPts val="900"/>
              </a:spcAft>
              <a:buSzPct val="100000"/>
              <a:buChar char="•"/>
            </a:pPr>
            <a:r>
              <a:rPr lang="en-US" sz="1500" dirty="0">
                <a:solidFill>
                  <a:schemeClr val="tx1"/>
                </a:solidFill>
              </a:rPr>
              <a:t>Siniestro Integral</a:t>
            </a:r>
            <a:endParaRPr lang="en-US" sz="1500" dirty="0"/>
          </a:p>
          <a:p>
            <a:pPr marL="342900" indent="-342900">
              <a:spcAft>
                <a:spcPts val="900"/>
              </a:spcAft>
              <a:buSzPct val="100000"/>
              <a:buChar char="•"/>
            </a:pPr>
            <a:r>
              <a:rPr lang="en-US" sz="1500" dirty="0">
                <a:solidFill>
                  <a:schemeClr val="tx1"/>
                </a:solidFill>
              </a:rPr>
              <a:t>Gestor de Coordinación, nivel 1: reglas duras, sin agente</a:t>
            </a:r>
            <a:endParaRPr lang="en-US" sz="1500" dirty="0"/>
          </a:p>
          <a:p>
            <a:pPr marL="342900" indent="-342900">
              <a:spcAft>
                <a:spcPts val="900"/>
              </a:spcAft>
              <a:buSzPct val="100000"/>
              <a:buChar char="•"/>
            </a:pPr>
            <a:r>
              <a:rPr lang="en-US" sz="1500" dirty="0">
                <a:solidFill>
                  <a:schemeClr val="tx1"/>
                </a:solidFill>
              </a:rPr>
              <a:t>Plataforma habilitadora y plataforma agéntica</a:t>
            </a:r>
            <a:endParaRPr lang="en-US" sz="1500" dirty="0"/>
          </a:p>
        </p:txBody>
      </p:sp>
      <p:sp>
        <p:nvSpPr>
          <p:cNvPr id="10" name="Text 7"/>
          <p:cNvSpPr txBox="1"/>
          <p:nvPr/>
        </p:nvSpPr>
        <p:spPr>
          <a:xfrm>
            <a:off x="548640" y="5943600"/>
            <a:ext cx="11064240" cy="365760"/>
          </a:xfrm>
          <a:prstGeom prst="rect">
            <a:avLst/>
          </a:prstGeom>
          <a:noFill/>
          <a:ln/>
        </p:spPr>
        <p:txBody>
          <a:bodyPr wrap="square" lIns="0" tIns="0" rIns="0" bIns="0" rtlCol="0" anchor="b"/>
          <a:lstStyle/>
          <a:p>
            <a:pPr indent="0" marL="0">
              <a:buNone/>
            </a:pPr>
            <a:r>
              <a:rPr lang="en-US" sz="1100" dirty="0">
                <a:solidFill>
                  <a:schemeClr val="accent6"/>
                </a:solidFill>
              </a:rPr>
              <a:t>Los agentes se enchufan en lo que construyen los otros equipos; el contrato entre ambos se cierra en el arranque.</a:t>
            </a:r>
            <a:endParaRPr lang="en-US" sz="11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Tres roles dentro del equipo y cinco interlocutores fuera</a:t>
            </a:r>
            <a:endParaRPr lang="en-US" sz="2800" dirty="0"/>
          </a:p>
        </p:txBody>
      </p:sp>
      <p:sp>
        <p:nvSpPr>
          <p:cNvPr id="4" name="Shape 1"/>
          <p:cNvSpPr/>
          <p:nvPr/>
        </p:nvSpPr>
        <p:spPr>
          <a:xfrm>
            <a:off x="548640" y="1600200"/>
            <a:ext cx="2286000" cy="3840480"/>
          </a:xfrm>
          <a:prstGeom prst="roundRect">
            <a:avLst>
              <a:gd name="adj" fmla="val 3200"/>
            </a:avLst>
          </a:prstGeom>
          <a:solidFill>
            <a:schemeClr val="accent4"/>
          </a:solidFill>
          <a:ln w="12700">
            <a:solidFill>
              <a:srgbClr val="DCD8EC"/>
            </a:solidFill>
            <a:prstDash val="solid"/>
          </a:ln>
        </p:spPr>
      </p:sp>
      <p:sp>
        <p:nvSpPr>
          <p:cNvPr id="5" name="Shape 2"/>
          <p:cNvSpPr/>
          <p:nvPr/>
        </p:nvSpPr>
        <p:spPr>
          <a:xfrm>
            <a:off x="777240" y="1828800"/>
            <a:ext cx="731520" cy="731520"/>
          </a:xfrm>
          <a:prstGeom prst="ellipse">
            <a:avLst/>
          </a:prstGeom>
          <a:solidFill>
            <a:schemeClr val="tx2"/>
          </a:solidFill>
          <a:ln w="12700">
            <a:solidFill>
              <a:schemeClr val="tx2"/>
            </a:solidFill>
            <a:prstDash val="solid"/>
          </a:ln>
        </p:spPr>
      </p:sp>
      <p:sp>
        <p:nvSpPr>
          <p:cNvPr id="6" name="Text 3"/>
          <p:cNvSpPr txBox="1"/>
          <p:nvPr/>
        </p:nvSpPr>
        <p:spPr>
          <a:xfrm>
            <a:off x="777240" y="182880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Arq.</a:t>
            </a:r>
            <a:endParaRPr lang="en-US" sz="1600" dirty="0"/>
          </a:p>
        </p:txBody>
      </p:sp>
      <p:sp>
        <p:nvSpPr>
          <p:cNvPr id="7" name="Text 4"/>
          <p:cNvSpPr txBox="1"/>
          <p:nvPr/>
        </p:nvSpPr>
        <p:spPr>
          <a:xfrm>
            <a:off x="777240" y="2697480"/>
            <a:ext cx="1828800" cy="365760"/>
          </a:xfrm>
          <a:prstGeom prst="rect">
            <a:avLst/>
          </a:prstGeom>
          <a:noFill/>
          <a:ln/>
        </p:spPr>
        <p:txBody>
          <a:bodyPr wrap="square" lIns="0" tIns="0" rIns="0" bIns="0" rtlCol="0" anchor="t"/>
          <a:lstStyle/>
          <a:p>
            <a:pPr indent="0" marL="0">
              <a:buNone/>
            </a:pPr>
            <a:r>
              <a:rPr lang="en-US" sz="1700" b="1" dirty="0">
                <a:solidFill>
                  <a:schemeClr val="tx2"/>
                </a:solidFill>
              </a:rPr>
              <a:t>Arquitecto</a:t>
            </a:r>
            <a:endParaRPr lang="en-US" sz="1700" dirty="0"/>
          </a:p>
        </p:txBody>
      </p:sp>
      <p:sp>
        <p:nvSpPr>
          <p:cNvPr id="8" name="Text 5"/>
          <p:cNvSpPr txBox="1"/>
          <p:nvPr/>
        </p:nvSpPr>
        <p:spPr>
          <a:xfrm>
            <a:off x="777240" y="3063240"/>
            <a:ext cx="1828800" cy="502920"/>
          </a:xfrm>
          <a:prstGeom prst="rect">
            <a:avLst/>
          </a:prstGeom>
          <a:noFill/>
          <a:ln/>
        </p:spPr>
        <p:txBody>
          <a:bodyPr wrap="square" lIns="0" tIns="0" rIns="0" bIns="0" rtlCol="0" anchor="t"/>
          <a:lstStyle/>
          <a:p>
            <a:pPr indent="0" marL="0">
              <a:buNone/>
            </a:pPr>
            <a:r>
              <a:rPr lang="en-US" sz="1300" b="1" dirty="0">
                <a:solidFill>
                  <a:schemeClr val="accent2"/>
                </a:solidFill>
              </a:rPr>
              <a:t>Parcial · define el cómo y lo revisa</a:t>
            </a:r>
            <a:endParaRPr lang="en-US" sz="1300" dirty="0"/>
          </a:p>
        </p:txBody>
      </p:sp>
      <p:sp>
        <p:nvSpPr>
          <p:cNvPr id="9" name="Text 6"/>
          <p:cNvSpPr txBox="1"/>
          <p:nvPr/>
        </p:nvSpPr>
        <p:spPr>
          <a:xfrm>
            <a:off x="777240" y="3611880"/>
            <a:ext cx="1828800" cy="1783080"/>
          </a:xfrm>
          <a:prstGeom prst="rect">
            <a:avLst/>
          </a:prstGeom>
          <a:noFill/>
          <a:ln/>
        </p:spPr>
        <p:txBody>
          <a:bodyPr wrap="square" lIns="0" tIns="0" rIns="0" bIns="0" rtlCol="0" anchor="t"/>
          <a:lstStyle/>
          <a:p>
            <a:pPr indent="0" marL="0">
              <a:buNone/>
            </a:pPr>
            <a:r>
              <a:rPr lang="en-US" sz="1400" dirty="0">
                <a:solidFill>
                  <a:schemeClr val="tx1"/>
                </a:solidFill>
              </a:rPr>
              <a:t>Define con el equipo prácticas, arquetipos, componentes y lineamientos; se alinea con arquitectura de SURA y revisa que cada historia los cumpla.</a:t>
            </a:r>
            <a:endParaRPr lang="en-US" sz="1400" dirty="0"/>
          </a:p>
        </p:txBody>
      </p:sp>
      <p:sp>
        <p:nvSpPr>
          <p:cNvPr id="10" name="Shape 7"/>
          <p:cNvSpPr/>
          <p:nvPr/>
        </p:nvSpPr>
        <p:spPr>
          <a:xfrm>
            <a:off x="2999232" y="1600200"/>
            <a:ext cx="2286000" cy="3840480"/>
          </a:xfrm>
          <a:prstGeom prst="roundRect">
            <a:avLst>
              <a:gd name="adj" fmla="val 3200"/>
            </a:avLst>
          </a:prstGeom>
          <a:solidFill>
            <a:schemeClr val="accent4"/>
          </a:solidFill>
          <a:ln w="12700">
            <a:solidFill>
              <a:srgbClr val="DCD8EC"/>
            </a:solidFill>
            <a:prstDash val="solid"/>
          </a:ln>
        </p:spPr>
      </p:sp>
      <p:sp>
        <p:nvSpPr>
          <p:cNvPr id="11" name="Shape 8"/>
          <p:cNvSpPr/>
          <p:nvPr/>
        </p:nvSpPr>
        <p:spPr>
          <a:xfrm>
            <a:off x="3227832" y="1828800"/>
            <a:ext cx="731520" cy="731520"/>
          </a:xfrm>
          <a:prstGeom prst="ellipse">
            <a:avLst/>
          </a:prstGeom>
          <a:solidFill>
            <a:schemeClr val="accent1"/>
          </a:solidFill>
          <a:ln w="12700">
            <a:solidFill>
              <a:schemeClr val="accent1"/>
            </a:solidFill>
            <a:prstDash val="solid"/>
          </a:ln>
        </p:spPr>
      </p:sp>
      <p:sp>
        <p:nvSpPr>
          <p:cNvPr id="12" name="Text 9"/>
          <p:cNvSpPr txBox="1"/>
          <p:nvPr/>
        </p:nvSpPr>
        <p:spPr>
          <a:xfrm>
            <a:off x="3227832" y="182880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13" name="Text 10"/>
          <p:cNvSpPr txBox="1"/>
          <p:nvPr/>
        </p:nvSpPr>
        <p:spPr>
          <a:xfrm>
            <a:off x="3227832" y="2697480"/>
            <a:ext cx="1828800" cy="365760"/>
          </a:xfrm>
          <a:prstGeom prst="rect">
            <a:avLst/>
          </a:prstGeom>
          <a:noFill/>
          <a:ln/>
        </p:spPr>
        <p:txBody>
          <a:bodyPr wrap="square" lIns="0" tIns="0" rIns="0" bIns="0" rtlCol="0" anchor="t"/>
          <a:lstStyle/>
          <a:p>
            <a:pPr indent="0" marL="0">
              <a:buNone/>
            </a:pPr>
            <a:r>
              <a:rPr lang="en-US" sz="1700" b="1" dirty="0">
                <a:solidFill>
                  <a:schemeClr val="tx2"/>
                </a:solidFill>
              </a:rPr>
              <a:t>Desarrollador A</a:t>
            </a:r>
            <a:endParaRPr lang="en-US" sz="1700" dirty="0"/>
          </a:p>
        </p:txBody>
      </p:sp>
      <p:sp>
        <p:nvSpPr>
          <p:cNvPr id="14" name="Text 11"/>
          <p:cNvSpPr txBox="1"/>
          <p:nvPr/>
        </p:nvSpPr>
        <p:spPr>
          <a:xfrm>
            <a:off x="3227832" y="3063240"/>
            <a:ext cx="1828800" cy="502920"/>
          </a:xfrm>
          <a:prstGeom prst="rect">
            <a:avLst/>
          </a:prstGeom>
          <a:noFill/>
          <a:ln/>
        </p:spPr>
        <p:txBody>
          <a:bodyPr wrap="square" lIns="0" tIns="0" rIns="0" bIns="0" rtlCol="0" anchor="t"/>
          <a:lstStyle/>
          <a:p>
            <a:pPr indent="0" marL="0">
              <a:buNone/>
            </a:pPr>
            <a:r>
              <a:rPr lang="en-US" sz="1300" b="1" dirty="0">
                <a:solidFill>
                  <a:schemeClr val="accent2"/>
                </a:solidFill>
              </a:rPr>
              <a:t>Agentes de Solicitud</a:t>
            </a:r>
            <a:endParaRPr lang="en-US" sz="1300" dirty="0"/>
          </a:p>
        </p:txBody>
      </p:sp>
      <p:sp>
        <p:nvSpPr>
          <p:cNvPr id="15" name="Text 12"/>
          <p:cNvSpPr txBox="1"/>
          <p:nvPr/>
        </p:nvSpPr>
        <p:spPr>
          <a:xfrm>
            <a:off x="3227832" y="3611880"/>
            <a:ext cx="1828800" cy="1783080"/>
          </a:xfrm>
          <a:prstGeom prst="rect">
            <a:avLst/>
          </a:prstGeom>
          <a:noFill/>
          <a:ln/>
        </p:spPr>
        <p:txBody>
          <a:bodyPr wrap="square" lIns="0" tIns="0" rIns="0" bIns="0" rtlCol="0" anchor="t"/>
          <a:lstStyle/>
          <a:p>
            <a:pPr indent="0" marL="0">
              <a:buNone/>
            </a:pPr>
            <a:r>
              <a:rPr lang="en-US" sz="1400" dirty="0">
                <a:solidFill>
                  <a:schemeClr val="tx1"/>
                </a:solidFill>
              </a:rPr>
              <a:t>Clasificador, enrutador, extractores, request builder y LLM-as-a-judge, con prompts versionados y herramientas por MCP.</a:t>
            </a:r>
            <a:endParaRPr lang="en-US" sz="1400" dirty="0"/>
          </a:p>
        </p:txBody>
      </p:sp>
      <p:sp>
        <p:nvSpPr>
          <p:cNvPr id="16" name="Shape 13"/>
          <p:cNvSpPr/>
          <p:nvPr/>
        </p:nvSpPr>
        <p:spPr>
          <a:xfrm>
            <a:off x="5449824" y="1600200"/>
            <a:ext cx="2286000" cy="3840480"/>
          </a:xfrm>
          <a:prstGeom prst="roundRect">
            <a:avLst>
              <a:gd name="adj" fmla="val 3200"/>
            </a:avLst>
          </a:prstGeom>
          <a:solidFill>
            <a:schemeClr val="accent4"/>
          </a:solidFill>
          <a:ln w="12700">
            <a:solidFill>
              <a:srgbClr val="DCD8EC"/>
            </a:solidFill>
            <a:prstDash val="solid"/>
          </a:ln>
        </p:spPr>
      </p:sp>
      <p:sp>
        <p:nvSpPr>
          <p:cNvPr id="17" name="Shape 14"/>
          <p:cNvSpPr/>
          <p:nvPr/>
        </p:nvSpPr>
        <p:spPr>
          <a:xfrm>
            <a:off x="5678424" y="1828800"/>
            <a:ext cx="731520" cy="731520"/>
          </a:xfrm>
          <a:prstGeom prst="ellipse">
            <a:avLst/>
          </a:prstGeom>
          <a:solidFill>
            <a:schemeClr val="accent1"/>
          </a:solidFill>
          <a:ln w="12700">
            <a:solidFill>
              <a:schemeClr val="accent1"/>
            </a:solidFill>
            <a:prstDash val="solid"/>
          </a:ln>
        </p:spPr>
      </p:sp>
      <p:sp>
        <p:nvSpPr>
          <p:cNvPr id="18" name="Text 15"/>
          <p:cNvSpPr txBox="1"/>
          <p:nvPr/>
        </p:nvSpPr>
        <p:spPr>
          <a:xfrm>
            <a:off x="5678424" y="182880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9" name="Text 16"/>
          <p:cNvSpPr txBox="1"/>
          <p:nvPr/>
        </p:nvSpPr>
        <p:spPr>
          <a:xfrm>
            <a:off x="5678424" y="2697480"/>
            <a:ext cx="1828800" cy="365760"/>
          </a:xfrm>
          <a:prstGeom prst="rect">
            <a:avLst/>
          </a:prstGeom>
          <a:noFill/>
          <a:ln/>
        </p:spPr>
        <p:txBody>
          <a:bodyPr wrap="square" lIns="0" tIns="0" rIns="0" bIns="0" rtlCol="0" anchor="t"/>
          <a:lstStyle/>
          <a:p>
            <a:pPr indent="0" marL="0">
              <a:buNone/>
            </a:pPr>
            <a:r>
              <a:rPr lang="en-US" sz="1700" b="1" dirty="0">
                <a:solidFill>
                  <a:schemeClr val="tx2"/>
                </a:solidFill>
              </a:rPr>
              <a:t>Desarrollador B</a:t>
            </a:r>
            <a:endParaRPr lang="en-US" sz="1700" dirty="0"/>
          </a:p>
        </p:txBody>
      </p:sp>
      <p:sp>
        <p:nvSpPr>
          <p:cNvPr id="20" name="Text 17"/>
          <p:cNvSpPr txBox="1"/>
          <p:nvPr/>
        </p:nvSpPr>
        <p:spPr>
          <a:xfrm>
            <a:off x="5678424" y="3063240"/>
            <a:ext cx="1828800" cy="502920"/>
          </a:xfrm>
          <a:prstGeom prst="rect">
            <a:avLst/>
          </a:prstGeom>
          <a:noFill/>
          <a:ln/>
        </p:spPr>
        <p:txBody>
          <a:bodyPr wrap="square" lIns="0" tIns="0" rIns="0" bIns="0" rtlCol="0" anchor="t"/>
          <a:lstStyle/>
          <a:p>
            <a:pPr indent="0" marL="0">
              <a:buNone/>
            </a:pPr>
            <a:r>
              <a:rPr lang="en-US" sz="1300" b="1" dirty="0">
                <a:solidFill>
                  <a:schemeClr val="accent2"/>
                </a:solidFill>
              </a:rPr>
              <a:t>Agentes de Evaluación</a:t>
            </a:r>
            <a:endParaRPr lang="en-US" sz="1300" dirty="0"/>
          </a:p>
        </p:txBody>
      </p:sp>
      <p:sp>
        <p:nvSpPr>
          <p:cNvPr id="21" name="Text 18"/>
          <p:cNvSpPr txBox="1"/>
          <p:nvPr/>
        </p:nvSpPr>
        <p:spPr>
          <a:xfrm>
            <a:off x="5678424" y="3611880"/>
            <a:ext cx="1828800" cy="1783080"/>
          </a:xfrm>
          <a:prstGeom prst="rect">
            <a:avLst/>
          </a:prstGeom>
          <a:noFill/>
          <a:ln/>
        </p:spPr>
        <p:txBody>
          <a:bodyPr wrap="square" lIns="0" tIns="0" rIns="0" bIns="0" rtlCol="0" anchor="t"/>
          <a:lstStyle/>
          <a:p>
            <a:pPr indent="0" marL="0">
              <a:buNone/>
            </a:pPr>
            <a:r>
              <a:rPr lang="en-US" sz="1400" dirty="0">
                <a:solidFill>
                  <a:schemeClr val="tx1"/>
                </a:solidFill>
              </a:rPr>
              <a:t>Coberturas, pertinencia médica, duplicidad y concepto al escalar, con su golden set, compuerta y calibración.</a:t>
            </a:r>
            <a:endParaRPr lang="en-US" sz="1400" dirty="0"/>
          </a:p>
        </p:txBody>
      </p:sp>
      <p:sp>
        <p:nvSpPr>
          <p:cNvPr id="22" name="Text 19"/>
          <p:cNvSpPr txBox="1"/>
          <p:nvPr/>
        </p:nvSpPr>
        <p:spPr>
          <a:xfrm>
            <a:off x="548640" y="5577840"/>
            <a:ext cx="7223760" cy="365760"/>
          </a:xfrm>
          <a:prstGeom prst="rect">
            <a:avLst/>
          </a:prstGeom>
          <a:noFill/>
          <a:ln/>
        </p:spPr>
        <p:txBody>
          <a:bodyPr wrap="square" lIns="0" tIns="0" rIns="0" bIns="0" rtlCol="0" anchor="t"/>
          <a:lstStyle/>
          <a:p>
            <a:pPr indent="0" marL="0">
              <a:buNone/>
            </a:pPr>
            <a:r>
              <a:rPr lang="en-US" sz="1400" b="1" dirty="0">
                <a:solidFill>
                  <a:schemeClr val="tx2"/>
                </a:solidFill>
              </a:rPr>
              <a:t>Implementan las historias con las prácticas del equipo y se suplen.</a:t>
            </a:r>
            <a:endParaRPr lang="en-US" sz="1400" dirty="0"/>
          </a:p>
        </p:txBody>
      </p:sp>
      <p:sp>
        <p:nvSpPr>
          <p:cNvPr id="23" name="Text 20"/>
          <p:cNvSpPr txBox="1"/>
          <p:nvPr/>
        </p:nvSpPr>
        <p:spPr>
          <a:xfrm>
            <a:off x="8138160" y="1600200"/>
            <a:ext cx="3502152" cy="365760"/>
          </a:xfrm>
          <a:prstGeom prst="rect">
            <a:avLst/>
          </a:prstGeom>
          <a:noFill/>
          <a:ln/>
        </p:spPr>
        <p:txBody>
          <a:bodyPr wrap="square" lIns="0" tIns="0" rIns="0" bIns="0" rtlCol="0" anchor="t"/>
          <a:lstStyle/>
          <a:p>
            <a:pPr indent="0" marL="0">
              <a:buNone/>
            </a:pPr>
            <a:r>
              <a:rPr lang="en-US" sz="1700" b="1" dirty="0">
                <a:solidFill>
                  <a:schemeClr val="tx2"/>
                </a:solidFill>
              </a:rPr>
              <a:t>Fuera del equipo</a:t>
            </a:r>
            <a:endParaRPr lang="en-US" sz="1700" dirty="0"/>
          </a:p>
        </p:txBody>
      </p:sp>
      <p:sp>
        <p:nvSpPr>
          <p:cNvPr id="24" name="Shape 21"/>
          <p:cNvSpPr/>
          <p:nvPr/>
        </p:nvSpPr>
        <p:spPr>
          <a:xfrm>
            <a:off x="8138160" y="2057400"/>
            <a:ext cx="3502152" cy="603504"/>
          </a:xfrm>
          <a:prstGeom prst="roundRect">
            <a:avLst>
              <a:gd name="adj" fmla="val 12121"/>
            </a:avLst>
          </a:prstGeom>
          <a:solidFill>
            <a:schemeClr val="bg1"/>
          </a:solidFill>
          <a:ln w="12700">
            <a:solidFill>
              <a:srgbClr val="DCD8EC"/>
            </a:solidFill>
            <a:prstDash val="solid"/>
          </a:ln>
        </p:spPr>
      </p:sp>
      <p:sp>
        <p:nvSpPr>
          <p:cNvPr id="25" name="Text 22"/>
          <p:cNvSpPr txBox="1"/>
          <p:nvPr/>
        </p:nvSpPr>
        <p:spPr>
          <a:xfrm>
            <a:off x="8275320" y="2057400"/>
            <a:ext cx="3227832" cy="603504"/>
          </a:xfrm>
          <a:prstGeom prst="rect">
            <a:avLst/>
          </a:prstGeom>
          <a:noFill/>
          <a:ln/>
        </p:spPr>
        <p:txBody>
          <a:bodyPr wrap="square" lIns="0" tIns="0" rIns="0" bIns="0" rtlCol="0" anchor="ctr"/>
          <a:lstStyle/>
          <a:p>
            <a:pPr indent="0" marL="0">
              <a:buNone/>
            </a:pPr>
            <a:r>
              <a:rPr lang="en-US" sz="1300" b="1" dirty="0">
                <a:solidFill>
                  <a:schemeClr val="tx2"/>
                </a:solidFill>
              </a:rPr>
              <a:t>Product Owner de SURA</a:t>
            </a:r>
            <a:endParaRPr lang="en-US" sz="1300" dirty="0"/>
          </a:p>
          <a:p>
            <a:pPr indent="0" marL="0">
              <a:buNone/>
            </a:pPr>
            <a:r>
              <a:rPr lang="en-US" sz="1300" dirty="0">
                <a:solidFill>
                  <a:schemeClr val="accent6"/>
                </a:solidFill>
              </a:rPr>
              <a:t>define historias, prioriza y recibe la demo</a:t>
            </a:r>
            <a:endParaRPr lang="en-US" sz="1300" dirty="0"/>
          </a:p>
        </p:txBody>
      </p:sp>
      <p:sp>
        <p:nvSpPr>
          <p:cNvPr id="26" name="Shape 23"/>
          <p:cNvSpPr/>
          <p:nvPr/>
        </p:nvSpPr>
        <p:spPr>
          <a:xfrm>
            <a:off x="8138160" y="2743200"/>
            <a:ext cx="3502152" cy="603504"/>
          </a:xfrm>
          <a:prstGeom prst="roundRect">
            <a:avLst>
              <a:gd name="adj" fmla="val 12121"/>
            </a:avLst>
          </a:prstGeom>
          <a:solidFill>
            <a:schemeClr val="bg1"/>
          </a:solidFill>
          <a:ln w="12700">
            <a:solidFill>
              <a:srgbClr val="DCD8EC"/>
            </a:solidFill>
            <a:prstDash val="solid"/>
          </a:ln>
        </p:spPr>
      </p:sp>
      <p:sp>
        <p:nvSpPr>
          <p:cNvPr id="27" name="Text 24"/>
          <p:cNvSpPr txBox="1"/>
          <p:nvPr/>
        </p:nvSpPr>
        <p:spPr>
          <a:xfrm>
            <a:off x="8275320" y="2743200"/>
            <a:ext cx="3227832" cy="603504"/>
          </a:xfrm>
          <a:prstGeom prst="rect">
            <a:avLst/>
          </a:prstGeom>
          <a:noFill/>
          <a:ln/>
        </p:spPr>
        <p:txBody>
          <a:bodyPr wrap="square" lIns="0" tIns="0" rIns="0" bIns="0" rtlCol="0" anchor="ctr"/>
          <a:lstStyle/>
          <a:p>
            <a:pPr indent="0" marL="0">
              <a:buNone/>
            </a:pPr>
            <a:r>
              <a:rPr lang="en-US" sz="1300" b="1" dirty="0">
                <a:solidFill>
                  <a:schemeClr val="tx2"/>
                </a:solidFill>
              </a:rPr>
              <a:t>Arquitectura de SURA</a:t>
            </a:r>
            <a:endParaRPr lang="en-US" sz="1300" dirty="0"/>
          </a:p>
          <a:p>
            <a:pPr indent="0" marL="0">
              <a:buNone/>
            </a:pPr>
            <a:r>
              <a:rPr lang="en-US" sz="1300" dirty="0">
                <a:solidFill>
                  <a:schemeClr val="accent6"/>
                </a:solidFill>
              </a:rPr>
              <a:t>lineamientos y decisiones con el arquitecto</a:t>
            </a:r>
            <a:endParaRPr lang="en-US" sz="1300" dirty="0"/>
          </a:p>
        </p:txBody>
      </p:sp>
      <p:sp>
        <p:nvSpPr>
          <p:cNvPr id="28" name="Shape 25"/>
          <p:cNvSpPr/>
          <p:nvPr/>
        </p:nvSpPr>
        <p:spPr>
          <a:xfrm>
            <a:off x="8138160" y="3429000"/>
            <a:ext cx="3502152" cy="603504"/>
          </a:xfrm>
          <a:prstGeom prst="roundRect">
            <a:avLst>
              <a:gd name="adj" fmla="val 12121"/>
            </a:avLst>
          </a:prstGeom>
          <a:solidFill>
            <a:schemeClr val="bg1"/>
          </a:solidFill>
          <a:ln w="12700">
            <a:solidFill>
              <a:srgbClr val="DCD8EC"/>
            </a:solidFill>
            <a:prstDash val="solid"/>
          </a:ln>
        </p:spPr>
      </p:sp>
      <p:sp>
        <p:nvSpPr>
          <p:cNvPr id="29" name="Text 26"/>
          <p:cNvSpPr txBox="1"/>
          <p:nvPr/>
        </p:nvSpPr>
        <p:spPr>
          <a:xfrm>
            <a:off x="8275320" y="3429000"/>
            <a:ext cx="3227832" cy="603504"/>
          </a:xfrm>
          <a:prstGeom prst="rect">
            <a:avLst/>
          </a:prstGeom>
          <a:noFill/>
          <a:ln/>
        </p:spPr>
        <p:txBody>
          <a:bodyPr wrap="square" lIns="0" tIns="0" rIns="0" bIns="0" rtlCol="0" anchor="ctr"/>
          <a:lstStyle/>
          <a:p>
            <a:pPr indent="0" marL="0">
              <a:buNone/>
            </a:pPr>
            <a:r>
              <a:rPr lang="en-US" sz="1300" b="1" dirty="0">
                <a:solidFill>
                  <a:schemeClr val="tx2"/>
                </a:solidFill>
              </a:rPr>
              <a:t>Equipos de front, integración y eventos</a:t>
            </a:r>
            <a:endParaRPr lang="en-US" sz="1300" dirty="0"/>
          </a:p>
          <a:p>
            <a:pPr indent="0" marL="0">
              <a:buNone/>
            </a:pPr>
            <a:r>
              <a:rPr lang="en-US" sz="1300" dirty="0">
                <a:solidFill>
                  <a:schemeClr val="accent6"/>
                </a:solidFill>
              </a:rPr>
              <a:t>construyen donde se enchufan los agentes</a:t>
            </a:r>
            <a:endParaRPr lang="en-US" sz="1300" dirty="0"/>
          </a:p>
        </p:txBody>
      </p:sp>
      <p:sp>
        <p:nvSpPr>
          <p:cNvPr id="30" name="Shape 27"/>
          <p:cNvSpPr/>
          <p:nvPr/>
        </p:nvSpPr>
        <p:spPr>
          <a:xfrm>
            <a:off x="8138160" y="4114800"/>
            <a:ext cx="3502152" cy="603504"/>
          </a:xfrm>
          <a:prstGeom prst="roundRect">
            <a:avLst>
              <a:gd name="adj" fmla="val 12121"/>
            </a:avLst>
          </a:prstGeom>
          <a:solidFill>
            <a:schemeClr val="bg1"/>
          </a:solidFill>
          <a:ln w="12700">
            <a:solidFill>
              <a:srgbClr val="DCD8EC"/>
            </a:solidFill>
            <a:prstDash val="solid"/>
          </a:ln>
        </p:spPr>
      </p:sp>
      <p:sp>
        <p:nvSpPr>
          <p:cNvPr id="31" name="Text 28"/>
          <p:cNvSpPr txBox="1"/>
          <p:nvPr/>
        </p:nvSpPr>
        <p:spPr>
          <a:xfrm>
            <a:off x="8275320" y="4114800"/>
            <a:ext cx="3227832" cy="603504"/>
          </a:xfrm>
          <a:prstGeom prst="rect">
            <a:avLst/>
          </a:prstGeom>
          <a:noFill/>
          <a:ln/>
        </p:spPr>
        <p:txBody>
          <a:bodyPr wrap="square" lIns="0" tIns="0" rIns="0" bIns="0" rtlCol="0" anchor="ctr"/>
          <a:lstStyle/>
          <a:p>
            <a:pPr indent="0" marL="0">
              <a:buNone/>
            </a:pPr>
            <a:r>
              <a:rPr lang="en-US" sz="1300" b="1" dirty="0">
                <a:solidFill>
                  <a:schemeClr val="tx2"/>
                </a:solidFill>
              </a:rPr>
              <a:t>Core SuraHis y plataforma agéntica</a:t>
            </a:r>
            <a:endParaRPr lang="en-US" sz="1300" dirty="0"/>
          </a:p>
          <a:p>
            <a:pPr indent="0" marL="0">
              <a:buNone/>
            </a:pPr>
            <a:r>
              <a:rPr lang="en-US" sz="1300" dirty="0">
                <a:solidFill>
                  <a:schemeClr val="accent6"/>
                </a:solidFill>
              </a:rPr>
              <a:t>reglas, histórico, gateways y modelos</a:t>
            </a:r>
            <a:endParaRPr lang="en-US" sz="1300" dirty="0"/>
          </a:p>
        </p:txBody>
      </p:sp>
      <p:sp>
        <p:nvSpPr>
          <p:cNvPr id="32" name="Shape 29"/>
          <p:cNvSpPr/>
          <p:nvPr/>
        </p:nvSpPr>
        <p:spPr>
          <a:xfrm>
            <a:off x="8138160" y="4800600"/>
            <a:ext cx="3502152" cy="603504"/>
          </a:xfrm>
          <a:prstGeom prst="roundRect">
            <a:avLst>
              <a:gd name="adj" fmla="val 12121"/>
            </a:avLst>
          </a:prstGeom>
          <a:solidFill>
            <a:schemeClr val="bg1"/>
          </a:solidFill>
          <a:ln w="12700">
            <a:solidFill>
              <a:srgbClr val="DCD8EC"/>
            </a:solidFill>
            <a:prstDash val="solid"/>
          </a:ln>
        </p:spPr>
      </p:sp>
      <p:sp>
        <p:nvSpPr>
          <p:cNvPr id="33" name="Text 30"/>
          <p:cNvSpPr txBox="1"/>
          <p:nvPr/>
        </p:nvSpPr>
        <p:spPr>
          <a:xfrm>
            <a:off x="8275320" y="4800600"/>
            <a:ext cx="3227832" cy="603504"/>
          </a:xfrm>
          <a:prstGeom prst="rect">
            <a:avLst/>
          </a:prstGeom>
          <a:noFill/>
          <a:ln/>
        </p:spPr>
        <p:txBody>
          <a:bodyPr wrap="square" lIns="0" tIns="0" rIns="0" bIns="0" rtlCol="0" anchor="ctr"/>
          <a:lstStyle/>
          <a:p>
            <a:pPr indent="0" marL="0">
              <a:buNone/>
            </a:pPr>
            <a:r>
              <a:rPr lang="en-US" sz="1300" b="1" dirty="0">
                <a:solidFill>
                  <a:schemeClr val="tx2"/>
                </a:solidFill>
              </a:rPr>
              <a:t>Negocio y equipo médico</a:t>
            </a:r>
            <a:endParaRPr lang="en-US" sz="1300" dirty="0"/>
          </a:p>
          <a:p>
            <a:pPr indent="0" marL="0">
              <a:buNone/>
            </a:pPr>
            <a:r>
              <a:rPr lang="en-US" sz="1300" dirty="0">
                <a:solidFill>
                  <a:schemeClr val="accent6"/>
                </a:solidFill>
              </a:rPr>
              <a:t>error tolerable y muestra revisada</a:t>
            </a:r>
            <a:endParaRPr lang="en-US" sz="13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El arquitecto define el cómo, se alinea con SURA y revisa que se cumpla</a:t>
            </a:r>
            <a:endParaRPr lang="en-US" sz="2800" dirty="0"/>
          </a:p>
        </p:txBody>
      </p:sp>
      <p:sp>
        <p:nvSpPr>
          <p:cNvPr id="4" name="Shape 1"/>
          <p:cNvSpPr/>
          <p:nvPr/>
        </p:nvSpPr>
        <p:spPr>
          <a:xfrm>
            <a:off x="548640" y="1600200"/>
            <a:ext cx="3520440" cy="3520440"/>
          </a:xfrm>
          <a:prstGeom prst="roundRect">
            <a:avLst>
              <a:gd name="adj" fmla="val 2078"/>
            </a:avLst>
          </a:prstGeom>
          <a:solidFill>
            <a:schemeClr val="accent4"/>
          </a:solidFill>
          <a:ln w="12700">
            <a:solidFill>
              <a:srgbClr val="DCD8EC"/>
            </a:solidFill>
            <a:prstDash val="solid"/>
          </a:ln>
        </p:spPr>
      </p:sp>
      <p:sp>
        <p:nvSpPr>
          <p:cNvPr id="5" name="Shape 2"/>
          <p:cNvSpPr/>
          <p:nvPr/>
        </p:nvSpPr>
        <p:spPr>
          <a:xfrm>
            <a:off x="822960" y="1801368"/>
            <a:ext cx="502920" cy="502920"/>
          </a:xfrm>
          <a:prstGeom prst="ellipse">
            <a:avLst/>
          </a:prstGeom>
          <a:solidFill>
            <a:schemeClr val="accent1"/>
          </a:solidFill>
          <a:ln w="12700">
            <a:solidFill>
              <a:schemeClr val="accent1"/>
            </a:solidFill>
            <a:prstDash val="solid"/>
          </a:ln>
        </p:spPr>
      </p:sp>
      <p:sp>
        <p:nvSpPr>
          <p:cNvPr id="6" name="Text 3"/>
          <p:cNvSpPr txBox="1"/>
          <p:nvPr/>
        </p:nvSpPr>
        <p:spPr>
          <a:xfrm>
            <a:off x="822960" y="1801368"/>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4"/>
          <p:cNvSpPr txBox="1"/>
          <p:nvPr/>
        </p:nvSpPr>
        <p:spPr>
          <a:xfrm>
            <a:off x="1463040" y="1801368"/>
            <a:ext cx="2423160" cy="502920"/>
          </a:xfrm>
          <a:prstGeom prst="rect">
            <a:avLst/>
          </a:prstGeom>
          <a:noFill/>
          <a:ln/>
        </p:spPr>
        <p:txBody>
          <a:bodyPr wrap="square" lIns="0" tIns="0" rIns="0" bIns="0" rtlCol="0" anchor="ctr"/>
          <a:lstStyle/>
          <a:p>
            <a:pPr indent="0" marL="0">
              <a:buNone/>
            </a:pPr>
            <a:r>
              <a:rPr lang="en-US" sz="1600" b="1" dirty="0">
                <a:solidFill>
                  <a:schemeClr val="tx2"/>
                </a:solidFill>
              </a:rPr>
              <a:t>Define con el equipo</a:t>
            </a:r>
            <a:endParaRPr lang="en-US" sz="1600" dirty="0"/>
          </a:p>
        </p:txBody>
      </p:sp>
      <p:sp>
        <p:nvSpPr>
          <p:cNvPr id="8" name="Text 5"/>
          <p:cNvSpPr txBox="1"/>
          <p:nvPr/>
        </p:nvSpPr>
        <p:spPr>
          <a:xfrm>
            <a:off x="822960" y="2514600"/>
            <a:ext cx="2971800" cy="2514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Buenas prácticas de construcción y de prompts.</a:t>
            </a:r>
            <a:endParaRPr lang="en-US" sz="1400" dirty="0"/>
          </a:p>
          <a:p>
            <a:pPr marL="342900" indent="-342900">
              <a:spcAft>
                <a:spcPts val="800"/>
              </a:spcAft>
              <a:buSzPct val="100000"/>
              <a:buChar char="•"/>
            </a:pPr>
            <a:r>
              <a:rPr lang="en-US" sz="1400" dirty="0">
                <a:solidFill>
                  <a:schemeClr val="tx1"/>
                </a:solidFill>
              </a:rPr>
              <a:t>Arquetipo de agente: grafo, golden set, compuerta y traza.</a:t>
            </a:r>
            <a:endParaRPr lang="en-US" sz="1400" dirty="0"/>
          </a:p>
          <a:p>
            <a:pPr marL="342900" indent="-342900">
              <a:spcAft>
                <a:spcPts val="800"/>
              </a:spcAft>
              <a:buSzPct val="100000"/>
              <a:buChar char="•"/>
            </a:pPr>
            <a:r>
              <a:rPr lang="en-US" sz="1400" dirty="0">
                <a:solidFill>
                  <a:schemeClr val="tx1"/>
                </a:solidFill>
              </a:rPr>
              <a:t>Componentes reutilizables entre gestores.</a:t>
            </a:r>
            <a:endParaRPr lang="en-US" sz="1400" dirty="0"/>
          </a:p>
          <a:p>
            <a:pPr marL="342900" indent="-342900">
              <a:spcAft>
                <a:spcPts val="800"/>
              </a:spcAft>
              <a:buSzPct val="100000"/>
              <a:buChar char="•"/>
            </a:pPr>
            <a:r>
              <a:rPr lang="en-US" sz="1400" dirty="0">
                <a:solidFill>
                  <a:schemeClr val="tx1"/>
                </a:solidFill>
              </a:rPr>
              <a:t>Lineamientos y un estándar técnico verificable.</a:t>
            </a:r>
            <a:endParaRPr lang="en-US" sz="1400" dirty="0"/>
          </a:p>
        </p:txBody>
      </p:sp>
      <p:sp>
        <p:nvSpPr>
          <p:cNvPr id="9" name="Shape 6"/>
          <p:cNvSpPr/>
          <p:nvPr/>
        </p:nvSpPr>
        <p:spPr>
          <a:xfrm>
            <a:off x="4320540" y="1600200"/>
            <a:ext cx="3520440" cy="3520440"/>
          </a:xfrm>
          <a:prstGeom prst="roundRect">
            <a:avLst>
              <a:gd name="adj" fmla="val 2078"/>
            </a:avLst>
          </a:prstGeom>
          <a:solidFill>
            <a:schemeClr val="accent4"/>
          </a:solidFill>
          <a:ln w="12700">
            <a:solidFill>
              <a:srgbClr val="DCD8EC"/>
            </a:solidFill>
            <a:prstDash val="solid"/>
          </a:ln>
        </p:spPr>
      </p:sp>
      <p:sp>
        <p:nvSpPr>
          <p:cNvPr id="10" name="Shape 7"/>
          <p:cNvSpPr/>
          <p:nvPr/>
        </p:nvSpPr>
        <p:spPr>
          <a:xfrm>
            <a:off x="4594860" y="1801368"/>
            <a:ext cx="502920" cy="502920"/>
          </a:xfrm>
          <a:prstGeom prst="ellipse">
            <a:avLst/>
          </a:prstGeom>
          <a:solidFill>
            <a:schemeClr val="accent3"/>
          </a:solidFill>
          <a:ln w="12700">
            <a:solidFill>
              <a:schemeClr val="accent3"/>
            </a:solidFill>
            <a:prstDash val="solid"/>
          </a:ln>
        </p:spPr>
      </p:sp>
      <p:sp>
        <p:nvSpPr>
          <p:cNvPr id="11" name="Text 8"/>
          <p:cNvSpPr txBox="1"/>
          <p:nvPr/>
        </p:nvSpPr>
        <p:spPr>
          <a:xfrm>
            <a:off x="4594860" y="1801368"/>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9"/>
          <p:cNvSpPr txBox="1"/>
          <p:nvPr/>
        </p:nvSpPr>
        <p:spPr>
          <a:xfrm>
            <a:off x="5234940" y="1801368"/>
            <a:ext cx="2423160" cy="502920"/>
          </a:xfrm>
          <a:prstGeom prst="rect">
            <a:avLst/>
          </a:prstGeom>
          <a:noFill/>
          <a:ln/>
        </p:spPr>
        <p:txBody>
          <a:bodyPr wrap="square" lIns="0" tIns="0" rIns="0" bIns="0" rtlCol="0" anchor="ctr"/>
          <a:lstStyle/>
          <a:p>
            <a:pPr indent="0" marL="0">
              <a:buNone/>
            </a:pPr>
            <a:r>
              <a:rPr lang="en-US" sz="1600" b="1" dirty="0">
                <a:solidFill>
                  <a:schemeClr val="tx2"/>
                </a:solidFill>
              </a:rPr>
              <a:t>Se alinea con arquitectura de SURA</a:t>
            </a:r>
            <a:endParaRPr lang="en-US" sz="1600" dirty="0"/>
          </a:p>
        </p:txBody>
      </p:sp>
      <p:sp>
        <p:nvSpPr>
          <p:cNvPr id="13" name="Text 10"/>
          <p:cNvSpPr txBox="1"/>
          <p:nvPr/>
        </p:nvSpPr>
        <p:spPr>
          <a:xfrm>
            <a:off x="4594860" y="2514600"/>
            <a:ext cx="2971800" cy="2514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Lineamientos AI First de la organización.</a:t>
            </a:r>
            <a:endParaRPr lang="en-US" sz="1400" dirty="0"/>
          </a:p>
          <a:p>
            <a:pPr marL="342900" indent="-342900">
              <a:spcAft>
                <a:spcPts val="800"/>
              </a:spcAft>
              <a:buSzPct val="100000"/>
              <a:buChar char="•"/>
            </a:pPr>
            <a:r>
              <a:rPr lang="en-US" sz="1400" dirty="0">
                <a:solidFill>
                  <a:schemeClr val="tx1"/>
                </a:solidFill>
              </a:rPr>
              <a:t>Contrato del agente con cada gestor.</a:t>
            </a:r>
            <a:endParaRPr lang="en-US" sz="1400" dirty="0"/>
          </a:p>
          <a:p>
            <a:pPr marL="342900" indent="-342900">
              <a:spcAft>
                <a:spcPts val="800"/>
              </a:spcAft>
              <a:buSzPct val="100000"/>
              <a:buChar char="•"/>
            </a:pPr>
            <a:r>
              <a:rPr lang="en-US" sz="1400" dirty="0">
                <a:solidFill>
                  <a:schemeClr val="tx1"/>
                </a:solidFill>
              </a:rPr>
              <a:t>Autonomía y techos de cada agente: ninguno niega.</a:t>
            </a:r>
            <a:endParaRPr lang="en-US" sz="1400" dirty="0"/>
          </a:p>
          <a:p>
            <a:pPr marL="342900" indent="-342900">
              <a:spcAft>
                <a:spcPts val="800"/>
              </a:spcAft>
              <a:buSzPct val="100000"/>
              <a:buChar char="•"/>
            </a:pPr>
            <a:r>
              <a:rPr lang="en-US" sz="1400" dirty="0">
                <a:solidFill>
                  <a:schemeClr val="tx1"/>
                </a:solidFill>
              </a:rPr>
              <a:t>Criterio de acierto y umbral del error caro.</a:t>
            </a:r>
            <a:endParaRPr lang="en-US" sz="1400" dirty="0"/>
          </a:p>
        </p:txBody>
      </p:sp>
      <p:sp>
        <p:nvSpPr>
          <p:cNvPr id="14" name="Shape 11"/>
          <p:cNvSpPr/>
          <p:nvPr/>
        </p:nvSpPr>
        <p:spPr>
          <a:xfrm>
            <a:off x="8092440" y="1600200"/>
            <a:ext cx="3520440" cy="3520440"/>
          </a:xfrm>
          <a:prstGeom prst="roundRect">
            <a:avLst>
              <a:gd name="adj" fmla="val 2078"/>
            </a:avLst>
          </a:prstGeom>
          <a:solidFill>
            <a:schemeClr val="accent4"/>
          </a:solidFill>
          <a:ln w="12700">
            <a:solidFill>
              <a:srgbClr val="DCD8EC"/>
            </a:solidFill>
            <a:prstDash val="solid"/>
          </a:ln>
        </p:spPr>
      </p:sp>
      <p:sp>
        <p:nvSpPr>
          <p:cNvPr id="15" name="Shape 12"/>
          <p:cNvSpPr/>
          <p:nvPr/>
        </p:nvSpPr>
        <p:spPr>
          <a:xfrm>
            <a:off x="8366760" y="1801368"/>
            <a:ext cx="502920" cy="502920"/>
          </a:xfrm>
          <a:prstGeom prst="ellipse">
            <a:avLst/>
          </a:prstGeom>
          <a:solidFill>
            <a:schemeClr val="accent2"/>
          </a:solidFill>
          <a:ln w="12700">
            <a:solidFill>
              <a:schemeClr val="accent2"/>
            </a:solidFill>
            <a:prstDash val="solid"/>
          </a:ln>
        </p:spPr>
      </p:sp>
      <p:sp>
        <p:nvSpPr>
          <p:cNvPr id="16" name="Text 13"/>
          <p:cNvSpPr txBox="1"/>
          <p:nvPr/>
        </p:nvSpPr>
        <p:spPr>
          <a:xfrm>
            <a:off x="8366760" y="1801368"/>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9006840" y="1801368"/>
            <a:ext cx="2423160" cy="502920"/>
          </a:xfrm>
          <a:prstGeom prst="rect">
            <a:avLst/>
          </a:prstGeom>
          <a:noFill/>
          <a:ln/>
        </p:spPr>
        <p:txBody>
          <a:bodyPr wrap="square" lIns="0" tIns="0" rIns="0" bIns="0" rtlCol="0" anchor="ctr"/>
          <a:lstStyle/>
          <a:p>
            <a:pPr indent="0" marL="0">
              <a:buNone/>
            </a:pPr>
            <a:r>
              <a:rPr lang="en-US" sz="1600" b="1" dirty="0">
                <a:solidFill>
                  <a:schemeClr val="tx2"/>
                </a:solidFill>
              </a:rPr>
              <a:t>Revisa que se cumpla</a:t>
            </a:r>
            <a:endParaRPr lang="en-US" sz="1600" dirty="0"/>
          </a:p>
        </p:txBody>
      </p:sp>
      <p:sp>
        <p:nvSpPr>
          <p:cNvPr id="18" name="Text 15"/>
          <p:cNvSpPr txBox="1"/>
          <p:nvPr/>
        </p:nvSpPr>
        <p:spPr>
          <a:xfrm>
            <a:off x="8366760" y="2514600"/>
            <a:ext cx="2971800" cy="2514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Diseño de cada historia, en el refinamiento.</a:t>
            </a:r>
            <a:endParaRPr lang="en-US" sz="1400" dirty="0"/>
          </a:p>
          <a:p>
            <a:pPr marL="342900" indent="-342900">
              <a:spcAft>
                <a:spcPts val="800"/>
              </a:spcAft>
              <a:buSzPct val="100000"/>
              <a:buChar char="•"/>
            </a:pPr>
            <a:r>
              <a:rPr lang="en-US" sz="1400" dirty="0">
                <a:solidFill>
                  <a:schemeClr val="tx1"/>
                </a:solidFill>
              </a:rPr>
              <a:t>Código que toca contratos, traza y medición.</a:t>
            </a:r>
            <a:endParaRPr lang="en-US" sz="1400" dirty="0"/>
          </a:p>
          <a:p>
            <a:pPr marL="342900" indent="-342900">
              <a:spcAft>
                <a:spcPts val="800"/>
              </a:spcAft>
              <a:buSzPct val="100000"/>
              <a:buChar char="•"/>
            </a:pPr>
            <a:r>
              <a:rPr lang="en-US" sz="1400" dirty="0">
                <a:solidFill>
                  <a:schemeClr val="tx1"/>
                </a:solidFill>
              </a:rPr>
              <a:t>Lo que no falla de forma ruidosa: acierto y deriva.</a:t>
            </a:r>
            <a:endParaRPr lang="en-US" sz="1400" dirty="0"/>
          </a:p>
          <a:p>
            <a:pPr marL="342900" indent="-342900">
              <a:spcAft>
                <a:spcPts val="800"/>
              </a:spcAft>
              <a:buSzPct val="100000"/>
              <a:buChar char="•"/>
            </a:pPr>
            <a:r>
              <a:rPr lang="en-US" sz="1400" dirty="0">
                <a:solidFill>
                  <a:schemeClr val="tx1"/>
                </a:solidFill>
              </a:rPr>
              <a:t>Ajusta los lineamientos en la retro.</a:t>
            </a:r>
            <a:endParaRPr lang="en-US" sz="1400" dirty="0"/>
          </a:p>
        </p:txBody>
      </p:sp>
      <p:sp>
        <p:nvSpPr>
          <p:cNvPr id="19" name="Shape 16"/>
          <p:cNvSpPr/>
          <p:nvPr/>
        </p:nvSpPr>
        <p:spPr>
          <a:xfrm>
            <a:off x="548640" y="5303520"/>
            <a:ext cx="11064240" cy="621792"/>
          </a:xfrm>
          <a:prstGeom prst="roundRect">
            <a:avLst>
              <a:gd name="adj" fmla="val 11765"/>
            </a:avLst>
          </a:prstGeom>
          <a:solidFill>
            <a:schemeClr val="bg2"/>
          </a:solidFill>
          <a:ln w="12700">
            <a:solidFill>
              <a:schemeClr val="bg2"/>
            </a:solidFill>
            <a:prstDash val="solid"/>
          </a:ln>
        </p:spPr>
      </p:sp>
      <p:sp>
        <p:nvSpPr>
          <p:cNvPr id="20" name="Text 17"/>
          <p:cNvSpPr txBox="1"/>
          <p:nvPr/>
        </p:nvSpPr>
        <p:spPr>
          <a:xfrm>
            <a:off x="822960" y="5303520"/>
            <a:ext cx="10515600" cy="621792"/>
          </a:xfrm>
          <a:prstGeom prst="rect">
            <a:avLst/>
          </a:prstGeom>
          <a:noFill/>
          <a:ln/>
        </p:spPr>
        <p:txBody>
          <a:bodyPr wrap="square" lIns="0" tIns="0" rIns="0" bIns="0" rtlCol="0" anchor="ctr"/>
          <a:lstStyle/>
          <a:p>
            <a:pPr indent="0" marL="0">
              <a:buNone/>
            </a:pPr>
            <a:r>
              <a:rPr lang="en-US" sz="1400" b="1" dirty="0">
                <a:solidFill>
                  <a:schemeClr val="tx2"/>
                </a:solidFill>
              </a:rPr>
              <a:t>El equipo implementa las historias con esas prácticas </a:t>
            </a:r>
            <a:pPr indent="0" marL="0">
              <a:buNone/>
            </a:pPr>
            <a:r>
              <a:rPr lang="en-US" sz="1400" dirty="0">
                <a:solidFill>
                  <a:schemeClr val="tx1"/>
                </a:solidFill>
              </a:rPr>
              <a:t>y decide en el sprint lo fácil de cambiar: la estructura interna del grafo, la redacción del prompt y el orden de las tareas.</a:t>
            </a:r>
            <a:endParaRPr lang="en-US" sz="14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Nadie es el único dueño de una pieza</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498080" cy="914400"/>
        </p:xfrm>
        <a:graphic>
          <a:graphicData uri="http://schemas.openxmlformats.org/drawingml/2006/table">
            <a:tbl>
              <a:tblPr/>
              <a:tblGrid>
                <a:gridCol w="4023360"/>
                <a:gridCol w="1097280"/>
                <a:gridCol w="1188720"/>
                <a:gridCol w="1188720"/>
              </a:tblGrid>
              <a:tr h="457200">
                <a:tc>
                  <a:txBody>
                    <a:bodyPr/>
                    <a:lstStyle/>
                    <a:p>
                      <a:pPr algn="l" indent="0" marL="0">
                        <a:buNone/>
                      </a:pPr>
                      <a:r>
                        <a:rPr lang="en-US" sz="1400" b="1" dirty="0">
                          <a:solidFill>
                            <a:schemeClr val="bg1"/>
                          </a:solidFill>
                        </a:rPr>
                        <a:t>Conocimiento</a:t>
                      </a:r>
                      <a:endParaRPr lang="en-US" sz="14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Arquitecto</a:t>
                      </a:r>
                      <a:endParaRPr lang="en-US" sz="14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Dev A</a:t>
                      </a:r>
                      <a:endParaRPr lang="en-US" sz="14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Dev B</a:t>
                      </a:r>
                      <a:endParaRPr lang="en-US" sz="14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tx2"/>
                    </a:solidFill>
                  </a:tcPr>
                </a:tc>
              </a:tr>
              <a:tr h="457200">
                <a:tc>
                  <a:txBody>
                    <a:bodyPr/>
                    <a:lstStyle/>
                    <a:p>
                      <a:pPr indent="0" marL="0">
                        <a:buNone/>
                      </a:pPr>
                      <a:r>
                        <a:rPr lang="en-US" sz="1300" dirty="0">
                          <a:solidFill>
                            <a:schemeClr val="tx1"/>
                          </a:solidFill>
                        </a:rPr>
                        <a:t>Prácticas, arquetipos y lineamientos</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457200">
                <a:tc>
                  <a:txBody>
                    <a:bodyPr/>
                    <a:lstStyle/>
                    <a:p>
                      <a:pPr indent="0" marL="0">
                        <a:buNone/>
                      </a:pPr>
                      <a:r>
                        <a:rPr lang="en-US" sz="1300" dirty="0">
                          <a:solidFill>
                            <a:schemeClr val="tx1"/>
                          </a:solidFill>
                        </a:rPr>
                        <a:t>Alineación con arquitectura de SURA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457200">
                <a:tc>
                  <a:txBody>
                    <a:bodyPr/>
                    <a:lstStyle/>
                    <a:p>
                      <a:pPr indent="0" marL="0">
                        <a:buNone/>
                      </a:pPr>
                      <a:r>
                        <a:rPr lang="en-US" sz="1300" dirty="0">
                          <a:solidFill>
                            <a:schemeClr val="tx1"/>
                          </a:solidFill>
                        </a:rPr>
                        <a:t>Grafos en LangGraph y herramientas por MCP</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457200">
                <a:tc>
                  <a:txBody>
                    <a:bodyPr/>
                    <a:lstStyle/>
                    <a:p>
                      <a:pPr indent="0" marL="0">
                        <a:buNone/>
                      </a:pPr>
                      <a:r>
                        <a:rPr lang="en-US" sz="1300" dirty="0">
                          <a:solidFill>
                            <a:schemeClr val="tx1"/>
                          </a:solidFill>
                        </a:rPr>
                        <a:t>Prompts versionados y Prompt Management</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endParaRPr lang="en-US" sz="1300" dirty="0"/>
                    </a:p>
                  </a:txBody>
                  <a:tcPr marL="91440" marR="91440" marT="45720" marB="45720">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457200">
                <a:tc>
                  <a:txBody>
                    <a:bodyPr/>
                    <a:lstStyle/>
                    <a:p>
                      <a:pPr indent="0" marL="0">
                        <a:buNone/>
                      </a:pPr>
                      <a:r>
                        <a:rPr lang="en-US" sz="1300" dirty="0">
                          <a:solidFill>
                            <a:schemeClr val="tx1"/>
                          </a:solidFill>
                        </a:rPr>
                        <a:t>Extracción y armado de la solicitud</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endParaRPr lang="en-US" sz="1300" dirty="0"/>
                    </a:p>
                  </a:txBody>
                  <a:tcPr marL="91440" marR="91440" marT="45720" marB="45720">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457200">
                <a:tc>
                  <a:txBody>
                    <a:bodyPr/>
                    <a:lstStyle/>
                    <a:p>
                      <a:pPr indent="0" marL="0">
                        <a:buNone/>
                      </a:pPr>
                      <a:r>
                        <a:rPr lang="en-US" sz="1300" dirty="0">
                          <a:solidFill>
                            <a:schemeClr val="tx1"/>
                          </a:solidFill>
                        </a:rPr>
                        <a:t>Pertinencia, duplicidad y concepto al escalar</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endParaRPr lang="en-US" sz="1300" dirty="0"/>
                    </a:p>
                  </a:txBody>
                  <a:tcPr marL="91440" marR="91440" marT="45720" marB="45720">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457200">
                <a:tc>
                  <a:txBody>
                    <a:bodyPr/>
                    <a:lstStyle/>
                    <a:p>
                      <a:pPr indent="0" marL="0">
                        <a:buNone/>
                      </a:pPr>
                      <a:r>
                        <a:rPr lang="en-US" sz="1300" dirty="0">
                          <a:solidFill>
                            <a:schemeClr val="tx1"/>
                          </a:solidFill>
                        </a:rPr>
                        <a:t>Golden set, compuerta y calibración del juez</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457200">
                <a:tc>
                  <a:txBody>
                    <a:bodyPr/>
                    <a:lstStyle/>
                    <a:p>
                      <a:pPr indent="0" marL="0">
                        <a:buNone/>
                      </a:pPr>
                      <a:r>
                        <a:rPr lang="en-US" sz="1300" dirty="0">
                          <a:solidFill>
                            <a:schemeClr val="tx1"/>
                          </a:solidFill>
                        </a:rPr>
                        <a:t>Traza de la decisión y umbrales</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accent1"/>
                          </a:solidFill>
                        </a:rPr>
                        <a:t>○</a:t>
                      </a:r>
                      <a:endParaRPr lang="en-US" sz="18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bl>
          </a:graphicData>
        </a:graphic>
      </p:graphicFrame>
      <p:sp>
        <p:nvSpPr>
          <p:cNvPr id="5" name="Text 1"/>
          <p:cNvSpPr txBox="1"/>
          <p:nvPr/>
        </p:nvSpPr>
        <p:spPr>
          <a:xfrm>
            <a:off x="548640" y="5852160"/>
            <a:ext cx="7498080" cy="274320"/>
          </a:xfrm>
          <a:prstGeom prst="rect">
            <a:avLst/>
          </a:prstGeom>
          <a:noFill/>
          <a:ln/>
        </p:spPr>
        <p:txBody>
          <a:bodyPr wrap="square" lIns="0" tIns="0" rIns="0" bIns="0" rtlCol="0" anchor="t"/>
          <a:lstStyle/>
          <a:p>
            <a:pPr indent="0" marL="0">
              <a:buNone/>
            </a:pPr>
            <a:r>
              <a:rPr lang="en-US" sz="1200" b="1" dirty="0">
                <a:solidFill>
                  <a:schemeClr val="accent1"/>
                </a:solidFill>
              </a:rPr>
              <a:t>● </a:t>
            </a:r>
            <a:pPr indent="0" marL="0">
              <a:buNone/>
            </a:pPr>
            <a:r>
              <a:rPr lang="en-US" sz="1200" dirty="0">
                <a:solidFill>
                  <a:schemeClr val="accent6"/>
                </a:solidFill>
              </a:rPr>
              <a:t>lidera     </a:t>
            </a:r>
            <a:pPr indent="0" marL="0">
              <a:buNone/>
            </a:pPr>
            <a:r>
              <a:rPr lang="en-US" sz="1200" b="1" dirty="0">
                <a:solidFill>
                  <a:schemeClr val="accent1"/>
                </a:solidFill>
              </a:rPr>
              <a:t>○ </a:t>
            </a:r>
            <a:pPr indent="0" marL="0">
              <a:buNone/>
            </a:pPr>
            <a:r>
              <a:rPr lang="en-US" sz="1200" dirty="0">
                <a:solidFill>
                  <a:schemeClr val="accent6"/>
                </a:solidFill>
              </a:rPr>
              <a:t>apoya y puede suplir</a:t>
            </a:r>
            <a:endParaRPr lang="en-US" sz="1200" dirty="0"/>
          </a:p>
        </p:txBody>
      </p:sp>
      <p:sp>
        <p:nvSpPr>
          <p:cNvPr id="6" name="Shape 2"/>
          <p:cNvSpPr/>
          <p:nvPr/>
        </p:nvSpPr>
        <p:spPr>
          <a:xfrm>
            <a:off x="8412480" y="1600200"/>
            <a:ext cx="3227832" cy="4114800"/>
          </a:xfrm>
          <a:prstGeom prst="roundRect">
            <a:avLst>
              <a:gd name="adj" fmla="val 2266"/>
            </a:avLst>
          </a:prstGeom>
          <a:solidFill>
            <a:schemeClr val="bg2"/>
          </a:solidFill>
          <a:ln w="12700">
            <a:solidFill>
              <a:schemeClr val="bg2"/>
            </a:solidFill>
            <a:prstDash val="solid"/>
          </a:ln>
        </p:spPr>
      </p:sp>
      <p:sp>
        <p:nvSpPr>
          <p:cNvPr id="7" name="Text 3"/>
          <p:cNvSpPr txBox="1"/>
          <p:nvPr/>
        </p:nvSpPr>
        <p:spPr>
          <a:xfrm>
            <a:off x="8686800" y="1828800"/>
            <a:ext cx="2679192" cy="365760"/>
          </a:xfrm>
          <a:prstGeom prst="rect">
            <a:avLst/>
          </a:prstGeom>
          <a:noFill/>
          <a:ln/>
        </p:spPr>
        <p:txBody>
          <a:bodyPr wrap="square" lIns="0" tIns="0" rIns="0" bIns="0" rtlCol="0" anchor="t"/>
          <a:lstStyle/>
          <a:p>
            <a:pPr indent="0" marL="0">
              <a:buNone/>
            </a:pPr>
            <a:r>
              <a:rPr lang="en-US" sz="1700" b="1" dirty="0">
                <a:solidFill>
                  <a:schemeClr val="tx2"/>
                </a:solidFill>
              </a:rPr>
              <a:t>La regla</a:t>
            </a:r>
            <a:endParaRPr lang="en-US" sz="1700" dirty="0"/>
          </a:p>
        </p:txBody>
      </p:sp>
      <p:sp>
        <p:nvSpPr>
          <p:cNvPr id="8" name="Text 4"/>
          <p:cNvSpPr txBox="1"/>
          <p:nvPr/>
        </p:nvSpPr>
        <p:spPr>
          <a:xfrm>
            <a:off x="8686800" y="2286000"/>
            <a:ext cx="2679192" cy="731520"/>
          </a:xfrm>
          <a:prstGeom prst="rect">
            <a:avLst/>
          </a:prstGeom>
          <a:noFill/>
          <a:ln/>
        </p:spPr>
        <p:txBody>
          <a:bodyPr wrap="square" lIns="0" tIns="0" rIns="0" bIns="0" rtlCol="0" anchor="t"/>
          <a:lstStyle/>
          <a:p>
            <a:pPr indent="0" marL="0">
              <a:buNone/>
            </a:pPr>
            <a:r>
              <a:rPr lang="en-US" sz="1600" b="1" dirty="0">
                <a:solidFill>
                  <a:schemeClr val="tx1"/>
                </a:solidFill>
              </a:rPr>
              <a:t>Cada fila tiene al menos dos personas.</a:t>
            </a:r>
            <a:endParaRPr lang="en-US" sz="1600" dirty="0"/>
          </a:p>
        </p:txBody>
      </p:sp>
      <p:sp>
        <p:nvSpPr>
          <p:cNvPr id="9" name="Text 5"/>
          <p:cNvSpPr txBox="1"/>
          <p:nvPr/>
        </p:nvSpPr>
        <p:spPr>
          <a:xfrm>
            <a:off x="8686800" y="3063240"/>
            <a:ext cx="2679192" cy="1280160"/>
          </a:xfrm>
          <a:prstGeom prst="rect">
            <a:avLst/>
          </a:prstGeom>
          <a:noFill/>
          <a:ln/>
        </p:spPr>
        <p:txBody>
          <a:bodyPr wrap="square" lIns="0" tIns="0" rIns="0" bIns="0" rtlCol="0" anchor="t"/>
          <a:lstStyle/>
          <a:p>
            <a:pPr indent="0" marL="0">
              <a:buNone/>
            </a:pPr>
            <a:r>
              <a:rPr lang="en-US" sz="1400" dirty="0">
                <a:solidFill>
                  <a:schemeClr val="tx1"/>
                </a:solidFill>
              </a:rPr>
              <a:t>Lo riesgoso se hace en pareja y la pareja rota cada sprint, para que el suplente conozca la pieza de verdad.</a:t>
            </a:r>
            <a:endParaRPr lang="en-US" sz="1400" dirty="0"/>
          </a:p>
        </p:txBody>
      </p:sp>
      <p:sp>
        <p:nvSpPr>
          <p:cNvPr id="10" name="Text 6"/>
          <p:cNvSpPr txBox="1"/>
          <p:nvPr/>
        </p:nvSpPr>
        <p:spPr>
          <a:xfrm>
            <a:off x="8686800" y="4526280"/>
            <a:ext cx="2679192" cy="1005840"/>
          </a:xfrm>
          <a:prstGeom prst="rect">
            <a:avLst/>
          </a:prstGeom>
          <a:noFill/>
          <a:ln/>
        </p:spPr>
        <p:txBody>
          <a:bodyPr wrap="square" lIns="0" tIns="0" rIns="0" bIns="0" rtlCol="0" anchor="t"/>
          <a:lstStyle/>
          <a:p>
            <a:pPr indent="0" marL="0">
              <a:buNone/>
            </a:pPr>
            <a:r>
              <a:rPr lang="en-US" sz="1300" dirty="0">
                <a:solidFill>
                  <a:schemeClr val="accent6"/>
                </a:solidFill>
              </a:rPr>
              <a:t>Con dos desarrolladores una ausencia es la mitad de la capacidad: la rotación la amortigua, no la elimina.</a:t>
            </a:r>
            <a:endParaRPr lang="en-US" sz="13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Diez etapas: SURA define al inicio y recibe al cierre de cada sprint</a:t>
            </a:r>
            <a:endParaRPr lang="en-US" sz="2800" dirty="0"/>
          </a:p>
        </p:txBody>
      </p:sp>
      <p:sp>
        <p:nvSpPr>
          <p:cNvPr id="4" name="Shape 1"/>
          <p:cNvSpPr/>
          <p:nvPr/>
        </p:nvSpPr>
        <p:spPr>
          <a:xfrm>
            <a:off x="548640" y="1600200"/>
            <a:ext cx="2743200" cy="3611880"/>
          </a:xfrm>
          <a:prstGeom prst="roundRect">
            <a:avLst>
              <a:gd name="adj" fmla="val 2667"/>
            </a:avLst>
          </a:prstGeom>
          <a:solidFill>
            <a:schemeClr val="bg2"/>
          </a:solidFill>
          <a:ln w="12700">
            <a:solidFill>
              <a:srgbClr val="DCD8EC"/>
            </a:solidFill>
            <a:prstDash val="solid"/>
          </a:ln>
        </p:spPr>
      </p:sp>
      <p:sp>
        <p:nvSpPr>
          <p:cNvPr id="5" name="Text 2"/>
          <p:cNvSpPr txBox="1"/>
          <p:nvPr/>
        </p:nvSpPr>
        <p:spPr>
          <a:xfrm>
            <a:off x="731520" y="1719072"/>
            <a:ext cx="2377440" cy="320040"/>
          </a:xfrm>
          <a:prstGeom prst="rect">
            <a:avLst/>
          </a:prstGeom>
          <a:noFill/>
          <a:ln/>
        </p:spPr>
        <p:txBody>
          <a:bodyPr wrap="square" lIns="0" tIns="0" rIns="0" bIns="0" rtlCol="0" anchor="t"/>
          <a:lstStyle/>
          <a:p>
            <a:pPr indent="0" marL="0">
              <a:buNone/>
            </a:pPr>
            <a:r>
              <a:rPr lang="en-US" sz="1400" b="1" dirty="0">
                <a:solidFill>
                  <a:schemeClr val="tx2"/>
                </a:solidFill>
              </a:rPr>
              <a:t>Con SURA · definir</a:t>
            </a:r>
            <a:endParaRPr lang="en-US" sz="1400" dirty="0"/>
          </a:p>
        </p:txBody>
      </p:sp>
      <p:sp>
        <p:nvSpPr>
          <p:cNvPr id="6" name="Shape 3"/>
          <p:cNvSpPr/>
          <p:nvPr/>
        </p:nvSpPr>
        <p:spPr>
          <a:xfrm>
            <a:off x="731520" y="2148840"/>
            <a:ext cx="2377440" cy="868680"/>
          </a:xfrm>
          <a:prstGeom prst="roundRect">
            <a:avLst>
              <a:gd name="adj" fmla="val 8421"/>
            </a:avLst>
          </a:prstGeom>
          <a:solidFill>
            <a:schemeClr val="bg1"/>
          </a:solidFill>
          <a:ln w="12700">
            <a:solidFill>
              <a:srgbClr val="DCD8EC"/>
            </a:solidFill>
            <a:prstDash val="solid"/>
          </a:ln>
        </p:spPr>
      </p:sp>
      <p:sp>
        <p:nvSpPr>
          <p:cNvPr id="7" name="Shape 4"/>
          <p:cNvSpPr/>
          <p:nvPr/>
        </p:nvSpPr>
        <p:spPr>
          <a:xfrm>
            <a:off x="868680" y="2350008"/>
            <a:ext cx="457200" cy="457200"/>
          </a:xfrm>
          <a:prstGeom prst="ellipse">
            <a:avLst/>
          </a:prstGeom>
          <a:solidFill>
            <a:schemeClr val="accent2"/>
          </a:solidFill>
          <a:ln w="12700">
            <a:solidFill>
              <a:schemeClr val="accent2"/>
            </a:solidFill>
            <a:prstDash val="solid"/>
          </a:ln>
        </p:spPr>
      </p:sp>
      <p:sp>
        <p:nvSpPr>
          <p:cNvPr id="8" name="Text 5"/>
          <p:cNvSpPr txBox="1"/>
          <p:nvPr/>
        </p:nvSpPr>
        <p:spPr>
          <a:xfrm>
            <a:off x="868680" y="23500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6"/>
          <p:cNvSpPr txBox="1"/>
          <p:nvPr/>
        </p:nvSpPr>
        <p:spPr>
          <a:xfrm>
            <a:off x="1444752" y="2240280"/>
            <a:ext cx="1554480" cy="320040"/>
          </a:xfrm>
          <a:prstGeom prst="rect">
            <a:avLst/>
          </a:prstGeom>
          <a:noFill/>
          <a:ln/>
        </p:spPr>
        <p:txBody>
          <a:bodyPr wrap="square" lIns="0" tIns="0" rIns="0" bIns="0" rtlCol="0" anchor="t"/>
          <a:lstStyle/>
          <a:p>
            <a:pPr indent="0" marL="0">
              <a:buNone/>
            </a:pPr>
            <a:r>
              <a:rPr lang="en-US" sz="1400" b="1" dirty="0">
                <a:solidFill>
                  <a:schemeClr val="tx2"/>
                </a:solidFill>
              </a:rPr>
              <a:t>Descubrimiento</a:t>
            </a:r>
            <a:endParaRPr lang="en-US" sz="1400" dirty="0"/>
          </a:p>
        </p:txBody>
      </p:sp>
      <p:sp>
        <p:nvSpPr>
          <p:cNvPr id="10" name="Text 7"/>
          <p:cNvSpPr txBox="1"/>
          <p:nvPr/>
        </p:nvSpPr>
        <p:spPr>
          <a:xfrm>
            <a:off x="1444752" y="2569464"/>
            <a:ext cx="1554480" cy="384048"/>
          </a:xfrm>
          <a:prstGeom prst="rect">
            <a:avLst/>
          </a:prstGeom>
          <a:noFill/>
          <a:ln/>
        </p:spPr>
        <p:txBody>
          <a:bodyPr wrap="square" lIns="0" tIns="0" rIns="0" bIns="0" rtlCol="0" anchor="t"/>
          <a:lstStyle/>
          <a:p>
            <a:pPr indent="0" marL="0">
              <a:buNone/>
            </a:pPr>
            <a:r>
              <a:rPr lang="en-US" sz="1200" dirty="0">
                <a:solidFill>
                  <a:schemeClr val="accent6"/>
                </a:solidFill>
              </a:rPr>
              <a:t>Objetivo, alcance y reglas</a:t>
            </a:r>
            <a:endParaRPr lang="en-US" sz="1200" dirty="0"/>
          </a:p>
        </p:txBody>
      </p:sp>
      <p:sp>
        <p:nvSpPr>
          <p:cNvPr id="11" name="Shape 8"/>
          <p:cNvSpPr/>
          <p:nvPr/>
        </p:nvSpPr>
        <p:spPr>
          <a:xfrm>
            <a:off x="731520" y="3154680"/>
            <a:ext cx="2377440" cy="868680"/>
          </a:xfrm>
          <a:prstGeom prst="roundRect">
            <a:avLst>
              <a:gd name="adj" fmla="val 8421"/>
            </a:avLst>
          </a:prstGeom>
          <a:solidFill>
            <a:schemeClr val="bg1"/>
          </a:solidFill>
          <a:ln w="12700">
            <a:solidFill>
              <a:srgbClr val="DCD8EC"/>
            </a:solidFill>
            <a:prstDash val="solid"/>
          </a:ln>
        </p:spPr>
      </p:sp>
      <p:sp>
        <p:nvSpPr>
          <p:cNvPr id="12" name="Shape 9"/>
          <p:cNvSpPr/>
          <p:nvPr/>
        </p:nvSpPr>
        <p:spPr>
          <a:xfrm>
            <a:off x="868680" y="3355848"/>
            <a:ext cx="457200" cy="457200"/>
          </a:xfrm>
          <a:prstGeom prst="ellipse">
            <a:avLst/>
          </a:prstGeom>
          <a:solidFill>
            <a:schemeClr val="accent2"/>
          </a:solidFill>
          <a:ln w="12700">
            <a:solidFill>
              <a:schemeClr val="accent2"/>
            </a:solidFill>
            <a:prstDash val="solid"/>
          </a:ln>
        </p:spPr>
      </p:sp>
      <p:sp>
        <p:nvSpPr>
          <p:cNvPr id="13" name="Text 10"/>
          <p:cNvSpPr txBox="1"/>
          <p:nvPr/>
        </p:nvSpPr>
        <p:spPr>
          <a:xfrm>
            <a:off x="868680" y="335584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1"/>
          <p:cNvSpPr txBox="1"/>
          <p:nvPr/>
        </p:nvSpPr>
        <p:spPr>
          <a:xfrm>
            <a:off x="1444752" y="3246120"/>
            <a:ext cx="1554480" cy="320040"/>
          </a:xfrm>
          <a:prstGeom prst="rect">
            <a:avLst/>
          </a:prstGeom>
          <a:noFill/>
          <a:ln/>
        </p:spPr>
        <p:txBody>
          <a:bodyPr wrap="square" lIns="0" tIns="0" rIns="0" bIns="0" rtlCol="0" anchor="t"/>
          <a:lstStyle/>
          <a:p>
            <a:pPr indent="0" marL="0">
              <a:buNone/>
            </a:pPr>
            <a:r>
              <a:rPr lang="en-US" sz="1400" b="1" dirty="0">
                <a:solidFill>
                  <a:schemeClr val="tx2"/>
                </a:solidFill>
              </a:rPr>
              <a:t>Backlog</a:t>
            </a:r>
            <a:endParaRPr lang="en-US" sz="1400" dirty="0"/>
          </a:p>
        </p:txBody>
      </p:sp>
      <p:sp>
        <p:nvSpPr>
          <p:cNvPr id="15" name="Text 12"/>
          <p:cNvSpPr txBox="1"/>
          <p:nvPr/>
        </p:nvSpPr>
        <p:spPr>
          <a:xfrm>
            <a:off x="1444752" y="3575304"/>
            <a:ext cx="1554480" cy="384048"/>
          </a:xfrm>
          <a:prstGeom prst="rect">
            <a:avLst/>
          </a:prstGeom>
          <a:noFill/>
          <a:ln/>
        </p:spPr>
        <p:txBody>
          <a:bodyPr wrap="square" lIns="0" tIns="0" rIns="0" bIns="0" rtlCol="0" anchor="t"/>
          <a:lstStyle/>
          <a:p>
            <a:pPr indent="0" marL="0">
              <a:buNone/>
            </a:pPr>
            <a:r>
              <a:rPr lang="en-US" sz="1200" dirty="0">
                <a:solidFill>
                  <a:schemeClr val="accent6"/>
                </a:solidFill>
              </a:rPr>
              <a:t>Épicas e historias priorizadas</a:t>
            </a:r>
            <a:endParaRPr lang="en-US" sz="1200" dirty="0"/>
          </a:p>
        </p:txBody>
      </p:sp>
      <p:sp>
        <p:nvSpPr>
          <p:cNvPr id="16" name="Shape 13"/>
          <p:cNvSpPr/>
          <p:nvPr/>
        </p:nvSpPr>
        <p:spPr>
          <a:xfrm>
            <a:off x="3474720" y="1600200"/>
            <a:ext cx="5074920" cy="3611880"/>
          </a:xfrm>
          <a:prstGeom prst="roundRect">
            <a:avLst>
              <a:gd name="adj" fmla="val 2025"/>
            </a:avLst>
          </a:prstGeom>
          <a:solidFill>
            <a:schemeClr val="accent4"/>
          </a:solidFill>
          <a:ln w="12700">
            <a:solidFill>
              <a:srgbClr val="DCD8EC"/>
            </a:solidFill>
            <a:prstDash val="solid"/>
          </a:ln>
        </p:spPr>
      </p:sp>
      <p:sp>
        <p:nvSpPr>
          <p:cNvPr id="17" name="Text 14"/>
          <p:cNvSpPr txBox="1"/>
          <p:nvPr/>
        </p:nvSpPr>
        <p:spPr>
          <a:xfrm>
            <a:off x="3657600" y="1719072"/>
            <a:ext cx="4709160" cy="320040"/>
          </a:xfrm>
          <a:prstGeom prst="rect">
            <a:avLst/>
          </a:prstGeom>
          <a:noFill/>
          <a:ln/>
        </p:spPr>
        <p:txBody>
          <a:bodyPr wrap="square" lIns="0" tIns="0" rIns="0" bIns="0" rtlCol="0" anchor="t"/>
          <a:lstStyle/>
          <a:p>
            <a:pPr indent="0" marL="0">
              <a:buNone/>
            </a:pPr>
            <a:r>
              <a:rPr lang="en-US" sz="1400" b="1" dirty="0">
                <a:solidFill>
                  <a:schemeClr val="accent1"/>
                </a:solidFill>
              </a:rPr>
              <a:t>El sprint · interno del equipo, se repite cada 10 días</a:t>
            </a:r>
            <a:endParaRPr lang="en-US" sz="1400" dirty="0"/>
          </a:p>
        </p:txBody>
      </p:sp>
      <p:sp>
        <p:nvSpPr>
          <p:cNvPr id="18" name="Shape 15"/>
          <p:cNvSpPr/>
          <p:nvPr/>
        </p:nvSpPr>
        <p:spPr>
          <a:xfrm>
            <a:off x="3611880" y="2148840"/>
            <a:ext cx="2377440" cy="868680"/>
          </a:xfrm>
          <a:prstGeom prst="roundRect">
            <a:avLst>
              <a:gd name="adj" fmla="val 8421"/>
            </a:avLst>
          </a:prstGeom>
          <a:solidFill>
            <a:schemeClr val="bg1"/>
          </a:solidFill>
          <a:ln w="12700">
            <a:solidFill>
              <a:srgbClr val="DCD8EC"/>
            </a:solidFill>
            <a:prstDash val="solid"/>
          </a:ln>
        </p:spPr>
      </p:sp>
      <p:sp>
        <p:nvSpPr>
          <p:cNvPr id="19" name="Shape 16"/>
          <p:cNvSpPr/>
          <p:nvPr/>
        </p:nvSpPr>
        <p:spPr>
          <a:xfrm>
            <a:off x="3749040" y="2350008"/>
            <a:ext cx="457200" cy="457200"/>
          </a:xfrm>
          <a:prstGeom prst="ellipse">
            <a:avLst/>
          </a:prstGeom>
          <a:solidFill>
            <a:schemeClr val="accent1"/>
          </a:solidFill>
          <a:ln w="12700">
            <a:solidFill>
              <a:schemeClr val="accent1"/>
            </a:solidFill>
            <a:prstDash val="solid"/>
          </a:ln>
        </p:spPr>
      </p:sp>
      <p:sp>
        <p:nvSpPr>
          <p:cNvPr id="20" name="Text 17"/>
          <p:cNvSpPr txBox="1"/>
          <p:nvPr/>
        </p:nvSpPr>
        <p:spPr>
          <a:xfrm>
            <a:off x="3749040" y="23500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1" name="Text 18"/>
          <p:cNvSpPr txBox="1"/>
          <p:nvPr/>
        </p:nvSpPr>
        <p:spPr>
          <a:xfrm>
            <a:off x="4325112" y="2240280"/>
            <a:ext cx="1554480" cy="320040"/>
          </a:xfrm>
          <a:prstGeom prst="rect">
            <a:avLst/>
          </a:prstGeom>
          <a:noFill/>
          <a:ln/>
        </p:spPr>
        <p:txBody>
          <a:bodyPr wrap="square" lIns="0" tIns="0" rIns="0" bIns="0" rtlCol="0" anchor="t"/>
          <a:lstStyle/>
          <a:p>
            <a:pPr indent="0" marL="0">
              <a:buNone/>
            </a:pPr>
            <a:r>
              <a:rPr lang="en-US" sz="1400" b="1" dirty="0">
                <a:solidFill>
                  <a:schemeClr val="tx2"/>
                </a:solidFill>
              </a:rPr>
              <a:t>Refinamiento</a:t>
            </a:r>
            <a:endParaRPr lang="en-US" sz="1400" dirty="0"/>
          </a:p>
        </p:txBody>
      </p:sp>
      <p:sp>
        <p:nvSpPr>
          <p:cNvPr id="22" name="Text 19"/>
          <p:cNvSpPr txBox="1"/>
          <p:nvPr/>
        </p:nvSpPr>
        <p:spPr>
          <a:xfrm>
            <a:off x="4325112" y="2569464"/>
            <a:ext cx="1554480" cy="384048"/>
          </a:xfrm>
          <a:prstGeom prst="rect">
            <a:avLst/>
          </a:prstGeom>
          <a:noFill/>
          <a:ln/>
        </p:spPr>
        <p:txBody>
          <a:bodyPr wrap="square" lIns="0" tIns="0" rIns="0" bIns="0" rtlCol="0" anchor="t"/>
          <a:lstStyle/>
          <a:p>
            <a:pPr indent="0" marL="0">
              <a:buNone/>
            </a:pPr>
            <a:r>
              <a:rPr lang="en-US" sz="1200" dirty="0">
                <a:solidFill>
                  <a:schemeClr val="accent6"/>
                </a:solidFill>
              </a:rPr>
              <a:t>Diseño técnico y puntos</a:t>
            </a:r>
            <a:endParaRPr lang="en-US" sz="1200" dirty="0"/>
          </a:p>
        </p:txBody>
      </p:sp>
      <p:sp>
        <p:nvSpPr>
          <p:cNvPr id="23" name="Shape 20"/>
          <p:cNvSpPr/>
          <p:nvPr/>
        </p:nvSpPr>
        <p:spPr>
          <a:xfrm>
            <a:off x="6126480" y="2148840"/>
            <a:ext cx="2377440" cy="868680"/>
          </a:xfrm>
          <a:prstGeom prst="roundRect">
            <a:avLst>
              <a:gd name="adj" fmla="val 8421"/>
            </a:avLst>
          </a:prstGeom>
          <a:solidFill>
            <a:schemeClr val="bg1"/>
          </a:solidFill>
          <a:ln w="12700">
            <a:solidFill>
              <a:srgbClr val="DCD8EC"/>
            </a:solidFill>
            <a:prstDash val="solid"/>
          </a:ln>
        </p:spPr>
      </p:sp>
      <p:sp>
        <p:nvSpPr>
          <p:cNvPr id="24" name="Shape 21"/>
          <p:cNvSpPr/>
          <p:nvPr/>
        </p:nvSpPr>
        <p:spPr>
          <a:xfrm>
            <a:off x="6263640" y="2350008"/>
            <a:ext cx="457200" cy="457200"/>
          </a:xfrm>
          <a:prstGeom prst="ellipse">
            <a:avLst/>
          </a:prstGeom>
          <a:solidFill>
            <a:schemeClr val="accent1"/>
          </a:solidFill>
          <a:ln w="12700">
            <a:solidFill>
              <a:schemeClr val="accent1"/>
            </a:solidFill>
            <a:prstDash val="solid"/>
          </a:ln>
        </p:spPr>
      </p:sp>
      <p:sp>
        <p:nvSpPr>
          <p:cNvPr id="25" name="Text 22"/>
          <p:cNvSpPr txBox="1"/>
          <p:nvPr/>
        </p:nvSpPr>
        <p:spPr>
          <a:xfrm>
            <a:off x="6263640" y="23500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6" name="Text 23"/>
          <p:cNvSpPr txBox="1"/>
          <p:nvPr/>
        </p:nvSpPr>
        <p:spPr>
          <a:xfrm>
            <a:off x="6839712" y="2240280"/>
            <a:ext cx="1554480" cy="320040"/>
          </a:xfrm>
          <a:prstGeom prst="rect">
            <a:avLst/>
          </a:prstGeom>
          <a:noFill/>
          <a:ln/>
        </p:spPr>
        <p:txBody>
          <a:bodyPr wrap="square" lIns="0" tIns="0" rIns="0" bIns="0" rtlCol="0" anchor="t"/>
          <a:lstStyle/>
          <a:p>
            <a:pPr indent="0" marL="0">
              <a:buNone/>
            </a:pPr>
            <a:r>
              <a:rPr lang="en-US" sz="1400" b="1" dirty="0">
                <a:solidFill>
                  <a:schemeClr val="tx2"/>
                </a:solidFill>
              </a:rPr>
              <a:t>Planificación</a:t>
            </a:r>
            <a:endParaRPr lang="en-US" sz="1400" dirty="0"/>
          </a:p>
        </p:txBody>
      </p:sp>
      <p:sp>
        <p:nvSpPr>
          <p:cNvPr id="27" name="Text 24"/>
          <p:cNvSpPr txBox="1"/>
          <p:nvPr/>
        </p:nvSpPr>
        <p:spPr>
          <a:xfrm>
            <a:off x="6839712" y="2569464"/>
            <a:ext cx="1554480" cy="384048"/>
          </a:xfrm>
          <a:prstGeom prst="rect">
            <a:avLst/>
          </a:prstGeom>
          <a:noFill/>
          <a:ln/>
        </p:spPr>
        <p:txBody>
          <a:bodyPr wrap="square" lIns="0" tIns="0" rIns="0" bIns="0" rtlCol="0" anchor="t"/>
          <a:lstStyle/>
          <a:p>
            <a:pPr indent="0" marL="0">
              <a:buNone/>
            </a:pPr>
            <a:r>
              <a:rPr lang="en-US" sz="1200" dirty="0">
                <a:solidFill>
                  <a:schemeClr val="accent6"/>
                </a:solidFill>
              </a:rPr>
              <a:t>Objetivo del sprint</a:t>
            </a:r>
            <a:endParaRPr lang="en-US" sz="1200" dirty="0"/>
          </a:p>
        </p:txBody>
      </p:sp>
      <p:sp>
        <p:nvSpPr>
          <p:cNvPr id="28" name="Shape 25"/>
          <p:cNvSpPr/>
          <p:nvPr/>
        </p:nvSpPr>
        <p:spPr>
          <a:xfrm>
            <a:off x="3611880" y="3154680"/>
            <a:ext cx="2377440" cy="868680"/>
          </a:xfrm>
          <a:prstGeom prst="roundRect">
            <a:avLst>
              <a:gd name="adj" fmla="val 8421"/>
            </a:avLst>
          </a:prstGeom>
          <a:solidFill>
            <a:schemeClr val="bg1"/>
          </a:solidFill>
          <a:ln w="12700">
            <a:solidFill>
              <a:srgbClr val="DCD8EC"/>
            </a:solidFill>
            <a:prstDash val="solid"/>
          </a:ln>
        </p:spPr>
      </p:sp>
      <p:sp>
        <p:nvSpPr>
          <p:cNvPr id="29" name="Shape 26"/>
          <p:cNvSpPr/>
          <p:nvPr/>
        </p:nvSpPr>
        <p:spPr>
          <a:xfrm>
            <a:off x="3749040" y="3355848"/>
            <a:ext cx="457200" cy="457200"/>
          </a:xfrm>
          <a:prstGeom prst="ellipse">
            <a:avLst/>
          </a:prstGeom>
          <a:solidFill>
            <a:schemeClr val="accent1"/>
          </a:solidFill>
          <a:ln w="12700">
            <a:solidFill>
              <a:schemeClr val="accent1"/>
            </a:solidFill>
            <a:prstDash val="solid"/>
          </a:ln>
        </p:spPr>
      </p:sp>
      <p:sp>
        <p:nvSpPr>
          <p:cNvPr id="30" name="Text 27"/>
          <p:cNvSpPr txBox="1"/>
          <p:nvPr/>
        </p:nvSpPr>
        <p:spPr>
          <a:xfrm>
            <a:off x="3749040" y="335584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1" name="Text 28"/>
          <p:cNvSpPr txBox="1"/>
          <p:nvPr/>
        </p:nvSpPr>
        <p:spPr>
          <a:xfrm>
            <a:off x="4325112" y="3246120"/>
            <a:ext cx="1554480" cy="320040"/>
          </a:xfrm>
          <a:prstGeom prst="rect">
            <a:avLst/>
          </a:prstGeom>
          <a:noFill/>
          <a:ln/>
        </p:spPr>
        <p:txBody>
          <a:bodyPr wrap="square" lIns="0" tIns="0" rIns="0" bIns="0" rtlCol="0" anchor="t"/>
          <a:lstStyle/>
          <a:p>
            <a:pPr indent="0" marL="0">
              <a:buNone/>
            </a:pPr>
            <a:r>
              <a:rPr lang="en-US" sz="1400" b="1" dirty="0">
                <a:solidFill>
                  <a:schemeClr val="tx2"/>
                </a:solidFill>
              </a:rPr>
              <a:t>Desarrollo</a:t>
            </a:r>
            <a:endParaRPr lang="en-US" sz="1400" dirty="0"/>
          </a:p>
        </p:txBody>
      </p:sp>
      <p:sp>
        <p:nvSpPr>
          <p:cNvPr id="32" name="Text 29"/>
          <p:cNvSpPr txBox="1"/>
          <p:nvPr/>
        </p:nvSpPr>
        <p:spPr>
          <a:xfrm>
            <a:off x="4325112" y="3575304"/>
            <a:ext cx="1554480" cy="384048"/>
          </a:xfrm>
          <a:prstGeom prst="rect">
            <a:avLst/>
          </a:prstGeom>
          <a:noFill/>
          <a:ln/>
        </p:spPr>
        <p:txBody>
          <a:bodyPr wrap="square" lIns="0" tIns="0" rIns="0" bIns="0" rtlCol="0" anchor="t"/>
          <a:lstStyle/>
          <a:p>
            <a:pPr indent="0" marL="0">
              <a:buNone/>
            </a:pPr>
            <a:r>
              <a:rPr lang="en-US" sz="1200" dirty="0">
                <a:solidFill>
                  <a:schemeClr val="accent6"/>
                </a:solidFill>
              </a:rPr>
              <a:t>Código, pruebas y revisión</a:t>
            </a:r>
            <a:endParaRPr lang="en-US" sz="1200" dirty="0"/>
          </a:p>
        </p:txBody>
      </p:sp>
      <p:sp>
        <p:nvSpPr>
          <p:cNvPr id="33" name="Shape 30"/>
          <p:cNvSpPr/>
          <p:nvPr/>
        </p:nvSpPr>
        <p:spPr>
          <a:xfrm>
            <a:off x="6126480" y="3154680"/>
            <a:ext cx="2377440" cy="868680"/>
          </a:xfrm>
          <a:prstGeom prst="roundRect">
            <a:avLst>
              <a:gd name="adj" fmla="val 8421"/>
            </a:avLst>
          </a:prstGeom>
          <a:solidFill>
            <a:schemeClr val="bg1"/>
          </a:solidFill>
          <a:ln w="12700">
            <a:solidFill>
              <a:srgbClr val="DCD8EC"/>
            </a:solidFill>
            <a:prstDash val="solid"/>
          </a:ln>
        </p:spPr>
      </p:sp>
      <p:sp>
        <p:nvSpPr>
          <p:cNvPr id="34" name="Shape 31"/>
          <p:cNvSpPr/>
          <p:nvPr/>
        </p:nvSpPr>
        <p:spPr>
          <a:xfrm>
            <a:off x="6263640" y="3355848"/>
            <a:ext cx="457200" cy="457200"/>
          </a:xfrm>
          <a:prstGeom prst="ellipse">
            <a:avLst/>
          </a:prstGeom>
          <a:solidFill>
            <a:schemeClr val="accent1"/>
          </a:solidFill>
          <a:ln w="12700">
            <a:solidFill>
              <a:schemeClr val="accent1"/>
            </a:solidFill>
            <a:prstDash val="solid"/>
          </a:ln>
        </p:spPr>
      </p:sp>
      <p:sp>
        <p:nvSpPr>
          <p:cNvPr id="35" name="Text 32"/>
          <p:cNvSpPr txBox="1"/>
          <p:nvPr/>
        </p:nvSpPr>
        <p:spPr>
          <a:xfrm>
            <a:off x="6263640" y="335584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6" name="Text 33"/>
          <p:cNvSpPr txBox="1"/>
          <p:nvPr/>
        </p:nvSpPr>
        <p:spPr>
          <a:xfrm>
            <a:off x="6839712" y="3246120"/>
            <a:ext cx="1554480" cy="320040"/>
          </a:xfrm>
          <a:prstGeom prst="rect">
            <a:avLst/>
          </a:prstGeom>
          <a:noFill/>
          <a:ln/>
        </p:spPr>
        <p:txBody>
          <a:bodyPr wrap="square" lIns="0" tIns="0" rIns="0" bIns="0" rtlCol="0" anchor="t"/>
          <a:lstStyle/>
          <a:p>
            <a:pPr indent="0" marL="0">
              <a:buNone/>
            </a:pPr>
            <a:r>
              <a:rPr lang="en-US" sz="1400" b="1" dirty="0">
                <a:solidFill>
                  <a:schemeClr val="tx2"/>
                </a:solidFill>
              </a:rPr>
              <a:t>Integración</a:t>
            </a:r>
            <a:endParaRPr lang="en-US" sz="1400" dirty="0"/>
          </a:p>
        </p:txBody>
      </p:sp>
      <p:sp>
        <p:nvSpPr>
          <p:cNvPr id="37" name="Text 34"/>
          <p:cNvSpPr txBox="1"/>
          <p:nvPr/>
        </p:nvSpPr>
        <p:spPr>
          <a:xfrm>
            <a:off x="6839712" y="3575304"/>
            <a:ext cx="1554480" cy="384048"/>
          </a:xfrm>
          <a:prstGeom prst="rect">
            <a:avLst/>
          </a:prstGeom>
          <a:noFill/>
          <a:ln/>
        </p:spPr>
        <p:txBody>
          <a:bodyPr wrap="square" lIns="0" tIns="0" rIns="0" bIns="0" rtlCol="0" anchor="t"/>
          <a:lstStyle/>
          <a:p>
            <a:pPr indent="0" marL="0">
              <a:buNone/>
            </a:pPr>
            <a:r>
              <a:rPr lang="en-US" sz="1200" dirty="0">
                <a:solidFill>
                  <a:schemeClr val="accent6"/>
                </a:solidFill>
              </a:rPr>
              <a:t>Continua: cada cambio se verifica</a:t>
            </a:r>
            <a:endParaRPr lang="en-US" sz="1200" dirty="0"/>
          </a:p>
        </p:txBody>
      </p:sp>
      <p:sp>
        <p:nvSpPr>
          <p:cNvPr id="38" name="Shape 35"/>
          <p:cNvSpPr/>
          <p:nvPr/>
        </p:nvSpPr>
        <p:spPr>
          <a:xfrm>
            <a:off x="3611880" y="4160520"/>
            <a:ext cx="2377440" cy="868680"/>
          </a:xfrm>
          <a:prstGeom prst="roundRect">
            <a:avLst>
              <a:gd name="adj" fmla="val 8421"/>
            </a:avLst>
          </a:prstGeom>
          <a:solidFill>
            <a:schemeClr val="bg1"/>
          </a:solidFill>
          <a:ln w="12700">
            <a:solidFill>
              <a:srgbClr val="DCD8EC"/>
            </a:solidFill>
            <a:prstDash val="solid"/>
          </a:ln>
        </p:spPr>
      </p:sp>
      <p:sp>
        <p:nvSpPr>
          <p:cNvPr id="39" name="Shape 36"/>
          <p:cNvSpPr/>
          <p:nvPr/>
        </p:nvSpPr>
        <p:spPr>
          <a:xfrm>
            <a:off x="3749040" y="4361688"/>
            <a:ext cx="457200" cy="457200"/>
          </a:xfrm>
          <a:prstGeom prst="ellipse">
            <a:avLst/>
          </a:prstGeom>
          <a:solidFill>
            <a:schemeClr val="accent1"/>
          </a:solidFill>
          <a:ln w="12700">
            <a:solidFill>
              <a:schemeClr val="accent1"/>
            </a:solidFill>
            <a:prstDash val="solid"/>
          </a:ln>
        </p:spPr>
      </p:sp>
      <p:sp>
        <p:nvSpPr>
          <p:cNvPr id="40" name="Text 37"/>
          <p:cNvSpPr txBox="1"/>
          <p:nvPr/>
        </p:nvSpPr>
        <p:spPr>
          <a:xfrm>
            <a:off x="3749040" y="436168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1" name="Text 38"/>
          <p:cNvSpPr txBox="1"/>
          <p:nvPr/>
        </p:nvSpPr>
        <p:spPr>
          <a:xfrm>
            <a:off x="4325112" y="4251960"/>
            <a:ext cx="1554480" cy="320040"/>
          </a:xfrm>
          <a:prstGeom prst="rect">
            <a:avLst/>
          </a:prstGeom>
          <a:noFill/>
          <a:ln/>
        </p:spPr>
        <p:txBody>
          <a:bodyPr wrap="square" lIns="0" tIns="0" rIns="0" bIns="0" rtlCol="0" anchor="t"/>
          <a:lstStyle/>
          <a:p>
            <a:pPr indent="0" marL="0">
              <a:buNone/>
            </a:pPr>
            <a:r>
              <a:rPr lang="en-US" sz="1400" b="1" dirty="0">
                <a:solidFill>
                  <a:schemeClr val="tx2"/>
                </a:solidFill>
              </a:rPr>
              <a:t>Retrospectiva</a:t>
            </a:r>
            <a:endParaRPr lang="en-US" sz="1400" dirty="0"/>
          </a:p>
        </p:txBody>
      </p:sp>
      <p:sp>
        <p:nvSpPr>
          <p:cNvPr id="42" name="Text 39"/>
          <p:cNvSpPr txBox="1"/>
          <p:nvPr/>
        </p:nvSpPr>
        <p:spPr>
          <a:xfrm>
            <a:off x="4325112" y="4581144"/>
            <a:ext cx="1554480" cy="384048"/>
          </a:xfrm>
          <a:prstGeom prst="rect">
            <a:avLst/>
          </a:prstGeom>
          <a:noFill/>
          <a:ln/>
        </p:spPr>
        <p:txBody>
          <a:bodyPr wrap="square" lIns="0" tIns="0" rIns="0" bIns="0" rtlCol="0" anchor="t"/>
          <a:lstStyle/>
          <a:p>
            <a:pPr indent="0" marL="0">
              <a:buNone/>
            </a:pPr>
            <a:r>
              <a:rPr lang="en-US" sz="1200" dirty="0">
                <a:solidFill>
                  <a:schemeClr val="accent6"/>
                </a:solidFill>
              </a:rPr>
              <a:t>Un acuerdo de mejora</a:t>
            </a:r>
            <a:endParaRPr lang="en-US" sz="1200" dirty="0"/>
          </a:p>
        </p:txBody>
      </p:sp>
      <p:sp>
        <p:nvSpPr>
          <p:cNvPr id="43" name="Text 40"/>
          <p:cNvSpPr txBox="1"/>
          <p:nvPr/>
        </p:nvSpPr>
        <p:spPr>
          <a:xfrm>
            <a:off x="6263640" y="4206240"/>
            <a:ext cx="2194560" cy="777240"/>
          </a:xfrm>
          <a:prstGeom prst="rect">
            <a:avLst/>
          </a:prstGeom>
          <a:noFill/>
          <a:ln/>
        </p:spPr>
        <p:txBody>
          <a:bodyPr wrap="square" lIns="0" tIns="0" rIns="0" bIns="0" rtlCol="0" anchor="ctr"/>
          <a:lstStyle/>
          <a:p>
            <a:pPr indent="0" marL="0">
              <a:buNone/>
            </a:pPr>
            <a:r>
              <a:rPr lang="en-US" sz="1300" dirty="0">
                <a:solidFill>
                  <a:schemeClr val="accent6"/>
                </a:solidFill>
              </a:rPr>
              <a:t>La daily acompaña todo el sprint.</a:t>
            </a:r>
            <a:endParaRPr lang="en-US" sz="1300" dirty="0"/>
          </a:p>
        </p:txBody>
      </p:sp>
      <p:sp>
        <p:nvSpPr>
          <p:cNvPr id="44" name="Shape 41"/>
          <p:cNvSpPr/>
          <p:nvPr/>
        </p:nvSpPr>
        <p:spPr>
          <a:xfrm>
            <a:off x="8778240" y="1600200"/>
            <a:ext cx="2862072" cy="3611880"/>
          </a:xfrm>
          <a:prstGeom prst="roundRect">
            <a:avLst>
              <a:gd name="adj" fmla="val 2556"/>
            </a:avLst>
          </a:prstGeom>
          <a:solidFill>
            <a:schemeClr val="bg2"/>
          </a:solidFill>
          <a:ln w="12700">
            <a:solidFill>
              <a:srgbClr val="DCD8EC"/>
            </a:solidFill>
            <a:prstDash val="solid"/>
          </a:ln>
        </p:spPr>
      </p:sp>
      <p:sp>
        <p:nvSpPr>
          <p:cNvPr id="45" name="Text 42"/>
          <p:cNvSpPr txBox="1"/>
          <p:nvPr/>
        </p:nvSpPr>
        <p:spPr>
          <a:xfrm>
            <a:off x="8961120" y="1719072"/>
            <a:ext cx="2496312" cy="320040"/>
          </a:xfrm>
          <a:prstGeom prst="rect">
            <a:avLst/>
          </a:prstGeom>
          <a:noFill/>
          <a:ln/>
        </p:spPr>
        <p:txBody>
          <a:bodyPr wrap="square" lIns="0" tIns="0" rIns="0" bIns="0" rtlCol="0" anchor="t"/>
          <a:lstStyle/>
          <a:p>
            <a:pPr indent="0" marL="0">
              <a:buNone/>
            </a:pPr>
            <a:r>
              <a:rPr lang="en-US" sz="1400" b="1" dirty="0">
                <a:solidFill>
                  <a:schemeClr val="tx2"/>
                </a:solidFill>
              </a:rPr>
              <a:t>Con SURA · ver y recibir</a:t>
            </a:r>
            <a:endParaRPr lang="en-US" sz="1400" dirty="0"/>
          </a:p>
        </p:txBody>
      </p:sp>
      <p:sp>
        <p:nvSpPr>
          <p:cNvPr id="46" name="Shape 43"/>
          <p:cNvSpPr/>
          <p:nvPr/>
        </p:nvSpPr>
        <p:spPr>
          <a:xfrm>
            <a:off x="8961120" y="2148840"/>
            <a:ext cx="2496312" cy="868680"/>
          </a:xfrm>
          <a:prstGeom prst="roundRect">
            <a:avLst>
              <a:gd name="adj" fmla="val 8421"/>
            </a:avLst>
          </a:prstGeom>
          <a:solidFill>
            <a:schemeClr val="bg1"/>
          </a:solidFill>
          <a:ln w="12700">
            <a:solidFill>
              <a:srgbClr val="DCD8EC"/>
            </a:solidFill>
            <a:prstDash val="solid"/>
          </a:ln>
        </p:spPr>
      </p:sp>
      <p:sp>
        <p:nvSpPr>
          <p:cNvPr id="47" name="Shape 44"/>
          <p:cNvSpPr/>
          <p:nvPr/>
        </p:nvSpPr>
        <p:spPr>
          <a:xfrm>
            <a:off x="9098280" y="2350008"/>
            <a:ext cx="457200" cy="457200"/>
          </a:xfrm>
          <a:prstGeom prst="ellipse">
            <a:avLst/>
          </a:prstGeom>
          <a:solidFill>
            <a:schemeClr val="accent3"/>
          </a:solidFill>
          <a:ln w="12700">
            <a:solidFill>
              <a:schemeClr val="accent3"/>
            </a:solidFill>
            <a:prstDash val="solid"/>
          </a:ln>
        </p:spPr>
      </p:sp>
      <p:sp>
        <p:nvSpPr>
          <p:cNvPr id="48" name="Text 45"/>
          <p:cNvSpPr txBox="1"/>
          <p:nvPr/>
        </p:nvSpPr>
        <p:spPr>
          <a:xfrm>
            <a:off x="9098280" y="23500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9" name="Text 46"/>
          <p:cNvSpPr txBox="1"/>
          <p:nvPr/>
        </p:nvSpPr>
        <p:spPr>
          <a:xfrm>
            <a:off x="9674352" y="2240280"/>
            <a:ext cx="1673352" cy="320040"/>
          </a:xfrm>
          <a:prstGeom prst="rect">
            <a:avLst/>
          </a:prstGeom>
          <a:noFill/>
          <a:ln/>
        </p:spPr>
        <p:txBody>
          <a:bodyPr wrap="square" lIns="0" tIns="0" rIns="0" bIns="0" rtlCol="0" anchor="t"/>
          <a:lstStyle/>
          <a:p>
            <a:pPr indent="0" marL="0">
              <a:buNone/>
            </a:pPr>
            <a:r>
              <a:rPr lang="en-US" sz="1400" b="1" dirty="0">
                <a:solidFill>
                  <a:schemeClr val="tx2"/>
                </a:solidFill>
              </a:rPr>
              <a:t>Revisión y demo</a:t>
            </a:r>
            <a:endParaRPr lang="en-US" sz="1400" dirty="0"/>
          </a:p>
        </p:txBody>
      </p:sp>
      <p:sp>
        <p:nvSpPr>
          <p:cNvPr id="50" name="Text 47"/>
          <p:cNvSpPr txBox="1"/>
          <p:nvPr/>
        </p:nvSpPr>
        <p:spPr>
          <a:xfrm>
            <a:off x="9674352" y="2569464"/>
            <a:ext cx="1673352" cy="384048"/>
          </a:xfrm>
          <a:prstGeom prst="rect">
            <a:avLst/>
          </a:prstGeom>
          <a:noFill/>
          <a:ln/>
        </p:spPr>
        <p:txBody>
          <a:bodyPr wrap="square" lIns="0" tIns="0" rIns="0" bIns="0" rtlCol="0" anchor="t"/>
          <a:lstStyle/>
          <a:p>
            <a:pPr indent="0" marL="0">
              <a:buNone/>
            </a:pPr>
            <a:r>
              <a:rPr lang="en-US" sz="1200" dirty="0">
                <a:solidFill>
                  <a:schemeClr val="accent6"/>
                </a:solidFill>
              </a:rPr>
              <a:t>Al cierre de cada sprint</a:t>
            </a:r>
            <a:endParaRPr lang="en-US" sz="1200" dirty="0"/>
          </a:p>
        </p:txBody>
      </p:sp>
      <p:sp>
        <p:nvSpPr>
          <p:cNvPr id="51" name="Shape 48"/>
          <p:cNvSpPr/>
          <p:nvPr/>
        </p:nvSpPr>
        <p:spPr>
          <a:xfrm>
            <a:off x="8961120" y="3154680"/>
            <a:ext cx="2496312" cy="868680"/>
          </a:xfrm>
          <a:prstGeom prst="roundRect">
            <a:avLst>
              <a:gd name="adj" fmla="val 8421"/>
            </a:avLst>
          </a:prstGeom>
          <a:solidFill>
            <a:schemeClr val="bg1"/>
          </a:solidFill>
          <a:ln w="12700">
            <a:solidFill>
              <a:srgbClr val="DCD8EC"/>
            </a:solidFill>
            <a:prstDash val="solid"/>
          </a:ln>
        </p:spPr>
      </p:sp>
      <p:sp>
        <p:nvSpPr>
          <p:cNvPr id="52" name="Shape 49"/>
          <p:cNvSpPr/>
          <p:nvPr/>
        </p:nvSpPr>
        <p:spPr>
          <a:xfrm>
            <a:off x="9098280" y="3355848"/>
            <a:ext cx="457200" cy="457200"/>
          </a:xfrm>
          <a:prstGeom prst="ellipse">
            <a:avLst/>
          </a:prstGeom>
          <a:solidFill>
            <a:schemeClr val="accent3"/>
          </a:solidFill>
          <a:ln w="12700">
            <a:solidFill>
              <a:schemeClr val="accent3"/>
            </a:solidFill>
            <a:prstDash val="solid"/>
          </a:ln>
        </p:spPr>
      </p:sp>
      <p:sp>
        <p:nvSpPr>
          <p:cNvPr id="53" name="Text 50"/>
          <p:cNvSpPr txBox="1"/>
          <p:nvPr/>
        </p:nvSpPr>
        <p:spPr>
          <a:xfrm>
            <a:off x="9098280" y="335584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4" name="Text 51"/>
          <p:cNvSpPr txBox="1"/>
          <p:nvPr/>
        </p:nvSpPr>
        <p:spPr>
          <a:xfrm>
            <a:off x="9674352" y="3246120"/>
            <a:ext cx="1673352" cy="320040"/>
          </a:xfrm>
          <a:prstGeom prst="rect">
            <a:avLst/>
          </a:prstGeom>
          <a:noFill/>
          <a:ln/>
        </p:spPr>
        <p:txBody>
          <a:bodyPr wrap="square" lIns="0" tIns="0" rIns="0" bIns="0" rtlCol="0" anchor="t"/>
          <a:lstStyle/>
          <a:p>
            <a:pPr indent="0" marL="0">
              <a:buNone/>
            </a:pPr>
            <a:r>
              <a:rPr lang="en-US" sz="1400" b="1" dirty="0">
                <a:solidFill>
                  <a:schemeClr val="tx2"/>
                </a:solidFill>
              </a:rPr>
              <a:t>Despliegue</a:t>
            </a:r>
            <a:endParaRPr lang="en-US" sz="1400" dirty="0"/>
          </a:p>
        </p:txBody>
      </p:sp>
      <p:sp>
        <p:nvSpPr>
          <p:cNvPr id="55" name="Text 52"/>
          <p:cNvSpPr txBox="1"/>
          <p:nvPr/>
        </p:nvSpPr>
        <p:spPr>
          <a:xfrm>
            <a:off x="9674352" y="3575304"/>
            <a:ext cx="1673352" cy="384048"/>
          </a:xfrm>
          <a:prstGeom prst="rect">
            <a:avLst/>
          </a:prstGeom>
          <a:noFill/>
          <a:ln/>
        </p:spPr>
        <p:txBody>
          <a:bodyPr wrap="square" lIns="0" tIns="0" rIns="0" bIns="0" rtlCol="0" anchor="t"/>
          <a:lstStyle/>
          <a:p>
            <a:pPr indent="0" marL="0">
              <a:buNone/>
            </a:pPr>
            <a:r>
              <a:rPr lang="en-US" sz="1200" dirty="0">
                <a:solidFill>
                  <a:schemeClr val="accent6"/>
                </a:solidFill>
              </a:rPr>
              <a:t>Entrega del incremento</a:t>
            </a:r>
            <a:endParaRPr lang="en-US" sz="1200" dirty="0"/>
          </a:p>
        </p:txBody>
      </p:sp>
      <p:sp>
        <p:nvSpPr>
          <p:cNvPr id="56" name="Shape 53"/>
          <p:cNvSpPr/>
          <p:nvPr/>
        </p:nvSpPr>
        <p:spPr>
          <a:xfrm>
            <a:off x="8961120" y="4160520"/>
            <a:ext cx="2496312" cy="868680"/>
          </a:xfrm>
          <a:prstGeom prst="roundRect">
            <a:avLst>
              <a:gd name="adj" fmla="val 8421"/>
            </a:avLst>
          </a:prstGeom>
          <a:solidFill>
            <a:schemeClr val="bg1"/>
          </a:solidFill>
          <a:ln w="12700">
            <a:solidFill>
              <a:srgbClr val="DCD8EC"/>
            </a:solidFill>
            <a:prstDash val="solid"/>
          </a:ln>
        </p:spPr>
      </p:sp>
      <p:sp>
        <p:nvSpPr>
          <p:cNvPr id="57" name="Shape 54"/>
          <p:cNvSpPr/>
          <p:nvPr/>
        </p:nvSpPr>
        <p:spPr>
          <a:xfrm>
            <a:off x="9098280" y="4361688"/>
            <a:ext cx="457200" cy="457200"/>
          </a:xfrm>
          <a:prstGeom prst="ellipse">
            <a:avLst/>
          </a:prstGeom>
          <a:solidFill>
            <a:schemeClr val="accent3"/>
          </a:solidFill>
          <a:ln w="12700">
            <a:solidFill>
              <a:schemeClr val="accent3"/>
            </a:solidFill>
            <a:prstDash val="solid"/>
          </a:ln>
        </p:spPr>
      </p:sp>
      <p:sp>
        <p:nvSpPr>
          <p:cNvPr id="58" name="Text 55"/>
          <p:cNvSpPr txBox="1"/>
          <p:nvPr/>
        </p:nvSpPr>
        <p:spPr>
          <a:xfrm>
            <a:off x="9098280" y="436168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9" name="Text 56"/>
          <p:cNvSpPr txBox="1"/>
          <p:nvPr/>
        </p:nvSpPr>
        <p:spPr>
          <a:xfrm>
            <a:off x="9674352" y="4251960"/>
            <a:ext cx="1673352" cy="320040"/>
          </a:xfrm>
          <a:prstGeom prst="rect">
            <a:avLst/>
          </a:prstGeom>
          <a:noFill/>
          <a:ln/>
        </p:spPr>
        <p:txBody>
          <a:bodyPr wrap="square" lIns="0" tIns="0" rIns="0" bIns="0" rtlCol="0" anchor="t"/>
          <a:lstStyle/>
          <a:p>
            <a:pPr indent="0" marL="0">
              <a:buNone/>
            </a:pPr>
            <a:r>
              <a:rPr lang="en-US" sz="1400" b="1" dirty="0">
                <a:solidFill>
                  <a:schemeClr val="tx2"/>
                </a:solidFill>
              </a:rPr>
              <a:t>Operación</a:t>
            </a:r>
            <a:endParaRPr lang="en-US" sz="1400" dirty="0"/>
          </a:p>
        </p:txBody>
      </p:sp>
      <p:sp>
        <p:nvSpPr>
          <p:cNvPr id="60" name="Text 57"/>
          <p:cNvSpPr txBox="1"/>
          <p:nvPr/>
        </p:nvSpPr>
        <p:spPr>
          <a:xfrm>
            <a:off x="9674352" y="4581144"/>
            <a:ext cx="1673352" cy="384048"/>
          </a:xfrm>
          <a:prstGeom prst="rect">
            <a:avLst/>
          </a:prstGeom>
          <a:noFill/>
          <a:ln/>
        </p:spPr>
        <p:txBody>
          <a:bodyPr wrap="square" lIns="0" tIns="0" rIns="0" bIns="0" rtlCol="0" anchor="t"/>
          <a:lstStyle/>
          <a:p>
            <a:pPr indent="0" marL="0">
              <a:buNone/>
            </a:pPr>
            <a:r>
              <a:rPr lang="en-US" sz="1200" dirty="0">
                <a:solidFill>
                  <a:schemeClr val="accent6"/>
                </a:solidFill>
              </a:rPr>
              <a:t>Uso real y soporte</a:t>
            </a:r>
            <a:endParaRPr lang="en-US" sz="1200" dirty="0"/>
          </a:p>
        </p:txBody>
      </p:sp>
      <p:sp>
        <p:nvSpPr>
          <p:cNvPr id="61" name="Shape 58"/>
          <p:cNvSpPr/>
          <p:nvPr/>
        </p:nvSpPr>
        <p:spPr>
          <a:xfrm>
            <a:off x="548640" y="5376672"/>
            <a:ext cx="11064240" cy="548640"/>
          </a:xfrm>
          <a:prstGeom prst="leftArrow">
            <a:avLst/>
          </a:prstGeom>
          <a:solidFill>
            <a:schemeClr val="bg2"/>
          </a:solidFill>
          <a:ln w="12700">
            <a:solidFill>
              <a:schemeClr val="bg2"/>
            </a:solidFill>
            <a:prstDash val="solid"/>
          </a:ln>
        </p:spPr>
      </p:sp>
      <p:sp>
        <p:nvSpPr>
          <p:cNvPr id="62" name="Text 59"/>
          <p:cNvSpPr txBox="1"/>
          <p:nvPr/>
        </p:nvSpPr>
        <p:spPr>
          <a:xfrm>
            <a:off x="1280160" y="5376672"/>
            <a:ext cx="10058400" cy="548640"/>
          </a:xfrm>
          <a:prstGeom prst="rect">
            <a:avLst/>
          </a:prstGeom>
          <a:noFill/>
          <a:ln/>
        </p:spPr>
        <p:txBody>
          <a:bodyPr wrap="square" lIns="0" tIns="0" rIns="0" bIns="0" rtlCol="0" anchor="ctr"/>
          <a:lstStyle/>
          <a:p>
            <a:pPr algn="ctr" indent="0" marL="0">
              <a:buNone/>
            </a:pPr>
            <a:r>
              <a:rPr lang="en-US" sz="1400" b="1" dirty="0">
                <a:solidFill>
                  <a:schemeClr val="tx2"/>
                </a:solidFill>
              </a:rPr>
              <a:t>Lo que se aprende en la demo y en la operación vuelve al backlog, y se prioriza con SURA</a:t>
            </a:r>
            <a:endParaRPr lang="en-US" sz="14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Las épicas tienen talla; las historias, puntos</a:t>
            </a:r>
            <a:endParaRPr lang="en-US" sz="2800" dirty="0"/>
          </a:p>
        </p:txBody>
      </p:sp>
      <p:sp>
        <p:nvSpPr>
          <p:cNvPr id="4" name="Shape 1"/>
          <p:cNvSpPr/>
          <p:nvPr/>
        </p:nvSpPr>
        <p:spPr>
          <a:xfrm>
            <a:off x="548640" y="1600200"/>
            <a:ext cx="3383280" cy="2240280"/>
          </a:xfrm>
          <a:prstGeom prst="roundRect">
            <a:avLst>
              <a:gd name="adj" fmla="val 3265"/>
            </a:avLst>
          </a:prstGeom>
          <a:solidFill>
            <a:schemeClr val="accent4"/>
          </a:solidFill>
          <a:ln w="12700">
            <a:solidFill>
              <a:srgbClr val="DCD8EC"/>
            </a:solidFill>
            <a:prstDash val="solid"/>
          </a:ln>
        </p:spPr>
      </p:sp>
      <p:sp>
        <p:nvSpPr>
          <p:cNvPr id="5" name="Shape 2"/>
          <p:cNvSpPr/>
          <p:nvPr/>
        </p:nvSpPr>
        <p:spPr>
          <a:xfrm>
            <a:off x="777240" y="1783080"/>
            <a:ext cx="2926080" cy="457200"/>
          </a:xfrm>
          <a:prstGeom prst="roundRect">
            <a:avLst>
              <a:gd name="adj" fmla="val 12000"/>
            </a:avLst>
          </a:prstGeom>
          <a:solidFill>
            <a:schemeClr val="tx2"/>
          </a:solidFill>
          <a:ln w="12700">
            <a:solidFill>
              <a:schemeClr val="tx2"/>
            </a:solidFill>
            <a:prstDash val="solid"/>
          </a:ln>
        </p:spPr>
      </p:sp>
      <p:sp>
        <p:nvSpPr>
          <p:cNvPr id="6" name="Text 3"/>
          <p:cNvSpPr txBox="1"/>
          <p:nvPr/>
        </p:nvSpPr>
        <p:spPr>
          <a:xfrm>
            <a:off x="777240" y="1783080"/>
            <a:ext cx="2926080" cy="457200"/>
          </a:xfrm>
          <a:prstGeom prst="rect">
            <a:avLst/>
          </a:prstGeom>
          <a:noFill/>
          <a:ln/>
        </p:spPr>
        <p:txBody>
          <a:bodyPr wrap="square" lIns="0" tIns="0" rIns="0" bIns="0" rtlCol="0" anchor="ctr"/>
          <a:lstStyle/>
          <a:p>
            <a:pPr algn="ctr" indent="0" marL="0">
              <a:buNone/>
            </a:pPr>
            <a:r>
              <a:rPr lang="en-US" sz="1500" b="1" dirty="0">
                <a:solidFill>
                  <a:schemeClr val="bg1"/>
                </a:solidFill>
              </a:rPr>
              <a:t>Épica</a:t>
            </a:r>
            <a:pPr algn="ctr" indent="0" marL="0">
              <a:buNone/>
            </a:pPr>
            <a:r>
              <a:rPr lang="en-US" sz="1500" dirty="0">
                <a:solidFill>
                  <a:schemeClr val="bg1"/>
                </a:solidFill>
              </a:rPr>
              <a:t>  ·  talla</a:t>
            </a:r>
            <a:endParaRPr lang="en-US" sz="1500" dirty="0"/>
          </a:p>
        </p:txBody>
      </p:sp>
      <p:sp>
        <p:nvSpPr>
          <p:cNvPr id="7" name="Text 4"/>
          <p:cNvSpPr txBox="1"/>
          <p:nvPr/>
        </p:nvSpPr>
        <p:spPr>
          <a:xfrm>
            <a:off x="777240" y="2377440"/>
            <a:ext cx="2926080" cy="1371600"/>
          </a:xfrm>
          <a:prstGeom prst="rect">
            <a:avLst/>
          </a:prstGeom>
          <a:noFill/>
          <a:ln/>
        </p:spPr>
        <p:txBody>
          <a:bodyPr wrap="square" lIns="0" tIns="0" rIns="0" bIns="0" rtlCol="0" anchor="t"/>
          <a:lstStyle/>
          <a:p>
            <a:pPr indent="0" marL="0">
              <a:buNone/>
            </a:pPr>
            <a:r>
              <a:rPr lang="en-US" sz="1400" dirty="0">
                <a:solidFill>
                  <a:schemeClr val="tx1"/>
                </a:solidFill>
              </a:rPr>
              <a:t>La talla S, M, L o XL que ya tiene cada épica. Sirve para ordenar el backlog, no para planear el sprint.</a:t>
            </a:r>
            <a:endParaRPr lang="en-US" sz="1400" dirty="0"/>
          </a:p>
        </p:txBody>
      </p:sp>
      <p:sp>
        <p:nvSpPr>
          <p:cNvPr id="8" name="Shape 5"/>
          <p:cNvSpPr/>
          <p:nvPr/>
        </p:nvSpPr>
        <p:spPr>
          <a:xfrm>
            <a:off x="4005072" y="2514600"/>
            <a:ext cx="310896" cy="411480"/>
          </a:xfrm>
          <a:prstGeom prst="rightArrow">
            <a:avLst/>
          </a:prstGeom>
          <a:solidFill>
            <a:schemeClr val="accent5"/>
          </a:solidFill>
          <a:ln w="12700">
            <a:solidFill>
              <a:schemeClr val="accent5"/>
            </a:solidFill>
            <a:prstDash val="solid"/>
          </a:ln>
        </p:spPr>
      </p:sp>
      <p:sp>
        <p:nvSpPr>
          <p:cNvPr id="9" name="Shape 6"/>
          <p:cNvSpPr/>
          <p:nvPr/>
        </p:nvSpPr>
        <p:spPr>
          <a:xfrm>
            <a:off x="4389120" y="1600200"/>
            <a:ext cx="3383280" cy="2240280"/>
          </a:xfrm>
          <a:prstGeom prst="roundRect">
            <a:avLst>
              <a:gd name="adj" fmla="val 3265"/>
            </a:avLst>
          </a:prstGeom>
          <a:solidFill>
            <a:schemeClr val="accent4"/>
          </a:solidFill>
          <a:ln w="12700">
            <a:solidFill>
              <a:srgbClr val="DCD8EC"/>
            </a:solidFill>
            <a:prstDash val="solid"/>
          </a:ln>
        </p:spPr>
      </p:sp>
      <p:sp>
        <p:nvSpPr>
          <p:cNvPr id="10" name="Shape 7"/>
          <p:cNvSpPr/>
          <p:nvPr/>
        </p:nvSpPr>
        <p:spPr>
          <a:xfrm>
            <a:off x="4617720" y="1783080"/>
            <a:ext cx="2926080" cy="457200"/>
          </a:xfrm>
          <a:prstGeom prst="roundRect">
            <a:avLst>
              <a:gd name="adj" fmla="val 12000"/>
            </a:avLst>
          </a:prstGeom>
          <a:solidFill>
            <a:schemeClr val="accent1"/>
          </a:solidFill>
          <a:ln w="12700">
            <a:solidFill>
              <a:schemeClr val="accent1"/>
            </a:solidFill>
            <a:prstDash val="solid"/>
          </a:ln>
        </p:spPr>
      </p:sp>
      <p:sp>
        <p:nvSpPr>
          <p:cNvPr id="11" name="Text 8"/>
          <p:cNvSpPr txBox="1"/>
          <p:nvPr/>
        </p:nvSpPr>
        <p:spPr>
          <a:xfrm>
            <a:off x="4617720" y="1783080"/>
            <a:ext cx="2926080" cy="457200"/>
          </a:xfrm>
          <a:prstGeom prst="rect">
            <a:avLst/>
          </a:prstGeom>
          <a:noFill/>
          <a:ln/>
        </p:spPr>
        <p:txBody>
          <a:bodyPr wrap="square" lIns="0" tIns="0" rIns="0" bIns="0" rtlCol="0" anchor="ctr"/>
          <a:lstStyle/>
          <a:p>
            <a:pPr algn="ctr" indent="0" marL="0">
              <a:buNone/>
            </a:pPr>
            <a:r>
              <a:rPr lang="en-US" sz="1500" b="1" dirty="0">
                <a:solidFill>
                  <a:schemeClr val="bg1"/>
                </a:solidFill>
              </a:rPr>
              <a:t>Historias de usuario</a:t>
            </a:r>
            <a:pPr algn="ctr" indent="0" marL="0">
              <a:buNone/>
            </a:pPr>
            <a:r>
              <a:rPr lang="en-US" sz="1500" dirty="0">
                <a:solidFill>
                  <a:schemeClr val="bg1"/>
                </a:solidFill>
              </a:rPr>
              <a:t>  ·  puntos</a:t>
            </a:r>
            <a:endParaRPr lang="en-US" sz="1500" dirty="0"/>
          </a:p>
        </p:txBody>
      </p:sp>
      <p:sp>
        <p:nvSpPr>
          <p:cNvPr id="12" name="Text 9"/>
          <p:cNvSpPr txBox="1"/>
          <p:nvPr/>
        </p:nvSpPr>
        <p:spPr>
          <a:xfrm>
            <a:off x="4617720" y="2377440"/>
            <a:ext cx="2926080" cy="1371600"/>
          </a:xfrm>
          <a:prstGeom prst="rect">
            <a:avLst/>
          </a:prstGeom>
          <a:noFill/>
          <a:ln/>
        </p:spPr>
        <p:txBody>
          <a:bodyPr wrap="square" lIns="0" tIns="0" rIns="0" bIns="0" rtlCol="0" anchor="t"/>
          <a:lstStyle/>
          <a:p>
            <a:pPr indent="0" marL="0">
              <a:buNone/>
            </a:pPr>
            <a:r>
              <a:rPr lang="en-US" sz="1400" dirty="0">
                <a:solidFill>
                  <a:schemeClr val="tx1"/>
                </a:solidFill>
              </a:rPr>
              <a:t>Se desprenden de la épica con SURA, y el equipo las estima en puntos: 1, 2, 3, 5, 8 o 13. Una de más de 13 se parte.</a:t>
            </a:r>
            <a:endParaRPr lang="en-US" sz="1400" dirty="0"/>
          </a:p>
        </p:txBody>
      </p:sp>
      <p:sp>
        <p:nvSpPr>
          <p:cNvPr id="13" name="Shape 10"/>
          <p:cNvSpPr/>
          <p:nvPr/>
        </p:nvSpPr>
        <p:spPr>
          <a:xfrm>
            <a:off x="7845552" y="2514600"/>
            <a:ext cx="310896" cy="411480"/>
          </a:xfrm>
          <a:prstGeom prst="rightArrow">
            <a:avLst/>
          </a:prstGeom>
          <a:solidFill>
            <a:schemeClr val="accent5"/>
          </a:solidFill>
          <a:ln w="12700">
            <a:solidFill>
              <a:schemeClr val="accent5"/>
            </a:solidFill>
            <a:prstDash val="solid"/>
          </a:ln>
        </p:spPr>
      </p:sp>
      <p:sp>
        <p:nvSpPr>
          <p:cNvPr id="14" name="Shape 11"/>
          <p:cNvSpPr/>
          <p:nvPr/>
        </p:nvSpPr>
        <p:spPr>
          <a:xfrm>
            <a:off x="8229600" y="1600200"/>
            <a:ext cx="3383280" cy="2240280"/>
          </a:xfrm>
          <a:prstGeom prst="roundRect">
            <a:avLst>
              <a:gd name="adj" fmla="val 3265"/>
            </a:avLst>
          </a:prstGeom>
          <a:solidFill>
            <a:schemeClr val="accent4"/>
          </a:solidFill>
          <a:ln w="12700">
            <a:solidFill>
              <a:srgbClr val="DCD8EC"/>
            </a:solidFill>
            <a:prstDash val="solid"/>
          </a:ln>
        </p:spPr>
      </p:sp>
      <p:sp>
        <p:nvSpPr>
          <p:cNvPr id="15" name="Shape 12"/>
          <p:cNvSpPr/>
          <p:nvPr/>
        </p:nvSpPr>
        <p:spPr>
          <a:xfrm>
            <a:off x="8458200" y="1783080"/>
            <a:ext cx="2926080" cy="457200"/>
          </a:xfrm>
          <a:prstGeom prst="roundRect">
            <a:avLst>
              <a:gd name="adj" fmla="val 12000"/>
            </a:avLst>
          </a:prstGeom>
          <a:solidFill>
            <a:schemeClr val="accent3"/>
          </a:solidFill>
          <a:ln w="12700">
            <a:solidFill>
              <a:schemeClr val="accent3"/>
            </a:solidFill>
            <a:prstDash val="solid"/>
          </a:ln>
        </p:spPr>
      </p:sp>
      <p:sp>
        <p:nvSpPr>
          <p:cNvPr id="16" name="Text 13"/>
          <p:cNvSpPr txBox="1"/>
          <p:nvPr/>
        </p:nvSpPr>
        <p:spPr>
          <a:xfrm>
            <a:off x="8458200" y="1783080"/>
            <a:ext cx="2926080" cy="457200"/>
          </a:xfrm>
          <a:prstGeom prst="rect">
            <a:avLst/>
          </a:prstGeom>
          <a:noFill/>
          <a:ln/>
        </p:spPr>
        <p:txBody>
          <a:bodyPr wrap="square" lIns="0" tIns="0" rIns="0" bIns="0" rtlCol="0" anchor="ctr"/>
          <a:lstStyle/>
          <a:p>
            <a:pPr algn="ctr" indent="0" marL="0">
              <a:buNone/>
            </a:pPr>
            <a:r>
              <a:rPr lang="en-US" sz="1500" b="1" dirty="0">
                <a:solidFill>
                  <a:schemeClr val="bg1"/>
                </a:solidFill>
              </a:rPr>
              <a:t>Sprint</a:t>
            </a:r>
            <a:pPr algn="ctr" indent="0" marL="0">
              <a:buNone/>
            </a:pPr>
            <a:r>
              <a:rPr lang="en-US" sz="1500" dirty="0">
                <a:solidFill>
                  <a:schemeClr val="bg1"/>
                </a:solidFill>
              </a:rPr>
              <a:t>  ·  velocidad</a:t>
            </a:r>
            <a:endParaRPr lang="en-US" sz="1500" dirty="0"/>
          </a:p>
        </p:txBody>
      </p:sp>
      <p:sp>
        <p:nvSpPr>
          <p:cNvPr id="17" name="Text 14"/>
          <p:cNvSpPr txBox="1"/>
          <p:nvPr/>
        </p:nvSpPr>
        <p:spPr>
          <a:xfrm>
            <a:off x="8458200" y="2377440"/>
            <a:ext cx="2926080" cy="1371600"/>
          </a:xfrm>
          <a:prstGeom prst="rect">
            <a:avLst/>
          </a:prstGeom>
          <a:noFill/>
          <a:ln/>
        </p:spPr>
        <p:txBody>
          <a:bodyPr wrap="square" lIns="0" tIns="0" rIns="0" bIns="0" rtlCol="0" anchor="t"/>
          <a:lstStyle/>
          <a:p>
            <a:pPr indent="0" marL="0">
              <a:buNone/>
            </a:pPr>
            <a:r>
              <a:rPr lang="en-US" sz="1400" dirty="0">
                <a:solidFill>
                  <a:schemeClr val="tx1"/>
                </a:solidFill>
              </a:rPr>
              <a:t>Entra lo que cabe en la velocidad del equipo: los puntos que de verdad termina por sprint.</a:t>
            </a:r>
            <a:endParaRPr lang="en-US" sz="1400" dirty="0"/>
          </a:p>
        </p:txBody>
      </p:sp>
      <p:sp>
        <p:nvSpPr>
          <p:cNvPr id="18" name="Shape 15"/>
          <p:cNvSpPr/>
          <p:nvPr/>
        </p:nvSpPr>
        <p:spPr>
          <a:xfrm>
            <a:off x="548640" y="4069080"/>
            <a:ext cx="11064240" cy="1828800"/>
          </a:xfrm>
          <a:prstGeom prst="roundRect">
            <a:avLst>
              <a:gd name="adj" fmla="val 4000"/>
            </a:avLst>
          </a:prstGeom>
          <a:solidFill>
            <a:schemeClr val="bg2"/>
          </a:solidFill>
          <a:ln w="12700">
            <a:solidFill>
              <a:schemeClr val="bg2"/>
            </a:solidFill>
            <a:prstDash val="solid"/>
          </a:ln>
        </p:spPr>
      </p:sp>
      <p:sp>
        <p:nvSpPr>
          <p:cNvPr id="19" name="Text 16"/>
          <p:cNvSpPr txBox="1"/>
          <p:nvPr/>
        </p:nvSpPr>
        <p:spPr>
          <a:xfrm>
            <a:off x="822960" y="4206240"/>
            <a:ext cx="10515600" cy="365760"/>
          </a:xfrm>
          <a:prstGeom prst="rect">
            <a:avLst/>
          </a:prstGeom>
          <a:noFill/>
          <a:ln/>
        </p:spPr>
        <p:txBody>
          <a:bodyPr wrap="square" lIns="0" tIns="0" rIns="0" bIns="0" rtlCol="0" anchor="t"/>
          <a:lstStyle/>
          <a:p>
            <a:pPr indent="0" marL="0">
              <a:buNone/>
            </a:pPr>
            <a:r>
              <a:rPr lang="en-US" sz="1500" b="1" dirty="0">
                <a:solidFill>
                  <a:schemeClr val="accent1"/>
                </a:solidFill>
              </a:rPr>
              <a:t>Ejemplo · </a:t>
            </a:r>
            <a:pPr indent="0" marL="0">
              <a:buNone/>
            </a:pPr>
            <a:r>
              <a:rPr lang="en-US" sz="1500" b="1" dirty="0">
                <a:solidFill>
                  <a:schemeClr val="tx2"/>
                </a:solidFill>
              </a:rPr>
              <a:t>épica de pertinencia médica, talla XL, en el Gestor de Evaluación</a:t>
            </a:r>
            <a:endParaRPr lang="en-US" sz="1500" dirty="0"/>
          </a:p>
        </p:txBody>
      </p:sp>
      <p:sp>
        <p:nvSpPr>
          <p:cNvPr id="20" name="Shape 17"/>
          <p:cNvSpPr/>
          <p:nvPr/>
        </p:nvSpPr>
        <p:spPr>
          <a:xfrm>
            <a:off x="822960" y="4663440"/>
            <a:ext cx="2560320" cy="1051560"/>
          </a:xfrm>
          <a:prstGeom prst="roundRect">
            <a:avLst>
              <a:gd name="adj" fmla="val 6957"/>
            </a:avLst>
          </a:prstGeom>
          <a:solidFill>
            <a:schemeClr val="bg1"/>
          </a:solidFill>
          <a:ln w="12700">
            <a:solidFill>
              <a:srgbClr val="DCD8EC"/>
            </a:solidFill>
            <a:prstDash val="solid"/>
          </a:ln>
        </p:spPr>
      </p:sp>
      <p:sp>
        <p:nvSpPr>
          <p:cNvPr id="21" name="Text 18"/>
          <p:cNvSpPr txBox="1"/>
          <p:nvPr/>
        </p:nvSpPr>
        <p:spPr>
          <a:xfrm>
            <a:off x="960120" y="4736592"/>
            <a:ext cx="1737360" cy="914400"/>
          </a:xfrm>
          <a:prstGeom prst="rect">
            <a:avLst/>
          </a:prstGeom>
          <a:noFill/>
          <a:ln/>
        </p:spPr>
        <p:txBody>
          <a:bodyPr wrap="square" lIns="0" tIns="0" rIns="0" bIns="0" rtlCol="0" anchor="ctr"/>
          <a:lstStyle/>
          <a:p>
            <a:pPr indent="0" marL="0">
              <a:buNone/>
            </a:pPr>
            <a:r>
              <a:rPr lang="en-US" sz="1300" dirty="0">
                <a:solidFill>
                  <a:schemeClr val="tx1"/>
                </a:solidFill>
              </a:rPr>
              <a:t>Coherencia entre orden e historia clínica</a:t>
            </a:r>
            <a:endParaRPr lang="en-US" sz="1300" dirty="0"/>
          </a:p>
        </p:txBody>
      </p:sp>
      <p:sp>
        <p:nvSpPr>
          <p:cNvPr id="22" name="Shape 19"/>
          <p:cNvSpPr/>
          <p:nvPr/>
        </p:nvSpPr>
        <p:spPr>
          <a:xfrm>
            <a:off x="2743200" y="4910328"/>
            <a:ext cx="548640" cy="548640"/>
          </a:xfrm>
          <a:prstGeom prst="ellipse">
            <a:avLst/>
          </a:prstGeom>
          <a:solidFill>
            <a:schemeClr val="accent1"/>
          </a:solidFill>
          <a:ln w="12700">
            <a:solidFill>
              <a:schemeClr val="accent1"/>
            </a:solidFill>
            <a:prstDash val="solid"/>
          </a:ln>
        </p:spPr>
      </p:sp>
      <p:sp>
        <p:nvSpPr>
          <p:cNvPr id="23" name="Text 20"/>
          <p:cNvSpPr txBox="1"/>
          <p:nvPr/>
        </p:nvSpPr>
        <p:spPr>
          <a:xfrm>
            <a:off x="2743200" y="4910328"/>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sp>
        <p:nvSpPr>
          <p:cNvPr id="24" name="Shape 21"/>
          <p:cNvSpPr/>
          <p:nvPr/>
        </p:nvSpPr>
        <p:spPr>
          <a:xfrm>
            <a:off x="3520440" y="4663440"/>
            <a:ext cx="2560320" cy="1051560"/>
          </a:xfrm>
          <a:prstGeom prst="roundRect">
            <a:avLst>
              <a:gd name="adj" fmla="val 6957"/>
            </a:avLst>
          </a:prstGeom>
          <a:solidFill>
            <a:schemeClr val="bg1"/>
          </a:solidFill>
          <a:ln w="12700">
            <a:solidFill>
              <a:srgbClr val="DCD8EC"/>
            </a:solidFill>
            <a:prstDash val="solid"/>
          </a:ln>
        </p:spPr>
      </p:sp>
      <p:sp>
        <p:nvSpPr>
          <p:cNvPr id="25" name="Text 22"/>
          <p:cNvSpPr txBox="1"/>
          <p:nvPr/>
        </p:nvSpPr>
        <p:spPr>
          <a:xfrm>
            <a:off x="3657600" y="4736592"/>
            <a:ext cx="1737360" cy="914400"/>
          </a:xfrm>
          <a:prstGeom prst="rect">
            <a:avLst/>
          </a:prstGeom>
          <a:noFill/>
          <a:ln/>
        </p:spPr>
        <p:txBody>
          <a:bodyPr wrap="square" lIns="0" tIns="0" rIns="0" bIns="0" rtlCol="0" anchor="ctr"/>
          <a:lstStyle/>
          <a:p>
            <a:pPr indent="0" marL="0">
              <a:buNone/>
            </a:pPr>
            <a:r>
              <a:rPr lang="en-US" sz="1300" dirty="0">
                <a:solidFill>
                  <a:schemeClr val="tx1"/>
                </a:solidFill>
              </a:rPr>
              <a:t>Validación de CIE-10 y CUPS</a:t>
            </a:r>
            <a:endParaRPr lang="en-US" sz="1300" dirty="0"/>
          </a:p>
        </p:txBody>
      </p:sp>
      <p:sp>
        <p:nvSpPr>
          <p:cNvPr id="26" name="Shape 23"/>
          <p:cNvSpPr/>
          <p:nvPr/>
        </p:nvSpPr>
        <p:spPr>
          <a:xfrm>
            <a:off x="5440680" y="4910328"/>
            <a:ext cx="548640" cy="548640"/>
          </a:xfrm>
          <a:prstGeom prst="ellipse">
            <a:avLst/>
          </a:prstGeom>
          <a:solidFill>
            <a:schemeClr val="accent1"/>
          </a:solidFill>
          <a:ln w="12700">
            <a:solidFill>
              <a:schemeClr val="accent1"/>
            </a:solidFill>
            <a:prstDash val="solid"/>
          </a:ln>
        </p:spPr>
      </p:sp>
      <p:sp>
        <p:nvSpPr>
          <p:cNvPr id="27" name="Text 24"/>
          <p:cNvSpPr txBox="1"/>
          <p:nvPr/>
        </p:nvSpPr>
        <p:spPr>
          <a:xfrm>
            <a:off x="5440680" y="4910328"/>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8" name="Shape 25"/>
          <p:cNvSpPr/>
          <p:nvPr/>
        </p:nvSpPr>
        <p:spPr>
          <a:xfrm>
            <a:off x="6217920" y="4663440"/>
            <a:ext cx="2560320" cy="1051560"/>
          </a:xfrm>
          <a:prstGeom prst="roundRect">
            <a:avLst>
              <a:gd name="adj" fmla="val 6957"/>
            </a:avLst>
          </a:prstGeom>
          <a:solidFill>
            <a:schemeClr val="bg1"/>
          </a:solidFill>
          <a:ln w="12700">
            <a:solidFill>
              <a:srgbClr val="DCD8EC"/>
            </a:solidFill>
            <a:prstDash val="solid"/>
          </a:ln>
        </p:spPr>
      </p:sp>
      <p:sp>
        <p:nvSpPr>
          <p:cNvPr id="29" name="Text 26"/>
          <p:cNvSpPr txBox="1"/>
          <p:nvPr/>
        </p:nvSpPr>
        <p:spPr>
          <a:xfrm>
            <a:off x="6355080" y="4736592"/>
            <a:ext cx="1737360" cy="914400"/>
          </a:xfrm>
          <a:prstGeom prst="rect">
            <a:avLst/>
          </a:prstGeom>
          <a:noFill/>
          <a:ln/>
        </p:spPr>
        <p:txBody>
          <a:bodyPr wrap="square" lIns="0" tIns="0" rIns="0" bIns="0" rtlCol="0" anchor="ctr"/>
          <a:lstStyle/>
          <a:p>
            <a:pPr indent="0" marL="0">
              <a:buNone/>
            </a:pPr>
            <a:r>
              <a:rPr lang="en-US" sz="1300" dirty="0">
                <a:solidFill>
                  <a:schemeClr val="tx1"/>
                </a:solidFill>
              </a:rPr>
              <a:t>Score de complejidad del caso</a:t>
            </a:r>
            <a:endParaRPr lang="en-US" sz="1300" dirty="0"/>
          </a:p>
        </p:txBody>
      </p:sp>
      <p:sp>
        <p:nvSpPr>
          <p:cNvPr id="30" name="Shape 27"/>
          <p:cNvSpPr/>
          <p:nvPr/>
        </p:nvSpPr>
        <p:spPr>
          <a:xfrm>
            <a:off x="8138160" y="4910328"/>
            <a:ext cx="548640" cy="548640"/>
          </a:xfrm>
          <a:prstGeom prst="ellipse">
            <a:avLst/>
          </a:prstGeom>
          <a:solidFill>
            <a:schemeClr val="accent1"/>
          </a:solidFill>
          <a:ln w="12700">
            <a:solidFill>
              <a:schemeClr val="accent1"/>
            </a:solidFill>
            <a:prstDash val="solid"/>
          </a:ln>
        </p:spPr>
      </p:sp>
      <p:sp>
        <p:nvSpPr>
          <p:cNvPr id="31" name="Text 28"/>
          <p:cNvSpPr txBox="1"/>
          <p:nvPr/>
        </p:nvSpPr>
        <p:spPr>
          <a:xfrm>
            <a:off x="8138160" y="4910328"/>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2" name="Shape 29"/>
          <p:cNvSpPr/>
          <p:nvPr/>
        </p:nvSpPr>
        <p:spPr>
          <a:xfrm>
            <a:off x="8915400" y="4663440"/>
            <a:ext cx="2560320" cy="1051560"/>
          </a:xfrm>
          <a:prstGeom prst="roundRect">
            <a:avLst>
              <a:gd name="adj" fmla="val 6957"/>
            </a:avLst>
          </a:prstGeom>
          <a:solidFill>
            <a:schemeClr val="bg1"/>
          </a:solidFill>
          <a:ln w="12700">
            <a:solidFill>
              <a:srgbClr val="DCD8EC"/>
            </a:solidFill>
            <a:prstDash val="solid"/>
          </a:ln>
        </p:spPr>
      </p:sp>
      <p:sp>
        <p:nvSpPr>
          <p:cNvPr id="33" name="Text 30"/>
          <p:cNvSpPr txBox="1"/>
          <p:nvPr/>
        </p:nvSpPr>
        <p:spPr>
          <a:xfrm>
            <a:off x="9052560" y="4736592"/>
            <a:ext cx="1737360" cy="914400"/>
          </a:xfrm>
          <a:prstGeom prst="rect">
            <a:avLst/>
          </a:prstGeom>
          <a:noFill/>
          <a:ln/>
        </p:spPr>
        <p:txBody>
          <a:bodyPr wrap="square" lIns="0" tIns="0" rIns="0" bIns="0" rtlCol="0" anchor="ctr"/>
          <a:lstStyle/>
          <a:p>
            <a:pPr indent="0" marL="0">
              <a:buNone/>
            </a:pPr>
            <a:r>
              <a:rPr lang="en-US" sz="1300" dirty="0">
                <a:solidFill>
                  <a:schemeClr val="tx1"/>
                </a:solidFill>
              </a:rPr>
              <a:t>Concepto del agente al escalar</a:t>
            </a:r>
            <a:endParaRPr lang="en-US" sz="1300" dirty="0"/>
          </a:p>
        </p:txBody>
      </p:sp>
      <p:sp>
        <p:nvSpPr>
          <p:cNvPr id="34" name="Shape 31"/>
          <p:cNvSpPr/>
          <p:nvPr/>
        </p:nvSpPr>
        <p:spPr>
          <a:xfrm>
            <a:off x="10835640" y="4910328"/>
            <a:ext cx="548640" cy="548640"/>
          </a:xfrm>
          <a:prstGeom prst="ellipse">
            <a:avLst/>
          </a:prstGeom>
          <a:solidFill>
            <a:schemeClr val="accent1"/>
          </a:solidFill>
          <a:ln w="12700">
            <a:solidFill>
              <a:schemeClr val="accent1"/>
            </a:solidFill>
            <a:prstDash val="solid"/>
          </a:ln>
        </p:spPr>
      </p:sp>
      <p:sp>
        <p:nvSpPr>
          <p:cNvPr id="35" name="Text 32"/>
          <p:cNvSpPr txBox="1"/>
          <p:nvPr/>
        </p:nvSpPr>
        <p:spPr>
          <a:xfrm>
            <a:off x="10835640" y="4910328"/>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Las historias de usuario se escriben con SURA</a:t>
            </a:r>
            <a:endParaRPr lang="en-US" sz="2800" dirty="0"/>
          </a:p>
        </p:txBody>
      </p:sp>
      <p:sp>
        <p:nvSpPr>
          <p:cNvPr id="4" name="Shape 1"/>
          <p:cNvSpPr/>
          <p:nvPr/>
        </p:nvSpPr>
        <p:spPr>
          <a:xfrm>
            <a:off x="548640" y="1600200"/>
            <a:ext cx="4754880" cy="4297680"/>
          </a:xfrm>
          <a:prstGeom prst="roundRect">
            <a:avLst>
              <a:gd name="adj" fmla="val 1702"/>
            </a:avLst>
          </a:prstGeom>
          <a:solidFill>
            <a:schemeClr val="bg2"/>
          </a:solidFill>
          <a:ln w="12700">
            <a:solidFill>
              <a:schemeClr val="bg2"/>
            </a:solidFill>
            <a:prstDash val="solid"/>
          </a:ln>
        </p:spPr>
      </p:sp>
      <p:sp>
        <p:nvSpPr>
          <p:cNvPr id="5" name="Text 2"/>
          <p:cNvSpPr txBox="1"/>
          <p:nvPr/>
        </p:nvSpPr>
        <p:spPr>
          <a:xfrm>
            <a:off x="822960" y="1783080"/>
            <a:ext cx="4206240" cy="365760"/>
          </a:xfrm>
          <a:prstGeom prst="rect">
            <a:avLst/>
          </a:prstGeom>
          <a:noFill/>
          <a:ln/>
        </p:spPr>
        <p:txBody>
          <a:bodyPr wrap="square" lIns="0" tIns="0" rIns="0" bIns="0" rtlCol="0" anchor="t"/>
          <a:lstStyle/>
          <a:p>
            <a:pPr indent="0" marL="0">
              <a:buNone/>
            </a:pPr>
            <a:r>
              <a:rPr lang="en-US" sz="1700" b="1" dirty="0">
                <a:solidFill>
                  <a:schemeClr val="tx2"/>
                </a:solidFill>
              </a:rPr>
              <a:t>Qué trae cada historia</a:t>
            </a:r>
            <a:endParaRPr lang="en-US" sz="1700" dirty="0"/>
          </a:p>
        </p:txBody>
      </p:sp>
      <p:sp>
        <p:nvSpPr>
          <p:cNvPr id="6" name="Text 3"/>
          <p:cNvSpPr txBox="1"/>
          <p:nvPr/>
        </p:nvSpPr>
        <p:spPr>
          <a:xfrm>
            <a:off x="822960" y="2286000"/>
            <a:ext cx="4206240" cy="640080"/>
          </a:xfrm>
          <a:prstGeom prst="rect">
            <a:avLst/>
          </a:prstGeom>
          <a:noFill/>
          <a:ln/>
        </p:spPr>
        <p:txBody>
          <a:bodyPr wrap="square" lIns="0" tIns="0" rIns="0" bIns="0" rtlCol="0" anchor="t"/>
          <a:lstStyle/>
          <a:p>
            <a:pPr indent="0" marL="0">
              <a:buNone/>
            </a:pPr>
            <a:r>
              <a:rPr lang="en-US" sz="1400" b="1" dirty="0">
                <a:solidFill>
                  <a:schemeClr val="accent1"/>
                </a:solidFill>
              </a:rPr>
              <a:t>Quién</a:t>
            </a:r>
            <a:endParaRPr lang="en-US" sz="1400" dirty="0"/>
          </a:p>
          <a:p>
            <a:pPr indent="0" marL="0">
              <a:buNone/>
            </a:pPr>
            <a:r>
              <a:rPr lang="en-US" sz="1400" dirty="0">
                <a:solidFill>
                  <a:schemeClr val="tx1"/>
                </a:solidFill>
              </a:rPr>
              <a:t>el rol que usa lo que el agente produce</a:t>
            </a:r>
            <a:endParaRPr lang="en-US" sz="1400" dirty="0"/>
          </a:p>
        </p:txBody>
      </p:sp>
      <p:sp>
        <p:nvSpPr>
          <p:cNvPr id="7" name="Text 4"/>
          <p:cNvSpPr txBox="1"/>
          <p:nvPr/>
        </p:nvSpPr>
        <p:spPr>
          <a:xfrm>
            <a:off x="822960" y="2971800"/>
            <a:ext cx="4206240" cy="640080"/>
          </a:xfrm>
          <a:prstGeom prst="rect">
            <a:avLst/>
          </a:prstGeom>
          <a:noFill/>
          <a:ln/>
        </p:spPr>
        <p:txBody>
          <a:bodyPr wrap="square" lIns="0" tIns="0" rIns="0" bIns="0" rtlCol="0" anchor="t"/>
          <a:lstStyle/>
          <a:p>
            <a:pPr indent="0" marL="0">
              <a:buNone/>
            </a:pPr>
            <a:r>
              <a:rPr lang="en-US" sz="1400" b="1" dirty="0">
                <a:solidFill>
                  <a:schemeClr val="accent1"/>
                </a:solidFill>
              </a:rPr>
              <a:t>Qué y para qué</a:t>
            </a:r>
            <a:endParaRPr lang="en-US" sz="1400" dirty="0"/>
          </a:p>
          <a:p>
            <a:pPr indent="0" marL="0">
              <a:buNone/>
            </a:pPr>
            <a:r>
              <a:rPr lang="en-US" sz="1400" dirty="0">
                <a:solidFill>
                  <a:schemeClr val="tx1"/>
                </a:solidFill>
              </a:rPr>
              <a:t>lo que necesita y el valor que gana, en palabras del negocio</a:t>
            </a:r>
            <a:endParaRPr lang="en-US" sz="1400" dirty="0"/>
          </a:p>
        </p:txBody>
      </p:sp>
      <p:sp>
        <p:nvSpPr>
          <p:cNvPr id="8" name="Text 5"/>
          <p:cNvSpPr txBox="1"/>
          <p:nvPr/>
        </p:nvSpPr>
        <p:spPr>
          <a:xfrm>
            <a:off x="822960" y="3657600"/>
            <a:ext cx="4206240" cy="640080"/>
          </a:xfrm>
          <a:prstGeom prst="rect">
            <a:avLst/>
          </a:prstGeom>
          <a:noFill/>
          <a:ln/>
        </p:spPr>
        <p:txBody>
          <a:bodyPr wrap="square" lIns="0" tIns="0" rIns="0" bIns="0" rtlCol="0" anchor="t"/>
          <a:lstStyle/>
          <a:p>
            <a:pPr indent="0" marL="0">
              <a:buNone/>
            </a:pPr>
            <a:r>
              <a:rPr lang="en-US" sz="1400" b="1" dirty="0">
                <a:solidFill>
                  <a:schemeClr val="accent1"/>
                </a:solidFill>
              </a:rPr>
              <a:t>Criterios de aceptación</a:t>
            </a:r>
            <a:endParaRPr lang="en-US" sz="1400" dirty="0"/>
          </a:p>
          <a:p>
            <a:pPr indent="0" marL="0">
              <a:buNone/>
            </a:pPr>
            <a:r>
              <a:rPr lang="en-US" sz="1400" dirty="0">
                <a:solidFill>
                  <a:schemeClr val="tx1"/>
                </a:solidFill>
              </a:rPr>
              <a:t>cómo se sabe en la demo que está bien</a:t>
            </a:r>
            <a:endParaRPr lang="en-US" sz="1400" dirty="0"/>
          </a:p>
        </p:txBody>
      </p:sp>
      <p:sp>
        <p:nvSpPr>
          <p:cNvPr id="9" name="Text 6"/>
          <p:cNvSpPr txBox="1"/>
          <p:nvPr/>
        </p:nvSpPr>
        <p:spPr>
          <a:xfrm>
            <a:off x="822960" y="4343400"/>
            <a:ext cx="4206240" cy="640080"/>
          </a:xfrm>
          <a:prstGeom prst="rect">
            <a:avLst/>
          </a:prstGeom>
          <a:noFill/>
          <a:ln/>
        </p:spPr>
        <p:txBody>
          <a:bodyPr wrap="square" lIns="0" tIns="0" rIns="0" bIns="0" rtlCol="0" anchor="t"/>
          <a:lstStyle/>
          <a:p>
            <a:pPr indent="0" marL="0">
              <a:buNone/>
            </a:pPr>
            <a:r>
              <a:rPr lang="en-US" sz="1400" b="1" dirty="0">
                <a:solidFill>
                  <a:schemeClr val="accent1"/>
                </a:solidFill>
              </a:rPr>
              <a:t>Casos del golden set</a:t>
            </a:r>
            <a:endParaRPr lang="en-US" sz="1400" dirty="0"/>
          </a:p>
          <a:p>
            <a:pPr indent="0" marL="0">
              <a:buNone/>
            </a:pPr>
            <a:r>
              <a:rPr lang="en-US" sz="1400" dirty="0">
                <a:solidFill>
                  <a:schemeClr val="tx1"/>
                </a:solidFill>
              </a:rPr>
              <a:t>los ejemplos con respuesta conocida que la prueban</a:t>
            </a:r>
            <a:endParaRPr lang="en-US" sz="1400" dirty="0"/>
          </a:p>
        </p:txBody>
      </p:sp>
      <p:sp>
        <p:nvSpPr>
          <p:cNvPr id="10" name="Text 7"/>
          <p:cNvSpPr txBox="1"/>
          <p:nvPr/>
        </p:nvSpPr>
        <p:spPr>
          <a:xfrm>
            <a:off x="822960" y="5029200"/>
            <a:ext cx="4206240" cy="640080"/>
          </a:xfrm>
          <a:prstGeom prst="rect">
            <a:avLst/>
          </a:prstGeom>
          <a:noFill/>
          <a:ln/>
        </p:spPr>
        <p:txBody>
          <a:bodyPr wrap="square" lIns="0" tIns="0" rIns="0" bIns="0" rtlCol="0" anchor="t"/>
          <a:lstStyle/>
          <a:p>
            <a:pPr indent="0" marL="0">
              <a:buNone/>
            </a:pPr>
            <a:r>
              <a:rPr lang="en-US" sz="1400" b="1" dirty="0">
                <a:solidFill>
                  <a:schemeClr val="accent1"/>
                </a:solidFill>
              </a:rPr>
              <a:t>Puntos</a:t>
            </a:r>
            <a:endParaRPr lang="en-US" sz="1400" dirty="0"/>
          </a:p>
          <a:p>
            <a:pPr indent="0" marL="0">
              <a:buNone/>
            </a:pPr>
            <a:r>
              <a:rPr lang="en-US" sz="1400" dirty="0">
                <a:solidFill>
                  <a:schemeClr val="tx1"/>
                </a:solidFill>
              </a:rPr>
              <a:t>los pone el equipo; más de 13 se parte</a:t>
            </a:r>
            <a:endParaRPr lang="en-US" sz="1400" dirty="0"/>
          </a:p>
        </p:txBody>
      </p:sp>
      <p:sp>
        <p:nvSpPr>
          <p:cNvPr id="11" name="Shape 8"/>
          <p:cNvSpPr/>
          <p:nvPr/>
        </p:nvSpPr>
        <p:spPr>
          <a:xfrm>
            <a:off x="5577840" y="1600200"/>
            <a:ext cx="6062472" cy="4297680"/>
          </a:xfrm>
          <a:prstGeom prst="roundRect">
            <a:avLst>
              <a:gd name="adj" fmla="val 1702"/>
            </a:avLst>
          </a:prstGeom>
          <a:solidFill>
            <a:schemeClr val="accent4"/>
          </a:solidFill>
          <a:ln w="12700">
            <a:solidFill>
              <a:srgbClr val="DCD8EC"/>
            </a:solidFill>
            <a:prstDash val="solid"/>
          </a:ln>
        </p:spPr>
      </p:sp>
      <p:sp>
        <p:nvSpPr>
          <p:cNvPr id="12" name="Shape 9"/>
          <p:cNvSpPr/>
          <p:nvPr/>
        </p:nvSpPr>
        <p:spPr>
          <a:xfrm>
            <a:off x="5852160" y="1810512"/>
            <a:ext cx="3291840" cy="384048"/>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5852160" y="1810512"/>
            <a:ext cx="3291840" cy="384048"/>
          </a:xfrm>
          <a:prstGeom prst="rect">
            <a:avLst/>
          </a:prstGeom>
          <a:noFill/>
          <a:ln/>
        </p:spPr>
        <p:txBody>
          <a:bodyPr wrap="square" lIns="0" tIns="0" rIns="0" bIns="0" rtlCol="0" anchor="ctr"/>
          <a:lstStyle/>
          <a:p>
            <a:pPr algn="ctr" indent="0" marL="0">
              <a:buNone/>
            </a:pPr>
            <a:r>
              <a:rPr lang="en-US" sz="1300" b="1" dirty="0">
                <a:solidFill>
                  <a:schemeClr val="bg1"/>
                </a:solidFill>
              </a:rPr>
              <a:t>Ejemplo · Gestor de Evaluación</a:t>
            </a:r>
            <a:endParaRPr lang="en-US" sz="1300" dirty="0"/>
          </a:p>
        </p:txBody>
      </p:sp>
      <p:sp>
        <p:nvSpPr>
          <p:cNvPr id="14" name="Text 11"/>
          <p:cNvSpPr txBox="1"/>
          <p:nvPr/>
        </p:nvSpPr>
        <p:spPr>
          <a:xfrm>
            <a:off x="5852160" y="2377440"/>
            <a:ext cx="5513832" cy="1005840"/>
          </a:xfrm>
          <a:prstGeom prst="rect">
            <a:avLst/>
          </a:prstGeom>
          <a:noFill/>
          <a:ln/>
        </p:spPr>
        <p:txBody>
          <a:bodyPr wrap="square" lIns="0" tIns="0" rIns="0" bIns="0" rtlCol="0" anchor="t"/>
          <a:lstStyle/>
          <a:p>
            <a:pPr indent="0" marL="0">
              <a:buNone/>
            </a:pPr>
            <a:r>
              <a:rPr lang="en-US" sz="1700" dirty="0">
                <a:solidFill>
                  <a:schemeClr val="accent6"/>
                </a:solidFill>
              </a:rPr>
              <a:t>Como </a:t>
            </a:r>
            <a:pPr indent="0" marL="0">
              <a:buNone/>
            </a:pPr>
            <a:r>
              <a:rPr lang="en-US" sz="1700" b="1" dirty="0">
                <a:solidFill>
                  <a:schemeClr val="tx2"/>
                </a:solidFill>
              </a:rPr>
              <a:t>evaluador de la bandeja</a:t>
            </a:r>
            <a:pPr indent="0" marL="0">
              <a:buNone/>
            </a:pPr>
            <a:r>
              <a:rPr lang="en-US" sz="1700" dirty="0">
                <a:solidFill>
                  <a:schemeClr val="accent6"/>
                </a:solidFill>
              </a:rPr>
              <a:t>, quiero </a:t>
            </a:r>
            <a:pPr indent="0" marL="0">
              <a:buNone/>
            </a:pPr>
            <a:r>
              <a:rPr lang="en-US" sz="1700" b="1" dirty="0">
                <a:solidFill>
                  <a:schemeClr val="tx2"/>
                </a:solidFill>
              </a:rPr>
              <a:t>que la solicitud escalada llegue con el concepto del agente</a:t>
            </a:r>
            <a:pPr indent="0" marL="0">
              <a:buNone/>
            </a:pPr>
            <a:r>
              <a:rPr lang="en-US" sz="1700" dirty="0">
                <a:solidFill>
                  <a:schemeClr val="accent6"/>
                </a:solidFill>
              </a:rPr>
              <a:t>, para </a:t>
            </a:r>
            <a:pPr indent="0" marL="0">
              <a:buNone/>
            </a:pPr>
            <a:r>
              <a:rPr lang="en-US" sz="1700" b="1" dirty="0">
                <a:solidFill>
                  <a:schemeClr val="tx2"/>
                </a:solidFill>
              </a:rPr>
              <a:t>no empezar la revisión de cero.</a:t>
            </a:r>
            <a:endParaRPr lang="en-US" sz="1700" dirty="0"/>
          </a:p>
        </p:txBody>
      </p:sp>
      <p:sp>
        <p:nvSpPr>
          <p:cNvPr id="15" name="Text 12"/>
          <p:cNvSpPr txBox="1"/>
          <p:nvPr/>
        </p:nvSpPr>
        <p:spPr>
          <a:xfrm>
            <a:off x="5852160" y="3474720"/>
            <a:ext cx="5513832" cy="320040"/>
          </a:xfrm>
          <a:prstGeom prst="rect">
            <a:avLst/>
          </a:prstGeom>
          <a:noFill/>
          <a:ln/>
        </p:spPr>
        <p:txBody>
          <a:bodyPr wrap="square" lIns="0" tIns="0" rIns="0" bIns="0" rtlCol="0" anchor="t"/>
          <a:lstStyle/>
          <a:p>
            <a:pPr indent="0" marL="0">
              <a:buNone/>
            </a:pPr>
            <a:r>
              <a:rPr lang="en-US" sz="1400" b="1" dirty="0">
                <a:solidFill>
                  <a:schemeClr val="accent2"/>
                </a:solidFill>
              </a:rPr>
              <a:t>Criterios de aceptación</a:t>
            </a:r>
            <a:endParaRPr lang="en-US" sz="1400" dirty="0"/>
          </a:p>
        </p:txBody>
      </p:sp>
      <p:sp>
        <p:nvSpPr>
          <p:cNvPr id="16" name="Text 13"/>
          <p:cNvSpPr txBox="1"/>
          <p:nvPr/>
        </p:nvSpPr>
        <p:spPr>
          <a:xfrm>
            <a:off x="5852160" y="3840480"/>
            <a:ext cx="5513832" cy="19202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El concepto dice qué se evaluó, contra qué regla y con qué confianza.</a:t>
            </a:r>
            <a:endParaRPr lang="en-US" sz="1400" dirty="0"/>
          </a:p>
          <a:p>
            <a:pPr marL="342900" indent="-342900">
              <a:spcAft>
                <a:spcPts val="400"/>
              </a:spcAft>
              <a:buSzPct val="100000"/>
              <a:buChar char="•"/>
            </a:pPr>
            <a:r>
              <a:rPr lang="en-US" sz="1400" dirty="0">
                <a:solidFill>
                  <a:schemeClr val="tx1"/>
                </a:solidFill>
              </a:rPr>
              <a:t>Dice por qué escala; ningún caso se niega de forma automática.</a:t>
            </a:r>
            <a:endParaRPr lang="en-US" sz="1400" dirty="0"/>
          </a:p>
          <a:p>
            <a:pPr marL="342900" indent="-342900">
              <a:spcAft>
                <a:spcPts val="400"/>
              </a:spcAft>
              <a:buSzPct val="100000"/>
              <a:buChar char="•"/>
            </a:pPr>
            <a:r>
              <a:rPr lang="en-US" sz="1400" dirty="0">
                <a:solidFill>
                  <a:schemeClr val="tx1"/>
                </a:solidFill>
              </a:rPr>
              <a:t>La decisión queda en la traza con agente, versión y umbral.</a:t>
            </a:r>
            <a:endParaRPr lang="en-US" sz="1400" dirty="0"/>
          </a:p>
          <a:p>
            <a:pPr marL="342900" indent="-342900">
              <a:spcAft>
                <a:spcPts val="400"/>
              </a:spcAft>
              <a:buSzPct val="100000"/>
              <a:buChar char="•"/>
            </a:pPr>
            <a:r>
              <a:rPr lang="en-US" sz="1400" dirty="0">
                <a:solidFill>
                  <a:schemeClr val="tx1"/>
                </a:solidFill>
              </a:rPr>
              <a:t>Los casos de escalamiento del golden set pasan sin regresión.</a:t>
            </a:r>
            <a:endParaRPr lang="en-US" sz="14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Un sprint de diez días hábiles: tres citas con SURA, el resto en casa</a:t>
            </a:r>
            <a:endParaRPr lang="en-US" sz="2800" dirty="0"/>
          </a:p>
        </p:txBody>
      </p:sp>
      <p:sp>
        <p:nvSpPr>
          <p:cNvPr id="4" name="Shape 1"/>
          <p:cNvSpPr/>
          <p:nvPr/>
        </p:nvSpPr>
        <p:spPr>
          <a:xfrm>
            <a:off x="548640" y="1645920"/>
            <a:ext cx="1024128" cy="457200"/>
          </a:xfrm>
          <a:prstGeom prst="roundRect">
            <a:avLst>
              <a:gd name="adj" fmla="val 12000"/>
            </a:avLst>
          </a:prstGeom>
          <a:solidFill>
            <a:schemeClr val="bg2"/>
          </a:solidFill>
          <a:ln w="12700">
            <a:solidFill>
              <a:schemeClr val="bg2"/>
            </a:solidFill>
            <a:prstDash val="solid"/>
          </a:ln>
        </p:spPr>
      </p:sp>
      <p:sp>
        <p:nvSpPr>
          <p:cNvPr id="5" name="Text 2"/>
          <p:cNvSpPr txBox="1"/>
          <p:nvPr/>
        </p:nvSpPr>
        <p:spPr>
          <a:xfrm>
            <a:off x="548640" y="1645920"/>
            <a:ext cx="1024128" cy="457200"/>
          </a:xfrm>
          <a:prstGeom prst="rect">
            <a:avLst/>
          </a:prstGeom>
          <a:noFill/>
          <a:ln/>
        </p:spPr>
        <p:txBody>
          <a:bodyPr wrap="square" lIns="0" tIns="0" rIns="0" bIns="0" rtlCol="0" anchor="ctr"/>
          <a:lstStyle/>
          <a:p>
            <a:pPr algn="ctr" indent="0" marL="0">
              <a:buNone/>
            </a:pPr>
            <a:r>
              <a:rPr lang="en-US" sz="1300" b="1" dirty="0">
                <a:solidFill>
                  <a:schemeClr val="tx2"/>
                </a:solidFill>
              </a:rPr>
              <a:t>Día 1</a:t>
            </a:r>
            <a:endParaRPr lang="en-US" sz="1300" dirty="0"/>
          </a:p>
        </p:txBody>
      </p:sp>
      <p:sp>
        <p:nvSpPr>
          <p:cNvPr id="6" name="Shape 3"/>
          <p:cNvSpPr/>
          <p:nvPr/>
        </p:nvSpPr>
        <p:spPr>
          <a:xfrm>
            <a:off x="1664208" y="1645920"/>
            <a:ext cx="1024128" cy="457200"/>
          </a:xfrm>
          <a:prstGeom prst="roundRect">
            <a:avLst>
              <a:gd name="adj" fmla="val 12000"/>
            </a:avLst>
          </a:prstGeom>
          <a:solidFill>
            <a:schemeClr val="bg2"/>
          </a:solidFill>
          <a:ln w="12700">
            <a:solidFill>
              <a:schemeClr val="bg2"/>
            </a:solidFill>
            <a:prstDash val="solid"/>
          </a:ln>
        </p:spPr>
      </p:sp>
      <p:sp>
        <p:nvSpPr>
          <p:cNvPr id="7" name="Text 4"/>
          <p:cNvSpPr txBox="1"/>
          <p:nvPr/>
        </p:nvSpPr>
        <p:spPr>
          <a:xfrm>
            <a:off x="1664208" y="1645920"/>
            <a:ext cx="1024128" cy="457200"/>
          </a:xfrm>
          <a:prstGeom prst="rect">
            <a:avLst/>
          </a:prstGeom>
          <a:noFill/>
          <a:ln/>
        </p:spPr>
        <p:txBody>
          <a:bodyPr wrap="square" lIns="0" tIns="0" rIns="0" bIns="0" rtlCol="0" anchor="ctr"/>
          <a:lstStyle/>
          <a:p>
            <a:pPr algn="ctr" indent="0" marL="0">
              <a:buNone/>
            </a:pPr>
            <a:r>
              <a:rPr lang="en-US" sz="1300" b="1" dirty="0">
                <a:solidFill>
                  <a:schemeClr val="tx2"/>
                </a:solidFill>
              </a:rPr>
              <a:t>Día 2</a:t>
            </a:r>
            <a:endParaRPr lang="en-US" sz="1300" dirty="0"/>
          </a:p>
        </p:txBody>
      </p:sp>
      <p:sp>
        <p:nvSpPr>
          <p:cNvPr id="8" name="Shape 5"/>
          <p:cNvSpPr/>
          <p:nvPr/>
        </p:nvSpPr>
        <p:spPr>
          <a:xfrm>
            <a:off x="2779776" y="1645920"/>
            <a:ext cx="1024128" cy="457200"/>
          </a:xfrm>
          <a:prstGeom prst="roundRect">
            <a:avLst>
              <a:gd name="adj" fmla="val 12000"/>
            </a:avLst>
          </a:prstGeom>
          <a:solidFill>
            <a:schemeClr val="bg2"/>
          </a:solidFill>
          <a:ln w="12700">
            <a:solidFill>
              <a:schemeClr val="bg2"/>
            </a:solidFill>
            <a:prstDash val="solid"/>
          </a:ln>
        </p:spPr>
      </p:sp>
      <p:sp>
        <p:nvSpPr>
          <p:cNvPr id="9" name="Text 6"/>
          <p:cNvSpPr txBox="1"/>
          <p:nvPr/>
        </p:nvSpPr>
        <p:spPr>
          <a:xfrm>
            <a:off x="2779776" y="1645920"/>
            <a:ext cx="1024128" cy="457200"/>
          </a:xfrm>
          <a:prstGeom prst="rect">
            <a:avLst/>
          </a:prstGeom>
          <a:noFill/>
          <a:ln/>
        </p:spPr>
        <p:txBody>
          <a:bodyPr wrap="square" lIns="0" tIns="0" rIns="0" bIns="0" rtlCol="0" anchor="ctr"/>
          <a:lstStyle/>
          <a:p>
            <a:pPr algn="ctr" indent="0" marL="0">
              <a:buNone/>
            </a:pPr>
            <a:r>
              <a:rPr lang="en-US" sz="1300" b="1" dirty="0">
                <a:solidFill>
                  <a:schemeClr val="tx2"/>
                </a:solidFill>
              </a:rPr>
              <a:t>Día 3</a:t>
            </a:r>
            <a:endParaRPr lang="en-US" sz="1300" dirty="0"/>
          </a:p>
        </p:txBody>
      </p:sp>
      <p:sp>
        <p:nvSpPr>
          <p:cNvPr id="10" name="Shape 7"/>
          <p:cNvSpPr/>
          <p:nvPr/>
        </p:nvSpPr>
        <p:spPr>
          <a:xfrm>
            <a:off x="3895344" y="1645920"/>
            <a:ext cx="1024128" cy="457200"/>
          </a:xfrm>
          <a:prstGeom prst="roundRect">
            <a:avLst>
              <a:gd name="adj" fmla="val 12000"/>
            </a:avLst>
          </a:prstGeom>
          <a:solidFill>
            <a:schemeClr val="bg2"/>
          </a:solidFill>
          <a:ln w="12700">
            <a:solidFill>
              <a:schemeClr val="bg2"/>
            </a:solidFill>
            <a:prstDash val="solid"/>
          </a:ln>
        </p:spPr>
      </p:sp>
      <p:sp>
        <p:nvSpPr>
          <p:cNvPr id="11" name="Text 8"/>
          <p:cNvSpPr txBox="1"/>
          <p:nvPr/>
        </p:nvSpPr>
        <p:spPr>
          <a:xfrm>
            <a:off x="3895344" y="1645920"/>
            <a:ext cx="1024128" cy="457200"/>
          </a:xfrm>
          <a:prstGeom prst="rect">
            <a:avLst/>
          </a:prstGeom>
          <a:noFill/>
          <a:ln/>
        </p:spPr>
        <p:txBody>
          <a:bodyPr wrap="square" lIns="0" tIns="0" rIns="0" bIns="0" rtlCol="0" anchor="ctr"/>
          <a:lstStyle/>
          <a:p>
            <a:pPr algn="ctr" indent="0" marL="0">
              <a:buNone/>
            </a:pPr>
            <a:r>
              <a:rPr lang="en-US" sz="1300" b="1" dirty="0">
                <a:solidFill>
                  <a:schemeClr val="tx2"/>
                </a:solidFill>
              </a:rPr>
              <a:t>Día 4</a:t>
            </a:r>
            <a:endParaRPr lang="en-US" sz="1300" dirty="0"/>
          </a:p>
        </p:txBody>
      </p:sp>
      <p:sp>
        <p:nvSpPr>
          <p:cNvPr id="12" name="Shape 9"/>
          <p:cNvSpPr/>
          <p:nvPr/>
        </p:nvSpPr>
        <p:spPr>
          <a:xfrm>
            <a:off x="5010912" y="1645920"/>
            <a:ext cx="1024128" cy="457200"/>
          </a:xfrm>
          <a:prstGeom prst="roundRect">
            <a:avLst>
              <a:gd name="adj" fmla="val 12000"/>
            </a:avLst>
          </a:prstGeom>
          <a:solidFill>
            <a:schemeClr val="bg2"/>
          </a:solidFill>
          <a:ln w="12700">
            <a:solidFill>
              <a:schemeClr val="bg2"/>
            </a:solidFill>
            <a:prstDash val="solid"/>
          </a:ln>
        </p:spPr>
      </p:sp>
      <p:sp>
        <p:nvSpPr>
          <p:cNvPr id="13" name="Text 10"/>
          <p:cNvSpPr txBox="1"/>
          <p:nvPr/>
        </p:nvSpPr>
        <p:spPr>
          <a:xfrm>
            <a:off x="5010912" y="1645920"/>
            <a:ext cx="1024128" cy="457200"/>
          </a:xfrm>
          <a:prstGeom prst="rect">
            <a:avLst/>
          </a:prstGeom>
          <a:noFill/>
          <a:ln/>
        </p:spPr>
        <p:txBody>
          <a:bodyPr wrap="square" lIns="0" tIns="0" rIns="0" bIns="0" rtlCol="0" anchor="ctr"/>
          <a:lstStyle/>
          <a:p>
            <a:pPr algn="ctr" indent="0" marL="0">
              <a:buNone/>
            </a:pPr>
            <a:r>
              <a:rPr lang="en-US" sz="1300" b="1" dirty="0">
                <a:solidFill>
                  <a:schemeClr val="tx2"/>
                </a:solidFill>
              </a:rPr>
              <a:t>Día 5</a:t>
            </a:r>
            <a:endParaRPr lang="en-US" sz="1300" dirty="0"/>
          </a:p>
        </p:txBody>
      </p:sp>
      <p:sp>
        <p:nvSpPr>
          <p:cNvPr id="14" name="Shape 11"/>
          <p:cNvSpPr/>
          <p:nvPr/>
        </p:nvSpPr>
        <p:spPr>
          <a:xfrm>
            <a:off x="6126480" y="1645920"/>
            <a:ext cx="1024128" cy="457200"/>
          </a:xfrm>
          <a:prstGeom prst="roundRect">
            <a:avLst>
              <a:gd name="adj" fmla="val 12000"/>
            </a:avLst>
          </a:prstGeom>
          <a:solidFill>
            <a:schemeClr val="bg2"/>
          </a:solidFill>
          <a:ln w="12700">
            <a:solidFill>
              <a:schemeClr val="bg2"/>
            </a:solidFill>
            <a:prstDash val="solid"/>
          </a:ln>
        </p:spPr>
      </p:sp>
      <p:sp>
        <p:nvSpPr>
          <p:cNvPr id="15" name="Text 12"/>
          <p:cNvSpPr txBox="1"/>
          <p:nvPr/>
        </p:nvSpPr>
        <p:spPr>
          <a:xfrm>
            <a:off x="6126480" y="1645920"/>
            <a:ext cx="1024128" cy="457200"/>
          </a:xfrm>
          <a:prstGeom prst="rect">
            <a:avLst/>
          </a:prstGeom>
          <a:noFill/>
          <a:ln/>
        </p:spPr>
        <p:txBody>
          <a:bodyPr wrap="square" lIns="0" tIns="0" rIns="0" bIns="0" rtlCol="0" anchor="ctr"/>
          <a:lstStyle/>
          <a:p>
            <a:pPr algn="ctr" indent="0" marL="0">
              <a:buNone/>
            </a:pPr>
            <a:r>
              <a:rPr lang="en-US" sz="1300" b="1" dirty="0">
                <a:solidFill>
                  <a:schemeClr val="tx2"/>
                </a:solidFill>
              </a:rPr>
              <a:t>Día 6</a:t>
            </a:r>
            <a:endParaRPr lang="en-US" sz="1300" dirty="0"/>
          </a:p>
        </p:txBody>
      </p:sp>
      <p:sp>
        <p:nvSpPr>
          <p:cNvPr id="16" name="Shape 13"/>
          <p:cNvSpPr/>
          <p:nvPr/>
        </p:nvSpPr>
        <p:spPr>
          <a:xfrm>
            <a:off x="7242048" y="1645920"/>
            <a:ext cx="1024128" cy="457200"/>
          </a:xfrm>
          <a:prstGeom prst="roundRect">
            <a:avLst>
              <a:gd name="adj" fmla="val 12000"/>
            </a:avLst>
          </a:prstGeom>
          <a:solidFill>
            <a:schemeClr val="bg2"/>
          </a:solidFill>
          <a:ln w="12700">
            <a:solidFill>
              <a:schemeClr val="bg2"/>
            </a:solidFill>
            <a:prstDash val="solid"/>
          </a:ln>
        </p:spPr>
      </p:sp>
      <p:sp>
        <p:nvSpPr>
          <p:cNvPr id="17" name="Text 14"/>
          <p:cNvSpPr txBox="1"/>
          <p:nvPr/>
        </p:nvSpPr>
        <p:spPr>
          <a:xfrm>
            <a:off x="7242048" y="1645920"/>
            <a:ext cx="1024128" cy="457200"/>
          </a:xfrm>
          <a:prstGeom prst="rect">
            <a:avLst/>
          </a:prstGeom>
          <a:noFill/>
          <a:ln/>
        </p:spPr>
        <p:txBody>
          <a:bodyPr wrap="square" lIns="0" tIns="0" rIns="0" bIns="0" rtlCol="0" anchor="ctr"/>
          <a:lstStyle/>
          <a:p>
            <a:pPr algn="ctr" indent="0" marL="0">
              <a:buNone/>
            </a:pPr>
            <a:r>
              <a:rPr lang="en-US" sz="1300" b="1" dirty="0">
                <a:solidFill>
                  <a:schemeClr val="tx2"/>
                </a:solidFill>
              </a:rPr>
              <a:t>Día 7</a:t>
            </a:r>
            <a:endParaRPr lang="en-US" sz="1300" dirty="0"/>
          </a:p>
        </p:txBody>
      </p:sp>
      <p:sp>
        <p:nvSpPr>
          <p:cNvPr id="18" name="Shape 15"/>
          <p:cNvSpPr/>
          <p:nvPr/>
        </p:nvSpPr>
        <p:spPr>
          <a:xfrm>
            <a:off x="8357616" y="1645920"/>
            <a:ext cx="1024128" cy="457200"/>
          </a:xfrm>
          <a:prstGeom prst="roundRect">
            <a:avLst>
              <a:gd name="adj" fmla="val 12000"/>
            </a:avLst>
          </a:prstGeom>
          <a:solidFill>
            <a:schemeClr val="bg2"/>
          </a:solidFill>
          <a:ln w="12700">
            <a:solidFill>
              <a:schemeClr val="bg2"/>
            </a:solidFill>
            <a:prstDash val="solid"/>
          </a:ln>
        </p:spPr>
      </p:sp>
      <p:sp>
        <p:nvSpPr>
          <p:cNvPr id="19" name="Text 16"/>
          <p:cNvSpPr txBox="1"/>
          <p:nvPr/>
        </p:nvSpPr>
        <p:spPr>
          <a:xfrm>
            <a:off x="8357616" y="1645920"/>
            <a:ext cx="1024128" cy="457200"/>
          </a:xfrm>
          <a:prstGeom prst="rect">
            <a:avLst/>
          </a:prstGeom>
          <a:noFill/>
          <a:ln/>
        </p:spPr>
        <p:txBody>
          <a:bodyPr wrap="square" lIns="0" tIns="0" rIns="0" bIns="0" rtlCol="0" anchor="ctr"/>
          <a:lstStyle/>
          <a:p>
            <a:pPr algn="ctr" indent="0" marL="0">
              <a:buNone/>
            </a:pPr>
            <a:r>
              <a:rPr lang="en-US" sz="1300" b="1" dirty="0">
                <a:solidFill>
                  <a:schemeClr val="tx2"/>
                </a:solidFill>
              </a:rPr>
              <a:t>Día 8</a:t>
            </a:r>
            <a:endParaRPr lang="en-US" sz="1300" dirty="0"/>
          </a:p>
        </p:txBody>
      </p:sp>
      <p:sp>
        <p:nvSpPr>
          <p:cNvPr id="20" name="Shape 17"/>
          <p:cNvSpPr/>
          <p:nvPr/>
        </p:nvSpPr>
        <p:spPr>
          <a:xfrm>
            <a:off x="9473184" y="1645920"/>
            <a:ext cx="1024128" cy="457200"/>
          </a:xfrm>
          <a:prstGeom prst="roundRect">
            <a:avLst>
              <a:gd name="adj" fmla="val 12000"/>
            </a:avLst>
          </a:prstGeom>
          <a:solidFill>
            <a:schemeClr val="bg2"/>
          </a:solidFill>
          <a:ln w="12700">
            <a:solidFill>
              <a:schemeClr val="bg2"/>
            </a:solidFill>
            <a:prstDash val="solid"/>
          </a:ln>
        </p:spPr>
      </p:sp>
      <p:sp>
        <p:nvSpPr>
          <p:cNvPr id="21" name="Text 18"/>
          <p:cNvSpPr txBox="1"/>
          <p:nvPr/>
        </p:nvSpPr>
        <p:spPr>
          <a:xfrm>
            <a:off x="9473184" y="1645920"/>
            <a:ext cx="1024128" cy="457200"/>
          </a:xfrm>
          <a:prstGeom prst="rect">
            <a:avLst/>
          </a:prstGeom>
          <a:noFill/>
          <a:ln/>
        </p:spPr>
        <p:txBody>
          <a:bodyPr wrap="square" lIns="0" tIns="0" rIns="0" bIns="0" rtlCol="0" anchor="ctr"/>
          <a:lstStyle/>
          <a:p>
            <a:pPr algn="ctr" indent="0" marL="0">
              <a:buNone/>
            </a:pPr>
            <a:r>
              <a:rPr lang="en-US" sz="1300" b="1" dirty="0">
                <a:solidFill>
                  <a:schemeClr val="tx2"/>
                </a:solidFill>
              </a:rPr>
              <a:t>Día 9</a:t>
            </a:r>
            <a:endParaRPr lang="en-US" sz="1300" dirty="0"/>
          </a:p>
        </p:txBody>
      </p:sp>
      <p:sp>
        <p:nvSpPr>
          <p:cNvPr id="22" name="Shape 19"/>
          <p:cNvSpPr/>
          <p:nvPr/>
        </p:nvSpPr>
        <p:spPr>
          <a:xfrm>
            <a:off x="10588752" y="1645920"/>
            <a:ext cx="1024128" cy="457200"/>
          </a:xfrm>
          <a:prstGeom prst="roundRect">
            <a:avLst>
              <a:gd name="adj" fmla="val 12000"/>
            </a:avLst>
          </a:prstGeom>
          <a:solidFill>
            <a:schemeClr val="bg2"/>
          </a:solidFill>
          <a:ln w="12700">
            <a:solidFill>
              <a:schemeClr val="bg2"/>
            </a:solidFill>
            <a:prstDash val="solid"/>
          </a:ln>
        </p:spPr>
      </p:sp>
      <p:sp>
        <p:nvSpPr>
          <p:cNvPr id="23" name="Text 20"/>
          <p:cNvSpPr txBox="1"/>
          <p:nvPr/>
        </p:nvSpPr>
        <p:spPr>
          <a:xfrm>
            <a:off x="10588752" y="1645920"/>
            <a:ext cx="1024128" cy="457200"/>
          </a:xfrm>
          <a:prstGeom prst="rect">
            <a:avLst/>
          </a:prstGeom>
          <a:noFill/>
          <a:ln/>
        </p:spPr>
        <p:txBody>
          <a:bodyPr wrap="square" lIns="0" tIns="0" rIns="0" bIns="0" rtlCol="0" anchor="ctr"/>
          <a:lstStyle/>
          <a:p>
            <a:pPr algn="ctr" indent="0" marL="0">
              <a:buNone/>
            </a:pPr>
            <a:r>
              <a:rPr lang="en-US" sz="1300" b="1" dirty="0">
                <a:solidFill>
                  <a:schemeClr val="tx2"/>
                </a:solidFill>
              </a:rPr>
              <a:t>Día 10</a:t>
            </a:r>
            <a:endParaRPr lang="en-US" sz="1300" dirty="0"/>
          </a:p>
        </p:txBody>
      </p:sp>
      <p:sp>
        <p:nvSpPr>
          <p:cNvPr id="24" name="Shape 21"/>
          <p:cNvSpPr/>
          <p:nvPr/>
        </p:nvSpPr>
        <p:spPr>
          <a:xfrm>
            <a:off x="548640" y="2286000"/>
            <a:ext cx="11064240" cy="411480"/>
          </a:xfrm>
          <a:prstGeom prst="roundRect">
            <a:avLst>
              <a:gd name="adj" fmla="val 13333"/>
            </a:avLst>
          </a:prstGeom>
          <a:solidFill>
            <a:schemeClr val="accent1"/>
          </a:solidFill>
          <a:ln w="12700">
            <a:solidFill>
              <a:schemeClr val="accent1"/>
            </a:solidFill>
            <a:prstDash val="solid"/>
          </a:ln>
        </p:spPr>
      </p:sp>
      <p:sp>
        <p:nvSpPr>
          <p:cNvPr id="25" name="Text 22"/>
          <p:cNvSpPr txBox="1"/>
          <p:nvPr/>
        </p:nvSpPr>
        <p:spPr>
          <a:xfrm>
            <a:off x="621792" y="2286000"/>
            <a:ext cx="10917936" cy="411480"/>
          </a:xfrm>
          <a:prstGeom prst="rect">
            <a:avLst/>
          </a:prstGeom>
          <a:noFill/>
          <a:ln/>
        </p:spPr>
        <p:txBody>
          <a:bodyPr wrap="square" lIns="0" tIns="0" rIns="0" bIns="0" rtlCol="0" anchor="ctr"/>
          <a:lstStyle/>
          <a:p>
            <a:pPr algn="ctr" indent="0" marL="0">
              <a:buNone/>
            </a:pPr>
            <a:r>
              <a:rPr lang="en-US" sz="1200" b="1" dirty="0">
                <a:solidFill>
                  <a:schemeClr val="bg1"/>
                </a:solidFill>
              </a:rPr>
              <a:t>Daily · 15 min, todos los días</a:t>
            </a:r>
            <a:endParaRPr lang="en-US" sz="1200" dirty="0"/>
          </a:p>
        </p:txBody>
      </p:sp>
      <p:sp>
        <p:nvSpPr>
          <p:cNvPr id="26" name="Shape 23"/>
          <p:cNvSpPr/>
          <p:nvPr/>
        </p:nvSpPr>
        <p:spPr>
          <a:xfrm>
            <a:off x="548640" y="2788920"/>
            <a:ext cx="2139696" cy="411480"/>
          </a:xfrm>
          <a:prstGeom prst="roundRect">
            <a:avLst>
              <a:gd name="adj" fmla="val 13333"/>
            </a:avLst>
          </a:prstGeom>
          <a:solidFill>
            <a:schemeClr val="accent1"/>
          </a:solidFill>
          <a:ln w="12700">
            <a:solidFill>
              <a:schemeClr val="accent1"/>
            </a:solidFill>
            <a:prstDash val="solid"/>
          </a:ln>
        </p:spPr>
      </p:sp>
      <p:sp>
        <p:nvSpPr>
          <p:cNvPr id="27" name="Text 24"/>
          <p:cNvSpPr txBox="1"/>
          <p:nvPr/>
        </p:nvSpPr>
        <p:spPr>
          <a:xfrm>
            <a:off x="621792" y="2788920"/>
            <a:ext cx="1993392" cy="411480"/>
          </a:xfrm>
          <a:prstGeom prst="rect">
            <a:avLst/>
          </a:prstGeom>
          <a:noFill/>
          <a:ln/>
        </p:spPr>
        <p:txBody>
          <a:bodyPr wrap="square" lIns="0" tIns="0" rIns="0" bIns="0" rtlCol="0" anchor="ctr"/>
          <a:lstStyle/>
          <a:p>
            <a:pPr algn="ctr" indent="0" marL="0">
              <a:buNone/>
            </a:pPr>
            <a:r>
              <a:rPr lang="en-US" sz="1200" b="1" dirty="0">
                <a:solidFill>
                  <a:schemeClr val="bg1"/>
                </a:solidFill>
              </a:rPr>
              <a:t>Planning · 2 h</a:t>
            </a:r>
            <a:endParaRPr lang="en-US" sz="1200" dirty="0"/>
          </a:p>
        </p:txBody>
      </p:sp>
      <p:sp>
        <p:nvSpPr>
          <p:cNvPr id="28" name="Shape 25"/>
          <p:cNvSpPr/>
          <p:nvPr/>
        </p:nvSpPr>
        <p:spPr>
          <a:xfrm>
            <a:off x="2779776" y="2788920"/>
            <a:ext cx="2139696" cy="411480"/>
          </a:xfrm>
          <a:prstGeom prst="roundRect">
            <a:avLst>
              <a:gd name="adj" fmla="val 13333"/>
            </a:avLst>
          </a:prstGeom>
          <a:solidFill>
            <a:schemeClr val="accent3"/>
          </a:solidFill>
          <a:ln w="12700">
            <a:solidFill>
              <a:schemeClr val="accent3"/>
            </a:solidFill>
            <a:prstDash val="solid"/>
          </a:ln>
        </p:spPr>
      </p:sp>
      <p:sp>
        <p:nvSpPr>
          <p:cNvPr id="29" name="Text 26"/>
          <p:cNvSpPr txBox="1"/>
          <p:nvPr/>
        </p:nvSpPr>
        <p:spPr>
          <a:xfrm>
            <a:off x="2852928" y="2788920"/>
            <a:ext cx="1993392" cy="411480"/>
          </a:xfrm>
          <a:prstGeom prst="rect">
            <a:avLst/>
          </a:prstGeom>
          <a:noFill/>
          <a:ln/>
        </p:spPr>
        <p:txBody>
          <a:bodyPr wrap="square" lIns="0" tIns="0" rIns="0" bIns="0" rtlCol="0" anchor="ctr"/>
          <a:lstStyle/>
          <a:p>
            <a:pPr algn="ctr" indent="0" marL="0">
              <a:buNone/>
            </a:pPr>
            <a:r>
              <a:rPr lang="en-US" sz="1200" b="1" dirty="0">
                <a:solidFill>
                  <a:schemeClr val="bg1"/>
                </a:solidFill>
              </a:rPr>
              <a:t>Arquitectura SURA · 1 h</a:t>
            </a:r>
            <a:endParaRPr lang="en-US" sz="1200" dirty="0"/>
          </a:p>
        </p:txBody>
      </p:sp>
      <p:sp>
        <p:nvSpPr>
          <p:cNvPr id="30" name="Shape 27"/>
          <p:cNvSpPr/>
          <p:nvPr/>
        </p:nvSpPr>
        <p:spPr>
          <a:xfrm>
            <a:off x="5010912" y="2788920"/>
            <a:ext cx="2139696" cy="411480"/>
          </a:xfrm>
          <a:prstGeom prst="roundRect">
            <a:avLst>
              <a:gd name="adj" fmla="val 13333"/>
            </a:avLst>
          </a:prstGeom>
          <a:solidFill>
            <a:schemeClr val="accent3"/>
          </a:solidFill>
          <a:ln w="12700">
            <a:solidFill>
              <a:schemeClr val="accent3"/>
            </a:solidFill>
            <a:prstDash val="solid"/>
          </a:ln>
        </p:spPr>
      </p:sp>
      <p:sp>
        <p:nvSpPr>
          <p:cNvPr id="31" name="Text 28"/>
          <p:cNvSpPr txBox="1"/>
          <p:nvPr/>
        </p:nvSpPr>
        <p:spPr>
          <a:xfrm>
            <a:off x="5084064" y="2788920"/>
            <a:ext cx="1993392" cy="411480"/>
          </a:xfrm>
          <a:prstGeom prst="rect">
            <a:avLst/>
          </a:prstGeom>
          <a:noFill/>
          <a:ln/>
        </p:spPr>
        <p:txBody>
          <a:bodyPr wrap="square" lIns="0" tIns="0" rIns="0" bIns="0" rtlCol="0" anchor="ctr"/>
          <a:lstStyle/>
          <a:p>
            <a:pPr algn="ctr" indent="0" marL="0">
              <a:buNone/>
            </a:pPr>
            <a:r>
              <a:rPr lang="en-US" sz="1200" b="1" dirty="0">
                <a:solidFill>
                  <a:schemeClr val="bg1"/>
                </a:solidFill>
              </a:rPr>
              <a:t>Historias con SURA · 1,5 h</a:t>
            </a:r>
            <a:endParaRPr lang="en-US" sz="1200" dirty="0"/>
          </a:p>
        </p:txBody>
      </p:sp>
      <p:sp>
        <p:nvSpPr>
          <p:cNvPr id="32" name="Shape 29"/>
          <p:cNvSpPr/>
          <p:nvPr/>
        </p:nvSpPr>
        <p:spPr>
          <a:xfrm>
            <a:off x="7242048" y="2788920"/>
            <a:ext cx="2139696" cy="411480"/>
          </a:xfrm>
          <a:prstGeom prst="roundRect">
            <a:avLst>
              <a:gd name="adj" fmla="val 13333"/>
            </a:avLst>
          </a:prstGeom>
          <a:solidFill>
            <a:schemeClr val="accent1"/>
          </a:solidFill>
          <a:ln w="12700">
            <a:solidFill>
              <a:schemeClr val="accent1"/>
            </a:solidFill>
            <a:prstDash val="solid"/>
          </a:ln>
        </p:spPr>
      </p:sp>
      <p:sp>
        <p:nvSpPr>
          <p:cNvPr id="33" name="Text 30"/>
          <p:cNvSpPr txBox="1"/>
          <p:nvPr/>
        </p:nvSpPr>
        <p:spPr>
          <a:xfrm>
            <a:off x="7315200" y="2788920"/>
            <a:ext cx="1993392" cy="411480"/>
          </a:xfrm>
          <a:prstGeom prst="rect">
            <a:avLst/>
          </a:prstGeom>
          <a:noFill/>
          <a:ln/>
        </p:spPr>
        <p:txBody>
          <a:bodyPr wrap="square" lIns="0" tIns="0" rIns="0" bIns="0" rtlCol="0" anchor="ctr"/>
          <a:lstStyle/>
          <a:p>
            <a:pPr algn="ctr" indent="0" marL="0">
              <a:buNone/>
            </a:pPr>
            <a:r>
              <a:rPr lang="en-US" sz="1200" b="1" dirty="0">
                <a:solidFill>
                  <a:schemeClr val="bg1"/>
                </a:solidFill>
              </a:rPr>
              <a:t>Refinamiento técnico · 1 h</a:t>
            </a:r>
            <a:endParaRPr lang="en-US" sz="1200" dirty="0"/>
          </a:p>
        </p:txBody>
      </p:sp>
      <p:sp>
        <p:nvSpPr>
          <p:cNvPr id="34" name="Shape 31"/>
          <p:cNvSpPr/>
          <p:nvPr/>
        </p:nvSpPr>
        <p:spPr>
          <a:xfrm>
            <a:off x="9473184" y="2788920"/>
            <a:ext cx="2139696" cy="411480"/>
          </a:xfrm>
          <a:prstGeom prst="roundRect">
            <a:avLst>
              <a:gd name="adj" fmla="val 13333"/>
            </a:avLst>
          </a:prstGeom>
          <a:solidFill>
            <a:schemeClr val="accent3"/>
          </a:solidFill>
          <a:ln w="12700">
            <a:solidFill>
              <a:schemeClr val="accent3"/>
            </a:solidFill>
            <a:prstDash val="solid"/>
          </a:ln>
        </p:spPr>
      </p:sp>
      <p:sp>
        <p:nvSpPr>
          <p:cNvPr id="35" name="Text 32"/>
          <p:cNvSpPr txBox="1"/>
          <p:nvPr/>
        </p:nvSpPr>
        <p:spPr>
          <a:xfrm>
            <a:off x="9546336" y="2788920"/>
            <a:ext cx="1993392" cy="411480"/>
          </a:xfrm>
          <a:prstGeom prst="rect">
            <a:avLst/>
          </a:prstGeom>
          <a:noFill/>
          <a:ln/>
        </p:spPr>
        <p:txBody>
          <a:bodyPr wrap="square" lIns="0" tIns="0" rIns="0" bIns="0" rtlCol="0" anchor="ctr"/>
          <a:lstStyle/>
          <a:p>
            <a:pPr algn="ctr" indent="0" marL="0">
              <a:buNone/>
            </a:pPr>
            <a:r>
              <a:rPr lang="en-US" sz="1200" b="1" dirty="0">
                <a:solidFill>
                  <a:schemeClr val="bg1"/>
                </a:solidFill>
              </a:rPr>
              <a:t>Demo y entrega · 1 h</a:t>
            </a:r>
            <a:endParaRPr lang="en-US" sz="1200" dirty="0"/>
          </a:p>
        </p:txBody>
      </p:sp>
      <p:sp>
        <p:nvSpPr>
          <p:cNvPr id="36" name="Shape 33"/>
          <p:cNvSpPr/>
          <p:nvPr/>
        </p:nvSpPr>
        <p:spPr>
          <a:xfrm>
            <a:off x="9473184" y="3291840"/>
            <a:ext cx="2139696" cy="411480"/>
          </a:xfrm>
          <a:prstGeom prst="roundRect">
            <a:avLst>
              <a:gd name="adj" fmla="val 13333"/>
            </a:avLst>
          </a:prstGeom>
          <a:solidFill>
            <a:schemeClr val="accent1"/>
          </a:solidFill>
          <a:ln w="12700">
            <a:solidFill>
              <a:schemeClr val="accent1"/>
            </a:solidFill>
            <a:prstDash val="solid"/>
          </a:ln>
        </p:spPr>
      </p:sp>
      <p:sp>
        <p:nvSpPr>
          <p:cNvPr id="37" name="Text 34"/>
          <p:cNvSpPr txBox="1"/>
          <p:nvPr/>
        </p:nvSpPr>
        <p:spPr>
          <a:xfrm>
            <a:off x="9546336" y="3291840"/>
            <a:ext cx="1993392" cy="411480"/>
          </a:xfrm>
          <a:prstGeom prst="rect">
            <a:avLst/>
          </a:prstGeom>
          <a:noFill/>
          <a:ln/>
        </p:spPr>
        <p:txBody>
          <a:bodyPr wrap="square" lIns="0" tIns="0" rIns="0" bIns="0" rtlCol="0" anchor="ctr"/>
          <a:lstStyle/>
          <a:p>
            <a:pPr algn="ctr" indent="0" marL="0">
              <a:buNone/>
            </a:pPr>
            <a:r>
              <a:rPr lang="en-US" sz="1200" b="1" dirty="0">
                <a:solidFill>
                  <a:schemeClr val="bg1"/>
                </a:solidFill>
              </a:rPr>
              <a:t>Retro interna · 45 min</a:t>
            </a:r>
            <a:endParaRPr lang="en-US" sz="1200" dirty="0"/>
          </a:p>
        </p:txBody>
      </p:sp>
      <p:sp>
        <p:nvSpPr>
          <p:cNvPr id="38" name="Shape 35"/>
          <p:cNvSpPr/>
          <p:nvPr/>
        </p:nvSpPr>
        <p:spPr>
          <a:xfrm>
            <a:off x="548640" y="3858768"/>
            <a:ext cx="274320" cy="201168"/>
          </a:xfrm>
          <a:prstGeom prst="roundRect">
            <a:avLst>
              <a:gd name="adj" fmla="val 18182"/>
            </a:avLst>
          </a:prstGeom>
          <a:solidFill>
            <a:schemeClr val="accent1"/>
          </a:solidFill>
          <a:ln w="12700">
            <a:solidFill>
              <a:schemeClr val="accent1"/>
            </a:solidFill>
            <a:prstDash val="solid"/>
          </a:ln>
        </p:spPr>
      </p:sp>
      <p:sp>
        <p:nvSpPr>
          <p:cNvPr id="39" name="Text 36"/>
          <p:cNvSpPr txBox="1"/>
          <p:nvPr/>
        </p:nvSpPr>
        <p:spPr>
          <a:xfrm>
            <a:off x="914400" y="3794760"/>
            <a:ext cx="2926080" cy="329184"/>
          </a:xfrm>
          <a:prstGeom prst="rect">
            <a:avLst/>
          </a:prstGeom>
          <a:noFill/>
          <a:ln/>
        </p:spPr>
        <p:txBody>
          <a:bodyPr wrap="square" lIns="0" tIns="0" rIns="0" bIns="0" rtlCol="0" anchor="ctr"/>
          <a:lstStyle/>
          <a:p>
            <a:pPr indent="0" marL="0">
              <a:buNone/>
            </a:pPr>
            <a:r>
              <a:rPr lang="en-US" sz="1300" dirty="0">
                <a:solidFill>
                  <a:schemeClr val="accent6"/>
                </a:solidFill>
              </a:rPr>
              <a:t>Interna del equipo</a:t>
            </a:r>
            <a:endParaRPr lang="en-US" sz="1300" dirty="0"/>
          </a:p>
        </p:txBody>
      </p:sp>
      <p:sp>
        <p:nvSpPr>
          <p:cNvPr id="40" name="Shape 37"/>
          <p:cNvSpPr/>
          <p:nvPr/>
        </p:nvSpPr>
        <p:spPr>
          <a:xfrm>
            <a:off x="3291840" y="3858768"/>
            <a:ext cx="274320" cy="201168"/>
          </a:xfrm>
          <a:prstGeom prst="roundRect">
            <a:avLst>
              <a:gd name="adj" fmla="val 18182"/>
            </a:avLst>
          </a:prstGeom>
          <a:solidFill>
            <a:schemeClr val="accent3"/>
          </a:solidFill>
          <a:ln w="12700">
            <a:solidFill>
              <a:schemeClr val="accent3"/>
            </a:solidFill>
            <a:prstDash val="solid"/>
          </a:ln>
        </p:spPr>
      </p:sp>
      <p:sp>
        <p:nvSpPr>
          <p:cNvPr id="41" name="Text 38"/>
          <p:cNvSpPr txBox="1"/>
          <p:nvPr/>
        </p:nvSpPr>
        <p:spPr>
          <a:xfrm>
            <a:off x="3657600" y="3794760"/>
            <a:ext cx="2926080" cy="329184"/>
          </a:xfrm>
          <a:prstGeom prst="rect">
            <a:avLst/>
          </a:prstGeom>
          <a:noFill/>
          <a:ln/>
        </p:spPr>
        <p:txBody>
          <a:bodyPr wrap="square" lIns="0" tIns="0" rIns="0" bIns="0" rtlCol="0" anchor="ctr"/>
          <a:lstStyle/>
          <a:p>
            <a:pPr indent="0" marL="0">
              <a:buNone/>
            </a:pPr>
            <a:r>
              <a:rPr lang="en-US" sz="1300" dirty="0">
                <a:solidFill>
                  <a:schemeClr val="accent6"/>
                </a:solidFill>
              </a:rPr>
              <a:t>Con SURA</a:t>
            </a:r>
            <a:endParaRPr lang="en-US" sz="1300" dirty="0"/>
          </a:p>
        </p:txBody>
      </p:sp>
      <p:sp>
        <p:nvSpPr>
          <p:cNvPr id="42" name="Shape 39"/>
          <p:cNvSpPr/>
          <p:nvPr/>
        </p:nvSpPr>
        <p:spPr>
          <a:xfrm>
            <a:off x="548640" y="4297680"/>
            <a:ext cx="2651760" cy="1554480"/>
          </a:xfrm>
          <a:prstGeom prst="roundRect">
            <a:avLst>
              <a:gd name="adj" fmla="val 4706"/>
            </a:avLst>
          </a:prstGeom>
          <a:solidFill>
            <a:schemeClr val="accent4"/>
          </a:solidFill>
          <a:ln w="12700">
            <a:solidFill>
              <a:srgbClr val="DCD8EC"/>
            </a:solidFill>
            <a:prstDash val="solid"/>
          </a:ln>
        </p:spPr>
      </p:sp>
      <p:sp>
        <p:nvSpPr>
          <p:cNvPr id="43" name="Text 40"/>
          <p:cNvSpPr txBox="1"/>
          <p:nvPr/>
        </p:nvSpPr>
        <p:spPr>
          <a:xfrm>
            <a:off x="731520" y="4407408"/>
            <a:ext cx="2286000" cy="365760"/>
          </a:xfrm>
          <a:prstGeom prst="rect">
            <a:avLst/>
          </a:prstGeom>
          <a:noFill/>
          <a:ln/>
        </p:spPr>
        <p:txBody>
          <a:bodyPr wrap="square" lIns="0" tIns="0" rIns="0" bIns="0" rtlCol="0" anchor="t"/>
          <a:lstStyle/>
          <a:p>
            <a:pPr indent="0" marL="0">
              <a:buNone/>
            </a:pPr>
            <a:r>
              <a:rPr lang="en-US" sz="1500" b="1" dirty="0">
                <a:solidFill>
                  <a:schemeClr val="accent3"/>
                </a:solidFill>
              </a:rPr>
              <a:t>Arquitectura SURA</a:t>
            </a:r>
            <a:endParaRPr lang="en-US" sz="1500" dirty="0"/>
          </a:p>
        </p:txBody>
      </p:sp>
      <p:sp>
        <p:nvSpPr>
          <p:cNvPr id="44" name="Text 41"/>
          <p:cNvSpPr txBox="1"/>
          <p:nvPr/>
        </p:nvSpPr>
        <p:spPr>
          <a:xfrm>
            <a:off x="731520" y="4773168"/>
            <a:ext cx="2286000" cy="1051560"/>
          </a:xfrm>
          <a:prstGeom prst="rect">
            <a:avLst/>
          </a:prstGeom>
          <a:noFill/>
          <a:ln/>
        </p:spPr>
        <p:txBody>
          <a:bodyPr wrap="square" lIns="0" tIns="0" rIns="0" bIns="0" rtlCol="0" anchor="t"/>
          <a:lstStyle/>
          <a:p>
            <a:pPr indent="0" marL="0">
              <a:buNone/>
            </a:pPr>
            <a:r>
              <a:rPr lang="en-US" sz="1300" dirty="0">
                <a:solidFill>
                  <a:schemeClr val="tx1"/>
                </a:solidFill>
              </a:rPr>
              <a:t>El arquitecto lleva lineamientos y decisiones, y trae lo que SURA define.</a:t>
            </a:r>
            <a:endParaRPr lang="en-US" sz="1300" dirty="0"/>
          </a:p>
        </p:txBody>
      </p:sp>
      <p:sp>
        <p:nvSpPr>
          <p:cNvPr id="45" name="Shape 42"/>
          <p:cNvSpPr/>
          <p:nvPr/>
        </p:nvSpPr>
        <p:spPr>
          <a:xfrm>
            <a:off x="3353105" y="4297680"/>
            <a:ext cx="2651760" cy="1554480"/>
          </a:xfrm>
          <a:prstGeom prst="roundRect">
            <a:avLst>
              <a:gd name="adj" fmla="val 4706"/>
            </a:avLst>
          </a:prstGeom>
          <a:solidFill>
            <a:schemeClr val="accent4"/>
          </a:solidFill>
          <a:ln w="12700">
            <a:solidFill>
              <a:srgbClr val="DCD8EC"/>
            </a:solidFill>
            <a:prstDash val="solid"/>
          </a:ln>
        </p:spPr>
      </p:sp>
      <p:sp>
        <p:nvSpPr>
          <p:cNvPr id="46" name="Text 43"/>
          <p:cNvSpPr txBox="1"/>
          <p:nvPr/>
        </p:nvSpPr>
        <p:spPr>
          <a:xfrm>
            <a:off x="3535985" y="4407408"/>
            <a:ext cx="2286000" cy="365760"/>
          </a:xfrm>
          <a:prstGeom prst="rect">
            <a:avLst/>
          </a:prstGeom>
          <a:noFill/>
          <a:ln/>
        </p:spPr>
        <p:txBody>
          <a:bodyPr wrap="square" lIns="0" tIns="0" rIns="0" bIns="0" rtlCol="0" anchor="t"/>
          <a:lstStyle/>
          <a:p>
            <a:pPr indent="0" marL="0">
              <a:buNone/>
            </a:pPr>
            <a:r>
              <a:rPr lang="en-US" sz="1500" b="1" dirty="0">
                <a:solidFill>
                  <a:schemeClr val="accent3"/>
                </a:solidFill>
              </a:rPr>
              <a:t>Historias con SURA</a:t>
            </a:r>
            <a:endParaRPr lang="en-US" sz="1500" dirty="0"/>
          </a:p>
        </p:txBody>
      </p:sp>
      <p:sp>
        <p:nvSpPr>
          <p:cNvPr id="47" name="Text 44"/>
          <p:cNvSpPr txBox="1"/>
          <p:nvPr/>
        </p:nvSpPr>
        <p:spPr>
          <a:xfrm>
            <a:off x="3535985" y="4773168"/>
            <a:ext cx="2286000" cy="1051560"/>
          </a:xfrm>
          <a:prstGeom prst="rect">
            <a:avLst/>
          </a:prstGeom>
          <a:noFill/>
          <a:ln/>
        </p:spPr>
        <p:txBody>
          <a:bodyPr wrap="square" lIns="0" tIns="0" rIns="0" bIns="0" rtlCol="0" anchor="t"/>
          <a:lstStyle/>
          <a:p>
            <a:pPr indent="0" marL="0">
              <a:buNone/>
            </a:pPr>
            <a:r>
              <a:rPr lang="en-US" sz="1300" dirty="0">
                <a:solidFill>
                  <a:schemeClr val="tx1"/>
                </a:solidFill>
              </a:rPr>
              <a:t>Se desprenden de las épicas y se priorizan las historias del siguiente sprint.</a:t>
            </a:r>
            <a:endParaRPr lang="en-US" sz="1300" dirty="0"/>
          </a:p>
        </p:txBody>
      </p:sp>
      <p:sp>
        <p:nvSpPr>
          <p:cNvPr id="48" name="Shape 45"/>
          <p:cNvSpPr/>
          <p:nvPr/>
        </p:nvSpPr>
        <p:spPr>
          <a:xfrm>
            <a:off x="6157570" y="4297680"/>
            <a:ext cx="2651760" cy="1554480"/>
          </a:xfrm>
          <a:prstGeom prst="roundRect">
            <a:avLst>
              <a:gd name="adj" fmla="val 4706"/>
            </a:avLst>
          </a:prstGeom>
          <a:solidFill>
            <a:schemeClr val="accent4"/>
          </a:solidFill>
          <a:ln w="12700">
            <a:solidFill>
              <a:srgbClr val="DCD8EC"/>
            </a:solidFill>
            <a:prstDash val="solid"/>
          </a:ln>
        </p:spPr>
      </p:sp>
      <p:sp>
        <p:nvSpPr>
          <p:cNvPr id="49" name="Text 46"/>
          <p:cNvSpPr txBox="1"/>
          <p:nvPr/>
        </p:nvSpPr>
        <p:spPr>
          <a:xfrm>
            <a:off x="6340450" y="4407408"/>
            <a:ext cx="2286000" cy="365760"/>
          </a:xfrm>
          <a:prstGeom prst="rect">
            <a:avLst/>
          </a:prstGeom>
          <a:noFill/>
          <a:ln/>
        </p:spPr>
        <p:txBody>
          <a:bodyPr wrap="square" lIns="0" tIns="0" rIns="0" bIns="0" rtlCol="0" anchor="t"/>
          <a:lstStyle/>
          <a:p>
            <a:pPr indent="0" marL="0">
              <a:buNone/>
            </a:pPr>
            <a:r>
              <a:rPr lang="en-US" sz="1500" b="1" dirty="0">
                <a:solidFill>
                  <a:schemeClr val="accent1"/>
                </a:solidFill>
              </a:rPr>
              <a:t>Refinamiento técnico</a:t>
            </a:r>
            <a:endParaRPr lang="en-US" sz="1500" dirty="0"/>
          </a:p>
        </p:txBody>
      </p:sp>
      <p:sp>
        <p:nvSpPr>
          <p:cNvPr id="50" name="Text 47"/>
          <p:cNvSpPr txBox="1"/>
          <p:nvPr/>
        </p:nvSpPr>
        <p:spPr>
          <a:xfrm>
            <a:off x="6340450" y="4773168"/>
            <a:ext cx="2286000" cy="1051560"/>
          </a:xfrm>
          <a:prstGeom prst="rect">
            <a:avLst/>
          </a:prstGeom>
          <a:noFill/>
          <a:ln/>
        </p:spPr>
        <p:txBody>
          <a:bodyPr wrap="square" lIns="0" tIns="0" rIns="0" bIns="0" rtlCol="0" anchor="t"/>
          <a:lstStyle/>
          <a:p>
            <a:pPr indent="0" marL="0">
              <a:buNone/>
            </a:pPr>
            <a:r>
              <a:rPr lang="en-US" sz="1300" dirty="0">
                <a:solidFill>
                  <a:schemeClr val="tx1"/>
                </a:solidFill>
              </a:rPr>
              <a:t>El equipo aplica el arquetipo, estima en puntos y parte en tareas de un día o menos.</a:t>
            </a:r>
            <a:endParaRPr lang="en-US" sz="1300" dirty="0"/>
          </a:p>
        </p:txBody>
      </p:sp>
      <p:sp>
        <p:nvSpPr>
          <p:cNvPr id="51" name="Shape 48"/>
          <p:cNvSpPr/>
          <p:nvPr/>
        </p:nvSpPr>
        <p:spPr>
          <a:xfrm>
            <a:off x="8962034" y="4297680"/>
            <a:ext cx="2651760" cy="1554480"/>
          </a:xfrm>
          <a:prstGeom prst="roundRect">
            <a:avLst>
              <a:gd name="adj" fmla="val 4706"/>
            </a:avLst>
          </a:prstGeom>
          <a:solidFill>
            <a:schemeClr val="accent4"/>
          </a:solidFill>
          <a:ln w="12700">
            <a:solidFill>
              <a:srgbClr val="DCD8EC"/>
            </a:solidFill>
            <a:prstDash val="solid"/>
          </a:ln>
        </p:spPr>
      </p:sp>
      <p:sp>
        <p:nvSpPr>
          <p:cNvPr id="52" name="Text 49"/>
          <p:cNvSpPr txBox="1"/>
          <p:nvPr/>
        </p:nvSpPr>
        <p:spPr>
          <a:xfrm>
            <a:off x="9144914" y="4407408"/>
            <a:ext cx="2286000" cy="365760"/>
          </a:xfrm>
          <a:prstGeom prst="rect">
            <a:avLst/>
          </a:prstGeom>
          <a:noFill/>
          <a:ln/>
        </p:spPr>
        <p:txBody>
          <a:bodyPr wrap="square" lIns="0" tIns="0" rIns="0" bIns="0" rtlCol="0" anchor="t"/>
          <a:lstStyle/>
          <a:p>
            <a:pPr indent="0" marL="0">
              <a:buNone/>
            </a:pPr>
            <a:r>
              <a:rPr lang="en-US" sz="1500" b="1" dirty="0">
                <a:solidFill>
                  <a:schemeClr val="accent3"/>
                </a:solidFill>
              </a:rPr>
              <a:t>Demo y entrega</a:t>
            </a:r>
            <a:endParaRPr lang="en-US" sz="1500" dirty="0"/>
          </a:p>
        </p:txBody>
      </p:sp>
      <p:sp>
        <p:nvSpPr>
          <p:cNvPr id="53" name="Text 50"/>
          <p:cNvSpPr txBox="1"/>
          <p:nvPr/>
        </p:nvSpPr>
        <p:spPr>
          <a:xfrm>
            <a:off x="9144914" y="4773168"/>
            <a:ext cx="2286000" cy="1051560"/>
          </a:xfrm>
          <a:prstGeom prst="rect">
            <a:avLst/>
          </a:prstGeom>
          <a:noFill/>
          <a:ln/>
        </p:spPr>
        <p:txBody>
          <a:bodyPr wrap="square" lIns="0" tIns="0" rIns="0" bIns="0" rtlCol="0" anchor="t"/>
          <a:lstStyle/>
          <a:p>
            <a:pPr indent="0" marL="0">
              <a:buNone/>
            </a:pPr>
            <a:r>
              <a:rPr lang="en-US" sz="1300" dirty="0">
                <a:solidFill>
                  <a:schemeClr val="tx1"/>
                </a:solidFill>
              </a:rPr>
              <a:t>SURA ve funcionando lo terminado y recibe el incremento. Después, la retro interna.</a:t>
            </a:r>
            <a:endParaRPr lang="en-US" sz="1300" dirty="0"/>
          </a:p>
        </p:txBody>
      </p:sp>
      <p:sp>
        <p:nvSpPr>
          <p:cNvPr id="54" name="Text 51"/>
          <p:cNvSpPr txBox="1"/>
          <p:nvPr/>
        </p:nvSpPr>
        <p:spPr>
          <a:xfrm>
            <a:off x="548640" y="5943600"/>
            <a:ext cx="11064240" cy="365760"/>
          </a:xfrm>
          <a:prstGeom prst="rect">
            <a:avLst/>
          </a:prstGeom>
          <a:noFill/>
          <a:ln/>
        </p:spPr>
        <p:txBody>
          <a:bodyPr wrap="square" lIns="0" tIns="0" rIns="0" bIns="0" rtlCol="0" anchor="b"/>
          <a:lstStyle/>
          <a:p>
            <a:pPr indent="0" marL="0">
              <a:buNone/>
            </a:pPr>
            <a:r>
              <a:rPr lang="en-US" sz="1100" dirty="0">
                <a:solidFill>
                  <a:schemeClr val="accent6"/>
                </a:solidFill>
              </a:rPr>
              <a:t>Adaptación propia de la </a:t>
            </a:r>
            <a:pPr indent="0" marL="0">
              <a:buNone/>
            </a:pPr>
            <a:r>
              <a:rPr lang="en-US" sz="11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Guía de Scrum 2020</a:t>
            </a:r>
            <a:pPr indent="0" marL="0">
              <a:buNone/>
            </a:pPr>
            <a:r>
              <a:rPr lang="en-US" sz="1100" dirty="0">
                <a:solidFill>
                  <a:schemeClr val="accent6"/>
                </a:solidFill>
              </a:rPr>
              <a:t> (scrumguides.org), práctica de industria y no norma: de ella tomamos el sprint de duración fija y sus eventos. A diferencia de la guía, el Product Owner no asiste a la planning ni a la retro.</a:t>
            </a:r>
            <a:endParaRPr lang="en-US" sz="11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Qué hace cada quien en cada momento</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103120"/>
                <a:gridCol w="3108960"/>
                <a:gridCol w="3108960"/>
                <a:gridCol w="2743200"/>
              </a:tblGrid>
              <a:tr h="384048">
                <a:tc>
                  <a:txBody>
                    <a:bodyPr/>
                    <a:lstStyle/>
                    <a:p>
                      <a:pPr indent="0" marL="0">
                        <a:buNone/>
                      </a:pPr>
                      <a:r>
                        <a:rPr lang="en-US" sz="1400" b="1" dirty="0">
                          <a:solidFill>
                            <a:schemeClr val="bg1"/>
                          </a:solidFill>
                        </a:rPr>
                        <a:t>Momento</a:t>
                      </a:r>
                      <a:endParaRPr lang="en-US" sz="14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Arquitecto</a:t>
                      </a:r>
                      <a:endParaRPr lang="en-US" sz="14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Desarrolladores</a:t>
                      </a:r>
                      <a:endParaRPr lang="en-US" sz="14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SURA</a:t>
                      </a:r>
                      <a:endParaRPr lang="en-US" sz="14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tx2"/>
                    </a:solidFill>
                  </a:tcPr>
                </a:tc>
              </a:tr>
              <a:tr h="603504">
                <a:tc>
                  <a:txBody>
                    <a:bodyPr/>
                    <a:lstStyle/>
                    <a:p>
                      <a:pPr indent="0" marL="0">
                        <a:buNone/>
                      </a:pPr>
                      <a:r>
                        <a:rPr lang="en-US" sz="1300" b="1" dirty="0">
                          <a:solidFill>
                            <a:schemeClr val="accent3"/>
                          </a:solidFill>
                        </a:rPr>
                        <a:t>Arquitectura SURA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Lleva lineamientos y decisiones; trae lo que SURA define.</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i="1" dirty="0">
                          <a:solidFill>
                            <a:schemeClr val="accent6"/>
                          </a:solidFill>
                        </a:rPr>
                        <a:t>Reciben los acuerdos en el refinamiento.</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El equipo de arquitectura de SURA.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603504">
                <a:tc>
                  <a:txBody>
                    <a:bodyPr/>
                    <a:lstStyle/>
                    <a:p>
                      <a:pPr indent="0" marL="0">
                        <a:buNone/>
                      </a:pPr>
                      <a:r>
                        <a:rPr lang="en-US" sz="1300" b="1" dirty="0">
                          <a:solidFill>
                            <a:schemeClr val="accent3"/>
                          </a:solidFill>
                        </a:rPr>
                        <a:t>Historias con SURA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Cuida que cada historia se pueda partir, probar y medir.</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Preguntan hasta entender el criterio de aceptación.</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Define y prioriza las historias del siguiente sprint.</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603504">
                <a:tc>
                  <a:txBody>
                    <a:bodyPr/>
                    <a:lstStyle/>
                    <a:p>
                      <a:pPr indent="0" marL="0">
                        <a:buNone/>
                      </a:pPr>
                      <a:r>
                        <a:rPr lang="en-US" sz="1300" b="1" dirty="0">
                          <a:solidFill>
                            <a:schemeClr val="tx2"/>
                          </a:solidFill>
                        </a:rPr>
                        <a:t>Refinamiento técnico</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Lidera: aplica arquetipo y lineamientos a cada historia.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Estiman en puntos y parten en tareas de un día o menos.</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i="1" dirty="0">
                          <a:solidFill>
                            <a:schemeClr val="accent6"/>
                          </a:solidFill>
                        </a:rPr>
                        <a:t>No participa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603504">
                <a:tc>
                  <a:txBody>
                    <a:bodyPr/>
                    <a:lstStyle/>
                    <a:p>
                      <a:pPr indent="0" marL="0">
                        <a:buNone/>
                      </a:pPr>
                      <a:r>
                        <a:rPr lang="en-US" sz="1300" b="1" dirty="0">
                          <a:solidFill>
                            <a:schemeClr val="tx2"/>
                          </a:solidFill>
                        </a:rPr>
                        <a:t>Planning</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Señala qué lineamientos y contratos entran en juego.</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Eligen las historias según su velocidad y se comprometen.</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i="1" dirty="0">
                          <a:solidFill>
                            <a:schemeClr val="accent6"/>
                          </a:solidFill>
                        </a:rPr>
                        <a:t>No participa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603504">
                <a:tc>
                  <a:txBody>
                    <a:bodyPr/>
                    <a:lstStyle/>
                    <a:p>
                      <a:pPr indent="0" marL="0">
                        <a:buNone/>
                      </a:pPr>
                      <a:r>
                        <a:rPr lang="en-US" sz="1300" b="1" dirty="0">
                          <a:solidFill>
                            <a:schemeClr val="tx2"/>
                          </a:solidFill>
                        </a:rPr>
                        <a:t>Daily</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Va si hay una decisión; si no, lee el tablero.</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Avance, siguiente paso y bloqueos con su dueño.</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i="1" dirty="0">
                          <a:solidFill>
                            <a:schemeClr val="accent6"/>
                          </a:solidFill>
                        </a:rPr>
                        <a:t>No participa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603504">
                <a:tc>
                  <a:txBody>
                    <a:bodyPr/>
                    <a:lstStyle/>
                    <a:p>
                      <a:pPr indent="0" marL="0">
                        <a:buNone/>
                      </a:pPr>
                      <a:r>
                        <a:rPr lang="en-US" sz="1300" b="1" dirty="0">
                          <a:solidFill>
                            <a:schemeClr val="accent3"/>
                          </a:solidFill>
                        </a:rPr>
                        <a:t>Demo y entrega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Dice qué se puede afirmar hoy y qué no.</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Muestran el incremento funcionando y lo entregan.</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Acepta o ajusta; lo aprendido vuelve al backlog.</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603504">
                <a:tc>
                  <a:txBody>
                    <a:bodyPr/>
                    <a:lstStyle/>
                    <a:p>
                      <a:pPr indent="0" marL="0">
                        <a:buNone/>
                      </a:pPr>
                      <a:r>
                        <a:rPr lang="en-US" sz="1300" b="1" dirty="0">
                          <a:solidFill>
                            <a:schemeClr val="tx2"/>
                          </a:solidFill>
                        </a:rPr>
                        <a:t>Retro</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Trae lo que vio en las revisiones y ajusta lineamientos.</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Eligen un acuerdo de mejora.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i="1" dirty="0">
                          <a:solidFill>
                            <a:schemeClr val="accent6"/>
                          </a:solidFill>
                        </a:rPr>
                        <a:t>No participa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bl>
          </a:graphicData>
        </a:graphic>
      </p:graphicFrame>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Qué recibe SURA al cierre de cada sprint</a:t>
            </a:r>
            <a:endParaRPr lang="en-US" sz="2800" dirty="0"/>
          </a:p>
        </p:txBody>
      </p:sp>
      <p:sp>
        <p:nvSpPr>
          <p:cNvPr id="4" name="Shape 1"/>
          <p:cNvSpPr/>
          <p:nvPr/>
        </p:nvSpPr>
        <p:spPr>
          <a:xfrm>
            <a:off x="548640" y="1645920"/>
            <a:ext cx="2606040" cy="3063240"/>
          </a:xfrm>
          <a:prstGeom prst="roundRect">
            <a:avLst>
              <a:gd name="adj" fmla="val 2807"/>
            </a:avLst>
          </a:prstGeom>
          <a:solidFill>
            <a:schemeClr val="accent4"/>
          </a:solidFill>
          <a:ln w="12700">
            <a:solidFill>
              <a:srgbClr val="DCD8EC"/>
            </a:solidFill>
            <a:prstDash val="solid"/>
          </a:ln>
        </p:spPr>
      </p:sp>
      <p:sp>
        <p:nvSpPr>
          <p:cNvPr id="5" name="Shape 2"/>
          <p:cNvSpPr/>
          <p:nvPr/>
        </p:nvSpPr>
        <p:spPr>
          <a:xfrm>
            <a:off x="822960" y="1874520"/>
            <a:ext cx="548640" cy="548640"/>
          </a:xfrm>
          <a:prstGeom prst="ellipse">
            <a:avLst/>
          </a:prstGeom>
          <a:solidFill>
            <a:schemeClr val="accent3"/>
          </a:solidFill>
          <a:ln w="12700">
            <a:solidFill>
              <a:schemeClr val="accent3"/>
            </a:solidFill>
            <a:prstDash val="solid"/>
          </a:ln>
        </p:spPr>
      </p:sp>
      <p:sp>
        <p:nvSpPr>
          <p:cNvPr id="6" name="Text 3"/>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822960" y="2560320"/>
            <a:ext cx="2057400" cy="685800"/>
          </a:xfrm>
          <a:prstGeom prst="rect">
            <a:avLst/>
          </a:prstGeom>
          <a:noFill/>
          <a:ln/>
        </p:spPr>
        <p:txBody>
          <a:bodyPr wrap="square" lIns="0" tIns="0" rIns="0" bIns="0" rtlCol="0" anchor="b"/>
          <a:lstStyle/>
          <a:p>
            <a:pPr indent="0" marL="0">
              <a:buNone/>
            </a:pPr>
            <a:r>
              <a:rPr lang="en-US" sz="1700" b="1" dirty="0">
                <a:solidFill>
                  <a:schemeClr val="tx2"/>
                </a:solidFill>
              </a:rPr>
              <a:t>Demo</a:t>
            </a:r>
            <a:endParaRPr lang="en-US" sz="1700" dirty="0"/>
          </a:p>
        </p:txBody>
      </p:sp>
      <p:sp>
        <p:nvSpPr>
          <p:cNvPr id="8" name="Text 5"/>
          <p:cNvSpPr txBox="1"/>
          <p:nvPr/>
        </p:nvSpPr>
        <p:spPr>
          <a:xfrm>
            <a:off x="822960" y="3337560"/>
            <a:ext cx="2057400" cy="1325880"/>
          </a:xfrm>
          <a:prstGeom prst="rect">
            <a:avLst/>
          </a:prstGeom>
          <a:noFill/>
          <a:ln/>
        </p:spPr>
        <p:txBody>
          <a:bodyPr wrap="square" lIns="0" tIns="0" rIns="0" bIns="0" rtlCol="0" anchor="t"/>
          <a:lstStyle/>
          <a:p>
            <a:pPr indent="0" marL="0">
              <a:buNone/>
            </a:pPr>
            <a:r>
              <a:rPr lang="en-US" sz="1400" dirty="0">
                <a:solidFill>
                  <a:schemeClr val="tx1"/>
                </a:solidFill>
              </a:rPr>
              <a:t>Los agentes terminados, funcionando con su traza, sobre datos sintéticos y nunca con datos reales de pacientes.</a:t>
            </a:r>
            <a:endParaRPr lang="en-US" sz="1400" dirty="0"/>
          </a:p>
        </p:txBody>
      </p:sp>
      <p:sp>
        <p:nvSpPr>
          <p:cNvPr id="9" name="Shape 6"/>
          <p:cNvSpPr/>
          <p:nvPr/>
        </p:nvSpPr>
        <p:spPr>
          <a:xfrm>
            <a:off x="3364992" y="1645920"/>
            <a:ext cx="2606040" cy="3063240"/>
          </a:xfrm>
          <a:prstGeom prst="roundRect">
            <a:avLst>
              <a:gd name="adj" fmla="val 2807"/>
            </a:avLst>
          </a:prstGeom>
          <a:solidFill>
            <a:schemeClr val="accent4"/>
          </a:solidFill>
          <a:ln w="12700">
            <a:solidFill>
              <a:srgbClr val="DCD8EC"/>
            </a:solidFill>
            <a:prstDash val="solid"/>
          </a:ln>
        </p:spPr>
      </p:sp>
      <p:sp>
        <p:nvSpPr>
          <p:cNvPr id="10" name="Shape 7"/>
          <p:cNvSpPr/>
          <p:nvPr/>
        </p:nvSpPr>
        <p:spPr>
          <a:xfrm>
            <a:off x="3639312" y="1874520"/>
            <a:ext cx="548640" cy="548640"/>
          </a:xfrm>
          <a:prstGeom prst="ellipse">
            <a:avLst/>
          </a:prstGeom>
          <a:solidFill>
            <a:schemeClr val="accent3"/>
          </a:solidFill>
          <a:ln w="12700">
            <a:solidFill>
              <a:schemeClr val="accent3"/>
            </a:solidFill>
            <a:prstDash val="solid"/>
          </a:ln>
        </p:spPr>
      </p:sp>
      <p:sp>
        <p:nvSpPr>
          <p:cNvPr id="11" name="Text 8"/>
          <p:cNvSpPr txBox="1"/>
          <p:nvPr/>
        </p:nvSpPr>
        <p:spPr>
          <a:xfrm>
            <a:off x="3639312" y="1874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9"/>
          <p:cNvSpPr txBox="1"/>
          <p:nvPr/>
        </p:nvSpPr>
        <p:spPr>
          <a:xfrm>
            <a:off x="3639312" y="2560320"/>
            <a:ext cx="2057400" cy="685800"/>
          </a:xfrm>
          <a:prstGeom prst="rect">
            <a:avLst/>
          </a:prstGeom>
          <a:noFill/>
          <a:ln/>
        </p:spPr>
        <p:txBody>
          <a:bodyPr wrap="square" lIns="0" tIns="0" rIns="0" bIns="0" rtlCol="0" anchor="b"/>
          <a:lstStyle/>
          <a:p>
            <a:pPr indent="0" marL="0">
              <a:buNone/>
            </a:pPr>
            <a:r>
              <a:rPr lang="en-US" sz="1700" b="1" dirty="0">
                <a:solidFill>
                  <a:schemeClr val="tx2"/>
                </a:solidFill>
              </a:rPr>
              <a:t>Incremento entregado</a:t>
            </a:r>
            <a:endParaRPr lang="en-US" sz="1700" dirty="0"/>
          </a:p>
        </p:txBody>
      </p:sp>
      <p:sp>
        <p:nvSpPr>
          <p:cNvPr id="13" name="Text 10"/>
          <p:cNvSpPr txBox="1"/>
          <p:nvPr/>
        </p:nvSpPr>
        <p:spPr>
          <a:xfrm>
            <a:off x="3639312" y="3337560"/>
            <a:ext cx="2057400" cy="1325880"/>
          </a:xfrm>
          <a:prstGeom prst="rect">
            <a:avLst/>
          </a:prstGeom>
          <a:noFill/>
          <a:ln/>
        </p:spPr>
        <p:txBody>
          <a:bodyPr wrap="square" lIns="0" tIns="0" rIns="0" bIns="0" rtlCol="0" anchor="t"/>
          <a:lstStyle/>
          <a:p>
            <a:pPr indent="0" marL="0">
              <a:buNone/>
            </a:pPr>
            <a:r>
              <a:rPr lang="en-US" sz="1400" dirty="0">
                <a:solidFill>
                  <a:schemeClr val="tx1"/>
                </a:solidFill>
              </a:rPr>
              <a:t>Desplegado en el ambiente acordado, con notas de versión: qué cambió y qué historia lo pidió.</a:t>
            </a:r>
            <a:endParaRPr lang="en-US" sz="1400" dirty="0"/>
          </a:p>
        </p:txBody>
      </p:sp>
      <p:sp>
        <p:nvSpPr>
          <p:cNvPr id="14" name="Shape 11"/>
          <p:cNvSpPr/>
          <p:nvPr/>
        </p:nvSpPr>
        <p:spPr>
          <a:xfrm>
            <a:off x="6181344" y="1645920"/>
            <a:ext cx="2606040" cy="3063240"/>
          </a:xfrm>
          <a:prstGeom prst="roundRect">
            <a:avLst>
              <a:gd name="adj" fmla="val 2807"/>
            </a:avLst>
          </a:prstGeom>
          <a:solidFill>
            <a:schemeClr val="accent4"/>
          </a:solidFill>
          <a:ln w="12700">
            <a:solidFill>
              <a:srgbClr val="DCD8EC"/>
            </a:solidFill>
            <a:prstDash val="solid"/>
          </a:ln>
        </p:spPr>
      </p:sp>
      <p:sp>
        <p:nvSpPr>
          <p:cNvPr id="15" name="Shape 12"/>
          <p:cNvSpPr/>
          <p:nvPr/>
        </p:nvSpPr>
        <p:spPr>
          <a:xfrm>
            <a:off x="6455664" y="1874520"/>
            <a:ext cx="548640" cy="548640"/>
          </a:xfrm>
          <a:prstGeom prst="ellipse">
            <a:avLst/>
          </a:prstGeom>
          <a:solidFill>
            <a:schemeClr val="accent3"/>
          </a:solidFill>
          <a:ln w="12700">
            <a:solidFill>
              <a:schemeClr val="accent3"/>
            </a:solidFill>
            <a:prstDash val="solid"/>
          </a:ln>
        </p:spPr>
      </p:sp>
      <p:sp>
        <p:nvSpPr>
          <p:cNvPr id="16" name="Text 13"/>
          <p:cNvSpPr txBox="1"/>
          <p:nvPr/>
        </p:nvSpPr>
        <p:spPr>
          <a:xfrm>
            <a:off x="6455664" y="1874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14"/>
          <p:cNvSpPr txBox="1"/>
          <p:nvPr/>
        </p:nvSpPr>
        <p:spPr>
          <a:xfrm>
            <a:off x="6455664" y="2560320"/>
            <a:ext cx="2057400" cy="685800"/>
          </a:xfrm>
          <a:prstGeom prst="rect">
            <a:avLst/>
          </a:prstGeom>
          <a:noFill/>
          <a:ln/>
        </p:spPr>
        <p:txBody>
          <a:bodyPr wrap="square" lIns="0" tIns="0" rIns="0" bIns="0" rtlCol="0" anchor="b"/>
          <a:lstStyle/>
          <a:p>
            <a:pPr indent="0" marL="0">
              <a:buNone/>
            </a:pPr>
            <a:r>
              <a:rPr lang="en-US" sz="1700" b="1" dirty="0">
                <a:solidFill>
                  <a:schemeClr val="tx2"/>
                </a:solidFill>
              </a:rPr>
              <a:t>Qué se puede afirmar</a:t>
            </a:r>
            <a:endParaRPr lang="en-US" sz="1700" dirty="0"/>
          </a:p>
        </p:txBody>
      </p:sp>
      <p:sp>
        <p:nvSpPr>
          <p:cNvPr id="18" name="Text 15"/>
          <p:cNvSpPr txBox="1"/>
          <p:nvPr/>
        </p:nvSpPr>
        <p:spPr>
          <a:xfrm>
            <a:off x="6455664" y="3337560"/>
            <a:ext cx="2057400" cy="1325880"/>
          </a:xfrm>
          <a:prstGeom prst="rect">
            <a:avLst/>
          </a:prstGeom>
          <a:noFill/>
          <a:ln/>
        </p:spPr>
        <p:txBody>
          <a:bodyPr wrap="square" lIns="0" tIns="0" rIns="0" bIns="0" rtlCol="0" anchor="t"/>
          <a:lstStyle/>
          <a:p>
            <a:pPr indent="0" marL="0">
              <a:buNone/>
            </a:pPr>
            <a:r>
              <a:rPr lang="en-US" sz="1400" dirty="0">
                <a:solidFill>
                  <a:schemeClr val="tx1"/>
                </a:solidFill>
              </a:rPr>
              <a:t>El acierto de cada agente sobre su golden set, y lo que aún no se sabe: si acertó frente a la glosa.</a:t>
            </a:r>
            <a:endParaRPr lang="en-US" sz="1400" dirty="0"/>
          </a:p>
        </p:txBody>
      </p:sp>
      <p:sp>
        <p:nvSpPr>
          <p:cNvPr id="19" name="Shape 16"/>
          <p:cNvSpPr/>
          <p:nvPr/>
        </p:nvSpPr>
        <p:spPr>
          <a:xfrm>
            <a:off x="8997696" y="1645920"/>
            <a:ext cx="2606040" cy="3063240"/>
          </a:xfrm>
          <a:prstGeom prst="roundRect">
            <a:avLst>
              <a:gd name="adj" fmla="val 2807"/>
            </a:avLst>
          </a:prstGeom>
          <a:solidFill>
            <a:schemeClr val="accent4"/>
          </a:solidFill>
          <a:ln w="12700">
            <a:solidFill>
              <a:srgbClr val="DCD8EC"/>
            </a:solidFill>
            <a:prstDash val="solid"/>
          </a:ln>
        </p:spPr>
      </p:sp>
      <p:sp>
        <p:nvSpPr>
          <p:cNvPr id="20" name="Shape 17"/>
          <p:cNvSpPr/>
          <p:nvPr/>
        </p:nvSpPr>
        <p:spPr>
          <a:xfrm>
            <a:off x="9272016" y="1874520"/>
            <a:ext cx="548640" cy="548640"/>
          </a:xfrm>
          <a:prstGeom prst="ellipse">
            <a:avLst/>
          </a:prstGeom>
          <a:solidFill>
            <a:schemeClr val="accent3"/>
          </a:solidFill>
          <a:ln w="12700">
            <a:solidFill>
              <a:schemeClr val="accent3"/>
            </a:solidFill>
            <a:prstDash val="solid"/>
          </a:ln>
        </p:spPr>
      </p:sp>
      <p:sp>
        <p:nvSpPr>
          <p:cNvPr id="21" name="Text 18"/>
          <p:cNvSpPr txBox="1"/>
          <p:nvPr/>
        </p:nvSpPr>
        <p:spPr>
          <a:xfrm>
            <a:off x="9272016" y="1874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 19"/>
          <p:cNvSpPr txBox="1"/>
          <p:nvPr/>
        </p:nvSpPr>
        <p:spPr>
          <a:xfrm>
            <a:off x="9272016" y="2560320"/>
            <a:ext cx="2057400" cy="685800"/>
          </a:xfrm>
          <a:prstGeom prst="rect">
            <a:avLst/>
          </a:prstGeom>
          <a:noFill/>
          <a:ln/>
        </p:spPr>
        <p:txBody>
          <a:bodyPr wrap="square" lIns="0" tIns="0" rIns="0" bIns="0" rtlCol="0" anchor="b"/>
          <a:lstStyle/>
          <a:p>
            <a:pPr indent="0" marL="0">
              <a:buNone/>
            </a:pPr>
            <a:r>
              <a:rPr lang="en-US" sz="1700" b="1" dirty="0">
                <a:solidFill>
                  <a:schemeClr val="tx2"/>
                </a:solidFill>
              </a:rPr>
              <a:t>Backlog ajustado</a:t>
            </a:r>
            <a:endParaRPr lang="en-US" sz="1700" dirty="0"/>
          </a:p>
        </p:txBody>
      </p:sp>
      <p:sp>
        <p:nvSpPr>
          <p:cNvPr id="23" name="Text 20"/>
          <p:cNvSpPr txBox="1"/>
          <p:nvPr/>
        </p:nvSpPr>
        <p:spPr>
          <a:xfrm>
            <a:off x="9272016" y="3337560"/>
            <a:ext cx="2057400" cy="1325880"/>
          </a:xfrm>
          <a:prstGeom prst="rect">
            <a:avLst/>
          </a:prstGeom>
          <a:noFill/>
          <a:ln/>
        </p:spPr>
        <p:txBody>
          <a:bodyPr wrap="square" lIns="0" tIns="0" rIns="0" bIns="0" rtlCol="0" anchor="t"/>
          <a:lstStyle/>
          <a:p>
            <a:pPr indent="0" marL="0">
              <a:buNone/>
            </a:pPr>
            <a:r>
              <a:rPr lang="en-US" sz="1400" dirty="0">
                <a:solidFill>
                  <a:schemeClr val="tx1"/>
                </a:solidFill>
              </a:rPr>
              <a:t>Lo aprendido en la demo vuelve como historias nuevas o cambios, para priorizar con SURA.</a:t>
            </a:r>
            <a:endParaRPr lang="en-US" sz="1400" dirty="0"/>
          </a:p>
        </p:txBody>
      </p:sp>
      <p:sp>
        <p:nvSpPr>
          <p:cNvPr id="24" name="Shape 21"/>
          <p:cNvSpPr/>
          <p:nvPr/>
        </p:nvSpPr>
        <p:spPr>
          <a:xfrm>
            <a:off x="548640" y="4892040"/>
            <a:ext cx="11064240" cy="1005840"/>
          </a:xfrm>
          <a:prstGeom prst="roundRect">
            <a:avLst>
              <a:gd name="adj" fmla="val 7273"/>
            </a:avLst>
          </a:prstGeom>
          <a:solidFill>
            <a:schemeClr val="bg2"/>
          </a:solidFill>
          <a:ln w="12700">
            <a:solidFill>
              <a:schemeClr val="bg2"/>
            </a:solidFill>
            <a:prstDash val="solid"/>
          </a:ln>
        </p:spPr>
      </p:sp>
      <p:sp>
        <p:nvSpPr>
          <p:cNvPr id="25" name="Text 22"/>
          <p:cNvSpPr txBox="1"/>
          <p:nvPr/>
        </p:nvSpPr>
        <p:spPr>
          <a:xfrm>
            <a:off x="822960" y="4892040"/>
            <a:ext cx="10515600" cy="1005840"/>
          </a:xfrm>
          <a:prstGeom prst="rect">
            <a:avLst/>
          </a:prstGeom>
          <a:noFill/>
          <a:ln/>
        </p:spPr>
        <p:txBody>
          <a:bodyPr wrap="square" lIns="0" tIns="0" rIns="0" bIns="0" rtlCol="0" anchor="ctr"/>
          <a:lstStyle/>
          <a:p>
            <a:pPr indent="0" marL="0">
              <a:buNone/>
            </a:pPr>
            <a:r>
              <a:rPr lang="en-US" sz="1500" b="1" dirty="0">
                <a:solidFill>
                  <a:schemeClr val="tx2"/>
                </a:solidFill>
              </a:rPr>
              <a:t>A producción, en los cortes limpios. </a:t>
            </a:r>
            <a:pPr indent="0" marL="0">
              <a:buNone/>
            </a:pPr>
            <a:r>
              <a:rPr lang="en-US" sz="1500" dirty="0">
                <a:solidFill>
                  <a:schemeClr val="tx1"/>
                </a:solidFill>
              </a:rPr>
              <a:t>No todo incremento va a producción: se despliega cuando hay algo usable de punta a punta, como los agentes de Solicitud o la autorización automática de nivel 1. Ese despliegue siempre lo aprueba una persona.</a:t>
            </a:r>
            <a:endParaRPr lang="en-US" sz="15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Cada historia deja un agente que se puede medir</a:t>
            </a:r>
            <a:endParaRPr lang="en-US" sz="2800" dirty="0"/>
          </a:p>
        </p:txBody>
      </p:sp>
      <p:sp>
        <p:nvSpPr>
          <p:cNvPr id="4" name="Text 1"/>
          <p:cNvSpPr txBox="1"/>
          <p:nvPr/>
        </p:nvSpPr>
        <p:spPr>
          <a:xfrm>
            <a:off x="548640" y="1600200"/>
            <a:ext cx="5212080" cy="640080"/>
          </a:xfrm>
          <a:prstGeom prst="rect">
            <a:avLst/>
          </a:prstGeom>
          <a:noFill/>
          <a:ln/>
        </p:spPr>
        <p:txBody>
          <a:bodyPr wrap="square" lIns="0" tIns="0" rIns="0" bIns="0" rtlCol="0" anchor="t"/>
          <a:lstStyle/>
          <a:p>
            <a:pPr indent="0" marL="0">
              <a:buNone/>
            </a:pPr>
            <a:r>
              <a:rPr lang="en-US" sz="1600" b="1" dirty="0">
                <a:solidFill>
                  <a:schemeClr val="accent6"/>
                </a:solidFill>
              </a:rPr>
              <a:t>Por capas: la medición llega al final</a:t>
            </a:r>
            <a:endParaRPr lang="en-US" sz="1600" dirty="0"/>
          </a:p>
        </p:txBody>
      </p:sp>
      <p:sp>
        <p:nvSpPr>
          <p:cNvPr id="5" name="Text 2"/>
          <p:cNvSpPr txBox="1"/>
          <p:nvPr/>
        </p:nvSpPr>
        <p:spPr>
          <a:xfrm>
            <a:off x="2011680" y="2286000"/>
            <a:ext cx="777240" cy="274320"/>
          </a:xfrm>
          <a:prstGeom prst="rect">
            <a:avLst/>
          </a:prstGeom>
          <a:noFill/>
          <a:ln/>
        </p:spPr>
        <p:txBody>
          <a:bodyPr wrap="square" lIns="0" tIns="0" rIns="0" bIns="0" rtlCol="0" anchor="t"/>
          <a:lstStyle/>
          <a:p>
            <a:pPr algn="ctr" indent="0" marL="0">
              <a:buNone/>
            </a:pPr>
            <a:r>
              <a:rPr lang="en-US" sz="1300" b="1" dirty="0">
                <a:solidFill>
                  <a:schemeClr val="accent6"/>
                </a:solidFill>
              </a:rPr>
              <a:t>S1</a:t>
            </a:r>
            <a:endParaRPr lang="en-US" sz="1300" dirty="0"/>
          </a:p>
        </p:txBody>
      </p:sp>
      <p:sp>
        <p:nvSpPr>
          <p:cNvPr id="6" name="Text 3"/>
          <p:cNvSpPr txBox="1"/>
          <p:nvPr/>
        </p:nvSpPr>
        <p:spPr>
          <a:xfrm>
            <a:off x="2880360" y="2286000"/>
            <a:ext cx="777240" cy="274320"/>
          </a:xfrm>
          <a:prstGeom prst="rect">
            <a:avLst/>
          </a:prstGeom>
          <a:noFill/>
          <a:ln/>
        </p:spPr>
        <p:txBody>
          <a:bodyPr wrap="square" lIns="0" tIns="0" rIns="0" bIns="0" rtlCol="0" anchor="t"/>
          <a:lstStyle/>
          <a:p>
            <a:pPr algn="ctr" indent="0" marL="0">
              <a:buNone/>
            </a:pPr>
            <a:r>
              <a:rPr lang="en-US" sz="1300" b="1" dirty="0">
                <a:solidFill>
                  <a:schemeClr val="accent6"/>
                </a:solidFill>
              </a:rPr>
              <a:t>S2</a:t>
            </a:r>
            <a:endParaRPr lang="en-US" sz="1300" dirty="0"/>
          </a:p>
        </p:txBody>
      </p:sp>
      <p:sp>
        <p:nvSpPr>
          <p:cNvPr id="7" name="Text 4"/>
          <p:cNvSpPr txBox="1"/>
          <p:nvPr/>
        </p:nvSpPr>
        <p:spPr>
          <a:xfrm>
            <a:off x="3749040" y="2286000"/>
            <a:ext cx="777240" cy="274320"/>
          </a:xfrm>
          <a:prstGeom prst="rect">
            <a:avLst/>
          </a:prstGeom>
          <a:noFill/>
          <a:ln/>
        </p:spPr>
        <p:txBody>
          <a:bodyPr wrap="square" lIns="0" tIns="0" rIns="0" bIns="0" rtlCol="0" anchor="t"/>
          <a:lstStyle/>
          <a:p>
            <a:pPr algn="ctr" indent="0" marL="0">
              <a:buNone/>
            </a:pPr>
            <a:r>
              <a:rPr lang="en-US" sz="1300" b="1" dirty="0">
                <a:solidFill>
                  <a:schemeClr val="accent6"/>
                </a:solidFill>
              </a:rPr>
              <a:t>S3</a:t>
            </a:r>
            <a:endParaRPr lang="en-US" sz="1300" dirty="0"/>
          </a:p>
        </p:txBody>
      </p:sp>
      <p:sp>
        <p:nvSpPr>
          <p:cNvPr id="8" name="Text 5"/>
          <p:cNvSpPr txBox="1"/>
          <p:nvPr/>
        </p:nvSpPr>
        <p:spPr>
          <a:xfrm>
            <a:off x="4617720" y="2286000"/>
            <a:ext cx="777240" cy="274320"/>
          </a:xfrm>
          <a:prstGeom prst="rect">
            <a:avLst/>
          </a:prstGeom>
          <a:noFill/>
          <a:ln/>
        </p:spPr>
        <p:txBody>
          <a:bodyPr wrap="square" lIns="0" tIns="0" rIns="0" bIns="0" rtlCol="0" anchor="t"/>
          <a:lstStyle/>
          <a:p>
            <a:pPr algn="ctr" indent="0" marL="0">
              <a:buNone/>
            </a:pPr>
            <a:r>
              <a:rPr lang="en-US" sz="1300" b="1" dirty="0">
                <a:solidFill>
                  <a:schemeClr val="accent6"/>
                </a:solidFill>
              </a:rPr>
              <a:t>S4</a:t>
            </a:r>
            <a:endParaRPr lang="en-US" sz="1300" dirty="0"/>
          </a:p>
        </p:txBody>
      </p:sp>
      <p:sp>
        <p:nvSpPr>
          <p:cNvPr id="9" name="Text 6"/>
          <p:cNvSpPr txBox="1"/>
          <p:nvPr/>
        </p:nvSpPr>
        <p:spPr>
          <a:xfrm>
            <a:off x="548640" y="2651760"/>
            <a:ext cx="1417320" cy="502920"/>
          </a:xfrm>
          <a:prstGeom prst="rect">
            <a:avLst/>
          </a:prstGeom>
          <a:noFill/>
          <a:ln/>
        </p:spPr>
        <p:txBody>
          <a:bodyPr wrap="square" lIns="0" tIns="0" rIns="0" bIns="0" rtlCol="0" anchor="ctr"/>
          <a:lstStyle/>
          <a:p>
            <a:pPr indent="0" marL="0">
              <a:buNone/>
            </a:pPr>
            <a:r>
              <a:rPr lang="en-US" sz="1400" b="1" dirty="0">
                <a:solidFill>
                  <a:schemeClr val="accent6"/>
                </a:solidFill>
              </a:rPr>
              <a:t>Agente</a:t>
            </a:r>
            <a:endParaRPr lang="en-US" sz="1400" dirty="0"/>
          </a:p>
        </p:txBody>
      </p:sp>
      <p:sp>
        <p:nvSpPr>
          <p:cNvPr id="10" name="Shape 7"/>
          <p:cNvSpPr/>
          <p:nvPr/>
        </p:nvSpPr>
        <p:spPr>
          <a:xfrm>
            <a:off x="2011680" y="2651760"/>
            <a:ext cx="777240" cy="502920"/>
          </a:xfrm>
          <a:prstGeom prst="roundRect">
            <a:avLst>
              <a:gd name="adj" fmla="val 10909"/>
            </a:avLst>
          </a:prstGeom>
          <a:solidFill>
            <a:schemeClr val="accent5"/>
          </a:solidFill>
          <a:ln w="12700">
            <a:solidFill>
              <a:schemeClr val="accent5"/>
            </a:solidFill>
            <a:prstDash val="solid"/>
          </a:ln>
        </p:spPr>
      </p:sp>
      <p:sp>
        <p:nvSpPr>
          <p:cNvPr id="11" name="Text 8"/>
          <p:cNvSpPr txBox="1"/>
          <p:nvPr/>
        </p:nvSpPr>
        <p:spPr>
          <a:xfrm>
            <a:off x="548640" y="3291840"/>
            <a:ext cx="1417320" cy="502920"/>
          </a:xfrm>
          <a:prstGeom prst="rect">
            <a:avLst/>
          </a:prstGeom>
          <a:noFill/>
          <a:ln/>
        </p:spPr>
        <p:txBody>
          <a:bodyPr wrap="square" lIns="0" tIns="0" rIns="0" bIns="0" rtlCol="0" anchor="ctr"/>
          <a:lstStyle/>
          <a:p>
            <a:pPr indent="0" marL="0">
              <a:buNone/>
            </a:pPr>
            <a:r>
              <a:rPr lang="en-US" sz="1400" b="1" dirty="0">
                <a:solidFill>
                  <a:schemeClr val="accent6"/>
                </a:solidFill>
              </a:rPr>
              <a:t>Herramientas</a:t>
            </a:r>
            <a:endParaRPr lang="en-US" sz="1400" dirty="0"/>
          </a:p>
        </p:txBody>
      </p:sp>
      <p:sp>
        <p:nvSpPr>
          <p:cNvPr id="12" name="Shape 9"/>
          <p:cNvSpPr/>
          <p:nvPr/>
        </p:nvSpPr>
        <p:spPr>
          <a:xfrm>
            <a:off x="2880360" y="3291840"/>
            <a:ext cx="777240" cy="502920"/>
          </a:xfrm>
          <a:prstGeom prst="roundRect">
            <a:avLst>
              <a:gd name="adj" fmla="val 10909"/>
            </a:avLst>
          </a:prstGeom>
          <a:solidFill>
            <a:schemeClr val="accent5"/>
          </a:solidFill>
          <a:ln w="12700">
            <a:solidFill>
              <a:schemeClr val="accent5"/>
            </a:solidFill>
            <a:prstDash val="solid"/>
          </a:ln>
        </p:spPr>
      </p:sp>
      <p:sp>
        <p:nvSpPr>
          <p:cNvPr id="13" name="Text 10"/>
          <p:cNvSpPr txBox="1"/>
          <p:nvPr/>
        </p:nvSpPr>
        <p:spPr>
          <a:xfrm>
            <a:off x="548640" y="3931920"/>
            <a:ext cx="1417320" cy="502920"/>
          </a:xfrm>
          <a:prstGeom prst="rect">
            <a:avLst/>
          </a:prstGeom>
          <a:noFill/>
          <a:ln/>
        </p:spPr>
        <p:txBody>
          <a:bodyPr wrap="square" lIns="0" tIns="0" rIns="0" bIns="0" rtlCol="0" anchor="ctr"/>
          <a:lstStyle/>
          <a:p>
            <a:pPr indent="0" marL="0">
              <a:buNone/>
            </a:pPr>
            <a:r>
              <a:rPr lang="en-US" sz="1400" b="1" dirty="0">
                <a:solidFill>
                  <a:schemeClr val="accent6"/>
                </a:solidFill>
              </a:rPr>
              <a:t>Golden set</a:t>
            </a:r>
            <a:endParaRPr lang="en-US" sz="1400" dirty="0"/>
          </a:p>
        </p:txBody>
      </p:sp>
      <p:sp>
        <p:nvSpPr>
          <p:cNvPr id="14" name="Shape 11"/>
          <p:cNvSpPr/>
          <p:nvPr/>
        </p:nvSpPr>
        <p:spPr>
          <a:xfrm>
            <a:off x="3749040" y="3931920"/>
            <a:ext cx="777240" cy="502920"/>
          </a:xfrm>
          <a:prstGeom prst="roundRect">
            <a:avLst>
              <a:gd name="adj" fmla="val 10909"/>
            </a:avLst>
          </a:prstGeom>
          <a:solidFill>
            <a:schemeClr val="accent5"/>
          </a:solidFill>
          <a:ln w="12700">
            <a:solidFill>
              <a:schemeClr val="accent5"/>
            </a:solidFill>
            <a:prstDash val="solid"/>
          </a:ln>
        </p:spPr>
      </p:sp>
      <p:sp>
        <p:nvSpPr>
          <p:cNvPr id="15" name="Text 12"/>
          <p:cNvSpPr txBox="1"/>
          <p:nvPr/>
        </p:nvSpPr>
        <p:spPr>
          <a:xfrm>
            <a:off x="548640" y="4572000"/>
            <a:ext cx="1417320" cy="502920"/>
          </a:xfrm>
          <a:prstGeom prst="rect">
            <a:avLst/>
          </a:prstGeom>
          <a:noFill/>
          <a:ln/>
        </p:spPr>
        <p:txBody>
          <a:bodyPr wrap="square" lIns="0" tIns="0" rIns="0" bIns="0" rtlCol="0" anchor="ctr"/>
          <a:lstStyle/>
          <a:p>
            <a:pPr indent="0" marL="0">
              <a:buNone/>
            </a:pPr>
            <a:r>
              <a:rPr lang="en-US" sz="1400" b="1" dirty="0">
                <a:solidFill>
                  <a:schemeClr val="accent6"/>
                </a:solidFill>
              </a:rPr>
              <a:t>Traza</a:t>
            </a:r>
            <a:endParaRPr lang="en-US" sz="1400" dirty="0"/>
          </a:p>
        </p:txBody>
      </p:sp>
      <p:sp>
        <p:nvSpPr>
          <p:cNvPr id="16" name="Shape 13"/>
          <p:cNvSpPr/>
          <p:nvPr/>
        </p:nvSpPr>
        <p:spPr>
          <a:xfrm>
            <a:off x="4617720" y="4572000"/>
            <a:ext cx="777240" cy="502920"/>
          </a:xfrm>
          <a:prstGeom prst="roundRect">
            <a:avLst>
              <a:gd name="adj" fmla="val 10909"/>
            </a:avLst>
          </a:prstGeom>
          <a:solidFill>
            <a:schemeClr val="accent5"/>
          </a:solidFill>
          <a:ln w="12700">
            <a:solidFill>
              <a:schemeClr val="accent5"/>
            </a:solidFill>
            <a:prstDash val="solid"/>
          </a:ln>
        </p:spPr>
      </p:sp>
      <p:sp>
        <p:nvSpPr>
          <p:cNvPr id="17" name="Text 14"/>
          <p:cNvSpPr txBox="1"/>
          <p:nvPr/>
        </p:nvSpPr>
        <p:spPr>
          <a:xfrm>
            <a:off x="6355080" y="1600200"/>
            <a:ext cx="5257800" cy="640080"/>
          </a:xfrm>
          <a:prstGeom prst="rect">
            <a:avLst/>
          </a:prstGeom>
          <a:noFill/>
          <a:ln/>
        </p:spPr>
        <p:txBody>
          <a:bodyPr wrap="square" lIns="0" tIns="0" rIns="0" bIns="0" rtlCol="0" anchor="t"/>
          <a:lstStyle/>
          <a:p>
            <a:pPr indent="0" marL="0">
              <a:buNone/>
            </a:pPr>
            <a:r>
              <a:rPr lang="en-US" sz="1600" b="1" dirty="0">
                <a:solidFill>
                  <a:schemeClr val="accent1"/>
                </a:solidFill>
              </a:rPr>
              <a:t>Por rebanadas: cada sprint deja algo medible</a:t>
            </a:r>
            <a:endParaRPr lang="en-US" sz="1600" dirty="0"/>
          </a:p>
        </p:txBody>
      </p:sp>
      <p:sp>
        <p:nvSpPr>
          <p:cNvPr id="18" name="Text 15"/>
          <p:cNvSpPr txBox="1"/>
          <p:nvPr/>
        </p:nvSpPr>
        <p:spPr>
          <a:xfrm>
            <a:off x="6355080" y="2286000"/>
            <a:ext cx="1600200" cy="274320"/>
          </a:xfrm>
          <a:prstGeom prst="rect">
            <a:avLst/>
          </a:prstGeom>
          <a:noFill/>
          <a:ln/>
        </p:spPr>
        <p:txBody>
          <a:bodyPr wrap="square" lIns="0" tIns="0" rIns="0" bIns="0" rtlCol="0" anchor="t"/>
          <a:lstStyle/>
          <a:p>
            <a:pPr algn="ctr" indent="0" marL="0">
              <a:buNone/>
            </a:pPr>
            <a:r>
              <a:rPr lang="en-US" sz="1300" b="1" dirty="0">
                <a:solidFill>
                  <a:schemeClr val="accent1"/>
                </a:solidFill>
              </a:rPr>
              <a:t>S1</a:t>
            </a:r>
            <a:endParaRPr lang="en-US" sz="1300" dirty="0"/>
          </a:p>
        </p:txBody>
      </p:sp>
      <p:sp>
        <p:nvSpPr>
          <p:cNvPr id="19" name="Text 16"/>
          <p:cNvSpPr txBox="1"/>
          <p:nvPr/>
        </p:nvSpPr>
        <p:spPr>
          <a:xfrm>
            <a:off x="8183880" y="2286000"/>
            <a:ext cx="1600200" cy="274320"/>
          </a:xfrm>
          <a:prstGeom prst="rect">
            <a:avLst/>
          </a:prstGeom>
          <a:noFill/>
          <a:ln/>
        </p:spPr>
        <p:txBody>
          <a:bodyPr wrap="square" lIns="0" tIns="0" rIns="0" bIns="0" rtlCol="0" anchor="t"/>
          <a:lstStyle/>
          <a:p>
            <a:pPr algn="ctr" indent="0" marL="0">
              <a:buNone/>
            </a:pPr>
            <a:r>
              <a:rPr lang="en-US" sz="1300" b="1" dirty="0">
                <a:solidFill>
                  <a:schemeClr val="accent1"/>
                </a:solidFill>
              </a:rPr>
              <a:t>S2</a:t>
            </a:r>
            <a:endParaRPr lang="en-US" sz="1300" dirty="0"/>
          </a:p>
        </p:txBody>
      </p:sp>
      <p:sp>
        <p:nvSpPr>
          <p:cNvPr id="20" name="Text 17"/>
          <p:cNvSpPr txBox="1"/>
          <p:nvPr/>
        </p:nvSpPr>
        <p:spPr>
          <a:xfrm>
            <a:off x="10012680" y="2286000"/>
            <a:ext cx="1600200" cy="274320"/>
          </a:xfrm>
          <a:prstGeom prst="rect">
            <a:avLst/>
          </a:prstGeom>
          <a:noFill/>
          <a:ln/>
        </p:spPr>
        <p:txBody>
          <a:bodyPr wrap="square" lIns="0" tIns="0" rIns="0" bIns="0" rtlCol="0" anchor="t"/>
          <a:lstStyle/>
          <a:p>
            <a:pPr algn="ctr" indent="0" marL="0">
              <a:buNone/>
            </a:pPr>
            <a:r>
              <a:rPr lang="en-US" sz="1300" b="1" dirty="0">
                <a:solidFill>
                  <a:schemeClr val="accent1"/>
                </a:solidFill>
              </a:rPr>
              <a:t>S3</a:t>
            </a:r>
            <a:endParaRPr lang="en-US" sz="1300" dirty="0"/>
          </a:p>
        </p:txBody>
      </p:sp>
      <p:sp>
        <p:nvSpPr>
          <p:cNvPr id="21" name="Shape 18"/>
          <p:cNvSpPr/>
          <p:nvPr/>
        </p:nvSpPr>
        <p:spPr>
          <a:xfrm>
            <a:off x="6355080" y="2651760"/>
            <a:ext cx="1600200" cy="502920"/>
          </a:xfrm>
          <a:prstGeom prst="roundRect">
            <a:avLst>
              <a:gd name="adj" fmla="val 10909"/>
            </a:avLst>
          </a:prstGeom>
          <a:solidFill>
            <a:schemeClr val="accent1"/>
          </a:solidFill>
          <a:ln w="12700">
            <a:solidFill>
              <a:schemeClr val="accent1"/>
            </a:solidFill>
            <a:prstDash val="solid"/>
          </a:ln>
        </p:spPr>
      </p:sp>
      <p:sp>
        <p:nvSpPr>
          <p:cNvPr id="22" name="Text 19"/>
          <p:cNvSpPr txBox="1"/>
          <p:nvPr/>
        </p:nvSpPr>
        <p:spPr>
          <a:xfrm>
            <a:off x="6355080" y="265176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Agente</a:t>
            </a:r>
            <a:endParaRPr lang="en-US" sz="1300" dirty="0"/>
          </a:p>
        </p:txBody>
      </p:sp>
      <p:sp>
        <p:nvSpPr>
          <p:cNvPr id="23" name="Shape 20"/>
          <p:cNvSpPr/>
          <p:nvPr/>
        </p:nvSpPr>
        <p:spPr>
          <a:xfrm>
            <a:off x="6355080" y="3291840"/>
            <a:ext cx="1600200" cy="502920"/>
          </a:xfrm>
          <a:prstGeom prst="roundRect">
            <a:avLst>
              <a:gd name="adj" fmla="val 10909"/>
            </a:avLst>
          </a:prstGeom>
          <a:solidFill>
            <a:schemeClr val="accent1"/>
          </a:solidFill>
          <a:ln w="12700">
            <a:solidFill>
              <a:schemeClr val="accent1"/>
            </a:solidFill>
            <a:prstDash val="solid"/>
          </a:ln>
        </p:spPr>
      </p:sp>
      <p:sp>
        <p:nvSpPr>
          <p:cNvPr id="24" name="Text 21"/>
          <p:cNvSpPr txBox="1"/>
          <p:nvPr/>
        </p:nvSpPr>
        <p:spPr>
          <a:xfrm>
            <a:off x="6355080" y="329184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Herramientas</a:t>
            </a:r>
            <a:endParaRPr lang="en-US" sz="1300" dirty="0"/>
          </a:p>
        </p:txBody>
      </p:sp>
      <p:sp>
        <p:nvSpPr>
          <p:cNvPr id="25" name="Shape 22"/>
          <p:cNvSpPr/>
          <p:nvPr/>
        </p:nvSpPr>
        <p:spPr>
          <a:xfrm>
            <a:off x="6355080" y="3931920"/>
            <a:ext cx="1600200" cy="502920"/>
          </a:xfrm>
          <a:prstGeom prst="roundRect">
            <a:avLst>
              <a:gd name="adj" fmla="val 10909"/>
            </a:avLst>
          </a:prstGeom>
          <a:solidFill>
            <a:schemeClr val="accent1"/>
          </a:solidFill>
          <a:ln w="12700">
            <a:solidFill>
              <a:schemeClr val="accent1"/>
            </a:solidFill>
            <a:prstDash val="solid"/>
          </a:ln>
        </p:spPr>
      </p:sp>
      <p:sp>
        <p:nvSpPr>
          <p:cNvPr id="26" name="Text 23"/>
          <p:cNvSpPr txBox="1"/>
          <p:nvPr/>
        </p:nvSpPr>
        <p:spPr>
          <a:xfrm>
            <a:off x="6355080" y="393192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Golden set</a:t>
            </a:r>
            <a:endParaRPr lang="en-US" sz="1300" dirty="0"/>
          </a:p>
        </p:txBody>
      </p:sp>
      <p:sp>
        <p:nvSpPr>
          <p:cNvPr id="27" name="Shape 24"/>
          <p:cNvSpPr/>
          <p:nvPr/>
        </p:nvSpPr>
        <p:spPr>
          <a:xfrm>
            <a:off x="6355080" y="4572000"/>
            <a:ext cx="1600200" cy="502920"/>
          </a:xfrm>
          <a:prstGeom prst="roundRect">
            <a:avLst>
              <a:gd name="adj" fmla="val 10909"/>
            </a:avLst>
          </a:prstGeom>
          <a:solidFill>
            <a:schemeClr val="accent1"/>
          </a:solidFill>
          <a:ln w="12700">
            <a:solidFill>
              <a:schemeClr val="accent1"/>
            </a:solidFill>
            <a:prstDash val="solid"/>
          </a:ln>
        </p:spPr>
      </p:sp>
      <p:sp>
        <p:nvSpPr>
          <p:cNvPr id="28" name="Text 25"/>
          <p:cNvSpPr txBox="1"/>
          <p:nvPr/>
        </p:nvSpPr>
        <p:spPr>
          <a:xfrm>
            <a:off x="6355080" y="457200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Traza</a:t>
            </a:r>
            <a:endParaRPr lang="en-US" sz="1300" dirty="0"/>
          </a:p>
        </p:txBody>
      </p:sp>
      <p:sp>
        <p:nvSpPr>
          <p:cNvPr id="29" name="Shape 26"/>
          <p:cNvSpPr/>
          <p:nvPr/>
        </p:nvSpPr>
        <p:spPr>
          <a:xfrm>
            <a:off x="8183880" y="2651760"/>
            <a:ext cx="1600200" cy="502920"/>
          </a:xfrm>
          <a:prstGeom prst="roundRect">
            <a:avLst>
              <a:gd name="adj" fmla="val 10909"/>
            </a:avLst>
          </a:prstGeom>
          <a:solidFill>
            <a:schemeClr val="accent1"/>
          </a:solidFill>
          <a:ln w="12700">
            <a:solidFill>
              <a:schemeClr val="accent1"/>
            </a:solidFill>
            <a:prstDash val="solid"/>
          </a:ln>
        </p:spPr>
      </p:sp>
      <p:sp>
        <p:nvSpPr>
          <p:cNvPr id="30" name="Text 27"/>
          <p:cNvSpPr txBox="1"/>
          <p:nvPr/>
        </p:nvSpPr>
        <p:spPr>
          <a:xfrm>
            <a:off x="8183880" y="265176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Agente</a:t>
            </a:r>
            <a:endParaRPr lang="en-US" sz="1300" dirty="0"/>
          </a:p>
        </p:txBody>
      </p:sp>
      <p:sp>
        <p:nvSpPr>
          <p:cNvPr id="31" name="Shape 28"/>
          <p:cNvSpPr/>
          <p:nvPr/>
        </p:nvSpPr>
        <p:spPr>
          <a:xfrm>
            <a:off x="8183880" y="3291840"/>
            <a:ext cx="1600200" cy="502920"/>
          </a:xfrm>
          <a:prstGeom prst="roundRect">
            <a:avLst>
              <a:gd name="adj" fmla="val 10909"/>
            </a:avLst>
          </a:prstGeom>
          <a:solidFill>
            <a:schemeClr val="accent1"/>
          </a:solidFill>
          <a:ln w="12700">
            <a:solidFill>
              <a:schemeClr val="accent1"/>
            </a:solidFill>
            <a:prstDash val="solid"/>
          </a:ln>
        </p:spPr>
      </p:sp>
      <p:sp>
        <p:nvSpPr>
          <p:cNvPr id="32" name="Text 29"/>
          <p:cNvSpPr txBox="1"/>
          <p:nvPr/>
        </p:nvSpPr>
        <p:spPr>
          <a:xfrm>
            <a:off x="8183880" y="329184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Herramientas</a:t>
            </a:r>
            <a:endParaRPr lang="en-US" sz="1300" dirty="0"/>
          </a:p>
        </p:txBody>
      </p:sp>
      <p:sp>
        <p:nvSpPr>
          <p:cNvPr id="33" name="Shape 30"/>
          <p:cNvSpPr/>
          <p:nvPr/>
        </p:nvSpPr>
        <p:spPr>
          <a:xfrm>
            <a:off x="8183880" y="3931920"/>
            <a:ext cx="1600200" cy="502920"/>
          </a:xfrm>
          <a:prstGeom prst="roundRect">
            <a:avLst>
              <a:gd name="adj" fmla="val 10909"/>
            </a:avLst>
          </a:prstGeom>
          <a:solidFill>
            <a:schemeClr val="accent1"/>
          </a:solidFill>
          <a:ln w="12700">
            <a:solidFill>
              <a:schemeClr val="accent1"/>
            </a:solidFill>
            <a:prstDash val="solid"/>
          </a:ln>
        </p:spPr>
      </p:sp>
      <p:sp>
        <p:nvSpPr>
          <p:cNvPr id="34" name="Text 31"/>
          <p:cNvSpPr txBox="1"/>
          <p:nvPr/>
        </p:nvSpPr>
        <p:spPr>
          <a:xfrm>
            <a:off x="8183880" y="393192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Golden set</a:t>
            </a:r>
            <a:endParaRPr lang="en-US" sz="1300" dirty="0"/>
          </a:p>
        </p:txBody>
      </p:sp>
      <p:sp>
        <p:nvSpPr>
          <p:cNvPr id="35" name="Shape 32"/>
          <p:cNvSpPr/>
          <p:nvPr/>
        </p:nvSpPr>
        <p:spPr>
          <a:xfrm>
            <a:off x="8183880" y="4572000"/>
            <a:ext cx="1600200" cy="502920"/>
          </a:xfrm>
          <a:prstGeom prst="roundRect">
            <a:avLst>
              <a:gd name="adj" fmla="val 10909"/>
            </a:avLst>
          </a:prstGeom>
          <a:solidFill>
            <a:schemeClr val="accent1"/>
          </a:solidFill>
          <a:ln w="12700">
            <a:solidFill>
              <a:schemeClr val="accent1"/>
            </a:solidFill>
            <a:prstDash val="solid"/>
          </a:ln>
        </p:spPr>
      </p:sp>
      <p:sp>
        <p:nvSpPr>
          <p:cNvPr id="36" name="Text 33"/>
          <p:cNvSpPr txBox="1"/>
          <p:nvPr/>
        </p:nvSpPr>
        <p:spPr>
          <a:xfrm>
            <a:off x="8183880" y="457200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Traza</a:t>
            </a:r>
            <a:endParaRPr lang="en-US" sz="1300" dirty="0"/>
          </a:p>
        </p:txBody>
      </p:sp>
      <p:sp>
        <p:nvSpPr>
          <p:cNvPr id="37" name="Shape 34"/>
          <p:cNvSpPr/>
          <p:nvPr/>
        </p:nvSpPr>
        <p:spPr>
          <a:xfrm>
            <a:off x="10012680" y="2651760"/>
            <a:ext cx="1600200" cy="502920"/>
          </a:xfrm>
          <a:prstGeom prst="roundRect">
            <a:avLst>
              <a:gd name="adj" fmla="val 10909"/>
            </a:avLst>
          </a:prstGeom>
          <a:solidFill>
            <a:schemeClr val="accent1"/>
          </a:solidFill>
          <a:ln w="12700">
            <a:solidFill>
              <a:schemeClr val="accent1"/>
            </a:solidFill>
            <a:prstDash val="solid"/>
          </a:ln>
        </p:spPr>
      </p:sp>
      <p:sp>
        <p:nvSpPr>
          <p:cNvPr id="38" name="Text 35"/>
          <p:cNvSpPr txBox="1"/>
          <p:nvPr/>
        </p:nvSpPr>
        <p:spPr>
          <a:xfrm>
            <a:off x="10012680" y="265176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Agente</a:t>
            </a:r>
            <a:endParaRPr lang="en-US" sz="1300" dirty="0"/>
          </a:p>
        </p:txBody>
      </p:sp>
      <p:sp>
        <p:nvSpPr>
          <p:cNvPr id="39" name="Shape 36"/>
          <p:cNvSpPr/>
          <p:nvPr/>
        </p:nvSpPr>
        <p:spPr>
          <a:xfrm>
            <a:off x="10012680" y="3291840"/>
            <a:ext cx="1600200" cy="502920"/>
          </a:xfrm>
          <a:prstGeom prst="roundRect">
            <a:avLst>
              <a:gd name="adj" fmla="val 10909"/>
            </a:avLst>
          </a:prstGeom>
          <a:solidFill>
            <a:schemeClr val="accent1"/>
          </a:solidFill>
          <a:ln w="12700">
            <a:solidFill>
              <a:schemeClr val="accent1"/>
            </a:solidFill>
            <a:prstDash val="solid"/>
          </a:ln>
        </p:spPr>
      </p:sp>
      <p:sp>
        <p:nvSpPr>
          <p:cNvPr id="40" name="Text 37"/>
          <p:cNvSpPr txBox="1"/>
          <p:nvPr/>
        </p:nvSpPr>
        <p:spPr>
          <a:xfrm>
            <a:off x="10012680" y="329184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Herramientas</a:t>
            </a:r>
            <a:endParaRPr lang="en-US" sz="1300" dirty="0"/>
          </a:p>
        </p:txBody>
      </p:sp>
      <p:sp>
        <p:nvSpPr>
          <p:cNvPr id="41" name="Shape 38"/>
          <p:cNvSpPr/>
          <p:nvPr/>
        </p:nvSpPr>
        <p:spPr>
          <a:xfrm>
            <a:off x="10012680" y="3931920"/>
            <a:ext cx="1600200" cy="502920"/>
          </a:xfrm>
          <a:prstGeom prst="roundRect">
            <a:avLst>
              <a:gd name="adj" fmla="val 10909"/>
            </a:avLst>
          </a:prstGeom>
          <a:solidFill>
            <a:schemeClr val="accent1"/>
          </a:solidFill>
          <a:ln w="12700">
            <a:solidFill>
              <a:schemeClr val="accent1"/>
            </a:solidFill>
            <a:prstDash val="solid"/>
          </a:ln>
        </p:spPr>
      </p:sp>
      <p:sp>
        <p:nvSpPr>
          <p:cNvPr id="42" name="Text 39"/>
          <p:cNvSpPr txBox="1"/>
          <p:nvPr/>
        </p:nvSpPr>
        <p:spPr>
          <a:xfrm>
            <a:off x="10012680" y="393192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Golden set</a:t>
            </a:r>
            <a:endParaRPr lang="en-US" sz="1300" dirty="0"/>
          </a:p>
        </p:txBody>
      </p:sp>
      <p:sp>
        <p:nvSpPr>
          <p:cNvPr id="43" name="Shape 40"/>
          <p:cNvSpPr/>
          <p:nvPr/>
        </p:nvSpPr>
        <p:spPr>
          <a:xfrm>
            <a:off x="10012680" y="4572000"/>
            <a:ext cx="1600200" cy="502920"/>
          </a:xfrm>
          <a:prstGeom prst="roundRect">
            <a:avLst>
              <a:gd name="adj" fmla="val 10909"/>
            </a:avLst>
          </a:prstGeom>
          <a:solidFill>
            <a:schemeClr val="accent1"/>
          </a:solidFill>
          <a:ln w="12700">
            <a:solidFill>
              <a:schemeClr val="accent1"/>
            </a:solidFill>
            <a:prstDash val="solid"/>
          </a:ln>
        </p:spPr>
      </p:sp>
      <p:sp>
        <p:nvSpPr>
          <p:cNvPr id="44" name="Text 41"/>
          <p:cNvSpPr txBox="1"/>
          <p:nvPr/>
        </p:nvSpPr>
        <p:spPr>
          <a:xfrm>
            <a:off x="10012680" y="457200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Traza</a:t>
            </a:r>
            <a:endParaRPr lang="en-US" sz="1300" dirty="0"/>
          </a:p>
        </p:txBody>
      </p:sp>
      <p:sp>
        <p:nvSpPr>
          <p:cNvPr id="45" name="Shape 42"/>
          <p:cNvSpPr/>
          <p:nvPr/>
        </p:nvSpPr>
        <p:spPr>
          <a:xfrm>
            <a:off x="548640" y="5349240"/>
            <a:ext cx="11064240" cy="566928"/>
          </a:xfrm>
          <a:prstGeom prst="roundRect">
            <a:avLst>
              <a:gd name="adj" fmla="val 12903"/>
            </a:avLst>
          </a:prstGeom>
          <a:solidFill>
            <a:schemeClr val="bg2"/>
          </a:solidFill>
          <a:ln w="12700">
            <a:solidFill>
              <a:schemeClr val="bg2"/>
            </a:solidFill>
            <a:prstDash val="solid"/>
          </a:ln>
        </p:spPr>
      </p:sp>
      <p:sp>
        <p:nvSpPr>
          <p:cNvPr id="46" name="Text 43"/>
          <p:cNvSpPr txBox="1"/>
          <p:nvPr/>
        </p:nvSpPr>
        <p:spPr>
          <a:xfrm>
            <a:off x="777240" y="5349240"/>
            <a:ext cx="10607040" cy="566928"/>
          </a:xfrm>
          <a:prstGeom prst="rect">
            <a:avLst/>
          </a:prstGeom>
          <a:noFill/>
          <a:ln/>
        </p:spPr>
        <p:txBody>
          <a:bodyPr wrap="square" lIns="0" tIns="0" rIns="0" bIns="0" rtlCol="0" anchor="ctr"/>
          <a:lstStyle/>
          <a:p>
            <a:pPr indent="0" marL="0">
              <a:buNone/>
            </a:pPr>
            <a:r>
              <a:rPr lang="en-US" sz="1400" b="1" dirty="0">
                <a:solidFill>
                  <a:schemeClr val="tx2"/>
                </a:solidFill>
              </a:rPr>
              <a:t>Ejemplo, primera historia: </a:t>
            </a:r>
            <a:pPr indent="0" marL="0">
              <a:buNone/>
            </a:pPr>
            <a:r>
              <a:rPr lang="en-US" sz="1400" dirty="0">
                <a:solidFill>
                  <a:schemeClr val="tx1"/>
                </a:solidFill>
              </a:rPr>
              <a:t>el clasificador de documentos con su prompt versionado, sus casos en el golden set, la compuerta y la traza, contra el simulador del gestor.</a:t>
            </a:r>
            <a:endParaRPr lang="en-US" sz="14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El orden sugerido: tres incrementos y dos cortes limpios</a:t>
            </a:r>
            <a:endParaRPr lang="en-US" sz="2800" dirty="0"/>
          </a:p>
        </p:txBody>
      </p:sp>
      <p:sp>
        <p:nvSpPr>
          <p:cNvPr id="4" name="Shape 1"/>
          <p:cNvSpPr/>
          <p:nvPr/>
        </p:nvSpPr>
        <p:spPr>
          <a:xfrm>
            <a:off x="548640" y="1554480"/>
            <a:ext cx="11064240" cy="640080"/>
          </a:xfrm>
          <a:prstGeom prst="roundRect">
            <a:avLst>
              <a:gd name="adj" fmla="val 11429"/>
            </a:avLst>
          </a:prstGeom>
          <a:solidFill>
            <a:schemeClr val="bg2"/>
          </a:solidFill>
          <a:ln w="12700">
            <a:solidFill>
              <a:schemeClr val="bg2"/>
            </a:solidFill>
            <a:prstDash val="solid"/>
          </a:ln>
        </p:spPr>
      </p:sp>
      <p:sp>
        <p:nvSpPr>
          <p:cNvPr id="5" name="Text 2"/>
          <p:cNvSpPr txBox="1"/>
          <p:nvPr/>
        </p:nvSpPr>
        <p:spPr>
          <a:xfrm>
            <a:off x="822960" y="1554480"/>
            <a:ext cx="10515600" cy="640080"/>
          </a:xfrm>
          <a:prstGeom prst="rect">
            <a:avLst/>
          </a:prstGeom>
          <a:noFill/>
          <a:ln/>
        </p:spPr>
        <p:txBody>
          <a:bodyPr wrap="square" lIns="0" tIns="0" rIns="0" bIns="0" rtlCol="0" anchor="ctr"/>
          <a:lstStyle/>
          <a:p>
            <a:pPr indent="0" marL="0">
              <a:buNone/>
            </a:pPr>
            <a:r>
              <a:rPr lang="en-US" sz="1800" b="1" dirty="0">
                <a:solidFill>
                  <a:schemeClr val="accent1"/>
                </a:solidFill>
              </a:rPr>
              <a:t>Un orden, no un calendario.</a:t>
            </a:r>
            <a:pPr indent="0" marL="0">
              <a:buNone/>
            </a:pPr>
            <a:r>
              <a:rPr lang="en-US" sz="1400" dirty="0">
                <a:solidFill>
                  <a:schemeClr val="tx1"/>
                </a:solidFill>
              </a:rPr>
              <a:t>   SURA lo confirma o lo cambia en cada sesión de historias.</a:t>
            </a:r>
            <a:endParaRPr lang="en-US" sz="1400" dirty="0"/>
          </a:p>
        </p:txBody>
      </p:sp>
      <p:sp>
        <p:nvSpPr>
          <p:cNvPr id="6" name="Shape 3"/>
          <p:cNvSpPr/>
          <p:nvPr/>
        </p:nvSpPr>
        <p:spPr>
          <a:xfrm>
            <a:off x="548640" y="2377440"/>
            <a:ext cx="2606040" cy="2011680"/>
          </a:xfrm>
          <a:prstGeom prst="roundRect">
            <a:avLst>
              <a:gd name="adj" fmla="val 3636"/>
            </a:avLst>
          </a:prstGeom>
          <a:solidFill>
            <a:schemeClr val="accent4"/>
          </a:solidFill>
          <a:ln w="12700">
            <a:solidFill>
              <a:srgbClr val="DCD8EC"/>
            </a:solidFill>
            <a:prstDash val="solid"/>
          </a:ln>
        </p:spPr>
      </p:sp>
      <p:sp>
        <p:nvSpPr>
          <p:cNvPr id="7" name="Shape 4"/>
          <p:cNvSpPr/>
          <p:nvPr/>
        </p:nvSpPr>
        <p:spPr>
          <a:xfrm>
            <a:off x="731520" y="2532888"/>
            <a:ext cx="2240280" cy="365760"/>
          </a:xfrm>
          <a:prstGeom prst="roundRect">
            <a:avLst>
              <a:gd name="adj" fmla="val 15000"/>
            </a:avLst>
          </a:prstGeom>
          <a:solidFill>
            <a:schemeClr val="tx2"/>
          </a:solidFill>
          <a:ln w="12700">
            <a:solidFill>
              <a:schemeClr val="tx2"/>
            </a:solidFill>
            <a:prstDash val="solid"/>
          </a:ln>
        </p:spPr>
      </p:sp>
      <p:sp>
        <p:nvSpPr>
          <p:cNvPr id="8" name="Text 5"/>
          <p:cNvSpPr txBox="1"/>
          <p:nvPr/>
        </p:nvSpPr>
        <p:spPr>
          <a:xfrm>
            <a:off x="731520" y="2532888"/>
            <a:ext cx="2240280" cy="365760"/>
          </a:xfrm>
          <a:prstGeom prst="rect">
            <a:avLst/>
          </a:prstGeom>
          <a:noFill/>
          <a:ln/>
        </p:spPr>
        <p:txBody>
          <a:bodyPr wrap="square" lIns="0" tIns="0" rIns="0" bIns="0" rtlCol="0" anchor="ctr"/>
          <a:lstStyle/>
          <a:p>
            <a:pPr algn="ctr" indent="0" marL="0">
              <a:buNone/>
            </a:pPr>
            <a:r>
              <a:rPr lang="en-US" sz="1400" b="1" dirty="0">
                <a:solidFill>
                  <a:schemeClr val="bg1"/>
                </a:solidFill>
              </a:rPr>
              <a:t>Arranque</a:t>
            </a:r>
            <a:endParaRPr lang="en-US" sz="1400" dirty="0"/>
          </a:p>
        </p:txBody>
      </p:sp>
      <p:sp>
        <p:nvSpPr>
          <p:cNvPr id="9" name="Text 6"/>
          <p:cNvSpPr txBox="1"/>
          <p:nvPr/>
        </p:nvSpPr>
        <p:spPr>
          <a:xfrm>
            <a:off x="731520" y="2990088"/>
            <a:ext cx="2240280" cy="274320"/>
          </a:xfrm>
          <a:prstGeom prst="rect">
            <a:avLst/>
          </a:prstGeom>
          <a:noFill/>
          <a:ln/>
        </p:spPr>
        <p:txBody>
          <a:bodyPr wrap="square" lIns="0" tIns="0" rIns="0" bIns="0" rtlCol="0" anchor="t"/>
          <a:lstStyle/>
          <a:p>
            <a:pPr indent="0" marL="0">
              <a:buNone/>
            </a:pPr>
            <a:r>
              <a:rPr lang="en-US" sz="1300" b="1" dirty="0">
                <a:solidFill>
                  <a:schemeClr val="accent2"/>
                </a:solidFill>
              </a:rPr>
              <a:t>Primero</a:t>
            </a:r>
            <a:endParaRPr lang="en-US" sz="1300" dirty="0"/>
          </a:p>
        </p:txBody>
      </p:sp>
      <p:sp>
        <p:nvSpPr>
          <p:cNvPr id="10" name="Text 7"/>
          <p:cNvSpPr txBox="1"/>
          <p:nvPr/>
        </p:nvSpPr>
        <p:spPr>
          <a:xfrm>
            <a:off x="731520" y="3319272"/>
            <a:ext cx="2240280" cy="1024128"/>
          </a:xfrm>
          <a:prstGeom prst="rect">
            <a:avLst/>
          </a:prstGeom>
          <a:noFill/>
          <a:ln/>
        </p:spPr>
        <p:txBody>
          <a:bodyPr wrap="square" lIns="0" tIns="0" rIns="0" bIns="0" rtlCol="0" anchor="t"/>
          <a:lstStyle/>
          <a:p>
            <a:pPr indent="0" marL="0">
              <a:buNone/>
            </a:pPr>
            <a:r>
              <a:rPr lang="en-US" sz="1300" dirty="0">
                <a:solidFill>
                  <a:schemeClr val="tx1"/>
                </a:solidFill>
              </a:rPr>
              <a:t>Arquetipo de agente, lineamientos, contrato con cada gestor, esquema de la traza y primer golden set de 20 casos.</a:t>
            </a:r>
            <a:endParaRPr lang="en-US" sz="1300" dirty="0"/>
          </a:p>
        </p:txBody>
      </p:sp>
      <p:sp>
        <p:nvSpPr>
          <p:cNvPr id="11" name="Shape 8"/>
          <p:cNvSpPr/>
          <p:nvPr/>
        </p:nvSpPr>
        <p:spPr>
          <a:xfrm>
            <a:off x="3364992" y="2377440"/>
            <a:ext cx="2606040" cy="2011680"/>
          </a:xfrm>
          <a:prstGeom prst="roundRect">
            <a:avLst>
              <a:gd name="adj" fmla="val 3636"/>
            </a:avLst>
          </a:prstGeom>
          <a:solidFill>
            <a:schemeClr val="accent4"/>
          </a:solidFill>
          <a:ln w="12700">
            <a:solidFill>
              <a:srgbClr val="DCD8EC"/>
            </a:solidFill>
            <a:prstDash val="solid"/>
          </a:ln>
        </p:spPr>
      </p:sp>
      <p:sp>
        <p:nvSpPr>
          <p:cNvPr id="12" name="Shape 9"/>
          <p:cNvSpPr/>
          <p:nvPr/>
        </p:nvSpPr>
        <p:spPr>
          <a:xfrm>
            <a:off x="3547872" y="2532888"/>
            <a:ext cx="2240280" cy="365760"/>
          </a:xfrm>
          <a:prstGeom prst="roundRect">
            <a:avLst>
              <a:gd name="adj" fmla="val 15000"/>
            </a:avLst>
          </a:prstGeom>
          <a:solidFill>
            <a:schemeClr val="accent1"/>
          </a:solidFill>
          <a:ln w="12700">
            <a:solidFill>
              <a:schemeClr val="accent1"/>
            </a:solidFill>
            <a:prstDash val="solid"/>
          </a:ln>
        </p:spPr>
      </p:sp>
      <p:sp>
        <p:nvSpPr>
          <p:cNvPr id="13" name="Text 10"/>
          <p:cNvSpPr txBox="1"/>
          <p:nvPr/>
        </p:nvSpPr>
        <p:spPr>
          <a:xfrm>
            <a:off x="3547872" y="2532888"/>
            <a:ext cx="2240280" cy="365760"/>
          </a:xfrm>
          <a:prstGeom prst="rect">
            <a:avLst/>
          </a:prstGeom>
          <a:noFill/>
          <a:ln/>
        </p:spPr>
        <p:txBody>
          <a:bodyPr wrap="square" lIns="0" tIns="0" rIns="0" bIns="0" rtlCol="0" anchor="ctr"/>
          <a:lstStyle/>
          <a:p>
            <a:pPr algn="ctr" indent="0" marL="0">
              <a:buNone/>
            </a:pPr>
            <a:r>
              <a:rPr lang="en-US" sz="1400" b="1" dirty="0">
                <a:solidFill>
                  <a:schemeClr val="bg1"/>
                </a:solidFill>
              </a:rPr>
              <a:t>Agentes de Solicitud</a:t>
            </a:r>
            <a:endParaRPr lang="en-US" sz="1400" dirty="0"/>
          </a:p>
        </p:txBody>
      </p:sp>
      <p:sp>
        <p:nvSpPr>
          <p:cNvPr id="14" name="Text 11"/>
          <p:cNvSpPr txBox="1"/>
          <p:nvPr/>
        </p:nvSpPr>
        <p:spPr>
          <a:xfrm>
            <a:off x="3547872" y="2990088"/>
            <a:ext cx="2240280" cy="274320"/>
          </a:xfrm>
          <a:prstGeom prst="rect">
            <a:avLst/>
          </a:prstGeom>
          <a:noFill/>
          <a:ln/>
        </p:spPr>
        <p:txBody>
          <a:bodyPr wrap="square" lIns="0" tIns="0" rIns="0" bIns="0" rtlCol="0" anchor="t"/>
          <a:lstStyle/>
          <a:p>
            <a:pPr indent="0" marL="0">
              <a:buNone/>
            </a:pPr>
            <a:r>
              <a:rPr lang="en-US" sz="1300" b="1" dirty="0">
                <a:solidFill>
                  <a:schemeClr val="accent2"/>
                </a:solidFill>
              </a:rPr>
              <a:t>Incremento 1</a:t>
            </a:r>
            <a:endParaRPr lang="en-US" sz="1300" dirty="0"/>
          </a:p>
        </p:txBody>
      </p:sp>
      <p:sp>
        <p:nvSpPr>
          <p:cNvPr id="15" name="Text 12"/>
          <p:cNvSpPr txBox="1"/>
          <p:nvPr/>
        </p:nvSpPr>
        <p:spPr>
          <a:xfrm>
            <a:off x="3547872" y="3319272"/>
            <a:ext cx="2240280" cy="1024128"/>
          </a:xfrm>
          <a:prstGeom prst="rect">
            <a:avLst/>
          </a:prstGeom>
          <a:noFill/>
          <a:ln/>
        </p:spPr>
        <p:txBody>
          <a:bodyPr wrap="square" lIns="0" tIns="0" rIns="0" bIns="0" rtlCol="0" anchor="t"/>
          <a:lstStyle/>
          <a:p>
            <a:pPr indent="0" marL="0">
              <a:buNone/>
            </a:pPr>
            <a:r>
              <a:rPr lang="en-US" sz="1300" dirty="0">
                <a:solidFill>
                  <a:schemeClr val="tx1"/>
                </a:solidFill>
              </a:rPr>
              <a:t>Clasificador, enrutador, extractores, request builder y LLM-as-a-judge calibrado; escala a preradicado con motivo.</a:t>
            </a:r>
            <a:endParaRPr lang="en-US" sz="1300" dirty="0"/>
          </a:p>
        </p:txBody>
      </p:sp>
      <p:sp>
        <p:nvSpPr>
          <p:cNvPr id="16" name="Shape 13"/>
          <p:cNvSpPr/>
          <p:nvPr/>
        </p:nvSpPr>
        <p:spPr>
          <a:xfrm>
            <a:off x="6181344" y="2377440"/>
            <a:ext cx="2606040" cy="2011680"/>
          </a:xfrm>
          <a:prstGeom prst="roundRect">
            <a:avLst>
              <a:gd name="adj" fmla="val 3636"/>
            </a:avLst>
          </a:prstGeom>
          <a:solidFill>
            <a:schemeClr val="accent4"/>
          </a:solidFill>
          <a:ln w="12700">
            <a:solidFill>
              <a:srgbClr val="DCD8EC"/>
            </a:solidFill>
            <a:prstDash val="solid"/>
          </a:ln>
        </p:spPr>
      </p:sp>
      <p:sp>
        <p:nvSpPr>
          <p:cNvPr id="17" name="Shape 14"/>
          <p:cNvSpPr/>
          <p:nvPr/>
        </p:nvSpPr>
        <p:spPr>
          <a:xfrm>
            <a:off x="6364224" y="2532888"/>
            <a:ext cx="2240280" cy="365760"/>
          </a:xfrm>
          <a:prstGeom prst="roundRect">
            <a:avLst>
              <a:gd name="adj" fmla="val 15000"/>
            </a:avLst>
          </a:prstGeom>
          <a:solidFill>
            <a:schemeClr val="accent1"/>
          </a:solidFill>
          <a:ln w="12700">
            <a:solidFill>
              <a:schemeClr val="accent1"/>
            </a:solidFill>
            <a:prstDash val="solid"/>
          </a:ln>
        </p:spPr>
      </p:sp>
      <p:sp>
        <p:nvSpPr>
          <p:cNvPr id="18" name="Text 15"/>
          <p:cNvSpPr txBox="1"/>
          <p:nvPr/>
        </p:nvSpPr>
        <p:spPr>
          <a:xfrm>
            <a:off x="6364224" y="2532888"/>
            <a:ext cx="2240280" cy="365760"/>
          </a:xfrm>
          <a:prstGeom prst="rect">
            <a:avLst/>
          </a:prstGeom>
          <a:noFill/>
          <a:ln/>
        </p:spPr>
        <p:txBody>
          <a:bodyPr wrap="square" lIns="0" tIns="0" rIns="0" bIns="0" rtlCol="0" anchor="ctr"/>
          <a:lstStyle/>
          <a:p>
            <a:pPr algn="ctr" indent="0" marL="0">
              <a:buNone/>
            </a:pPr>
            <a:r>
              <a:rPr lang="en-US" sz="1400" b="1" dirty="0">
                <a:solidFill>
                  <a:schemeClr val="bg1"/>
                </a:solidFill>
              </a:rPr>
              <a:t>Agentes de Evaluación</a:t>
            </a:r>
            <a:endParaRPr lang="en-US" sz="1400" dirty="0"/>
          </a:p>
        </p:txBody>
      </p:sp>
      <p:sp>
        <p:nvSpPr>
          <p:cNvPr id="19" name="Text 16"/>
          <p:cNvSpPr txBox="1"/>
          <p:nvPr/>
        </p:nvSpPr>
        <p:spPr>
          <a:xfrm>
            <a:off x="6364224" y="2990088"/>
            <a:ext cx="2240280" cy="274320"/>
          </a:xfrm>
          <a:prstGeom prst="rect">
            <a:avLst/>
          </a:prstGeom>
          <a:noFill/>
          <a:ln/>
        </p:spPr>
        <p:txBody>
          <a:bodyPr wrap="square" lIns="0" tIns="0" rIns="0" bIns="0" rtlCol="0" anchor="t"/>
          <a:lstStyle/>
          <a:p>
            <a:pPr indent="0" marL="0">
              <a:buNone/>
            </a:pPr>
            <a:r>
              <a:rPr lang="en-US" sz="1300" b="1" dirty="0">
                <a:solidFill>
                  <a:schemeClr val="accent2"/>
                </a:solidFill>
              </a:rPr>
              <a:t>Incremento 2</a:t>
            </a:r>
            <a:endParaRPr lang="en-US" sz="1300" dirty="0"/>
          </a:p>
        </p:txBody>
      </p:sp>
      <p:sp>
        <p:nvSpPr>
          <p:cNvPr id="20" name="Text 17"/>
          <p:cNvSpPr txBox="1"/>
          <p:nvPr/>
        </p:nvSpPr>
        <p:spPr>
          <a:xfrm>
            <a:off x="6364224" y="3319272"/>
            <a:ext cx="2240280" cy="1024128"/>
          </a:xfrm>
          <a:prstGeom prst="rect">
            <a:avLst/>
          </a:prstGeom>
          <a:noFill/>
          <a:ln/>
        </p:spPr>
        <p:txBody>
          <a:bodyPr wrap="square" lIns="0" tIns="0" rIns="0" bIns="0" rtlCol="0" anchor="t"/>
          <a:lstStyle/>
          <a:p>
            <a:pPr indent="0" marL="0">
              <a:buNone/>
            </a:pPr>
            <a:r>
              <a:rPr lang="en-US" sz="1300" dirty="0">
                <a:solidFill>
                  <a:schemeClr val="tx1"/>
                </a:solidFill>
              </a:rPr>
              <a:t>Coberturas, pertinencia médica, duplicidad y concepto al escalar. Ningún agente niega.</a:t>
            </a:r>
            <a:endParaRPr lang="en-US" sz="1300" dirty="0"/>
          </a:p>
        </p:txBody>
      </p:sp>
      <p:sp>
        <p:nvSpPr>
          <p:cNvPr id="21" name="Shape 18"/>
          <p:cNvSpPr/>
          <p:nvPr/>
        </p:nvSpPr>
        <p:spPr>
          <a:xfrm>
            <a:off x="8997696" y="2377440"/>
            <a:ext cx="2606040" cy="2011680"/>
          </a:xfrm>
          <a:prstGeom prst="roundRect">
            <a:avLst>
              <a:gd name="adj" fmla="val 3636"/>
            </a:avLst>
          </a:prstGeom>
          <a:solidFill>
            <a:schemeClr val="accent4"/>
          </a:solidFill>
          <a:ln w="12700">
            <a:solidFill>
              <a:srgbClr val="DCD8EC"/>
            </a:solidFill>
            <a:prstDash val="solid"/>
          </a:ln>
        </p:spPr>
      </p:sp>
      <p:sp>
        <p:nvSpPr>
          <p:cNvPr id="22" name="Shape 19"/>
          <p:cNvSpPr/>
          <p:nvPr/>
        </p:nvSpPr>
        <p:spPr>
          <a:xfrm>
            <a:off x="9180576" y="2532888"/>
            <a:ext cx="2240280" cy="365760"/>
          </a:xfrm>
          <a:prstGeom prst="roundRect">
            <a:avLst>
              <a:gd name="adj" fmla="val 15000"/>
            </a:avLst>
          </a:prstGeom>
          <a:solidFill>
            <a:schemeClr val="accent1"/>
          </a:solidFill>
          <a:ln w="12700">
            <a:solidFill>
              <a:schemeClr val="accent1"/>
            </a:solidFill>
            <a:prstDash val="solid"/>
          </a:ln>
        </p:spPr>
      </p:sp>
      <p:sp>
        <p:nvSpPr>
          <p:cNvPr id="23" name="Text 20"/>
          <p:cNvSpPr txBox="1"/>
          <p:nvPr/>
        </p:nvSpPr>
        <p:spPr>
          <a:xfrm>
            <a:off x="9180576" y="2532888"/>
            <a:ext cx="2240280" cy="365760"/>
          </a:xfrm>
          <a:prstGeom prst="rect">
            <a:avLst/>
          </a:prstGeom>
          <a:noFill/>
          <a:ln/>
        </p:spPr>
        <p:txBody>
          <a:bodyPr wrap="square" lIns="0" tIns="0" rIns="0" bIns="0" rtlCol="0" anchor="ctr"/>
          <a:lstStyle/>
          <a:p>
            <a:pPr algn="ctr" indent="0" marL="0">
              <a:buNone/>
            </a:pPr>
            <a:r>
              <a:rPr lang="en-US" sz="1400" b="1" dirty="0">
                <a:solidFill>
                  <a:schemeClr val="bg1"/>
                </a:solidFill>
              </a:rPr>
              <a:t>Auditor y cierre</a:t>
            </a:r>
            <a:endParaRPr lang="en-US" sz="1400" dirty="0"/>
          </a:p>
        </p:txBody>
      </p:sp>
      <p:sp>
        <p:nvSpPr>
          <p:cNvPr id="24" name="Text 21"/>
          <p:cNvSpPr txBox="1"/>
          <p:nvPr/>
        </p:nvSpPr>
        <p:spPr>
          <a:xfrm>
            <a:off x="9180576" y="2990088"/>
            <a:ext cx="2240280" cy="274320"/>
          </a:xfrm>
          <a:prstGeom prst="rect">
            <a:avLst/>
          </a:prstGeom>
          <a:noFill/>
          <a:ln/>
        </p:spPr>
        <p:txBody>
          <a:bodyPr wrap="square" lIns="0" tIns="0" rIns="0" bIns="0" rtlCol="0" anchor="t"/>
          <a:lstStyle/>
          <a:p>
            <a:pPr indent="0" marL="0">
              <a:buNone/>
            </a:pPr>
            <a:r>
              <a:rPr lang="en-US" sz="1300" b="1" dirty="0">
                <a:solidFill>
                  <a:schemeClr val="accent2"/>
                </a:solidFill>
              </a:rPr>
              <a:t>Incremento 3</a:t>
            </a:r>
            <a:endParaRPr lang="en-US" sz="1300" dirty="0"/>
          </a:p>
        </p:txBody>
      </p:sp>
      <p:sp>
        <p:nvSpPr>
          <p:cNvPr id="25" name="Text 22"/>
          <p:cNvSpPr txBox="1"/>
          <p:nvPr/>
        </p:nvSpPr>
        <p:spPr>
          <a:xfrm>
            <a:off x="9180576" y="3319272"/>
            <a:ext cx="2240280" cy="1024128"/>
          </a:xfrm>
          <a:prstGeom prst="rect">
            <a:avLst/>
          </a:prstGeom>
          <a:noFill/>
          <a:ln/>
        </p:spPr>
        <p:txBody>
          <a:bodyPr wrap="square" lIns="0" tIns="0" rIns="0" bIns="0" rtlCol="0" anchor="t"/>
          <a:lstStyle/>
          <a:p>
            <a:pPr indent="0" marL="0">
              <a:buNone/>
            </a:pPr>
            <a:r>
              <a:rPr lang="en-US" sz="1300" dirty="0">
                <a:solidFill>
                  <a:schemeClr val="tx1"/>
                </a:solidFill>
              </a:rPr>
              <a:t>Auditor dentro de cada gestor, que propone sin promover, y pruebas de punta a punta.</a:t>
            </a:r>
            <a:endParaRPr lang="en-US" sz="1300" dirty="0"/>
          </a:p>
        </p:txBody>
      </p:sp>
      <p:sp>
        <p:nvSpPr>
          <p:cNvPr id="26" name="Shape 23"/>
          <p:cNvSpPr/>
          <p:nvPr/>
        </p:nvSpPr>
        <p:spPr>
          <a:xfrm>
            <a:off x="4864608" y="4498848"/>
            <a:ext cx="2423160" cy="530352"/>
          </a:xfrm>
          <a:prstGeom prst="roundRect">
            <a:avLst>
              <a:gd name="adj" fmla="val 34483"/>
            </a:avLst>
          </a:prstGeom>
          <a:solidFill>
            <a:schemeClr val="bg1"/>
          </a:solidFill>
          <a:ln w="19050">
            <a:solidFill>
              <a:schemeClr val="accent3"/>
            </a:solidFill>
            <a:prstDash val="solid"/>
          </a:ln>
        </p:spPr>
      </p:sp>
      <p:sp>
        <p:nvSpPr>
          <p:cNvPr id="27" name="Text 24"/>
          <p:cNvSpPr txBox="1"/>
          <p:nvPr/>
        </p:nvSpPr>
        <p:spPr>
          <a:xfrm>
            <a:off x="4956048" y="4498848"/>
            <a:ext cx="2240280" cy="530352"/>
          </a:xfrm>
          <a:prstGeom prst="rect">
            <a:avLst/>
          </a:prstGeom>
          <a:noFill/>
          <a:ln/>
        </p:spPr>
        <p:txBody>
          <a:bodyPr wrap="square" lIns="0" tIns="0" rIns="0" bIns="0" rtlCol="0" anchor="ctr"/>
          <a:lstStyle/>
          <a:p>
            <a:pPr algn="ctr" indent="0" marL="0">
              <a:buNone/>
            </a:pPr>
            <a:r>
              <a:rPr lang="en-US" sz="1200" b="1" dirty="0">
                <a:solidFill>
                  <a:schemeClr val="accent3"/>
                </a:solidFill>
              </a:rPr>
              <a:t>Corte 1 · agentes de Solicitud en producción</a:t>
            </a:r>
            <a:endParaRPr lang="en-US" sz="1200" dirty="0"/>
          </a:p>
        </p:txBody>
      </p:sp>
      <p:sp>
        <p:nvSpPr>
          <p:cNvPr id="28" name="Shape 25"/>
          <p:cNvSpPr/>
          <p:nvPr/>
        </p:nvSpPr>
        <p:spPr>
          <a:xfrm>
            <a:off x="7680960" y="4498848"/>
            <a:ext cx="2423160" cy="530352"/>
          </a:xfrm>
          <a:prstGeom prst="roundRect">
            <a:avLst>
              <a:gd name="adj" fmla="val 34483"/>
            </a:avLst>
          </a:prstGeom>
          <a:solidFill>
            <a:schemeClr val="bg1"/>
          </a:solidFill>
          <a:ln w="19050">
            <a:solidFill>
              <a:schemeClr val="accent3"/>
            </a:solidFill>
            <a:prstDash val="solid"/>
          </a:ln>
        </p:spPr>
      </p:sp>
      <p:sp>
        <p:nvSpPr>
          <p:cNvPr id="29" name="Text 26"/>
          <p:cNvSpPr txBox="1"/>
          <p:nvPr/>
        </p:nvSpPr>
        <p:spPr>
          <a:xfrm>
            <a:off x="7772400" y="4498848"/>
            <a:ext cx="2240280" cy="530352"/>
          </a:xfrm>
          <a:prstGeom prst="rect">
            <a:avLst/>
          </a:prstGeom>
          <a:noFill/>
          <a:ln/>
        </p:spPr>
        <p:txBody>
          <a:bodyPr wrap="square" lIns="0" tIns="0" rIns="0" bIns="0" rtlCol="0" anchor="ctr"/>
          <a:lstStyle/>
          <a:p>
            <a:pPr algn="ctr" indent="0" marL="0">
              <a:buNone/>
            </a:pPr>
            <a:r>
              <a:rPr lang="en-US" sz="1200" b="1" dirty="0">
                <a:solidFill>
                  <a:schemeClr val="accent3"/>
                </a:solidFill>
              </a:rPr>
              <a:t>Corte 2 · autorización automática de nivel 1</a:t>
            </a:r>
            <a:endParaRPr lang="en-US" sz="1200" dirty="0"/>
          </a:p>
        </p:txBody>
      </p:sp>
      <p:sp>
        <p:nvSpPr>
          <p:cNvPr id="30" name="Shape 27"/>
          <p:cNvSpPr/>
          <p:nvPr/>
        </p:nvSpPr>
        <p:spPr>
          <a:xfrm>
            <a:off x="3364992" y="5138928"/>
            <a:ext cx="8238744" cy="713232"/>
          </a:xfrm>
          <a:prstGeom prst="roundRect">
            <a:avLst>
              <a:gd name="adj" fmla="val 10256"/>
            </a:avLst>
          </a:prstGeom>
          <a:solidFill>
            <a:schemeClr val="bg2"/>
          </a:solidFill>
          <a:ln w="12700">
            <a:solidFill>
              <a:schemeClr val="bg2"/>
            </a:solidFill>
            <a:prstDash val="solid"/>
          </a:ln>
        </p:spPr>
      </p:sp>
      <p:sp>
        <p:nvSpPr>
          <p:cNvPr id="31" name="Text 28"/>
          <p:cNvSpPr txBox="1"/>
          <p:nvPr/>
        </p:nvSpPr>
        <p:spPr>
          <a:xfrm>
            <a:off x="3593592" y="5138928"/>
            <a:ext cx="7781544" cy="713232"/>
          </a:xfrm>
          <a:prstGeom prst="rect">
            <a:avLst/>
          </a:prstGeom>
          <a:noFill/>
          <a:ln/>
        </p:spPr>
        <p:txBody>
          <a:bodyPr wrap="square" lIns="0" tIns="0" rIns="0" bIns="0" rtlCol="0" anchor="ctr"/>
          <a:lstStyle/>
          <a:p>
            <a:pPr indent="0" marL="0">
              <a:buNone/>
            </a:pPr>
            <a:r>
              <a:rPr lang="en-US" sz="1300" b="1" dirty="0">
                <a:solidFill>
                  <a:schemeClr val="tx2"/>
                </a:solidFill>
              </a:rPr>
              <a:t>El ciclo de mejora va dentro.  </a:t>
            </a:r>
            <a:pPr indent="0" marL="0">
              <a:buNone/>
            </a:pPr>
            <a:r>
              <a:rPr lang="en-US" sz="1300" dirty="0">
                <a:solidFill>
                  <a:schemeClr val="tx1"/>
                </a:solidFill>
              </a:rPr>
              <a:t>Traza, golden set, compuerta, umbral y calibración entran con Solicitud; corrección estructurada y muestreo, con Evaluación.</a:t>
            </a:r>
            <a:endParaRPr lang="en-US" sz="1300" dirty="0"/>
          </a:p>
        </p:txBody>
      </p:sp>
      <p:sp>
        <p:nvSpPr>
          <p:cNvPr id="32" name="Text 29"/>
          <p:cNvSpPr txBox="1"/>
          <p:nvPr/>
        </p:nvSpPr>
        <p:spPr>
          <a:xfrm>
            <a:off x="548640" y="5943600"/>
            <a:ext cx="11064240" cy="365760"/>
          </a:xfrm>
          <a:prstGeom prst="rect">
            <a:avLst/>
          </a:prstGeom>
          <a:noFill/>
          <a:ln/>
        </p:spPr>
        <p:txBody>
          <a:bodyPr wrap="square" lIns="0" tIns="0" rIns="0" bIns="0" rtlCol="0" anchor="b"/>
          <a:lstStyle/>
          <a:p>
            <a:pPr indent="0" marL="0">
              <a:buNone/>
            </a:pPr>
            <a:r>
              <a:rPr lang="en-US" sz="1100" dirty="0">
                <a:solidFill>
                  <a:schemeClr val="accent6"/>
                </a:solidFill>
              </a:rPr>
              <a:t>Los cortes a producción dependen también del front, la integración y Siniestro Integral, que construyen otros equipos.</a:t>
            </a:r>
            <a:endParaRPr lang="en-US" sz="11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Cuándo entra una historia al sprint y cuándo se da por hecha</a:t>
            </a:r>
            <a:endParaRPr lang="en-US" sz="2800" dirty="0"/>
          </a:p>
        </p:txBody>
      </p:sp>
      <p:sp>
        <p:nvSpPr>
          <p:cNvPr id="4" name="Shape 1"/>
          <p:cNvSpPr/>
          <p:nvPr/>
        </p:nvSpPr>
        <p:spPr>
          <a:xfrm>
            <a:off x="548640" y="1600200"/>
            <a:ext cx="5440680" cy="4297680"/>
          </a:xfrm>
          <a:prstGeom prst="roundRect">
            <a:avLst>
              <a:gd name="adj" fmla="val 1702"/>
            </a:avLst>
          </a:prstGeom>
          <a:solidFill>
            <a:schemeClr val="accent4"/>
          </a:solidFill>
          <a:ln w="12700">
            <a:solidFill>
              <a:srgbClr val="DCD8EC"/>
            </a:solidFill>
            <a:prstDash val="solid"/>
          </a:ln>
        </p:spPr>
      </p:sp>
      <p:sp>
        <p:nvSpPr>
          <p:cNvPr id="5" name="Shape 2"/>
          <p:cNvSpPr/>
          <p:nvPr/>
        </p:nvSpPr>
        <p:spPr>
          <a:xfrm>
            <a:off x="822960" y="1801368"/>
            <a:ext cx="3108960" cy="438912"/>
          </a:xfrm>
          <a:prstGeom prst="roundRect">
            <a:avLst>
              <a:gd name="adj" fmla="val 50000"/>
            </a:avLst>
          </a:prstGeom>
          <a:solidFill>
            <a:schemeClr val="accent1"/>
          </a:solidFill>
          <a:ln w="12700">
            <a:solidFill>
              <a:schemeClr val="accent1"/>
            </a:solidFill>
            <a:prstDash val="solid"/>
          </a:ln>
        </p:spPr>
      </p:sp>
      <p:sp>
        <p:nvSpPr>
          <p:cNvPr id="6" name="Text 3"/>
          <p:cNvSpPr txBox="1"/>
          <p:nvPr/>
        </p:nvSpPr>
        <p:spPr>
          <a:xfrm>
            <a:off x="822960" y="1801368"/>
            <a:ext cx="3108960" cy="438912"/>
          </a:xfrm>
          <a:prstGeom prst="rect">
            <a:avLst/>
          </a:prstGeom>
          <a:noFill/>
          <a:ln/>
        </p:spPr>
        <p:txBody>
          <a:bodyPr wrap="square" lIns="0" tIns="0" rIns="0" bIns="0" rtlCol="0" anchor="ctr"/>
          <a:lstStyle/>
          <a:p>
            <a:pPr algn="ctr" indent="0" marL="0">
              <a:buNone/>
            </a:pPr>
            <a:r>
              <a:rPr lang="en-US" sz="1500" b="1" dirty="0">
                <a:solidFill>
                  <a:schemeClr val="bg1"/>
                </a:solidFill>
              </a:rPr>
              <a:t>Lista para entrar al sprint</a:t>
            </a:r>
            <a:endParaRPr lang="en-US" sz="1500" dirty="0"/>
          </a:p>
        </p:txBody>
      </p:sp>
      <p:sp>
        <p:nvSpPr>
          <p:cNvPr id="7" name="Text 4"/>
          <p:cNvSpPr txBox="1"/>
          <p:nvPr/>
        </p:nvSpPr>
        <p:spPr>
          <a:xfrm>
            <a:off x="822960" y="2423160"/>
            <a:ext cx="4892040" cy="338328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1"/>
                </a:solidFill>
              </a:rPr>
              <a:t>Se definió con SURA y tiene su criterio de aceptación.</a:t>
            </a:r>
            <a:endParaRPr lang="en-US" sz="1400" dirty="0"/>
          </a:p>
          <a:p>
            <a:pPr marL="342900" indent="-342900">
              <a:spcAft>
                <a:spcPts val="700"/>
              </a:spcAft>
              <a:buSzPct val="100000"/>
              <a:buChar char="•"/>
            </a:pPr>
            <a:r>
              <a:rPr lang="en-US" sz="1400" dirty="0">
                <a:solidFill>
                  <a:schemeClr val="tx1"/>
                </a:solidFill>
              </a:rPr>
              <a:t>El contrato del agente con el gestor está acordado: qué recibe, qué entrega y cómo escala.</a:t>
            </a:r>
            <a:endParaRPr lang="en-US" sz="1400" dirty="0"/>
          </a:p>
          <a:p>
            <a:pPr marL="342900" indent="-342900">
              <a:spcAft>
                <a:spcPts val="700"/>
              </a:spcAft>
              <a:buSzPct val="100000"/>
              <a:buChar char="•"/>
            </a:pPr>
            <a:r>
              <a:rPr lang="en-US" sz="1400" dirty="0">
                <a:solidFill>
                  <a:schemeClr val="tx1"/>
                </a:solidFill>
              </a:rPr>
              <a:t>Hay especificación mínima versionada antes de generar código.</a:t>
            </a:r>
            <a:endParaRPr lang="en-US" sz="1400" dirty="0"/>
          </a:p>
          <a:p>
            <a:pPr marL="342900" indent="-342900">
              <a:spcAft>
                <a:spcPts val="700"/>
              </a:spcAft>
              <a:buSzPct val="100000"/>
              <a:buChar char="•"/>
            </a:pPr>
            <a:r>
              <a:rPr lang="en-US" sz="1400" dirty="0">
                <a:solidFill>
                  <a:schemeClr val="tx1"/>
                </a:solidFill>
              </a:rPr>
              <a:t>El golden set tiene casos que la prueban.</a:t>
            </a:r>
            <a:endParaRPr lang="en-US" sz="1400" dirty="0"/>
          </a:p>
          <a:p>
            <a:pPr marL="342900" indent="-342900">
              <a:spcAft>
                <a:spcPts val="700"/>
              </a:spcAft>
              <a:buSzPct val="100000"/>
              <a:buChar char="•"/>
            </a:pPr>
            <a:r>
              <a:rPr lang="en-US" sz="1400" dirty="0">
                <a:solidFill>
                  <a:schemeClr val="tx1"/>
                </a:solidFill>
              </a:rPr>
              <a:t>Tiene puntos del equipo; una de más de 13 se parte.</a:t>
            </a:r>
            <a:endParaRPr lang="en-US" sz="1400" dirty="0"/>
          </a:p>
        </p:txBody>
      </p:sp>
      <p:sp>
        <p:nvSpPr>
          <p:cNvPr id="8" name="Shape 5"/>
          <p:cNvSpPr/>
          <p:nvPr/>
        </p:nvSpPr>
        <p:spPr>
          <a:xfrm>
            <a:off x="6172200" y="1600200"/>
            <a:ext cx="5440680" cy="4297680"/>
          </a:xfrm>
          <a:prstGeom prst="roundRect">
            <a:avLst>
              <a:gd name="adj" fmla="val 1702"/>
            </a:avLst>
          </a:prstGeom>
          <a:solidFill>
            <a:schemeClr val="accent4"/>
          </a:solidFill>
          <a:ln w="12700">
            <a:solidFill>
              <a:srgbClr val="DCD8EC"/>
            </a:solidFill>
            <a:prstDash val="solid"/>
          </a:ln>
        </p:spPr>
      </p:sp>
      <p:sp>
        <p:nvSpPr>
          <p:cNvPr id="9" name="Shape 6"/>
          <p:cNvSpPr/>
          <p:nvPr/>
        </p:nvSpPr>
        <p:spPr>
          <a:xfrm>
            <a:off x="6446520" y="1801368"/>
            <a:ext cx="3108960" cy="438912"/>
          </a:xfrm>
          <a:prstGeom prst="roundRect">
            <a:avLst>
              <a:gd name="adj" fmla="val 50000"/>
            </a:avLst>
          </a:prstGeom>
          <a:solidFill>
            <a:schemeClr val="accent3"/>
          </a:solidFill>
          <a:ln w="12700">
            <a:solidFill>
              <a:schemeClr val="accent3"/>
            </a:solidFill>
            <a:prstDash val="solid"/>
          </a:ln>
        </p:spPr>
      </p:sp>
      <p:sp>
        <p:nvSpPr>
          <p:cNvPr id="10" name="Text 7"/>
          <p:cNvSpPr txBox="1"/>
          <p:nvPr/>
        </p:nvSpPr>
        <p:spPr>
          <a:xfrm>
            <a:off x="6446520" y="1801368"/>
            <a:ext cx="3108960" cy="438912"/>
          </a:xfrm>
          <a:prstGeom prst="rect">
            <a:avLst/>
          </a:prstGeom>
          <a:noFill/>
          <a:ln/>
        </p:spPr>
        <p:txBody>
          <a:bodyPr wrap="square" lIns="0" tIns="0" rIns="0" bIns="0" rtlCol="0" anchor="ctr"/>
          <a:lstStyle/>
          <a:p>
            <a:pPr algn="ctr" indent="0" marL="0">
              <a:buNone/>
            </a:pPr>
            <a:r>
              <a:rPr lang="en-US" sz="1500" b="1" dirty="0">
                <a:solidFill>
                  <a:schemeClr val="bg1"/>
                </a:solidFill>
              </a:rPr>
              <a:t>Hecha</a:t>
            </a:r>
            <a:endParaRPr lang="en-US" sz="1500" dirty="0"/>
          </a:p>
        </p:txBody>
      </p:sp>
      <p:sp>
        <p:nvSpPr>
          <p:cNvPr id="11" name="Text 8"/>
          <p:cNvSpPr txBox="1"/>
          <p:nvPr/>
        </p:nvSpPr>
        <p:spPr>
          <a:xfrm>
            <a:off x="6446520" y="2423160"/>
            <a:ext cx="4892040" cy="338328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1"/>
                </a:solidFill>
              </a:rPr>
              <a:t>Sigue el arquetipo y los lineamientos del equipo.</a:t>
            </a:r>
            <a:endParaRPr lang="en-US" sz="1400" dirty="0"/>
          </a:p>
          <a:p>
            <a:pPr marL="342900" indent="-342900">
              <a:spcAft>
                <a:spcPts val="700"/>
              </a:spcAft>
              <a:buSzPct val="100000"/>
              <a:buChar char="•"/>
            </a:pPr>
            <a:r>
              <a:rPr lang="en-US" sz="1400" dirty="0">
                <a:solidFill>
                  <a:schemeClr val="tx1"/>
                </a:solidFill>
              </a:rPr>
              <a:t>Funciona integrada al gestor o contra su simulador.</a:t>
            </a:r>
            <a:endParaRPr lang="en-US" sz="1400" dirty="0"/>
          </a:p>
          <a:p>
            <a:pPr marL="342900" indent="-342900">
              <a:spcAft>
                <a:spcPts val="700"/>
              </a:spcAft>
              <a:buSzPct val="100000"/>
              <a:buChar char="•"/>
            </a:pPr>
            <a:r>
              <a:rPr lang="en-US" sz="1400" dirty="0">
                <a:solidFill>
                  <a:schemeClr val="tx1"/>
                </a:solidFill>
              </a:rPr>
              <a:t>Deja la traza: agente, versión, prompt, umbral y confianza.</a:t>
            </a:r>
            <a:endParaRPr lang="en-US" sz="1400" dirty="0"/>
          </a:p>
          <a:p>
            <a:pPr marL="342900" indent="-342900">
              <a:spcAft>
                <a:spcPts val="700"/>
              </a:spcAft>
              <a:buSzPct val="100000"/>
              <a:buChar char="•"/>
            </a:pPr>
            <a:r>
              <a:rPr lang="en-US" sz="1400" dirty="0">
                <a:solidFill>
                  <a:schemeClr val="tx1"/>
                </a:solidFill>
              </a:rPr>
              <a:t>Su golden set corre en la compuerta sin regresión.</a:t>
            </a:r>
            <a:endParaRPr lang="en-US" sz="1400" dirty="0"/>
          </a:p>
          <a:p>
            <a:pPr marL="342900" indent="-342900">
              <a:spcAft>
                <a:spcPts val="700"/>
              </a:spcAft>
              <a:buSzPct val="100000"/>
              <a:buChar char="•"/>
            </a:pPr>
            <a:r>
              <a:rPr lang="en-US" sz="1400" dirty="0">
                <a:solidFill>
                  <a:schemeClr val="tx1"/>
                </a:solidFill>
              </a:rPr>
              <a:t>La revisó el arquitecto o una persona distinta del autor.</a:t>
            </a:r>
            <a:endParaRPr lang="en-US" sz="1400" dirty="0"/>
          </a:p>
          <a:p>
            <a:pPr marL="342900" indent="-342900">
              <a:spcAft>
                <a:spcPts val="700"/>
              </a:spcAft>
              <a:buSzPct val="100000"/>
              <a:buChar char="•"/>
            </a:pPr>
            <a:r>
              <a:rPr lang="en-US" sz="1400" dirty="0">
                <a:solidFill>
                  <a:schemeClr val="tx1"/>
                </a:solidFill>
              </a:rPr>
              <a:t>Se rastrea hasta su historia y dice si se hizo con IA.</a:t>
            </a:r>
            <a:endParaRPr lang="en-US" sz="14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Una dependencia nombrada no frena el sprint, salvo una</a:t>
            </a:r>
            <a:endParaRPr lang="en-US" sz="2800" dirty="0"/>
          </a:p>
        </p:txBody>
      </p:sp>
      <p:sp>
        <p:nvSpPr>
          <p:cNvPr id="4" name="Shape 1"/>
          <p:cNvSpPr/>
          <p:nvPr/>
        </p:nvSpPr>
        <p:spPr>
          <a:xfrm>
            <a:off x="548640" y="1554480"/>
            <a:ext cx="2606040" cy="822960"/>
          </a:xfrm>
          <a:prstGeom prst="chevron">
            <a:avLst/>
          </a:prstGeom>
          <a:solidFill>
            <a:schemeClr val="accent1"/>
          </a:solidFill>
          <a:ln w="12700">
            <a:solidFill>
              <a:schemeClr val="bg1"/>
            </a:solidFill>
            <a:prstDash val="solid"/>
          </a:ln>
        </p:spPr>
      </p:sp>
      <p:sp>
        <p:nvSpPr>
          <p:cNvPr id="5" name="Text 2"/>
          <p:cNvSpPr txBox="1"/>
          <p:nvPr/>
        </p:nvSpPr>
        <p:spPr>
          <a:xfrm>
            <a:off x="1005840" y="1554480"/>
            <a:ext cx="1737360" cy="822960"/>
          </a:xfrm>
          <a:prstGeom prst="rect">
            <a:avLst/>
          </a:prstGeom>
          <a:noFill/>
          <a:ln/>
        </p:spPr>
        <p:txBody>
          <a:bodyPr wrap="square" lIns="0" tIns="0" rIns="0" bIns="0" rtlCol="0" anchor="ctr"/>
          <a:lstStyle/>
          <a:p>
            <a:pPr algn="ctr" indent="0" marL="0">
              <a:buNone/>
            </a:pPr>
            <a:r>
              <a:rPr lang="en-US" sz="1300" b="1" dirty="0">
                <a:solidFill>
                  <a:schemeClr val="bg1"/>
                </a:solidFill>
              </a:rPr>
              <a:t>Nombrar la dependencia y su dueño</a:t>
            </a:r>
            <a:endParaRPr lang="en-US" sz="1300" dirty="0"/>
          </a:p>
        </p:txBody>
      </p:sp>
      <p:sp>
        <p:nvSpPr>
          <p:cNvPr id="6" name="Shape 3"/>
          <p:cNvSpPr/>
          <p:nvPr/>
        </p:nvSpPr>
        <p:spPr>
          <a:xfrm>
            <a:off x="3364992" y="1554480"/>
            <a:ext cx="2606040" cy="822960"/>
          </a:xfrm>
          <a:prstGeom prst="chevron">
            <a:avLst/>
          </a:prstGeom>
          <a:solidFill>
            <a:schemeClr val="accent1"/>
          </a:solidFill>
          <a:ln w="12700">
            <a:solidFill>
              <a:schemeClr val="bg1"/>
            </a:solidFill>
            <a:prstDash val="solid"/>
          </a:ln>
        </p:spPr>
      </p:sp>
      <p:sp>
        <p:nvSpPr>
          <p:cNvPr id="7" name="Text 4"/>
          <p:cNvSpPr txBox="1"/>
          <p:nvPr/>
        </p:nvSpPr>
        <p:spPr>
          <a:xfrm>
            <a:off x="3822192" y="1554480"/>
            <a:ext cx="1737360" cy="822960"/>
          </a:xfrm>
          <a:prstGeom prst="rect">
            <a:avLst/>
          </a:prstGeom>
          <a:noFill/>
          <a:ln/>
        </p:spPr>
        <p:txBody>
          <a:bodyPr wrap="square" lIns="0" tIns="0" rIns="0" bIns="0" rtlCol="0" anchor="ctr"/>
          <a:lstStyle/>
          <a:p>
            <a:pPr algn="ctr" indent="0" marL="0">
              <a:buNone/>
            </a:pPr>
            <a:r>
              <a:rPr lang="en-US" sz="1300" b="1" dirty="0">
                <a:solidFill>
                  <a:schemeClr val="bg1"/>
                </a:solidFill>
              </a:rPr>
              <a:t>Acordar el contrato</a:t>
            </a:r>
            <a:endParaRPr lang="en-US" sz="1300" dirty="0"/>
          </a:p>
        </p:txBody>
      </p:sp>
      <p:sp>
        <p:nvSpPr>
          <p:cNvPr id="8" name="Shape 5"/>
          <p:cNvSpPr/>
          <p:nvPr/>
        </p:nvSpPr>
        <p:spPr>
          <a:xfrm>
            <a:off x="6181344" y="1554480"/>
            <a:ext cx="2606040" cy="822960"/>
          </a:xfrm>
          <a:prstGeom prst="chevron">
            <a:avLst/>
          </a:prstGeom>
          <a:solidFill>
            <a:schemeClr val="accent1"/>
          </a:solidFill>
          <a:ln w="12700">
            <a:solidFill>
              <a:schemeClr val="bg1"/>
            </a:solidFill>
            <a:prstDash val="solid"/>
          </a:ln>
        </p:spPr>
      </p:sp>
      <p:sp>
        <p:nvSpPr>
          <p:cNvPr id="9" name="Text 6"/>
          <p:cNvSpPr txBox="1"/>
          <p:nvPr/>
        </p:nvSpPr>
        <p:spPr>
          <a:xfrm>
            <a:off x="6638544" y="1554480"/>
            <a:ext cx="1737360" cy="822960"/>
          </a:xfrm>
          <a:prstGeom prst="rect">
            <a:avLst/>
          </a:prstGeom>
          <a:noFill/>
          <a:ln/>
        </p:spPr>
        <p:txBody>
          <a:bodyPr wrap="square" lIns="0" tIns="0" rIns="0" bIns="0" rtlCol="0" anchor="ctr"/>
          <a:lstStyle/>
          <a:p>
            <a:pPr algn="ctr" indent="0" marL="0">
              <a:buNone/>
            </a:pPr>
            <a:r>
              <a:rPr lang="en-US" sz="1300" b="1" dirty="0">
                <a:solidFill>
                  <a:schemeClr val="bg1"/>
                </a:solidFill>
              </a:rPr>
              <a:t>Construir contra un simulador</a:t>
            </a:r>
            <a:endParaRPr lang="en-US" sz="1300" dirty="0"/>
          </a:p>
        </p:txBody>
      </p:sp>
      <p:sp>
        <p:nvSpPr>
          <p:cNvPr id="10" name="Shape 7"/>
          <p:cNvSpPr/>
          <p:nvPr/>
        </p:nvSpPr>
        <p:spPr>
          <a:xfrm>
            <a:off x="8997696" y="1554480"/>
            <a:ext cx="2606040" cy="822960"/>
          </a:xfrm>
          <a:prstGeom prst="chevron">
            <a:avLst/>
          </a:prstGeom>
          <a:solidFill>
            <a:schemeClr val="accent3"/>
          </a:solidFill>
          <a:ln w="12700">
            <a:solidFill>
              <a:schemeClr val="bg1"/>
            </a:solidFill>
            <a:prstDash val="solid"/>
          </a:ln>
        </p:spPr>
      </p:sp>
      <p:sp>
        <p:nvSpPr>
          <p:cNvPr id="11" name="Text 8"/>
          <p:cNvSpPr txBox="1"/>
          <p:nvPr/>
        </p:nvSpPr>
        <p:spPr>
          <a:xfrm>
            <a:off x="9454896" y="1554480"/>
            <a:ext cx="1737360" cy="822960"/>
          </a:xfrm>
          <a:prstGeom prst="rect">
            <a:avLst/>
          </a:prstGeom>
          <a:noFill/>
          <a:ln/>
        </p:spPr>
        <p:txBody>
          <a:bodyPr wrap="square" lIns="0" tIns="0" rIns="0" bIns="0" rtlCol="0" anchor="ctr"/>
          <a:lstStyle/>
          <a:p>
            <a:pPr algn="ctr" indent="0" marL="0">
              <a:buNone/>
            </a:pPr>
            <a:r>
              <a:rPr lang="en-US" sz="1300" b="1" dirty="0">
                <a:solidFill>
                  <a:schemeClr val="bg1"/>
                </a:solidFill>
              </a:rPr>
              <a:t>Cambiar la fuente cuando llega</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606040"/>
          <a:ext cx="11064240" cy="914400"/>
        </p:xfrm>
        <a:graphic>
          <a:graphicData uri="http://schemas.openxmlformats.org/drawingml/2006/table">
            <a:tbl>
              <a:tblPr/>
              <a:tblGrid>
                <a:gridCol w="2377440"/>
                <a:gridCol w="5394960"/>
                <a:gridCol w="3291840"/>
              </a:tblGrid>
              <a:tr h="365760">
                <a:tc>
                  <a:txBody>
                    <a:bodyPr/>
                    <a:lstStyle/>
                    <a:p>
                      <a:pPr indent="0" marL="0">
                        <a:buNone/>
                      </a:pPr>
                      <a:r>
                        <a:rPr lang="en-US" sz="1300" b="1" dirty="0">
                          <a:solidFill>
                            <a:schemeClr val="bg1"/>
                          </a:solidFill>
                        </a:rPr>
                        <a:t>Dependencia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Qué necesitamos</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Mientras llega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tx2"/>
                    </a:solidFill>
                  </a:tcPr>
                </a:tc>
              </a:tr>
              <a:tr h="475488">
                <a:tc>
                  <a:txBody>
                    <a:bodyPr/>
                    <a:lstStyle/>
                    <a:p>
                      <a:pPr indent="0" marL="0">
                        <a:buNone/>
                      </a:pPr>
                      <a:r>
                        <a:rPr lang="en-US" sz="1200" b="1" dirty="0">
                          <a:solidFill>
                            <a:schemeClr val="tx2"/>
                          </a:solidFill>
                        </a:rPr>
                        <a:t>Equipos de cada gestor</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rPr>
                        <a:t>API orquestadora, integración con el core y gestión documental.</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rPr>
                        <a:t>Simulador del gestor contra el contrato.</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475488">
                <a:tc>
                  <a:txBody>
                    <a:bodyPr/>
                    <a:lstStyle/>
                    <a:p>
                      <a:pPr indent="0" marL="0">
                        <a:buNone/>
                      </a:pPr>
                      <a:r>
                        <a:rPr lang="en-US" sz="1200" b="1" dirty="0">
                          <a:solidFill>
                            <a:schemeClr val="tx2"/>
                          </a:solidFill>
                        </a:rPr>
                        <a:t>Front y canales</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rPr>
                        <a:t>Mostrar en pantalla lo que el agente produce.</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rPr>
                        <a:t>Salida verificada por API, sin pantalla.</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475488">
                <a:tc>
                  <a:txBody>
                    <a:bodyPr/>
                    <a:lstStyle/>
                    <a:p>
                      <a:pPr indent="0" marL="0">
                        <a:buNone/>
                      </a:pPr>
                      <a:r>
                        <a:rPr lang="en-US" sz="1200" b="1" dirty="0">
                          <a:solidFill>
                            <a:schemeClr val="tx2"/>
                          </a:solidFill>
                        </a:rPr>
                        <a:t>Core, SuraHis</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rPr>
                        <a:t>Reglas, coberturas, exclusiones e histórico que consulta Evaluación.</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rPr>
                        <a:t>Simulador contra el contrato acordado.</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475488">
                <a:tc>
                  <a:txBody>
                    <a:bodyPr/>
                    <a:lstStyle/>
                    <a:p>
                      <a:pPr indent="0" marL="0">
                        <a:buNone/>
                      </a:pPr>
                      <a:r>
                        <a:rPr lang="en-US" sz="1200" b="1" dirty="0">
                          <a:solidFill>
                            <a:schemeClr val="tx2"/>
                          </a:solidFill>
                        </a:rPr>
                        <a:t>Plataforma agéntica</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rPr>
                        <a:t>AI Gateway, LLM Gateway, proveedor de modelos y Prompt Management.</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200" b="1" dirty="0">
                          <a:solidFill>
                            <a:schemeClr val="accent2"/>
                          </a:solidFill>
                        </a:rPr>
                        <a:t>Ninguno: sin modelo no hay agente.</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475488">
                <a:tc>
                  <a:txBody>
                    <a:bodyPr/>
                    <a:lstStyle/>
                    <a:p>
                      <a:pPr indent="0" marL="0">
                        <a:buNone/>
                      </a:pPr>
                      <a:r>
                        <a:rPr lang="en-US" sz="1200" b="1" dirty="0">
                          <a:solidFill>
                            <a:schemeClr val="tx2"/>
                          </a:solidFill>
                        </a:rPr>
                        <a:t>Arquitectura de SURA</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rPr>
                        <a:t>Motor de extracción: modelo multimodal o Azure Document Intelligence.</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rPr>
                        <a:t>Clasificador y armado sobre texto ya extraído.</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475488">
                <a:tc>
                  <a:txBody>
                    <a:bodyPr/>
                    <a:lstStyle/>
                    <a:p>
                      <a:pPr indent="0" marL="0">
                        <a:buNone/>
                      </a:pPr>
                      <a:r>
                        <a:rPr lang="en-US" sz="1200" b="1" dirty="0">
                          <a:solidFill>
                            <a:schemeClr val="tx2"/>
                          </a:solidFill>
                        </a:rPr>
                        <a:t>Negocio y equipo médico</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rPr>
                        <a:t>Límite tolerable del error caro y muestra revisada por personas expertas.</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rPr>
                        <a:t>Primer golden set de 20 casos.</a:t>
                      </a:r>
                      <a:endParaRPr lang="en-US" sz="12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bl>
          </a:graphicData>
        </a:graphic>
      </p:graphicFrame>
      <p:sp>
        <p:nvSpPr>
          <p:cNvPr id="13" name="Text 9"/>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200" dirty="0">
                <a:solidFill>
                  <a:schemeClr val="accent6"/>
                </a:solidFill>
              </a:rPr>
              <a:t>El plazo de cada dependencia lo declara su dueño; el equipo no lo estima.</a:t>
            </a:r>
            <a:endParaRPr lang="en-US" sz="12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Tablero corto y seis acuerdos para cuidar el flujo</a:t>
            </a:r>
            <a:endParaRPr lang="en-US" sz="2800" dirty="0"/>
          </a:p>
        </p:txBody>
      </p:sp>
      <p:sp>
        <p:nvSpPr>
          <p:cNvPr id="4" name="Shape 1"/>
          <p:cNvSpPr/>
          <p:nvPr/>
        </p:nvSpPr>
        <p:spPr>
          <a:xfrm>
            <a:off x="548640" y="1691640"/>
            <a:ext cx="1280160" cy="4023360"/>
          </a:xfrm>
          <a:prstGeom prst="roundRect">
            <a:avLst>
              <a:gd name="adj" fmla="val 4286"/>
            </a:avLst>
          </a:prstGeom>
          <a:solidFill>
            <a:schemeClr val="accent4"/>
          </a:solidFill>
          <a:ln w="12700">
            <a:solidFill>
              <a:srgbClr val="DCD8EC"/>
            </a:solidFill>
            <a:prstDash val="solid"/>
          </a:ln>
        </p:spPr>
      </p:sp>
      <p:sp>
        <p:nvSpPr>
          <p:cNvPr id="5" name="Text 2"/>
          <p:cNvSpPr txBox="1"/>
          <p:nvPr/>
        </p:nvSpPr>
        <p:spPr>
          <a:xfrm>
            <a:off x="548640" y="1783080"/>
            <a:ext cx="1280160" cy="274320"/>
          </a:xfrm>
          <a:prstGeom prst="rect">
            <a:avLst/>
          </a:prstGeom>
          <a:noFill/>
          <a:ln/>
        </p:spPr>
        <p:txBody>
          <a:bodyPr wrap="square" lIns="0" tIns="0" rIns="0" bIns="0" rtlCol="0" anchor="t"/>
          <a:lstStyle/>
          <a:p>
            <a:pPr algn="ctr" indent="0" marL="0">
              <a:buNone/>
            </a:pPr>
            <a:r>
              <a:rPr lang="en-US" sz="1300" b="1" dirty="0">
                <a:solidFill>
                  <a:schemeClr val="tx2"/>
                </a:solidFill>
              </a:rPr>
              <a:t>Por hacer</a:t>
            </a:r>
            <a:endParaRPr lang="en-US" sz="1300" dirty="0"/>
          </a:p>
        </p:txBody>
      </p:sp>
      <p:sp>
        <p:nvSpPr>
          <p:cNvPr id="6" name="Shape 3"/>
          <p:cNvSpPr/>
          <p:nvPr/>
        </p:nvSpPr>
        <p:spPr>
          <a:xfrm>
            <a:off x="1920240" y="1691640"/>
            <a:ext cx="1280160" cy="4023360"/>
          </a:xfrm>
          <a:prstGeom prst="roundRect">
            <a:avLst>
              <a:gd name="adj" fmla="val 4286"/>
            </a:avLst>
          </a:prstGeom>
          <a:solidFill>
            <a:schemeClr val="bg2"/>
          </a:solidFill>
          <a:ln w="12700">
            <a:solidFill>
              <a:srgbClr val="DCD8EC"/>
            </a:solidFill>
            <a:prstDash val="solid"/>
          </a:ln>
        </p:spPr>
      </p:sp>
      <p:sp>
        <p:nvSpPr>
          <p:cNvPr id="7" name="Text 4"/>
          <p:cNvSpPr txBox="1"/>
          <p:nvPr/>
        </p:nvSpPr>
        <p:spPr>
          <a:xfrm>
            <a:off x="1920240" y="1783080"/>
            <a:ext cx="1280160" cy="274320"/>
          </a:xfrm>
          <a:prstGeom prst="rect">
            <a:avLst/>
          </a:prstGeom>
          <a:noFill/>
          <a:ln/>
        </p:spPr>
        <p:txBody>
          <a:bodyPr wrap="square" lIns="0" tIns="0" rIns="0" bIns="0" rtlCol="0" anchor="t"/>
          <a:lstStyle/>
          <a:p>
            <a:pPr algn="ctr" indent="0" marL="0">
              <a:buNone/>
            </a:pPr>
            <a:r>
              <a:rPr lang="en-US" sz="1300" b="1" dirty="0">
                <a:solidFill>
                  <a:schemeClr val="tx2"/>
                </a:solidFill>
              </a:rPr>
              <a:t>En curso</a:t>
            </a:r>
            <a:endParaRPr lang="en-US" sz="1300" dirty="0"/>
          </a:p>
        </p:txBody>
      </p:sp>
      <p:sp>
        <p:nvSpPr>
          <p:cNvPr id="8" name="Shape 5"/>
          <p:cNvSpPr/>
          <p:nvPr/>
        </p:nvSpPr>
        <p:spPr>
          <a:xfrm>
            <a:off x="3291840" y="1691640"/>
            <a:ext cx="1280160" cy="4023360"/>
          </a:xfrm>
          <a:prstGeom prst="roundRect">
            <a:avLst>
              <a:gd name="adj" fmla="val 4286"/>
            </a:avLst>
          </a:prstGeom>
          <a:solidFill>
            <a:schemeClr val="accent4"/>
          </a:solidFill>
          <a:ln w="12700">
            <a:solidFill>
              <a:srgbClr val="DCD8EC"/>
            </a:solidFill>
            <a:prstDash val="solid"/>
          </a:ln>
        </p:spPr>
      </p:sp>
      <p:sp>
        <p:nvSpPr>
          <p:cNvPr id="9" name="Text 6"/>
          <p:cNvSpPr txBox="1"/>
          <p:nvPr/>
        </p:nvSpPr>
        <p:spPr>
          <a:xfrm>
            <a:off x="3291840" y="1783080"/>
            <a:ext cx="1280160" cy="274320"/>
          </a:xfrm>
          <a:prstGeom prst="rect">
            <a:avLst/>
          </a:prstGeom>
          <a:noFill/>
          <a:ln/>
        </p:spPr>
        <p:txBody>
          <a:bodyPr wrap="square" lIns="0" tIns="0" rIns="0" bIns="0" rtlCol="0" anchor="t"/>
          <a:lstStyle/>
          <a:p>
            <a:pPr algn="ctr" indent="0" marL="0">
              <a:buNone/>
            </a:pPr>
            <a:r>
              <a:rPr lang="en-US" sz="1300" b="1" dirty="0">
                <a:solidFill>
                  <a:schemeClr val="tx2"/>
                </a:solidFill>
              </a:rPr>
              <a:t>Revisión</a:t>
            </a:r>
            <a:endParaRPr lang="en-US" sz="1300" dirty="0"/>
          </a:p>
        </p:txBody>
      </p:sp>
      <p:sp>
        <p:nvSpPr>
          <p:cNvPr id="10" name="Shape 7"/>
          <p:cNvSpPr/>
          <p:nvPr/>
        </p:nvSpPr>
        <p:spPr>
          <a:xfrm>
            <a:off x="4663440" y="1691640"/>
            <a:ext cx="1280160" cy="4023360"/>
          </a:xfrm>
          <a:prstGeom prst="roundRect">
            <a:avLst>
              <a:gd name="adj" fmla="val 4286"/>
            </a:avLst>
          </a:prstGeom>
          <a:solidFill>
            <a:schemeClr val="accent4"/>
          </a:solidFill>
          <a:ln w="12700">
            <a:solidFill>
              <a:srgbClr val="DCD8EC"/>
            </a:solidFill>
            <a:prstDash val="solid"/>
          </a:ln>
        </p:spPr>
      </p:sp>
      <p:sp>
        <p:nvSpPr>
          <p:cNvPr id="11" name="Text 8"/>
          <p:cNvSpPr txBox="1"/>
          <p:nvPr/>
        </p:nvSpPr>
        <p:spPr>
          <a:xfrm>
            <a:off x="4663440" y="1783080"/>
            <a:ext cx="1280160" cy="274320"/>
          </a:xfrm>
          <a:prstGeom prst="rect">
            <a:avLst/>
          </a:prstGeom>
          <a:noFill/>
          <a:ln/>
        </p:spPr>
        <p:txBody>
          <a:bodyPr wrap="square" lIns="0" tIns="0" rIns="0" bIns="0" rtlCol="0" anchor="t"/>
          <a:lstStyle/>
          <a:p>
            <a:pPr algn="ctr" indent="0" marL="0">
              <a:buNone/>
            </a:pPr>
            <a:r>
              <a:rPr lang="en-US" sz="1300" b="1" dirty="0">
                <a:solidFill>
                  <a:schemeClr val="tx2"/>
                </a:solidFill>
              </a:rPr>
              <a:t>Hecho</a:t>
            </a:r>
            <a:endParaRPr lang="en-US" sz="1300" dirty="0"/>
          </a:p>
        </p:txBody>
      </p:sp>
      <p:sp>
        <p:nvSpPr>
          <p:cNvPr id="12" name="Text 9"/>
          <p:cNvSpPr txBox="1"/>
          <p:nvPr/>
        </p:nvSpPr>
        <p:spPr>
          <a:xfrm>
            <a:off x="1920240" y="2057400"/>
            <a:ext cx="1280160" cy="274320"/>
          </a:xfrm>
          <a:prstGeom prst="rect">
            <a:avLst/>
          </a:prstGeom>
          <a:noFill/>
          <a:ln/>
        </p:spPr>
        <p:txBody>
          <a:bodyPr wrap="square" lIns="0" tIns="0" rIns="0" bIns="0" rtlCol="0" anchor="t"/>
          <a:lstStyle/>
          <a:p>
            <a:pPr algn="ctr" indent="0" marL="0">
              <a:buNone/>
            </a:pPr>
            <a:r>
              <a:rPr lang="en-US" sz="1200" b="1" dirty="0">
                <a:solidFill>
                  <a:schemeClr val="accent2"/>
                </a:solidFill>
              </a:rPr>
              <a:t>máx. 2</a:t>
            </a:r>
            <a:endParaRPr lang="en-US" sz="1200" dirty="0"/>
          </a:p>
        </p:txBody>
      </p:sp>
      <p:sp>
        <p:nvSpPr>
          <p:cNvPr id="13" name="Shape 10"/>
          <p:cNvSpPr/>
          <p:nvPr/>
        </p:nvSpPr>
        <p:spPr>
          <a:xfrm>
            <a:off x="685800" y="2423160"/>
            <a:ext cx="1005840" cy="420624"/>
          </a:xfrm>
          <a:prstGeom prst="roundRect">
            <a:avLst>
              <a:gd name="adj" fmla="val 10870"/>
            </a:avLst>
          </a:prstGeom>
          <a:solidFill>
            <a:schemeClr val="accent5"/>
          </a:solidFill>
          <a:ln w="12700">
            <a:solidFill>
              <a:schemeClr val="accent5"/>
            </a:solidFill>
            <a:prstDash val="solid"/>
          </a:ln>
        </p:spPr>
      </p:sp>
      <p:sp>
        <p:nvSpPr>
          <p:cNvPr id="14" name="Shape 11"/>
          <p:cNvSpPr/>
          <p:nvPr/>
        </p:nvSpPr>
        <p:spPr>
          <a:xfrm>
            <a:off x="685800" y="2990088"/>
            <a:ext cx="1005840" cy="420624"/>
          </a:xfrm>
          <a:prstGeom prst="roundRect">
            <a:avLst>
              <a:gd name="adj" fmla="val 10870"/>
            </a:avLst>
          </a:prstGeom>
          <a:solidFill>
            <a:schemeClr val="accent5"/>
          </a:solidFill>
          <a:ln w="12700">
            <a:solidFill>
              <a:schemeClr val="accent5"/>
            </a:solidFill>
            <a:prstDash val="solid"/>
          </a:ln>
        </p:spPr>
      </p:sp>
      <p:sp>
        <p:nvSpPr>
          <p:cNvPr id="15" name="Shape 12"/>
          <p:cNvSpPr/>
          <p:nvPr/>
        </p:nvSpPr>
        <p:spPr>
          <a:xfrm>
            <a:off x="685800" y="3557016"/>
            <a:ext cx="1005840" cy="420624"/>
          </a:xfrm>
          <a:prstGeom prst="roundRect">
            <a:avLst>
              <a:gd name="adj" fmla="val 10870"/>
            </a:avLst>
          </a:prstGeom>
          <a:solidFill>
            <a:schemeClr val="accent5"/>
          </a:solidFill>
          <a:ln w="12700">
            <a:solidFill>
              <a:schemeClr val="accent5"/>
            </a:solidFill>
            <a:prstDash val="solid"/>
          </a:ln>
        </p:spPr>
      </p:sp>
      <p:sp>
        <p:nvSpPr>
          <p:cNvPr id="16" name="Shape 13"/>
          <p:cNvSpPr/>
          <p:nvPr/>
        </p:nvSpPr>
        <p:spPr>
          <a:xfrm>
            <a:off x="685800" y="4123944"/>
            <a:ext cx="1005840" cy="420624"/>
          </a:xfrm>
          <a:prstGeom prst="roundRect">
            <a:avLst>
              <a:gd name="adj" fmla="val 10870"/>
            </a:avLst>
          </a:prstGeom>
          <a:solidFill>
            <a:schemeClr val="accent5"/>
          </a:solidFill>
          <a:ln w="12700">
            <a:solidFill>
              <a:schemeClr val="accent5"/>
            </a:solidFill>
            <a:prstDash val="solid"/>
          </a:ln>
        </p:spPr>
      </p:sp>
      <p:sp>
        <p:nvSpPr>
          <p:cNvPr id="17" name="Shape 14"/>
          <p:cNvSpPr/>
          <p:nvPr/>
        </p:nvSpPr>
        <p:spPr>
          <a:xfrm>
            <a:off x="685800" y="4690872"/>
            <a:ext cx="1005840" cy="420624"/>
          </a:xfrm>
          <a:prstGeom prst="roundRect">
            <a:avLst>
              <a:gd name="adj" fmla="val 10870"/>
            </a:avLst>
          </a:prstGeom>
          <a:solidFill>
            <a:schemeClr val="accent5"/>
          </a:solidFill>
          <a:ln w="12700">
            <a:solidFill>
              <a:schemeClr val="accent5"/>
            </a:solidFill>
            <a:prstDash val="solid"/>
          </a:ln>
        </p:spPr>
      </p:sp>
      <p:sp>
        <p:nvSpPr>
          <p:cNvPr id="18" name="Shape 15"/>
          <p:cNvSpPr/>
          <p:nvPr/>
        </p:nvSpPr>
        <p:spPr>
          <a:xfrm>
            <a:off x="2057400" y="2423160"/>
            <a:ext cx="1005840" cy="420624"/>
          </a:xfrm>
          <a:prstGeom prst="roundRect">
            <a:avLst>
              <a:gd name="adj" fmla="val 10870"/>
            </a:avLst>
          </a:prstGeom>
          <a:solidFill>
            <a:schemeClr val="accent1"/>
          </a:solidFill>
          <a:ln w="12700">
            <a:solidFill>
              <a:schemeClr val="accent1"/>
            </a:solidFill>
            <a:prstDash val="solid"/>
          </a:ln>
        </p:spPr>
      </p:sp>
      <p:sp>
        <p:nvSpPr>
          <p:cNvPr id="19" name="Shape 16"/>
          <p:cNvSpPr/>
          <p:nvPr/>
        </p:nvSpPr>
        <p:spPr>
          <a:xfrm>
            <a:off x="2057400" y="2990088"/>
            <a:ext cx="1005840" cy="420624"/>
          </a:xfrm>
          <a:prstGeom prst="roundRect">
            <a:avLst>
              <a:gd name="adj" fmla="val 10870"/>
            </a:avLst>
          </a:prstGeom>
          <a:solidFill>
            <a:schemeClr val="accent1"/>
          </a:solidFill>
          <a:ln w="12700">
            <a:solidFill>
              <a:schemeClr val="accent1"/>
            </a:solidFill>
            <a:prstDash val="solid"/>
          </a:ln>
        </p:spPr>
      </p:sp>
      <p:sp>
        <p:nvSpPr>
          <p:cNvPr id="20" name="Shape 17"/>
          <p:cNvSpPr/>
          <p:nvPr/>
        </p:nvSpPr>
        <p:spPr>
          <a:xfrm>
            <a:off x="3429000" y="2423160"/>
            <a:ext cx="1005840" cy="420624"/>
          </a:xfrm>
          <a:prstGeom prst="roundRect">
            <a:avLst>
              <a:gd name="adj" fmla="val 10870"/>
            </a:avLst>
          </a:prstGeom>
          <a:solidFill>
            <a:schemeClr val="accent2"/>
          </a:solidFill>
          <a:ln w="12700">
            <a:solidFill>
              <a:schemeClr val="accent2"/>
            </a:solidFill>
            <a:prstDash val="solid"/>
          </a:ln>
        </p:spPr>
      </p:sp>
      <p:sp>
        <p:nvSpPr>
          <p:cNvPr id="21" name="Shape 18"/>
          <p:cNvSpPr/>
          <p:nvPr/>
        </p:nvSpPr>
        <p:spPr>
          <a:xfrm>
            <a:off x="4800600" y="2423160"/>
            <a:ext cx="1005840" cy="420624"/>
          </a:xfrm>
          <a:prstGeom prst="roundRect">
            <a:avLst>
              <a:gd name="adj" fmla="val 10870"/>
            </a:avLst>
          </a:prstGeom>
          <a:solidFill>
            <a:schemeClr val="accent3"/>
          </a:solidFill>
          <a:ln w="12700">
            <a:solidFill>
              <a:schemeClr val="accent3"/>
            </a:solidFill>
            <a:prstDash val="solid"/>
          </a:ln>
        </p:spPr>
      </p:sp>
      <p:sp>
        <p:nvSpPr>
          <p:cNvPr id="22" name="Shape 19"/>
          <p:cNvSpPr/>
          <p:nvPr/>
        </p:nvSpPr>
        <p:spPr>
          <a:xfrm>
            <a:off x="4800600" y="2990088"/>
            <a:ext cx="1005840" cy="420624"/>
          </a:xfrm>
          <a:prstGeom prst="roundRect">
            <a:avLst>
              <a:gd name="adj" fmla="val 10870"/>
            </a:avLst>
          </a:prstGeom>
          <a:solidFill>
            <a:schemeClr val="accent3"/>
          </a:solidFill>
          <a:ln w="12700">
            <a:solidFill>
              <a:schemeClr val="accent3"/>
            </a:solidFill>
            <a:prstDash val="solid"/>
          </a:ln>
        </p:spPr>
      </p:sp>
      <p:sp>
        <p:nvSpPr>
          <p:cNvPr id="23" name="Shape 20"/>
          <p:cNvSpPr/>
          <p:nvPr/>
        </p:nvSpPr>
        <p:spPr>
          <a:xfrm>
            <a:off x="4800600" y="3557016"/>
            <a:ext cx="1005840" cy="420624"/>
          </a:xfrm>
          <a:prstGeom prst="roundRect">
            <a:avLst>
              <a:gd name="adj" fmla="val 10870"/>
            </a:avLst>
          </a:prstGeom>
          <a:solidFill>
            <a:schemeClr val="accent3"/>
          </a:solidFill>
          <a:ln w="12700">
            <a:solidFill>
              <a:schemeClr val="accent3"/>
            </a:solidFill>
            <a:prstDash val="solid"/>
          </a:ln>
        </p:spPr>
      </p:sp>
      <p:sp>
        <p:nvSpPr>
          <p:cNvPr id="24" name="Shape 21"/>
          <p:cNvSpPr/>
          <p:nvPr/>
        </p:nvSpPr>
        <p:spPr>
          <a:xfrm>
            <a:off x="6309360" y="1719072"/>
            <a:ext cx="457200" cy="457200"/>
          </a:xfrm>
          <a:prstGeom prst="ellipse">
            <a:avLst/>
          </a:prstGeom>
          <a:solidFill>
            <a:schemeClr val="accent1"/>
          </a:solidFill>
          <a:ln w="12700">
            <a:solidFill>
              <a:schemeClr val="accent1"/>
            </a:solidFill>
            <a:prstDash val="solid"/>
          </a:ln>
        </p:spPr>
      </p:sp>
      <p:sp>
        <p:nvSpPr>
          <p:cNvPr id="25" name="Text 22"/>
          <p:cNvSpPr txBox="1"/>
          <p:nvPr/>
        </p:nvSpPr>
        <p:spPr>
          <a:xfrm>
            <a:off x="6309360" y="17190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6" name="Text 23"/>
          <p:cNvSpPr txBox="1"/>
          <p:nvPr/>
        </p:nvSpPr>
        <p:spPr>
          <a:xfrm>
            <a:off x="6949440" y="1691640"/>
            <a:ext cx="4663440" cy="566928"/>
          </a:xfrm>
          <a:prstGeom prst="rect">
            <a:avLst/>
          </a:prstGeom>
          <a:noFill/>
          <a:ln/>
        </p:spPr>
        <p:txBody>
          <a:bodyPr wrap="square" lIns="0" tIns="0" rIns="0" bIns="0" rtlCol="0" anchor="ctr"/>
          <a:lstStyle/>
          <a:p>
            <a:pPr indent="0" marL="0">
              <a:buNone/>
            </a:pPr>
            <a:r>
              <a:rPr lang="en-US" sz="1400" b="1" dirty="0">
                <a:solidFill>
                  <a:schemeClr val="tx2"/>
                </a:solidFill>
              </a:rPr>
              <a:t>Máximo dos cosas en curso.</a:t>
            </a:r>
            <a:pPr indent="0" marL="0">
              <a:buNone/>
            </a:pPr>
            <a:r>
              <a:rPr lang="en-US" sz="1400" dirty="0">
                <a:solidFill>
                  <a:schemeClr val="tx1"/>
                </a:solidFill>
              </a:rPr>
              <a:t> Si aparece una tercera, se termina una antes.</a:t>
            </a:r>
            <a:endParaRPr lang="en-US" sz="1400" dirty="0"/>
          </a:p>
        </p:txBody>
      </p:sp>
      <p:sp>
        <p:nvSpPr>
          <p:cNvPr id="27" name="Shape 24"/>
          <p:cNvSpPr/>
          <p:nvPr/>
        </p:nvSpPr>
        <p:spPr>
          <a:xfrm>
            <a:off x="6309360" y="2386584"/>
            <a:ext cx="457200" cy="457200"/>
          </a:xfrm>
          <a:prstGeom prst="ellipse">
            <a:avLst/>
          </a:prstGeom>
          <a:solidFill>
            <a:schemeClr val="accent1"/>
          </a:solidFill>
          <a:ln w="12700">
            <a:solidFill>
              <a:schemeClr val="accent1"/>
            </a:solidFill>
            <a:prstDash val="solid"/>
          </a:ln>
        </p:spPr>
      </p:sp>
      <p:sp>
        <p:nvSpPr>
          <p:cNvPr id="28" name="Text 25"/>
          <p:cNvSpPr txBox="1"/>
          <p:nvPr/>
        </p:nvSpPr>
        <p:spPr>
          <a:xfrm>
            <a:off x="6309360" y="23865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Text 26"/>
          <p:cNvSpPr txBox="1"/>
          <p:nvPr/>
        </p:nvSpPr>
        <p:spPr>
          <a:xfrm>
            <a:off x="6949440" y="2359152"/>
            <a:ext cx="4663440" cy="566928"/>
          </a:xfrm>
          <a:prstGeom prst="rect">
            <a:avLst/>
          </a:prstGeom>
          <a:noFill/>
          <a:ln/>
        </p:spPr>
        <p:txBody>
          <a:bodyPr wrap="square" lIns="0" tIns="0" rIns="0" bIns="0" rtlCol="0" anchor="ctr"/>
          <a:lstStyle/>
          <a:p>
            <a:pPr indent="0" marL="0">
              <a:buNone/>
            </a:pPr>
            <a:r>
              <a:rPr lang="en-US" sz="1400" b="1" dirty="0">
                <a:solidFill>
                  <a:schemeClr val="tx2"/>
                </a:solidFill>
              </a:rPr>
              <a:t>Lo riesgoso, en pareja:</a:t>
            </a:r>
            <a:pPr indent="0" marL="0">
              <a:buNone/>
            </a:pPr>
            <a:r>
              <a:rPr lang="en-US" sz="1400" dirty="0">
                <a:solidFill>
                  <a:schemeClr val="tx1"/>
                </a:solidFill>
              </a:rPr>
              <a:t> contratos, traza y agentes que influyen en una decisión.</a:t>
            </a:r>
            <a:endParaRPr lang="en-US" sz="1400" dirty="0"/>
          </a:p>
        </p:txBody>
      </p:sp>
      <p:sp>
        <p:nvSpPr>
          <p:cNvPr id="30" name="Shape 27"/>
          <p:cNvSpPr/>
          <p:nvPr/>
        </p:nvSpPr>
        <p:spPr>
          <a:xfrm>
            <a:off x="6309360" y="3054096"/>
            <a:ext cx="457200" cy="457200"/>
          </a:xfrm>
          <a:prstGeom prst="ellipse">
            <a:avLst/>
          </a:prstGeom>
          <a:solidFill>
            <a:schemeClr val="accent1"/>
          </a:solidFill>
          <a:ln w="12700">
            <a:solidFill>
              <a:schemeClr val="accent1"/>
            </a:solidFill>
            <a:prstDash val="solid"/>
          </a:ln>
        </p:spPr>
      </p:sp>
      <p:sp>
        <p:nvSpPr>
          <p:cNvPr id="31" name="Text 28"/>
          <p:cNvSpPr txBox="1"/>
          <p:nvPr/>
        </p:nvSpPr>
        <p:spPr>
          <a:xfrm>
            <a:off x="6309360" y="305409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2" name="Text 29"/>
          <p:cNvSpPr txBox="1"/>
          <p:nvPr/>
        </p:nvSpPr>
        <p:spPr>
          <a:xfrm>
            <a:off x="6949440" y="3026664"/>
            <a:ext cx="4663440" cy="566928"/>
          </a:xfrm>
          <a:prstGeom prst="rect">
            <a:avLst/>
          </a:prstGeom>
          <a:noFill/>
          <a:ln/>
        </p:spPr>
        <p:txBody>
          <a:bodyPr wrap="square" lIns="0" tIns="0" rIns="0" bIns="0" rtlCol="0" anchor="ctr"/>
          <a:lstStyle/>
          <a:p>
            <a:pPr indent="0" marL="0">
              <a:buNone/>
            </a:pPr>
            <a:r>
              <a:rPr lang="en-US" sz="1400" b="1" dirty="0">
                <a:solidFill>
                  <a:schemeClr val="tx2"/>
                </a:solidFill>
              </a:rPr>
              <a:t>Cambios pequeños, a diario.</a:t>
            </a:r>
            <a:pPr indent="0" marL="0">
              <a:buNone/>
            </a:pPr>
            <a:r>
              <a:rPr lang="en-US" sz="1400" dirty="0">
                <a:solidFill>
                  <a:schemeClr val="tx1"/>
                </a:solidFill>
              </a:rPr>
              <a:t> Nada vive en una rama más de un día.</a:t>
            </a:r>
            <a:endParaRPr lang="en-US" sz="1400" dirty="0"/>
          </a:p>
        </p:txBody>
      </p:sp>
      <p:sp>
        <p:nvSpPr>
          <p:cNvPr id="33" name="Shape 30"/>
          <p:cNvSpPr/>
          <p:nvPr/>
        </p:nvSpPr>
        <p:spPr>
          <a:xfrm>
            <a:off x="6309360" y="3721608"/>
            <a:ext cx="457200" cy="457200"/>
          </a:xfrm>
          <a:prstGeom prst="ellipse">
            <a:avLst/>
          </a:prstGeom>
          <a:solidFill>
            <a:schemeClr val="accent1"/>
          </a:solidFill>
          <a:ln w="12700">
            <a:solidFill>
              <a:schemeClr val="accent1"/>
            </a:solidFill>
            <a:prstDash val="solid"/>
          </a:ln>
        </p:spPr>
      </p:sp>
      <p:sp>
        <p:nvSpPr>
          <p:cNvPr id="34" name="Text 31"/>
          <p:cNvSpPr txBox="1"/>
          <p:nvPr/>
        </p:nvSpPr>
        <p:spPr>
          <a:xfrm>
            <a:off x="6309360" y="372160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5" name="Text 32"/>
          <p:cNvSpPr txBox="1"/>
          <p:nvPr/>
        </p:nvSpPr>
        <p:spPr>
          <a:xfrm>
            <a:off x="6949440" y="3694176"/>
            <a:ext cx="4663440" cy="566928"/>
          </a:xfrm>
          <a:prstGeom prst="rect">
            <a:avLst/>
          </a:prstGeom>
          <a:noFill/>
          <a:ln/>
        </p:spPr>
        <p:txBody>
          <a:bodyPr wrap="square" lIns="0" tIns="0" rIns="0" bIns="0" rtlCol="0" anchor="ctr"/>
          <a:lstStyle/>
          <a:p>
            <a:pPr indent="0" marL="0">
              <a:buNone/>
            </a:pPr>
            <a:r>
              <a:rPr lang="en-US" sz="1400" b="1" dirty="0">
                <a:solidFill>
                  <a:schemeClr val="tx2"/>
                </a:solidFill>
              </a:rPr>
              <a:t>Revisa quien no escribió.</a:t>
            </a:r>
            <a:pPr indent="0" marL="0">
              <a:buNone/>
            </a:pPr>
            <a:r>
              <a:rPr lang="en-US" sz="1400" dirty="0">
                <a:solidFill>
                  <a:schemeClr val="tx1"/>
                </a:solidFill>
              </a:rPr>
              <a:t> El arquitecto revisa contra los lineamientos.</a:t>
            </a:r>
            <a:endParaRPr lang="en-US" sz="1400" dirty="0"/>
          </a:p>
        </p:txBody>
      </p:sp>
      <p:sp>
        <p:nvSpPr>
          <p:cNvPr id="36" name="Shape 33"/>
          <p:cNvSpPr/>
          <p:nvPr/>
        </p:nvSpPr>
        <p:spPr>
          <a:xfrm>
            <a:off x="6309360" y="4389120"/>
            <a:ext cx="457200" cy="457200"/>
          </a:xfrm>
          <a:prstGeom prst="ellipse">
            <a:avLst/>
          </a:prstGeom>
          <a:solidFill>
            <a:schemeClr val="accent1"/>
          </a:solidFill>
          <a:ln w="12700">
            <a:solidFill>
              <a:schemeClr val="accent1"/>
            </a:solidFill>
            <a:prstDash val="solid"/>
          </a:ln>
        </p:spPr>
      </p:sp>
      <p:sp>
        <p:nvSpPr>
          <p:cNvPr id="37" name="Text 34"/>
          <p:cNvSpPr txBox="1"/>
          <p:nvPr/>
        </p:nvSpPr>
        <p:spPr>
          <a:xfrm>
            <a:off x="6309360" y="43891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8" name="Text 35"/>
          <p:cNvSpPr txBox="1"/>
          <p:nvPr/>
        </p:nvSpPr>
        <p:spPr>
          <a:xfrm>
            <a:off x="6949440" y="4361688"/>
            <a:ext cx="4663440" cy="566928"/>
          </a:xfrm>
          <a:prstGeom prst="rect">
            <a:avLst/>
          </a:prstGeom>
          <a:noFill/>
          <a:ln/>
        </p:spPr>
        <p:txBody>
          <a:bodyPr wrap="square" lIns="0" tIns="0" rIns="0" bIns="0" rtlCol="0" anchor="ctr"/>
          <a:lstStyle/>
          <a:p>
            <a:pPr indent="0" marL="0">
              <a:buNone/>
            </a:pPr>
            <a:r>
              <a:rPr lang="en-US" sz="1400" b="1" dirty="0">
                <a:solidFill>
                  <a:schemeClr val="tx2"/>
                </a:solidFill>
              </a:rPr>
              <a:t>Un bloqueo se dice el mismo día</a:t>
            </a:r>
            <a:pPr indent="0" marL="0">
              <a:buNone/>
            </a:pPr>
            <a:r>
              <a:rPr lang="en-US" sz="1400" dirty="0">
                <a:solidFill>
                  <a:schemeClr val="tx1"/>
                </a:solidFill>
              </a:rPr>
              <a:t> y se nombra su dueño.</a:t>
            </a:r>
            <a:endParaRPr lang="en-US" sz="1400" dirty="0"/>
          </a:p>
        </p:txBody>
      </p:sp>
      <p:sp>
        <p:nvSpPr>
          <p:cNvPr id="39" name="Shape 36"/>
          <p:cNvSpPr/>
          <p:nvPr/>
        </p:nvSpPr>
        <p:spPr>
          <a:xfrm>
            <a:off x="6309360" y="5056632"/>
            <a:ext cx="457200" cy="457200"/>
          </a:xfrm>
          <a:prstGeom prst="ellipse">
            <a:avLst/>
          </a:prstGeom>
          <a:solidFill>
            <a:schemeClr val="accent1"/>
          </a:solidFill>
          <a:ln w="12700">
            <a:solidFill>
              <a:schemeClr val="accent1"/>
            </a:solidFill>
            <a:prstDash val="solid"/>
          </a:ln>
        </p:spPr>
      </p:sp>
      <p:sp>
        <p:nvSpPr>
          <p:cNvPr id="40" name="Text 37"/>
          <p:cNvSpPr txBox="1"/>
          <p:nvPr/>
        </p:nvSpPr>
        <p:spPr>
          <a:xfrm>
            <a:off x="6309360" y="505663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41" name="Text 38"/>
          <p:cNvSpPr txBox="1"/>
          <p:nvPr/>
        </p:nvSpPr>
        <p:spPr>
          <a:xfrm>
            <a:off x="6949440" y="5029200"/>
            <a:ext cx="4663440" cy="566928"/>
          </a:xfrm>
          <a:prstGeom prst="rect">
            <a:avLst/>
          </a:prstGeom>
          <a:noFill/>
          <a:ln/>
        </p:spPr>
        <p:txBody>
          <a:bodyPr wrap="square" lIns="0" tIns="0" rIns="0" bIns="0" rtlCol="0" anchor="ctr"/>
          <a:lstStyle/>
          <a:p>
            <a:pPr indent="0" marL="0">
              <a:buNone/>
            </a:pPr>
            <a:r>
              <a:rPr lang="en-US" sz="1400" b="1" dirty="0">
                <a:solidFill>
                  <a:schemeClr val="tx2"/>
                </a:solidFill>
              </a:rPr>
              <a:t>La retro termina con un acuerdo,</a:t>
            </a:r>
            <a:pPr indent="0" marL="0">
              <a:buNone/>
            </a:pPr>
            <a:r>
              <a:rPr lang="en-US" sz="1400" dirty="0">
                <a:solidFill>
                  <a:schemeClr val="tx1"/>
                </a:solidFill>
              </a:rPr>
              <a:t> no con una lista de quejas.</a:t>
            </a:r>
            <a:endParaRPr lang="en-US" sz="14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Cuatro números para mirar en cada retro</a:t>
            </a:r>
            <a:endParaRPr lang="en-US" sz="2800" dirty="0"/>
          </a:p>
        </p:txBody>
      </p:sp>
      <p:sp>
        <p:nvSpPr>
          <p:cNvPr id="4" name="Shape 1"/>
          <p:cNvSpPr/>
          <p:nvPr/>
        </p:nvSpPr>
        <p:spPr>
          <a:xfrm>
            <a:off x="548640" y="1691640"/>
            <a:ext cx="2606040" cy="3931920"/>
          </a:xfrm>
          <a:prstGeom prst="roundRect">
            <a:avLst>
              <a:gd name="adj" fmla="val 2807"/>
            </a:avLst>
          </a:prstGeom>
          <a:solidFill>
            <a:schemeClr val="accent4"/>
          </a:solidFill>
          <a:ln w="12700">
            <a:solidFill>
              <a:srgbClr val="DCD8EC"/>
            </a:solidFill>
            <a:prstDash val="solid"/>
          </a:ln>
        </p:spPr>
      </p:sp>
      <p:sp>
        <p:nvSpPr>
          <p:cNvPr id="5" name="Text 2"/>
          <p:cNvSpPr txBox="1"/>
          <p:nvPr/>
        </p:nvSpPr>
        <p:spPr>
          <a:xfrm>
            <a:off x="822960" y="1920240"/>
            <a:ext cx="2057400" cy="1188720"/>
          </a:xfrm>
          <a:prstGeom prst="rect">
            <a:avLst/>
          </a:prstGeom>
          <a:noFill/>
          <a:ln/>
        </p:spPr>
        <p:txBody>
          <a:bodyPr wrap="square" lIns="0" tIns="0" rIns="0" bIns="0" rtlCol="0" anchor="ctr"/>
          <a:lstStyle/>
          <a:p>
            <a:pPr indent="0" marL="0">
              <a:buNone/>
            </a:pPr>
            <a:r>
              <a:rPr lang="en-US" sz="5400" b="1" dirty="0">
                <a:solidFill>
                  <a:schemeClr val="accent1"/>
                </a:solidFill>
                <a:latin typeface="+mj-lt" pitchFamily="34" charset="0"/>
                <a:ea typeface="+mj-lt" pitchFamily="34" charset="-122"/>
                <a:cs typeface="+mj-lt" pitchFamily="34" charset="-120"/>
              </a:rPr>
              <a:t>3</a:t>
            </a:r>
            <a:endParaRPr lang="en-US" sz="5400" dirty="0"/>
          </a:p>
        </p:txBody>
      </p:sp>
      <p:sp>
        <p:nvSpPr>
          <p:cNvPr id="6" name="Text 3"/>
          <p:cNvSpPr txBox="1"/>
          <p:nvPr/>
        </p:nvSpPr>
        <p:spPr>
          <a:xfrm>
            <a:off x="822960" y="3246120"/>
            <a:ext cx="2057400" cy="822960"/>
          </a:xfrm>
          <a:prstGeom prst="rect">
            <a:avLst/>
          </a:prstGeom>
          <a:noFill/>
          <a:ln/>
        </p:spPr>
        <p:txBody>
          <a:bodyPr wrap="square" lIns="0" tIns="0" rIns="0" bIns="0" rtlCol="0" anchor="t"/>
          <a:lstStyle/>
          <a:p>
            <a:pPr indent="0" marL="0">
              <a:buNone/>
            </a:pPr>
            <a:r>
              <a:rPr lang="en-US" sz="1600" b="1" dirty="0">
                <a:solidFill>
                  <a:schemeClr val="tx2"/>
                </a:solidFill>
              </a:rPr>
              <a:t>sprints para medir la velocidad</a:t>
            </a:r>
            <a:endParaRPr lang="en-US" sz="1600" dirty="0"/>
          </a:p>
        </p:txBody>
      </p:sp>
      <p:sp>
        <p:nvSpPr>
          <p:cNvPr id="7" name="Text 4"/>
          <p:cNvSpPr txBox="1"/>
          <p:nvPr/>
        </p:nvSpPr>
        <p:spPr>
          <a:xfrm>
            <a:off x="822960" y="4114800"/>
            <a:ext cx="2057400" cy="1371600"/>
          </a:xfrm>
          <a:prstGeom prst="rect">
            <a:avLst/>
          </a:prstGeom>
          <a:noFill/>
          <a:ln/>
        </p:spPr>
        <p:txBody>
          <a:bodyPr wrap="square" lIns="0" tIns="0" rIns="0" bIns="0" rtlCol="0" anchor="t"/>
          <a:lstStyle/>
          <a:p>
            <a:pPr indent="0" marL="0">
              <a:buNone/>
            </a:pPr>
            <a:r>
              <a:rPr lang="en-US" sz="1400" dirty="0">
                <a:solidFill>
                  <a:schemeClr val="accent6"/>
                </a:solidFill>
              </a:rPr>
              <a:t>Puntos terminados por sprint: desde el tercero, se usa para llenar el sprint.</a:t>
            </a:r>
            <a:endParaRPr lang="en-US" sz="1400" dirty="0"/>
          </a:p>
        </p:txBody>
      </p:sp>
      <p:sp>
        <p:nvSpPr>
          <p:cNvPr id="8" name="Shape 5"/>
          <p:cNvSpPr/>
          <p:nvPr/>
        </p:nvSpPr>
        <p:spPr>
          <a:xfrm>
            <a:off x="3364992" y="1691640"/>
            <a:ext cx="2606040" cy="3931920"/>
          </a:xfrm>
          <a:prstGeom prst="roundRect">
            <a:avLst>
              <a:gd name="adj" fmla="val 2807"/>
            </a:avLst>
          </a:prstGeom>
          <a:solidFill>
            <a:schemeClr val="accent4"/>
          </a:solidFill>
          <a:ln w="12700">
            <a:solidFill>
              <a:srgbClr val="DCD8EC"/>
            </a:solidFill>
            <a:prstDash val="solid"/>
          </a:ln>
        </p:spPr>
      </p:sp>
      <p:sp>
        <p:nvSpPr>
          <p:cNvPr id="9" name="Text 6"/>
          <p:cNvSpPr txBox="1"/>
          <p:nvPr/>
        </p:nvSpPr>
        <p:spPr>
          <a:xfrm>
            <a:off x="3639312" y="1920240"/>
            <a:ext cx="2057400" cy="1188720"/>
          </a:xfrm>
          <a:prstGeom prst="rect">
            <a:avLst/>
          </a:prstGeom>
          <a:noFill/>
          <a:ln/>
        </p:spPr>
        <p:txBody>
          <a:bodyPr wrap="square" lIns="0" tIns="0" rIns="0" bIns="0" rtlCol="0" anchor="ctr"/>
          <a:lstStyle/>
          <a:p>
            <a:pPr indent="0" marL="0">
              <a:buNone/>
            </a:pPr>
            <a:r>
              <a:rPr lang="en-US" sz="5400" b="1" dirty="0">
                <a:solidFill>
                  <a:schemeClr val="accent1"/>
                </a:solidFill>
                <a:latin typeface="+mj-lt" pitchFamily="34" charset="0"/>
                <a:ea typeface="+mj-lt" pitchFamily="34" charset="-122"/>
                <a:cs typeface="+mj-lt" pitchFamily="34" charset="-120"/>
              </a:rPr>
              <a:t>2</a:t>
            </a:r>
            <a:endParaRPr lang="en-US" sz="5400" dirty="0"/>
          </a:p>
        </p:txBody>
      </p:sp>
      <p:sp>
        <p:nvSpPr>
          <p:cNvPr id="10" name="Text 7"/>
          <p:cNvSpPr txBox="1"/>
          <p:nvPr/>
        </p:nvSpPr>
        <p:spPr>
          <a:xfrm>
            <a:off x="3639312" y="3246120"/>
            <a:ext cx="2057400" cy="822960"/>
          </a:xfrm>
          <a:prstGeom prst="rect">
            <a:avLst/>
          </a:prstGeom>
          <a:noFill/>
          <a:ln/>
        </p:spPr>
        <p:txBody>
          <a:bodyPr wrap="square" lIns="0" tIns="0" rIns="0" bIns="0" rtlCol="0" anchor="t"/>
          <a:lstStyle/>
          <a:p>
            <a:pPr indent="0" marL="0">
              <a:buNone/>
            </a:pPr>
            <a:r>
              <a:rPr lang="en-US" sz="1600" b="1" dirty="0">
                <a:solidFill>
                  <a:schemeClr val="tx2"/>
                </a:solidFill>
              </a:rPr>
              <a:t>cosas en curso como máximo</a:t>
            </a:r>
            <a:endParaRPr lang="en-US" sz="1600" dirty="0"/>
          </a:p>
        </p:txBody>
      </p:sp>
      <p:sp>
        <p:nvSpPr>
          <p:cNvPr id="11" name="Text 8"/>
          <p:cNvSpPr txBox="1"/>
          <p:nvPr/>
        </p:nvSpPr>
        <p:spPr>
          <a:xfrm>
            <a:off x="3639312" y="4114800"/>
            <a:ext cx="2057400" cy="1371600"/>
          </a:xfrm>
          <a:prstGeom prst="rect">
            <a:avLst/>
          </a:prstGeom>
          <a:noFill/>
          <a:ln/>
        </p:spPr>
        <p:txBody>
          <a:bodyPr wrap="square" lIns="0" tIns="0" rIns="0" bIns="0" rtlCol="0" anchor="t"/>
          <a:lstStyle/>
          <a:p>
            <a:pPr indent="0" marL="0">
              <a:buNone/>
            </a:pPr>
            <a:r>
              <a:rPr lang="en-US" sz="1400" dirty="0">
                <a:solidFill>
                  <a:schemeClr val="accent6"/>
                </a:solidFill>
              </a:rPr>
              <a:t>Si el tablero muestra más, hay un cuello de botella que nombrar.</a:t>
            </a:r>
            <a:endParaRPr lang="en-US" sz="1400" dirty="0"/>
          </a:p>
        </p:txBody>
      </p:sp>
      <p:sp>
        <p:nvSpPr>
          <p:cNvPr id="12" name="Shape 9"/>
          <p:cNvSpPr/>
          <p:nvPr/>
        </p:nvSpPr>
        <p:spPr>
          <a:xfrm>
            <a:off x="6181344" y="1691640"/>
            <a:ext cx="2606040" cy="3931920"/>
          </a:xfrm>
          <a:prstGeom prst="roundRect">
            <a:avLst>
              <a:gd name="adj" fmla="val 2807"/>
            </a:avLst>
          </a:prstGeom>
          <a:solidFill>
            <a:schemeClr val="accent4"/>
          </a:solidFill>
          <a:ln w="12700">
            <a:solidFill>
              <a:srgbClr val="DCD8EC"/>
            </a:solidFill>
            <a:prstDash val="solid"/>
          </a:ln>
        </p:spPr>
      </p:sp>
      <p:sp>
        <p:nvSpPr>
          <p:cNvPr id="13" name="Text 10"/>
          <p:cNvSpPr txBox="1"/>
          <p:nvPr/>
        </p:nvSpPr>
        <p:spPr>
          <a:xfrm>
            <a:off x="6455664" y="1920240"/>
            <a:ext cx="2057400" cy="1188720"/>
          </a:xfrm>
          <a:prstGeom prst="rect">
            <a:avLst/>
          </a:prstGeom>
          <a:noFill/>
          <a:ln/>
        </p:spPr>
        <p:txBody>
          <a:bodyPr wrap="square" lIns="0" tIns="0" rIns="0" bIns="0" rtlCol="0" anchor="ctr"/>
          <a:lstStyle/>
          <a:p>
            <a:pPr indent="0" marL="0">
              <a:buNone/>
            </a:pPr>
            <a:r>
              <a:rPr lang="en-US" sz="5400" b="1" dirty="0">
                <a:solidFill>
                  <a:schemeClr val="accent1"/>
                </a:solidFill>
                <a:latin typeface="+mj-lt" pitchFamily="34" charset="0"/>
                <a:ea typeface="+mj-lt" pitchFamily="34" charset="-122"/>
                <a:cs typeface="+mj-lt" pitchFamily="34" charset="-120"/>
              </a:rPr>
              <a:t>0</a:t>
            </a:r>
            <a:endParaRPr lang="en-US" sz="5400" dirty="0"/>
          </a:p>
        </p:txBody>
      </p:sp>
      <p:sp>
        <p:nvSpPr>
          <p:cNvPr id="14" name="Text 11"/>
          <p:cNvSpPr txBox="1"/>
          <p:nvPr/>
        </p:nvSpPr>
        <p:spPr>
          <a:xfrm>
            <a:off x="6455664" y="3246120"/>
            <a:ext cx="2057400" cy="822960"/>
          </a:xfrm>
          <a:prstGeom prst="rect">
            <a:avLst/>
          </a:prstGeom>
          <a:noFill/>
          <a:ln/>
        </p:spPr>
        <p:txBody>
          <a:bodyPr wrap="square" lIns="0" tIns="0" rIns="0" bIns="0" rtlCol="0" anchor="t"/>
          <a:lstStyle/>
          <a:p>
            <a:pPr indent="0" marL="0">
              <a:buNone/>
            </a:pPr>
            <a:r>
              <a:rPr lang="en-US" sz="1600" b="1" dirty="0">
                <a:solidFill>
                  <a:schemeClr val="tx2"/>
                </a:solidFill>
              </a:rPr>
              <a:t>regresiones en el golden set</a:t>
            </a:r>
            <a:endParaRPr lang="en-US" sz="1600" dirty="0"/>
          </a:p>
        </p:txBody>
      </p:sp>
      <p:sp>
        <p:nvSpPr>
          <p:cNvPr id="15" name="Text 12"/>
          <p:cNvSpPr txBox="1"/>
          <p:nvPr/>
        </p:nvSpPr>
        <p:spPr>
          <a:xfrm>
            <a:off x="6455664" y="4114800"/>
            <a:ext cx="2057400" cy="1371600"/>
          </a:xfrm>
          <a:prstGeom prst="rect">
            <a:avLst/>
          </a:prstGeom>
          <a:noFill/>
          <a:ln/>
        </p:spPr>
        <p:txBody>
          <a:bodyPr wrap="square" lIns="0" tIns="0" rIns="0" bIns="0" rtlCol="0" anchor="t"/>
          <a:lstStyle/>
          <a:p>
            <a:pPr indent="0" marL="0">
              <a:buNone/>
            </a:pPr>
            <a:r>
              <a:rPr lang="en-US" sz="1400" dirty="0">
                <a:solidFill>
                  <a:schemeClr val="accent6"/>
                </a:solidFill>
              </a:rPr>
              <a:t>Un agente no promueve cambios si empeora su acierto.</a:t>
            </a:r>
            <a:endParaRPr lang="en-US" sz="1400" dirty="0"/>
          </a:p>
        </p:txBody>
      </p:sp>
      <p:sp>
        <p:nvSpPr>
          <p:cNvPr id="16" name="Shape 13"/>
          <p:cNvSpPr/>
          <p:nvPr/>
        </p:nvSpPr>
        <p:spPr>
          <a:xfrm>
            <a:off x="8997696" y="1691640"/>
            <a:ext cx="2606040" cy="3931920"/>
          </a:xfrm>
          <a:prstGeom prst="roundRect">
            <a:avLst>
              <a:gd name="adj" fmla="val 2807"/>
            </a:avLst>
          </a:prstGeom>
          <a:solidFill>
            <a:schemeClr val="accent4"/>
          </a:solidFill>
          <a:ln w="12700">
            <a:solidFill>
              <a:srgbClr val="DCD8EC"/>
            </a:solidFill>
            <a:prstDash val="solid"/>
          </a:ln>
        </p:spPr>
      </p:sp>
      <p:sp>
        <p:nvSpPr>
          <p:cNvPr id="17" name="Text 14"/>
          <p:cNvSpPr txBox="1"/>
          <p:nvPr/>
        </p:nvSpPr>
        <p:spPr>
          <a:xfrm>
            <a:off x="9272016" y="1920240"/>
            <a:ext cx="2057400" cy="1188720"/>
          </a:xfrm>
          <a:prstGeom prst="rect">
            <a:avLst/>
          </a:prstGeom>
          <a:noFill/>
          <a:ln/>
        </p:spPr>
        <p:txBody>
          <a:bodyPr wrap="square" lIns="0" tIns="0" rIns="0" bIns="0" rtlCol="0" anchor="ctr"/>
          <a:lstStyle/>
          <a:p>
            <a:pPr indent="0" marL="0">
              <a:buNone/>
            </a:pPr>
            <a:r>
              <a:rPr lang="en-US" sz="5400" b="1" dirty="0">
                <a:solidFill>
                  <a:schemeClr val="accent1"/>
                </a:solidFill>
                <a:latin typeface="+mj-lt" pitchFamily="34" charset="0"/>
                <a:ea typeface="+mj-lt" pitchFamily="34" charset="-122"/>
                <a:cs typeface="+mj-lt" pitchFamily="34" charset="-120"/>
              </a:rPr>
              <a:t>1 día</a:t>
            </a:r>
            <a:endParaRPr lang="en-US" sz="5400" dirty="0"/>
          </a:p>
        </p:txBody>
      </p:sp>
      <p:sp>
        <p:nvSpPr>
          <p:cNvPr id="18" name="Text 15"/>
          <p:cNvSpPr txBox="1"/>
          <p:nvPr/>
        </p:nvSpPr>
        <p:spPr>
          <a:xfrm>
            <a:off x="9272016" y="3246120"/>
            <a:ext cx="2057400" cy="822960"/>
          </a:xfrm>
          <a:prstGeom prst="rect">
            <a:avLst/>
          </a:prstGeom>
          <a:noFill/>
          <a:ln/>
        </p:spPr>
        <p:txBody>
          <a:bodyPr wrap="square" lIns="0" tIns="0" rIns="0" bIns="0" rtlCol="0" anchor="t"/>
          <a:lstStyle/>
          <a:p>
            <a:pPr indent="0" marL="0">
              <a:buNone/>
            </a:pPr>
            <a:r>
              <a:rPr lang="en-US" sz="1600" b="1" dirty="0">
                <a:solidFill>
                  <a:schemeClr val="tx2"/>
                </a:solidFill>
              </a:rPr>
              <a:t>es lo más que debe esperar una revisión</a:t>
            </a:r>
            <a:endParaRPr lang="en-US" sz="1600" dirty="0"/>
          </a:p>
        </p:txBody>
      </p:sp>
      <p:sp>
        <p:nvSpPr>
          <p:cNvPr id="19" name="Text 16"/>
          <p:cNvSpPr txBox="1"/>
          <p:nvPr/>
        </p:nvSpPr>
        <p:spPr>
          <a:xfrm>
            <a:off x="9272016" y="4114800"/>
            <a:ext cx="2057400" cy="1371600"/>
          </a:xfrm>
          <a:prstGeom prst="rect">
            <a:avLst/>
          </a:prstGeom>
          <a:noFill/>
          <a:ln/>
        </p:spPr>
        <p:txBody>
          <a:bodyPr wrap="square" lIns="0" tIns="0" rIns="0" bIns="0" rtlCol="0" anchor="t"/>
          <a:lstStyle/>
          <a:p>
            <a:pPr indent="0" marL="0">
              <a:buNone/>
            </a:pPr>
            <a:r>
              <a:rPr lang="en-US" sz="1400" dirty="0">
                <a:solidFill>
                  <a:schemeClr val="accent6"/>
                </a:solidFill>
              </a:rPr>
              <a:t>Una revisión parada es capacidad que no se entrega.</a:t>
            </a:r>
            <a:endParaRPr lang="en-US" sz="1400" dirty="0"/>
          </a:p>
        </p:txBody>
      </p:sp>
      <p:sp>
        <p:nvSpPr>
          <p:cNvPr id="20" name="Text 17"/>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300" dirty="0">
                <a:solidFill>
                  <a:schemeClr val="accent6"/>
                </a:solidFill>
              </a:rPr>
              <a:t>Los números son del equipo, nunca para evaluar a personas.</a:t>
            </a:r>
            <a:endParaRPr lang="en-US" sz="13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Qué asume esta dinámica y qué la puede mover</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5120640"/>
                <a:gridCol w="5943600"/>
              </a:tblGrid>
              <a:tr h="384048">
                <a:tc>
                  <a:txBody>
                    <a:bodyPr/>
                    <a:lstStyle/>
                    <a:p>
                      <a:pPr indent="0" marL="0">
                        <a:buNone/>
                      </a:pPr>
                      <a:r>
                        <a:rPr lang="en-US" sz="1400" b="1" dirty="0">
                          <a:solidFill>
                            <a:schemeClr val="bg1"/>
                          </a:solidFill>
                        </a:rPr>
                        <a:t>Supuesto</a:t>
                      </a:r>
                      <a:endParaRPr lang="en-US" sz="14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Si no se cumple</a:t>
                      </a:r>
                      <a:endParaRPr lang="en-US" sz="14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Un Product Owner de SURA en la sesión de historias y en la demo</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Las historias llegan sin prioridad y el incremento no se acepta.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640080">
                <a:tc>
                  <a:txBody>
                    <a:bodyPr/>
                    <a:lstStyle/>
                    <a:p>
                      <a:pPr indent="0" marL="0">
                        <a:buNone/>
                      </a:pPr>
                      <a:r>
                        <a:rPr lang="en-US" sz="1300" b="1" dirty="0">
                          <a:solidFill>
                            <a:schemeClr val="tx2"/>
                          </a:solidFill>
                        </a:rPr>
                        <a:t>Front, integración y eventos avanzan en paralelo con otros equipos</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Los agentes quedan construidos y probados, pero sin dónde operar en los cortes.</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640080">
                <a:tc>
                  <a:txBody>
                    <a:bodyPr/>
                    <a:lstStyle/>
                    <a:p>
                      <a:pPr indent="0" marL="0">
                        <a:buNone/>
                      </a:pPr>
                      <a:r>
                        <a:rPr lang="en-US" sz="1300" b="1" dirty="0">
                          <a:solidFill>
                            <a:schemeClr val="tx2"/>
                          </a:solidFill>
                        </a:rPr>
                        <a:t>La plataforma agéntica está habilitada al empezar el primer agente</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Sin modelo no hay agente: el trabajo espera lo que tarde.</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640080">
                <a:tc>
                  <a:txBody>
                    <a:bodyPr/>
                    <a:lstStyle/>
                    <a:p>
                      <a:pPr indent="0" marL="0">
                        <a:buNone/>
                      </a:pPr>
                      <a:r>
                        <a:rPr lang="en-US" sz="1300" b="1" dirty="0">
                          <a:solidFill>
                            <a:schemeClr val="tx2"/>
                          </a:solidFill>
                        </a:rPr>
                        <a:t>El motor de extracción se decide antes de construir los extractores</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Los extractores y el armado de la solicitud se rehacen.</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640080">
                <a:tc>
                  <a:txBody>
                    <a:bodyPr/>
                    <a:lstStyle/>
                    <a:p>
                      <a:pPr indent="0" marL="0">
                        <a:buNone/>
                      </a:pPr>
                      <a:r>
                        <a:rPr lang="en-US" sz="1300" b="1" dirty="0">
                          <a:solidFill>
                            <a:schemeClr val="tx2"/>
                          </a:solidFill>
                        </a:rPr>
                        <a:t>El arquitecto y arquitectura de SURA se alinean cada sprint</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Los lineamientos del equipo y los de SURA se separan y aparece reproceso.</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r h="640080">
                <a:tc>
                  <a:txBody>
                    <a:bodyPr/>
                    <a:lstStyle/>
                    <a:p>
                      <a:pPr indent="0" marL="0">
                        <a:buNone/>
                      </a:pPr>
                      <a:r>
                        <a:rPr lang="en-US" sz="1300" b="1" dirty="0">
                          <a:solidFill>
                            <a:schemeClr val="tx2"/>
                          </a:solidFill>
                        </a:rPr>
                        <a:t>Las ausencias son pocas</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c>
                  <a:txBody>
                    <a:bodyPr/>
                    <a:lstStyle/>
                    <a:p>
                      <a:pPr indent="0" marL="0">
                        <a:buNone/>
                      </a:pPr>
                      <a:r>
                        <a:rPr lang="en-US" sz="1300" dirty="0">
                          <a:solidFill>
                            <a:srgbClr val="000000"/>
                          </a:solidFill>
                        </a:rPr>
                        <a:t>Con dos desarrolladores, una ausencia es la mitad de la capacidad; la pareja que rota la amortigua.</a:t>
                      </a:r>
                      <a:endParaRPr lang="en-US" sz="1300" dirty="0"/>
                    </a:p>
                  </a:txBody>
                  <a:tcPr marL="91440" marR="91440" marT="45720" marB="45720" anchor="ctr">
                    <a:lnL w="12700" cap="flat" cmpd="sng" algn="ctr">
                      <a:solidFill>
                        <a:srgbClr val="DCD8EC"/>
                      </a:solidFill>
                      <a:prstDash val="solid"/>
                      <a:round/>
                      <a:headEnd type="none" w="med" len="med"/>
                      <a:tailEnd type="none" w="med" len="med"/>
                    </a:lnL>
                    <a:lnR w="12700" cap="flat" cmpd="sng" algn="ctr">
                      <a:solidFill>
                        <a:srgbClr val="DCD8EC"/>
                      </a:solidFill>
                      <a:prstDash val="solid"/>
                      <a:round/>
                      <a:headEnd type="none" w="med" len="med"/>
                      <a:tailEnd type="none" w="med" len="med"/>
                    </a:lnR>
                    <a:lnT w="12700" cap="flat" cmpd="sng" algn="ctr">
                      <a:solidFill>
                        <a:srgbClr val="DCD8EC"/>
                      </a:solidFill>
                      <a:prstDash val="solid"/>
                      <a:round/>
                      <a:headEnd type="none" w="med" len="med"/>
                      <a:tailEnd type="none" w="med" len="med"/>
                    </a:lnT>
                    <a:lnB w="12700" cap="flat" cmpd="sng" algn="ctr">
                      <a:solidFill>
                        <a:srgbClr val="DCD8EC"/>
                      </a:solidFill>
                      <a:prstDash val="solid"/>
                      <a:round/>
                      <a:headEnd type="none" w="med" len="med"/>
                      <a:tailEnd type="none" w="med" len="med"/>
                    </a:lnB>
                    <a:solidFill>
                      <a:schemeClr val="accent4"/>
                    </a:solidFill>
                  </a:tcPr>
                </a:tc>
              </a:tr>
            </a:tbl>
          </a:graphicData>
        </a:graphic>
      </p:graphicFrame>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960120"/>
          </a:xfrm>
          <a:prstGeom prst="rect">
            <a:avLst/>
          </a:prstGeom>
          <a:noFill/>
          <a:ln/>
        </p:spPr>
        <p:txBody>
          <a:bodyPr wrap="square" lIns="0" tIns="0" rIns="0" bIns="0" rtlCol="0" anchor="t"/>
          <a:lstStyle/>
          <a:p>
            <a:pPr algn="l" indent="0" marL="0">
              <a:buNone/>
            </a:pPr>
            <a:r>
              <a:rPr lang="en-US" sz="2800" b="1" dirty="0">
                <a:solidFill>
                  <a:schemeClr val="tx2"/>
                </a:solidFill>
              </a:rPr>
              <a:t>Referencias</a:t>
            </a:r>
            <a:endParaRPr lang="en-US" sz="2800" dirty="0"/>
          </a:p>
        </p:txBody>
      </p:sp>
      <p:sp>
        <p:nvSpPr>
          <p:cNvPr id="4" name="Shape 1"/>
          <p:cNvSpPr/>
          <p:nvPr/>
        </p:nvSpPr>
        <p:spPr>
          <a:xfrm>
            <a:off x="548640" y="1737360"/>
            <a:ext cx="502920" cy="502920"/>
          </a:xfrm>
          <a:prstGeom prst="ellipse">
            <a:avLst/>
          </a:prstGeom>
          <a:solidFill>
            <a:schemeClr val="accent1"/>
          </a:solidFill>
          <a:ln w="12700">
            <a:solidFill>
              <a:schemeClr val="accent1"/>
            </a:solidFill>
            <a:prstDash val="solid"/>
          </a:ln>
        </p:spPr>
      </p:sp>
      <p:sp>
        <p:nvSpPr>
          <p:cNvPr id="5" name="Text 2"/>
          <p:cNvSpPr txBox="1"/>
          <p:nvPr/>
        </p:nvSpPr>
        <p:spPr>
          <a:xfrm>
            <a:off x="548640" y="1737360"/>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3"/>
          <p:cNvSpPr txBox="1"/>
          <p:nvPr/>
        </p:nvSpPr>
        <p:spPr>
          <a:xfrm>
            <a:off x="1280160" y="1691640"/>
            <a:ext cx="10332720" cy="640080"/>
          </a:xfrm>
          <a:prstGeom prst="rect">
            <a:avLst/>
          </a:prstGeom>
          <a:noFill/>
          <a:ln/>
        </p:spPr>
        <p:txBody>
          <a:bodyPr wrap="square" lIns="0" tIns="0" rIns="0" bIns="0" rtlCol="0" anchor="ctr"/>
          <a:lstStyle/>
          <a:p>
            <a:pPr indent="0" marL="0">
              <a:buNone/>
            </a:pPr>
            <a:r>
              <a:rPr lang="en-US" sz="15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Guía de Scrum 2020</a:t>
            </a:r>
            <a:pPr indent="0" marL="0">
              <a:buNone/>
            </a:pPr>
            <a:r>
              <a:rPr lang="en-US" sz="1500" dirty="0">
                <a:solidFill>
                  <a:schemeClr val="tx1"/>
                </a:solidFill>
              </a:rPr>
              <a:t> · Ken Schwaber y Jeff Sutherland, scrumguides.org. El sprint de duración fija y sus eventos; esta dinámica los adapta.</a:t>
            </a:r>
            <a:endParaRPr lang="en-US" sz="1500" dirty="0"/>
          </a:p>
        </p:txBody>
      </p:sp>
      <p:sp>
        <p:nvSpPr>
          <p:cNvPr id="7" name="Shape 4"/>
          <p:cNvSpPr/>
          <p:nvPr/>
        </p:nvSpPr>
        <p:spPr>
          <a:xfrm>
            <a:off x="548640" y="265176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548640" y="2651760"/>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9" name="Text 6"/>
          <p:cNvSpPr txBox="1"/>
          <p:nvPr/>
        </p:nvSpPr>
        <p:spPr>
          <a:xfrm>
            <a:off x="1280160" y="2606040"/>
            <a:ext cx="10332720" cy="640080"/>
          </a:xfrm>
          <a:prstGeom prst="rect">
            <a:avLst/>
          </a:prstGeom>
          <a:noFill/>
          <a:ln/>
        </p:spPr>
        <p:txBody>
          <a:bodyPr wrap="square" lIns="0" tIns="0" rIns="0" bIns="0" rtlCol="0" anchor="ctr"/>
          <a:lstStyle/>
          <a:p>
            <a:pPr indent="0" marL="0">
              <a:buNone/>
            </a:pPr>
            <a:r>
              <a:rPr lang="en-US" sz="15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Manifiesto por el Desarrollo Ágil de Software</a:t>
            </a:r>
            <a:pPr indent="0" marL="0">
              <a:buNone/>
            </a:pPr>
            <a:r>
              <a:rPr lang="en-US" sz="1500" dirty="0">
                <a:solidFill>
                  <a:schemeClr val="tx1"/>
                </a:solidFill>
              </a:rPr>
              <a:t> · agilemanifesto.org. Los cuatro valores.</a:t>
            </a:r>
            <a:endParaRPr lang="en-US" sz="1500" dirty="0"/>
          </a:p>
        </p:txBody>
      </p:sp>
      <p:sp>
        <p:nvSpPr>
          <p:cNvPr id="10" name="Shape 7"/>
          <p:cNvSpPr/>
          <p:nvPr/>
        </p:nvSpPr>
        <p:spPr>
          <a:xfrm>
            <a:off x="548640" y="3566160"/>
            <a:ext cx="502920" cy="502920"/>
          </a:xfrm>
          <a:prstGeom prst="ellipse">
            <a:avLst/>
          </a:prstGeom>
          <a:solidFill>
            <a:schemeClr val="accent1"/>
          </a:solidFill>
          <a:ln w="12700">
            <a:solidFill>
              <a:schemeClr val="accent1"/>
            </a:solidFill>
            <a:prstDash val="solid"/>
          </a:ln>
        </p:spPr>
      </p:sp>
      <p:sp>
        <p:nvSpPr>
          <p:cNvPr id="11" name="Text 8"/>
          <p:cNvSpPr txBox="1"/>
          <p:nvPr/>
        </p:nvSpPr>
        <p:spPr>
          <a:xfrm>
            <a:off x="548640" y="3566160"/>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2" name="Text 9"/>
          <p:cNvSpPr txBox="1"/>
          <p:nvPr/>
        </p:nvSpPr>
        <p:spPr>
          <a:xfrm>
            <a:off x="1280160" y="3520440"/>
            <a:ext cx="10332720" cy="640080"/>
          </a:xfrm>
          <a:prstGeom prst="rect">
            <a:avLst/>
          </a:prstGeom>
          <a:noFill/>
          <a:ln/>
        </p:spPr>
        <p:txBody>
          <a:bodyPr wrap="square" lIns="0" tIns="0" rIns="0" bIns="0" rtlCol="0" anchor="ctr"/>
          <a:lstStyle/>
          <a:p>
            <a:pPr indent="0" marL="0">
              <a:buNone/>
            </a:pPr>
            <a:r>
              <a:rPr lang="en-US" sz="1500" b="1" dirty="0">
                <a:solidFill>
                  <a:schemeClr val="tx2"/>
                </a:solidFill>
              </a:rPr>
              <a:t>Tech and Solve, Gestores MVP, dimensionamiento</a:t>
            </a:r>
            <a:pPr indent="0" marL="0">
              <a:buNone/>
            </a:pPr>
            <a:r>
              <a:rPr lang="en-US" sz="1500" dirty="0">
                <a:solidFill>
                  <a:schemeClr val="tx1"/>
                </a:solidFill>
              </a:rPr>
              <a:t> · el alcance agéntico del MVP y el sprint de diez días hábiles.</a:t>
            </a:r>
            <a:endParaRPr lang="en-US" sz="1500" dirty="0"/>
          </a:p>
        </p:txBody>
      </p:sp>
      <p:sp>
        <p:nvSpPr>
          <p:cNvPr id="13" name="Shape 10"/>
          <p:cNvSpPr/>
          <p:nvPr/>
        </p:nvSpPr>
        <p:spPr>
          <a:xfrm>
            <a:off x="548640" y="4572000"/>
            <a:ext cx="11064240" cy="1097280"/>
          </a:xfrm>
          <a:prstGeom prst="roundRect">
            <a:avLst>
              <a:gd name="adj" fmla="val 6667"/>
            </a:avLst>
          </a:prstGeom>
          <a:solidFill>
            <a:schemeClr val="bg2"/>
          </a:solidFill>
          <a:ln w="12700">
            <a:solidFill>
              <a:schemeClr val="bg2"/>
            </a:solidFill>
            <a:prstDash val="solid"/>
          </a:ln>
        </p:spPr>
      </p:sp>
      <p:sp>
        <p:nvSpPr>
          <p:cNvPr id="14" name="Text 11"/>
          <p:cNvSpPr txBox="1"/>
          <p:nvPr/>
        </p:nvSpPr>
        <p:spPr>
          <a:xfrm>
            <a:off x="822960" y="4572000"/>
            <a:ext cx="10515600" cy="1097280"/>
          </a:xfrm>
          <a:prstGeom prst="rect">
            <a:avLst/>
          </a:prstGeom>
          <a:noFill/>
          <a:ln/>
        </p:spPr>
        <p:txBody>
          <a:bodyPr wrap="square" lIns="0" tIns="0" rIns="0" bIns="0" rtlCol="0" anchor="ctr"/>
          <a:lstStyle/>
          <a:p>
            <a:pPr indent="0" marL="0">
              <a:buNone/>
            </a:pPr>
            <a:r>
              <a:rPr lang="en-US" sz="1500" dirty="0">
                <a:solidFill>
                  <a:schemeClr val="tx2"/>
                </a:solidFill>
              </a:rPr>
              <a:t>Scrum y el Manifiesto son prácticas de industria, no normas, y ninguna obliga a SURA. Esta dinámica es una sugerencia de trabajo construida sobre el diseño del equipo de SURA, para tomar, ajustar o dejar.</a:t>
            </a:r>
            <a:endParaRPr lang="en-US" sz="1500" dirty="0"/>
          </a:p>
        </p:txBody>
      </p:sp>
      <p:sp>
        <p:nvSpPr>
          <p:cNvPr id="25" name="Slide Number Placeholder 0"/>
          <p:cNvSpPr>
            <a:spLocks noGrp="1"/>
          </p:cNvSpPr>
          <p:nvPr>
            <p:ph type="sldNum" sz="quarter" idx="4294967295"/>
          </p:nvPr>
        </p:nvSpPr>
        <p:spPr>
          <a:xfrm>
            <a:off x="11064240" y="6382512"/>
            <a:ext cx="576072"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Tech and Solve">
  <a:themeElements>
    <a:clrScheme name="Tech and Solve">
      <a:dk1>
        <a:srgbClr val="1A1E27"/>
      </a:dk1>
      <a:lt1>
        <a:srgbClr val="FFFFFF"/>
      </a:lt1>
      <a:dk2>
        <a:srgbClr val="280265"/>
      </a:dk2>
      <a:lt2>
        <a:srgbClr val="EBEBFF"/>
      </a:lt2>
      <a:accent1>
        <a:srgbClr val="5300DF"/>
      </a:accent1>
      <a:accent2>
        <a:srgbClr val="B9720A"/>
      </a:accent2>
      <a:accent3>
        <a:srgbClr val="1B6B4F"/>
      </a:accent3>
      <a:accent4>
        <a:srgbClr val="FAF9FE"/>
      </a:accent4>
      <a:accent5>
        <a:srgbClr val="DCD8EC"/>
      </a:accent5>
      <a:accent6>
        <a:srgbClr val="5B5A66"/>
      </a:accent6>
      <a:hlink>
        <a:srgbClr val="5300DF"/>
      </a:hlink>
      <a:folHlink>
        <a:srgbClr val="280265"/>
      </a:folHlink>
    </a:clrScheme>
    <a:fontScheme name="Tech and Solv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Tech and Solve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Dinámica de trabajo del equipo</dc:title>
  <dc:subject>PptxGenJS Presentation</dc:subject>
  <dc:creator>Tech and Solve</dc:creator>
  <cp:lastModifiedBy>Tech and Solve</cp:lastModifiedBy>
  <cp:revision>1</cp:revision>
  <dcterms:created xsi:type="dcterms:W3CDTF">2026-10-15T13:56:12Z</dcterms:created>
  <dcterms:modified xsi:type="dcterms:W3CDTF">2026-10-15T13:56:12Z</dcterms:modified>
</cp:coreProperties>
</file>