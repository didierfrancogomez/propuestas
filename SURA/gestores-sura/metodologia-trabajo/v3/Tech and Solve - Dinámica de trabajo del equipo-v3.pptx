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64fc1450-f3a0-0fed-5ae4-28df5f4d9eee}">
          <p14:sldIdLst>
            <p14:sldId id="256"/>
          </p14:sldIdLst>
        </p14:section>
        <p14:section name="Equipo" id="{f40b77dc-e8ba-586c-cd36-7cdd99ad3d70}">
          <p14:sldIdLst>
            <p14:sldId id="257"/>
            <p14:sldId id="258"/>
            <p14:sldId id="259"/>
          </p14:sldIdLst>
        </p14:section>
        <p14:section name="Tech and Solve Spec Flow" id="{96bdd0ce-93ab-6af3-2f08-670f8467bc4c}">
          <p14:sldIdLst>
            <p14:sldId id="260"/>
            <p14:sldId id="261"/>
            <p14:sldId id="262"/>
            <p14:sldId id="263"/>
            <p14:sldId id="264"/>
            <p14:sldId id="265"/>
            <p14:sldId id="266"/>
            <p14:sldId id="267"/>
            <p14:sldId id="268"/>
            <p14:sldId id="269"/>
            <p14:sldId id="270"/>
            <p14:sldId id="271"/>
            <p14:sldId id="272"/>
            <p14:sldId id="273"/>
            <p14:sldId id="274"/>
          </p14:sldIdLst>
        </p14:section>
        <p14:section name="Cierre" id="{31612c58-e7a7-4b43-20f6-39c9c6ea54bd}">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propuesta: qué equipo proponemos, cómo trabajaría con SURA y qué lo diferencia. Trabajamos con Tech and Solve Spec Flow, nuestro método de entrega continua guiada por especificaciones con IA: un equipo pequeño dirige a los agentes de IA, SURA define y certifica cada capacidad, y después del primer release las capacidades se liberan de forma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sistemas agénticos; el front y la integración los lideran los equipos de SURA. Trabaja con Tech and Solve Spec Flow: SURA define y certifica cada capacidad, y las capacidades certificadas se liberan de forma continua. Todo lo que sigue es una sugerencia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liderazgo de Tech and Solve acompaña de forma puntual: Raúl en los hitos clave, con una mirada crítica de negocio y de solución; Alexandra, con la experiencia y los estándares de toda la compañía; y Jorge, como punto de contacto con SURA para que cada entrega cumpla lo acordado. El arquitecto define el cómo, se alinea con el equipo de arquitectura de SURA y revisa. Los builders, que son los desarrolladores IA, refinan, dimensionan y luego implementan dirigiendo a la IA. Trabajan sobre el mismo backlog y cada uno toma la siguiente capacidad priorizada; no hay frentes repartidos. Tech and Solve Spec Flow pide que la verificación y la liberación sean responsabilidades explícitas: la verificación la asumen los builders con apoyo de la IA, y la liberación la opera el soporte de media jornada, que además atiende lo que ya opera para que el flujo de nuevas capacidades no se interrumpa. Del lado de SURA están los dos roles de Tech and Solve Spec Flow, el líder funcional y el arquitecto técnico de negocio, con el apoyo de usuarios clave, negocio y equipo médico. Además dependemos de los equipos de front, integración, core y plataformas, cuyas piezas reemplazamos por simuladores mientras llegan.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agentes, lo que los gobierna y la base de la torre de control. Además, construye y mantiene los simuladores de cada gestor, para que el ritmo del equipo no dependa de que el front, la API orquestadora o SuraHis lleguen a tiempo. Los simuladores respetan el contrato acordado en el arranque y se reemplazan por las piezas reales cuando SURA las libera.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and Solve Spec Flow es nuestro método de entrega continua guiada por especificaciones con IA. Organiza la implementación con generación de código por IA sobre una arquitectura ya definida y aprobada: un equipo pequeño dirige a los agentes de IA, SURA define y certifica cada capacidad, y después del primer release las capacidades se liberan de forma continua. Ya opera en proyectos de clientes. Usa la IA propia de Tech and Solve, exclusiva de su equipo, sobre modelos de primer nivel de Anthropic y siempre con autorización de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principios de Tech and Solve Spec Flow. La IA está en el centro del método: escribe el código, y el trabajo de las personas es especificar, revisar y certificar. El sexto principio deja claro que no partimos de cero: la arquitectura de gestores ya definida con SURA es el marco.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vocabulario de Tech and Solve Spec Flow, con los términos propios del MVP de gestores. La capacidad es la unidad de trabajo y se agrupa en metas funcionales con su talla. La ficha es lo que SURA define; la especificación es lo que el agente genera y el equipo revisa. El harness es lo que rodea al modelo para que el código salga bien. El golden set y la compuerta protegen a cada agente, y los simuladores evitan esperar a las piezas de SURA. En el ejemplo, la homologación de códigos se diseña para convivir con CIE-10 y CIE-11, porque Colombia está en transición.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and Solve Spec Flow combina dos roles de SURA con cuatro de Tech and Solve. Los roles se cubren con el equipo de la lámina 3: el arquitecto líder y los dos desarrolladores IA, que son los builders. La verificación la asumen los builders, apoyados en la IA, y el operador de liberación es el soporte de media jornada.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fases. El arranque dura como máximo una semana, deja todo listo para construir y define lo común: arquetipo, contrato de eventos y trazabilidad. El primer release es el único alcance que se agrupa. En el flujo continuo proponemos un orden de tres bloques con dos hitos de activación; es un orden, no un calendario, y SURA lo confirma o lo cambia. Los hitos dependen también del front y la integración que lideran los equipos de SURA; los simuladores evitan que esa dependencia detenga la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ocho etapas de una capacidad, con el diagrama de Tech and Solve Spec Flow. SURA lidera la propuesta, la definición y la certificación; Tech and Solve lidera la preparación, la construcción y la verificación. La liberación a producción y la observación de lo liberado se hacen en conjunto: el arquitecto líder y el arquitecto técnico de negocio de SURA aprueban el paso, el pipeline despliega de forma automática, SURA decide cuándo activar y ambos observan hasta que la capacidad está estable. Una capacidad que falla en verificación o es rechazada en certificación vuelve a construcción; en el segundo caso, primero se actualiza la especificación.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es una conversación corta que deja un artefacto mínimo: una ficha de cuatro campos que cabe en una pantalla. Los ejemplos con datos son la base de las pruebas. Con los datos clínicos distinguimos tres momentos: para construir y verificar usamos casos reales de SURA con los datos sensibles anonimizados, porque así la afinación de los agentes es óptima; la pertinencia médica y la calibración del juez se evalúan dentro de la infraestructura de SURA, con muestra anonimizada que revisan sus expertos; y la activación pasa por modo shadow. El marco es la Ley 1581 de 2012, la Resolución 1995 de 1999 y la Ley 2015 de 2020, además de las políticas de SURA. El protocolo se acuerda en el arranque con el arquitecto técnico de negocio y el área de protección de datos de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construcción sigue el enfoque de desarrollo guiado por especificaciones (spec driven development). La ficha la escribe SURA con el arquitecto líder; la especificación, el diseño técnico, las tareas, las pruebas y el código los genera el agente y los aprueba el equipo, con puntos de aprobación entre cada paso. Lo que lo hace posible es el harness, que se explica en la lámina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del equipo no es escribir el código línea a línea, sino construir y cuidar el harness que lo produce: el contexto del agente, las plantillas, las reglas desde revisiones reales, los puntos de aprobación, las pruebas primero y los auditores. El arquitecto líder cuida que ese harness refleje la arquitectura acordada con SURA. Cuando algo sale mal, no se arregla solo el código: se corrige la pieza del harness que lo produjo, con las palancas del ajuste continuo del método, para que el error no vuelva. A diferencia de un IDE con IA, no depende de la disciplina de cada quien.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 cada rol en cada momento, del arranque a la operación. SURA está presente en todas las etapas, con más peso en la propuesta, la definición, la certificación y la decisión de activar. Los tiempos de respuesta de SURA son los compromisos de la lámina 19. La liberación a producción es un modelo compartido: el arquitecto líder de Tech and Solve y el arquitecto técnico de negocio de SURA aprueban juntos cada paso, el pipeline despliega de forma continua y automatizada, SURA decide cuándo activar y los dos observan lo liberado. La operación la atiende el soporte, que se alinea con el arquitecto líder o un builder cuando tiene dudas. Los builders construyen y verifican con IA, así que no hay una columna aparte de verificador; el soporte es el operador de liberación y atiende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encuentros de trabajo con SURA: la mesa de definición dos veces por semana, la revisión de flujo semanal con todos y la certificación según llegan capacidades. En cada certificación SURA recibe el estado de cada capacidad, la entrega en QA y las evidencias trazables, y decide cuándo activar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se ajusta de forma continua, no en una sesión dedicada. El arquitecto líder mira el tablero y la calidad del código generado, y corrige el contexto del agente, las plantillas, los límites de trabajo en curso o los acuerdos con SURA. Cada cambio queda en una bitácora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tablero tiene una columna por etapa. Las etapas activas se dividen en en curso y terminado esperando la siguiente etapa, para ver dónde se forma cola. Los límites de trabajo en curso son 6 en definición, 6 en lista para construir como reserva, 4 en construcción (dos por builder), 3 en verificación y 4 en certificación. Cada bloqueo lleva origen, fecha y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 tablero con capacidades ilustrativas del MVP de gestores. En verde, lo que lidera SURA: propuesta, definición y certificación. En violeta, lo que lidera Tech and Solve: lista para construir, construcción y verificación. En ámbar, lo que se hace en conjunto: la liberación a producción, que aprueban el arquitecto líder y el arquitecto técnico de negocio de SURA y que el pipeline despliega de forma automática, y la observación de lo liberado. En el ejemplo, Construcción está en su límite y hay dos bloqueos: uno de un tercero en construcción y uno de SURA en certificación, que ya supera las 48 horas. Ambos se tratan en la revisión de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compromisos de SURA que conviene dejar por escrito: dedicación del líder funcional, respuesta a dudas en menos de 24 horas, certificación en menos de 48 horas y al menos tres ejemplos con datos. Junto a ellos, las dependencias del MVP, cada una con su dueño y con cómo evitamos que bloquee el flujo. La más importante es el ritmo de certificación; la segunda, que front, API orquestadora y SuraHis lleguen a tiempo, que cubrimos con simuladores que construye y mantiene Tech and Solve. Cada bloqueo nuevo entra al tablero con origen, fecha y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propuesta. Resume la propuesta: Tech and Solve Spec Flow con SURA, con la IA de Tech and Solve integrada en todo el flujo. El argumento más fuerte es que ya conocemos la arquitectura de gestores por el trabajo previo con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82512"/>
            <a:ext cx="603504" cy="316382"/>
          </a:xfrm>
          <a:prstGeom prst="rect">
            <a:avLst/>
          </a:prstGeom>
        </p:spPr>
      </p:pic>
      <p:sp>
        <p:nvSpPr>
          <p:cNvPr id="3" name="Text 0"/>
          <p:cNvSpPr/>
          <p:nvPr/>
        </p:nvSpPr>
        <p:spPr>
          <a:xfrm>
            <a:off x="1280160" y="6382512"/>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Dinámica de trabajo del equipo · MVP de gestores · SURA</a:t>
            </a:r>
            <a:endParaRPr lang="en-US" sz="1100" dirty="0"/>
          </a:p>
        </p:txBody>
      </p:sp>
      <p:sp>
        <p:nvSpPr>
          <p:cNvPr id="4" name="Text 1"/>
          <p:cNvSpPr/>
          <p:nvPr>
            <p:ph idx="102" type="title" hasCustomPrompt="1"/>
          </p:nvPr>
        </p:nvSpPr>
        <p:spPr>
          <a:xfrm>
            <a:off x="548640" y="411480"/>
            <a:ext cx="11064240"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normograma.supersalud.gov.co/compilacion/docs/resolucion_minsaludps_1442_2024.htm" TargetMode="External"/><Relationship Id="rId2" Type="http://schemas.openxmlformats.org/officeDocument/2006/relationships/hyperlink" Target="https://normograma.supersalud.gov.co/compilacion/docs/resolucion_minsaludps_1657_2025.htm" TargetMode="External"/><Relationship Id="rId3" Type="http://schemas.openxmlformats.org/officeDocument/2006/relationships/hyperlink" Target="https://minsalud.gov.co/sites/rid/Lists/BibliotecaDigital/RIDE/VP/DOA/OAS/socializacion-res-2706-de-2025-cups.pdf" TargetMode="External"/><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funcionpublica.gov.co/eva/gestornormativo/norma.php?i=49981" TargetMode="External"/><Relationship Id="rId2" Type="http://schemas.openxmlformats.org/officeDocument/2006/relationships/hyperlink" Target="https://normograma.supersalud.gov.co/compilacion/docs/resolucion_minsalud_r1995_99.htm" TargetMode="External"/><Relationship Id="rId3" Type="http://schemas.openxmlformats.org/officeDocument/2006/relationships/hyperlink" Target="https://www.funcionpublica.gov.co/eva/gestornormativo/norma.php?i=105472" TargetMode="External"/><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731520" y="64008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841248" y="713232"/>
            <a:ext cx="1517904" cy="795528"/>
          </a:xfrm>
          <a:prstGeom prst="rect">
            <a:avLst/>
          </a:prstGeom>
        </p:spPr>
      </p:pic>
      <p:sp>
        <p:nvSpPr>
          <p:cNvPr id="5" name="Text 2"/>
          <p:cNvSpPr txBox="1"/>
          <p:nvPr/>
        </p:nvSpPr>
        <p:spPr>
          <a:xfrm>
            <a:off x="731520" y="224028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MÉTODO DE TRABAJO DE TECH AND SOLVE PARA SURA</a:t>
            </a:r>
            <a:endParaRPr lang="en-US" sz="1300" dirty="0"/>
          </a:p>
        </p:txBody>
      </p:sp>
      <p:sp>
        <p:nvSpPr>
          <p:cNvPr id="6" name="Text 3"/>
          <p:cNvSpPr txBox="1"/>
          <p:nvPr/>
        </p:nvSpPr>
        <p:spPr>
          <a:xfrm>
            <a:off x="731520" y="2606040"/>
            <a:ext cx="10515600" cy="1600200"/>
          </a:xfrm>
          <a:prstGeom prst="rect">
            <a:avLst/>
          </a:prstGeom>
          <a:noFill/>
          <a:ln/>
        </p:spPr>
        <p:txBody>
          <a:bodyPr wrap="square" lIns="0" tIns="0" rIns="0" bIns="0" rtlCol="0" anchor="t"/>
          <a:lstStyle/>
          <a:p>
            <a:pPr indent="0" marL="0">
              <a:buNone/>
            </a:pPr>
            <a:r>
              <a:rPr lang="en-US" sz="4400" b="1" dirty="0">
                <a:solidFill>
                  <a:schemeClr val="bg1"/>
                </a:solidFill>
                <a:latin typeface="+mj-lt" pitchFamily="34" charset="0"/>
                <a:ea typeface="+mj-lt" pitchFamily="34" charset="-122"/>
                <a:cs typeface="+mj-lt" pitchFamily="34" charset="-120"/>
              </a:rPr>
              <a:t>MVP de Gestores:</a:t>
            </a:r>
            <a:endParaRPr lang="en-US" sz="4400" dirty="0"/>
          </a:p>
          <a:p>
            <a:pPr indent="0" marL="0">
              <a:buNone/>
            </a:pPr>
            <a:r>
              <a:rPr lang="en-US" sz="4400" b="1" dirty="0">
                <a:solidFill>
                  <a:schemeClr val="bg1"/>
                </a:solidFill>
                <a:latin typeface="+mj-lt" pitchFamily="34" charset="0"/>
                <a:ea typeface="+mj-lt" pitchFamily="34" charset="-122"/>
                <a:cs typeface="+mj-lt" pitchFamily="34" charset="-120"/>
              </a:rPr>
              <a:t>innovación para SURA</a:t>
            </a:r>
            <a:endParaRPr lang="en-US" sz="4400" dirty="0"/>
          </a:p>
        </p:txBody>
      </p:sp>
      <p:sp>
        <p:nvSpPr>
          <p:cNvPr id="7" name="Text 4"/>
          <p:cNvSpPr txBox="1"/>
          <p:nvPr/>
        </p:nvSpPr>
        <p:spPr>
          <a:xfrm>
            <a:off x="731520" y="4434840"/>
            <a:ext cx="10515600" cy="822960"/>
          </a:xfrm>
          <a:prstGeom prst="rect">
            <a:avLst/>
          </a:prstGeom>
          <a:noFill/>
          <a:ln/>
        </p:spPr>
        <p:txBody>
          <a:bodyPr wrap="square" lIns="0" tIns="0" rIns="0" bIns="0" rtlCol="0" anchor="t"/>
          <a:lstStyle/>
          <a:p>
            <a:pPr indent="0" marL="0">
              <a:buNone/>
            </a:pPr>
            <a:r>
              <a:rPr lang="en-US" sz="2000" b="1" dirty="0">
                <a:solidFill>
                  <a:schemeClr val="bg1"/>
                </a:solidFill>
              </a:rPr>
              <a:t>Un equipo multidisciplinario dedicado al éxito de SURA,</a:t>
            </a:r>
            <a:endParaRPr lang="en-US" sz="2000" dirty="0"/>
          </a:p>
          <a:p>
            <a:pPr indent="0" marL="0">
              <a:buNone/>
            </a:pPr>
            <a:r>
              <a:rPr lang="en-US" sz="2000" b="1" dirty="0">
                <a:solidFill>
                  <a:schemeClr val="bg1"/>
                </a:solidFill>
              </a:rPr>
              <a:t>con IA generativa propia que acelera resultados medibles</a:t>
            </a:r>
            <a:endParaRPr lang="en-US" sz="2000" dirty="0"/>
          </a:p>
        </p:txBody>
      </p:sp>
      <p:sp>
        <p:nvSpPr>
          <p:cNvPr id="8" name="Shape 5"/>
          <p:cNvSpPr/>
          <p:nvPr/>
        </p:nvSpPr>
        <p:spPr>
          <a:xfrm>
            <a:off x="731520" y="5669280"/>
            <a:ext cx="10725912" cy="0"/>
          </a:xfrm>
          <a:prstGeom prst="line">
            <a:avLst/>
          </a:prstGeom>
          <a:noFill/>
          <a:ln w="9525">
            <a:solidFill>
              <a:schemeClr val="bg2">
                <a:alpha val="40000"/>
              </a:schemeClr>
            </a:solidFill>
            <a:prstDash val="solid"/>
          </a:ln>
        </p:spPr>
      </p:sp>
      <p:sp>
        <p:nvSpPr>
          <p:cNvPr id="9" name="Text 6"/>
          <p:cNvSpPr txBox="1"/>
          <p:nvPr/>
        </p:nvSpPr>
        <p:spPr>
          <a:xfrm>
            <a:off x="731520" y="5779008"/>
            <a:ext cx="5943600" cy="548640"/>
          </a:xfrm>
          <a:prstGeom prst="rect">
            <a:avLst/>
          </a:prstGeom>
          <a:noFill/>
          <a:ln/>
        </p:spPr>
        <p:txBody>
          <a:bodyPr wrap="square" lIns="0" tIns="0" rIns="0" bIns="0" rtlCol="0" anchor="t"/>
          <a:lstStyle/>
          <a:p>
            <a:pPr indent="0" marL="0">
              <a:buNone/>
            </a:pPr>
            <a:r>
              <a:rPr lang="en-US" sz="1100" dirty="0">
                <a:solidFill>
                  <a:schemeClr val="bg2"/>
                </a:solidFill>
              </a:rPr>
              <a:t>SURA Colombia · Transformación prestación y reclamaciones</a:t>
            </a:r>
            <a:endParaRPr lang="en-US" sz="1100" dirty="0"/>
          </a:p>
          <a:p>
            <a:pPr indent="0" marL="0">
              <a:buNone/>
            </a:pPr>
            <a:r>
              <a:rPr lang="en-US" sz="1100" dirty="0">
                <a:solidFill>
                  <a:schemeClr val="bg2"/>
                </a:solidFill>
              </a:rPr>
              <a:t>MVP de autorizaciones de salud</a:t>
            </a:r>
            <a:endParaRPr lang="en-US" sz="1100" dirty="0"/>
          </a:p>
        </p:txBody>
      </p:sp>
      <p:sp>
        <p:nvSpPr>
          <p:cNvPr id="10" name="Text 7"/>
          <p:cNvSpPr txBox="1"/>
          <p:nvPr/>
        </p:nvSpPr>
        <p:spPr>
          <a:xfrm>
            <a:off x="6675120" y="5779008"/>
            <a:ext cx="4782312" cy="548640"/>
          </a:xfrm>
          <a:prstGeom prst="rect">
            <a:avLst/>
          </a:prstGeom>
          <a:noFill/>
          <a:ln/>
        </p:spPr>
        <p:txBody>
          <a:bodyPr wrap="square" lIns="0" tIns="0" rIns="0" bIns="0" rtlCol="0" anchor="t"/>
          <a:lstStyle/>
          <a:p>
            <a:pPr algn="r" indent="0" marL="0">
              <a:buNone/>
            </a:pPr>
            <a:r>
              <a:rPr lang="en-US" sz="1100" dirty="0">
                <a:solidFill>
                  <a:schemeClr val="bg2"/>
                </a:solidFill>
              </a:rPr>
              <a:t>Tech and Solve · Octubre de 2026</a:t>
            </a:r>
            <a:endParaRPr lang="en-US" sz="1100" dirty="0"/>
          </a:p>
          <a:p>
            <a:pPr algn="r" indent="0" marL="0">
              <a:buNone/>
            </a:pPr>
            <a:r>
              <a:rPr lang="en-US" sz="1100" dirty="0">
                <a:solidFill>
                  <a:schemeClr val="bg2"/>
                </a:solidFill>
              </a:rPr>
              <a:t>Documento 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chemeClr val="tx2"/>
          </a:solidFill>
          <a:ln w="12700">
            <a:solidFill>
              <a:schemeClr val="tx2"/>
            </a:solidFill>
            <a:prstDash val="solid"/>
          </a:ln>
        </p:spPr>
      </p:sp>
      <p:pic>
        <p:nvPicPr>
          <p:cNvPr id="3" name="Image 0" descr="preencoded.png">    </p:cNvPr>
          <p:cNvPicPr>
            <a:picLocks noChangeAspect="1"/>
          </p:cNvPicPr>
          <p:nvPr/>
        </p:nvPicPr>
        <p:blipFill>
          <a:blip r:embed="rId1"/>
          <a:stretch>
            <a:fillRect/>
          </a:stretch>
        </p:blipFill>
        <p:spPr>
          <a:xfrm>
            <a:off x="731520" y="640080"/>
            <a:ext cx="1737360" cy="909828"/>
          </a:xfrm>
          <a:prstGeom prst="rect">
            <a:avLst/>
          </a:prstGeom>
        </p:spPr>
      </p:pic>
      <p:sp>
        <p:nvSpPr>
          <p:cNvPr id="4" name="Text 1"/>
          <p:cNvSpPr txBox="1"/>
          <p:nvPr/>
        </p:nvSpPr>
        <p:spPr>
          <a:xfrm>
            <a:off x="731520" y="1920240"/>
            <a:ext cx="6766560" cy="1097280"/>
          </a:xfrm>
          <a:prstGeom prst="rect">
            <a:avLst/>
          </a:prstGeom>
          <a:noFill/>
          <a:ln/>
        </p:spPr>
        <p:txBody>
          <a:bodyPr wrap="square" lIns="0" tIns="0" rIns="0" bIns="0" rtlCol="0" anchor="t"/>
          <a:lstStyle/>
          <a:p>
            <a:pPr indent="0" marL="0">
              <a:buNone/>
            </a:pPr>
            <a:r>
              <a:rPr lang="en-US" sz="4000" b="1" dirty="0">
                <a:solidFill>
                  <a:schemeClr val="tx2"/>
                </a:solidFill>
                <a:latin typeface="+mj-lt" pitchFamily="34" charset="0"/>
                <a:ea typeface="+mj-lt" pitchFamily="34" charset="-122"/>
                <a:cs typeface="+mj-lt" pitchFamily="34" charset="-120"/>
              </a:rPr>
              <a:t>Equipo Tech and Solve</a:t>
            </a:r>
            <a:endParaRPr lang="en-US" sz="4000" dirty="0"/>
          </a:p>
        </p:txBody>
      </p:sp>
      <p:sp>
        <p:nvSpPr>
          <p:cNvPr id="5" name="Text 2"/>
          <p:cNvSpPr txBox="1"/>
          <p:nvPr/>
        </p:nvSpPr>
        <p:spPr>
          <a:xfrm>
            <a:off x="731520" y="3017520"/>
            <a:ext cx="6766560" cy="777240"/>
          </a:xfrm>
          <a:prstGeom prst="rect">
            <a:avLst/>
          </a:prstGeom>
          <a:noFill/>
          <a:ln/>
        </p:spPr>
        <p:txBody>
          <a:bodyPr wrap="square" lIns="0" tIns="0" rIns="0" bIns="0" rtlCol="0" anchor="t"/>
          <a:lstStyle/>
          <a:p>
            <a:pPr indent="0" marL="0">
              <a:buNone/>
            </a:pPr>
            <a:r>
              <a:rPr lang="en-US" sz="1700" b="1" dirty="0">
                <a:solidFill>
                  <a:schemeClr val="tx2"/>
                </a:solidFill>
              </a:rPr>
              <a:t>Un equipo ágil y experto que garantiza resultados medibles en el MVP:</a:t>
            </a:r>
            <a:endParaRPr lang="en-US" sz="1700" dirty="0"/>
          </a:p>
        </p:txBody>
      </p:sp>
      <p:sp>
        <p:nvSpPr>
          <p:cNvPr id="6" name="Text 3"/>
          <p:cNvSpPr txBox="1"/>
          <p:nvPr/>
        </p:nvSpPr>
        <p:spPr>
          <a:xfrm>
            <a:off x="731520" y="3840480"/>
            <a:ext cx="6766560" cy="1783080"/>
          </a:xfrm>
          <a:prstGeom prst="rect">
            <a:avLst/>
          </a:prstGeom>
          <a:noFill/>
          <a:ln/>
        </p:spPr>
        <p:txBody>
          <a:bodyPr wrap="square" lIns="0" tIns="0" rIns="0" bIns="0" rtlCol="0" anchor="t"/>
          <a:lstStyle/>
          <a:p>
            <a:pPr indent="0" marL="0">
              <a:buNone/>
            </a:pPr>
            <a:r>
              <a:rPr lang="en-US" sz="1600" dirty="0">
                <a:solidFill>
                  <a:schemeClr val="accent6"/>
                </a:solidFill>
              </a:rPr>
              <a:t>Dos desarrolladores construyen los sistemas agénticos del MVP de gestores, con un arquitecto que define el cómo y lo revisa, en flujo continuo, y con el respaldo de un equipo directivo que apoya de forma transversal el éxito de la implementación.</a:t>
            </a:r>
            <a:endParaRPr lang="en-US" sz="1600" dirty="0"/>
          </a:p>
        </p:txBody>
      </p:sp>
      <p:sp>
        <p:nvSpPr>
          <p:cNvPr id="7" name="Text 4"/>
          <p:cNvSpPr txBox="1"/>
          <p:nvPr/>
        </p:nvSpPr>
        <p:spPr>
          <a:xfrm>
            <a:off x="731520" y="5760720"/>
            <a:ext cx="6766560" cy="640080"/>
          </a:xfrm>
          <a:prstGeom prst="rect">
            <a:avLst/>
          </a:prstGeom>
          <a:noFill/>
          <a:ln/>
        </p:spPr>
        <p:txBody>
          <a:bodyPr wrap="square" lIns="0" tIns="0" rIns="0" bIns="0" rtlCol="0" anchor="t"/>
          <a:lstStyle/>
          <a:p>
            <a:pPr indent="0" marL="0">
              <a:buNone/>
            </a:pPr>
            <a:r>
              <a:rPr lang="en-US" sz="1300" dirty="0">
                <a:solidFill>
                  <a:schemeClr val="accent6"/>
                </a:solidFill>
              </a:rPr>
              <a:t>Tech and Solve · SURA, MVP de gestores de autorizaciones de salud</a:t>
            </a:r>
            <a:endParaRPr lang="en-US" sz="1300" dirty="0"/>
          </a:p>
          <a:p>
            <a:pPr indent="0" marL="0">
              <a:buNone/>
            </a:pPr>
            <a:r>
              <a:rPr lang="en-US" sz="1300" dirty="0">
                <a:solidFill>
                  <a:schemeClr val="accent6"/>
                </a:solidFill>
              </a:rPr>
              <a:t>Octubre de 2026 · Sugerencia de trabajo, debatible y ajustable</a:t>
            </a:r>
            <a:endParaRPr lang="en-US" sz="1300" dirty="0"/>
          </a:p>
        </p:txBody>
      </p:sp>
      <p:sp>
        <p:nvSpPr>
          <p:cNvPr id="8" name="Shape 5"/>
          <p:cNvSpPr/>
          <p:nvPr/>
        </p:nvSpPr>
        <p:spPr>
          <a:xfrm>
            <a:off x="8183880" y="502920"/>
            <a:ext cx="3611880" cy="786384"/>
          </a:xfrm>
          <a:prstGeom prst="roundRect">
            <a:avLst>
              <a:gd name="adj" fmla="val 13953"/>
            </a:avLst>
          </a:prstGeom>
          <a:solidFill>
            <a:srgbClr val="3A1878"/>
          </a:solidFill>
          <a:ln w="9525">
            <a:solidFill>
              <a:srgbClr val="5B3D96"/>
            </a:solidFill>
            <a:prstDash val="solid"/>
          </a:ln>
        </p:spPr>
      </p:sp>
      <p:sp>
        <p:nvSpPr>
          <p:cNvPr id="9" name="Shape 6"/>
          <p:cNvSpPr/>
          <p:nvPr/>
        </p:nvSpPr>
        <p:spPr>
          <a:xfrm>
            <a:off x="8348472" y="612648"/>
            <a:ext cx="566928" cy="566928"/>
          </a:xfrm>
          <a:prstGeom prst="ellipse">
            <a:avLst/>
          </a:prstGeom>
          <a:solidFill>
            <a:schemeClr val="bg1"/>
          </a:solidFill>
          <a:ln w="12700">
            <a:solidFill>
              <a:schemeClr val="bg1"/>
            </a:solidFill>
            <a:prstDash val="solid"/>
          </a:ln>
        </p:spPr>
      </p:sp>
      <p:pic>
        <p:nvPicPr>
          <p:cNvPr id="10" name="Image 1" descr="Raúl A. De Villa C.">    </p:cNvPr>
          <p:cNvPicPr>
            <a:picLocks noChangeAspect="1"/>
          </p:cNvPicPr>
          <p:nvPr/>
        </p:nvPicPr>
        <p:blipFill>
          <a:blip r:embed="rId2"/>
          <a:stretch>
            <a:fillRect/>
          </a:stretch>
        </p:blipFill>
        <p:spPr>
          <a:xfrm>
            <a:off x="8375904" y="640080"/>
            <a:ext cx="512064" cy="512064"/>
          </a:xfrm>
          <a:prstGeom prst="ellipse">
            <a:avLst/>
          </a:prstGeom>
        </p:spPr>
      </p:pic>
      <p:sp>
        <p:nvSpPr>
          <p:cNvPr id="11" name="Text 7"/>
          <p:cNvSpPr txBox="1"/>
          <p:nvPr/>
        </p:nvSpPr>
        <p:spPr>
          <a:xfrm>
            <a:off x="9052560" y="557784"/>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Raúl A. De Villa C.</a:t>
            </a:r>
            <a:endParaRPr lang="en-US" sz="1400" dirty="0"/>
          </a:p>
          <a:p>
            <a:pPr indent="0" marL="0">
              <a:buNone/>
            </a:pPr>
            <a:r>
              <a:rPr lang="en-US" sz="950" dirty="0">
                <a:solidFill>
                  <a:schemeClr val="bg2"/>
                </a:solidFill>
              </a:rPr>
              <a:t>Co-Founder · Acompaña los hitos clave con una mirada crítica de negocio y de solución.</a:t>
            </a:r>
            <a:endParaRPr lang="en-US" sz="1400" dirty="0"/>
          </a:p>
        </p:txBody>
      </p:sp>
      <p:sp>
        <p:nvSpPr>
          <p:cNvPr id="12" name="Shape 8"/>
          <p:cNvSpPr/>
          <p:nvPr/>
        </p:nvSpPr>
        <p:spPr>
          <a:xfrm>
            <a:off x="8183880" y="1380744"/>
            <a:ext cx="3611880" cy="786384"/>
          </a:xfrm>
          <a:prstGeom prst="roundRect">
            <a:avLst>
              <a:gd name="adj" fmla="val 13953"/>
            </a:avLst>
          </a:prstGeom>
          <a:solidFill>
            <a:srgbClr val="3A1878"/>
          </a:solidFill>
          <a:ln w="9525">
            <a:solidFill>
              <a:srgbClr val="5B3D96"/>
            </a:solidFill>
            <a:prstDash val="solid"/>
          </a:ln>
        </p:spPr>
      </p:sp>
      <p:sp>
        <p:nvSpPr>
          <p:cNvPr id="13" name="Shape 9"/>
          <p:cNvSpPr/>
          <p:nvPr/>
        </p:nvSpPr>
        <p:spPr>
          <a:xfrm>
            <a:off x="8348472" y="1490472"/>
            <a:ext cx="566928" cy="566928"/>
          </a:xfrm>
          <a:prstGeom prst="ellipse">
            <a:avLst/>
          </a:prstGeom>
          <a:solidFill>
            <a:schemeClr val="bg1"/>
          </a:solidFill>
          <a:ln w="12700">
            <a:solidFill>
              <a:schemeClr val="bg1"/>
            </a:solidFill>
            <a:prstDash val="solid"/>
          </a:ln>
        </p:spPr>
      </p:sp>
      <p:pic>
        <p:nvPicPr>
          <p:cNvPr id="14" name="Image 2" descr="Alexandra Acosta">    </p:cNvPr>
          <p:cNvPicPr>
            <a:picLocks noChangeAspect="1"/>
          </p:cNvPicPr>
          <p:nvPr/>
        </p:nvPicPr>
        <p:blipFill>
          <a:blip r:embed="rId3"/>
          <a:stretch>
            <a:fillRect/>
          </a:stretch>
        </p:blipFill>
        <p:spPr>
          <a:xfrm>
            <a:off x="8375904" y="1517904"/>
            <a:ext cx="512064" cy="512064"/>
          </a:xfrm>
          <a:prstGeom prst="ellipse">
            <a:avLst/>
          </a:prstGeom>
        </p:spPr>
      </p:pic>
      <p:sp>
        <p:nvSpPr>
          <p:cNvPr id="15" name="Text 10"/>
          <p:cNvSpPr txBox="1"/>
          <p:nvPr/>
        </p:nvSpPr>
        <p:spPr>
          <a:xfrm>
            <a:off x="9052560" y="1435608"/>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Alexandra Acosta</a:t>
            </a:r>
            <a:endParaRPr lang="en-US" sz="1400" dirty="0"/>
          </a:p>
          <a:p>
            <a:pPr indent="0" marL="0">
              <a:buNone/>
            </a:pPr>
            <a:r>
              <a:rPr lang="en-US" sz="950" dirty="0">
                <a:solidFill>
                  <a:schemeClr val="bg2"/>
                </a:solidFill>
              </a:rPr>
              <a:t>Gerente de Éxito del Cliente · Pone al servicio de SURA la experiencia y los estándares de toda la compañía.</a:t>
            </a:r>
            <a:endParaRPr lang="en-US" sz="1400" dirty="0"/>
          </a:p>
        </p:txBody>
      </p:sp>
      <p:sp>
        <p:nvSpPr>
          <p:cNvPr id="16" name="Shape 11"/>
          <p:cNvSpPr/>
          <p:nvPr/>
        </p:nvSpPr>
        <p:spPr>
          <a:xfrm>
            <a:off x="8183880" y="2258568"/>
            <a:ext cx="3611880" cy="786384"/>
          </a:xfrm>
          <a:prstGeom prst="roundRect">
            <a:avLst>
              <a:gd name="adj" fmla="val 13953"/>
            </a:avLst>
          </a:prstGeom>
          <a:solidFill>
            <a:srgbClr val="3A1878"/>
          </a:solidFill>
          <a:ln w="9525">
            <a:solidFill>
              <a:srgbClr val="5B3D96"/>
            </a:solidFill>
            <a:prstDash val="solid"/>
          </a:ln>
        </p:spPr>
      </p:sp>
      <p:sp>
        <p:nvSpPr>
          <p:cNvPr id="17" name="Shape 12"/>
          <p:cNvSpPr/>
          <p:nvPr/>
        </p:nvSpPr>
        <p:spPr>
          <a:xfrm>
            <a:off x="8348472" y="2368296"/>
            <a:ext cx="566928" cy="566928"/>
          </a:xfrm>
          <a:prstGeom prst="ellipse">
            <a:avLst/>
          </a:prstGeom>
          <a:solidFill>
            <a:schemeClr val="bg1"/>
          </a:solidFill>
          <a:ln w="12700">
            <a:solidFill>
              <a:schemeClr val="bg1"/>
            </a:solidFill>
            <a:prstDash val="solid"/>
          </a:ln>
        </p:spPr>
      </p:sp>
      <p:pic>
        <p:nvPicPr>
          <p:cNvPr id="18" name="Image 3" descr="Jorge Andrés Gómez Velásquez">    </p:cNvPr>
          <p:cNvPicPr>
            <a:picLocks noChangeAspect="1"/>
          </p:cNvPicPr>
          <p:nvPr/>
        </p:nvPicPr>
        <p:blipFill>
          <a:blip r:embed="rId4"/>
          <a:stretch>
            <a:fillRect/>
          </a:stretch>
        </p:blipFill>
        <p:spPr>
          <a:xfrm>
            <a:off x="8375904" y="2395728"/>
            <a:ext cx="512064" cy="512064"/>
          </a:xfrm>
          <a:prstGeom prst="ellipse">
            <a:avLst/>
          </a:prstGeom>
        </p:spPr>
      </p:pic>
      <p:sp>
        <p:nvSpPr>
          <p:cNvPr id="19" name="Text 13"/>
          <p:cNvSpPr txBox="1"/>
          <p:nvPr/>
        </p:nvSpPr>
        <p:spPr>
          <a:xfrm>
            <a:off x="9052560" y="2313432"/>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Jorge Andrés Gómez Velásquez</a:t>
            </a:r>
            <a:endParaRPr lang="en-US" sz="1400" dirty="0"/>
          </a:p>
          <a:p>
            <a:pPr indent="0" marL="0">
              <a:buNone/>
            </a:pPr>
            <a:r>
              <a:rPr lang="en-US" sz="950" dirty="0">
                <a:solidFill>
                  <a:schemeClr val="bg2"/>
                </a:solidFill>
              </a:rPr>
              <a:t>Líder del Éxito del Cliente · Punto de contacto con SURA: lo acordado, con calidad y a tiempo.</a:t>
            </a:r>
            <a:endParaRPr lang="en-US" sz="1400" dirty="0"/>
          </a:p>
        </p:txBody>
      </p:sp>
      <p:sp>
        <p:nvSpPr>
          <p:cNvPr id="20" name="Shape 14"/>
          <p:cNvSpPr/>
          <p:nvPr/>
        </p:nvSpPr>
        <p:spPr>
          <a:xfrm>
            <a:off x="8183880" y="3136392"/>
            <a:ext cx="3611880" cy="914400"/>
          </a:xfrm>
          <a:prstGeom prst="roundRect">
            <a:avLst>
              <a:gd name="adj" fmla="val 12000"/>
            </a:avLst>
          </a:prstGeom>
          <a:solidFill>
            <a:srgbClr val="3A1878"/>
          </a:solidFill>
          <a:ln w="9525">
            <a:solidFill>
              <a:srgbClr val="5B3D96"/>
            </a:solidFill>
            <a:prstDash val="solid"/>
          </a:ln>
        </p:spPr>
      </p:sp>
      <p:sp>
        <p:nvSpPr>
          <p:cNvPr id="21" name="Shape 15"/>
          <p:cNvSpPr/>
          <p:nvPr/>
        </p:nvSpPr>
        <p:spPr>
          <a:xfrm>
            <a:off x="8348472" y="3310128"/>
            <a:ext cx="566928" cy="566928"/>
          </a:xfrm>
          <a:prstGeom prst="ellipse">
            <a:avLst/>
          </a:prstGeom>
          <a:solidFill>
            <a:schemeClr val="bg1"/>
          </a:solidFill>
          <a:ln w="12700">
            <a:solidFill>
              <a:schemeClr val="bg1"/>
            </a:solidFill>
            <a:prstDash val="solid"/>
          </a:ln>
        </p:spPr>
      </p:sp>
      <p:pic>
        <p:nvPicPr>
          <p:cNvPr id="22" name="Image 4" descr="Didier Fabián Franco Gómez">    </p:cNvPr>
          <p:cNvPicPr>
            <a:picLocks noChangeAspect="1"/>
          </p:cNvPicPr>
          <p:nvPr/>
        </p:nvPicPr>
        <p:blipFill>
          <a:blip r:embed="rId5"/>
          <a:stretch>
            <a:fillRect/>
          </a:stretch>
        </p:blipFill>
        <p:spPr>
          <a:xfrm>
            <a:off x="8375904" y="3337560"/>
            <a:ext cx="512064" cy="512064"/>
          </a:xfrm>
          <a:prstGeom prst="ellipse">
            <a:avLst/>
          </a:prstGeom>
        </p:spPr>
      </p:pic>
      <p:sp>
        <p:nvSpPr>
          <p:cNvPr id="23" name="Text 16"/>
          <p:cNvSpPr txBox="1"/>
          <p:nvPr/>
        </p:nvSpPr>
        <p:spPr>
          <a:xfrm>
            <a:off x="9052560" y="3191256"/>
            <a:ext cx="2633472" cy="804672"/>
          </a:xfrm>
          <a:prstGeom prst="rect">
            <a:avLst/>
          </a:prstGeom>
          <a:noFill/>
          <a:ln/>
        </p:spPr>
        <p:txBody>
          <a:bodyPr wrap="square" lIns="0" tIns="0" rIns="0" bIns="0" rtlCol="0" anchor="ctr"/>
          <a:lstStyle/>
          <a:p>
            <a:pPr indent="0" marL="0">
              <a:buNone/>
            </a:pPr>
            <a:r>
              <a:rPr lang="en-US" sz="1150" b="1" dirty="0">
                <a:solidFill>
                  <a:schemeClr val="bg1"/>
                </a:solidFill>
              </a:rPr>
              <a:t>Didier Fabián Franco Gómez</a:t>
            </a:r>
            <a:endParaRPr lang="en-US" sz="1400" dirty="0"/>
          </a:p>
          <a:p>
            <a:pPr indent="0" marL="0">
              <a:buNone/>
            </a:pPr>
            <a:r>
              <a:rPr lang="en-US" sz="950" dirty="0">
                <a:solidFill>
                  <a:schemeClr val="bg2"/>
                </a:solidFill>
              </a:rPr>
              <a:t>Arquitecto Líder. Marca el rumbo técnico con el equipo, lo alinea con la arquitectura de SURA y asegura que cada capacidad lo cumpla.</a:t>
            </a:r>
            <a:endParaRPr lang="en-US" sz="1400" dirty="0"/>
          </a:p>
        </p:txBody>
      </p:sp>
      <p:sp>
        <p:nvSpPr>
          <p:cNvPr id="24" name="Shape 17"/>
          <p:cNvSpPr/>
          <p:nvPr/>
        </p:nvSpPr>
        <p:spPr>
          <a:xfrm>
            <a:off x="8183880" y="4142232"/>
            <a:ext cx="3611880" cy="694944"/>
          </a:xfrm>
          <a:prstGeom prst="roundRect">
            <a:avLst>
              <a:gd name="adj" fmla="val 15789"/>
            </a:avLst>
          </a:prstGeom>
          <a:solidFill>
            <a:srgbClr val="3A1878"/>
          </a:solidFill>
          <a:ln w="9525">
            <a:solidFill>
              <a:srgbClr val="5B3D96"/>
            </a:solidFill>
            <a:prstDash val="solid"/>
          </a:ln>
        </p:spPr>
      </p:sp>
      <p:sp>
        <p:nvSpPr>
          <p:cNvPr id="25" name="Shape 18"/>
          <p:cNvSpPr/>
          <p:nvPr/>
        </p:nvSpPr>
        <p:spPr>
          <a:xfrm>
            <a:off x="8348472" y="4206240"/>
            <a:ext cx="566928" cy="566928"/>
          </a:xfrm>
          <a:prstGeom prst="ellipse">
            <a:avLst/>
          </a:prstGeom>
          <a:solidFill>
            <a:schemeClr val="bg1"/>
          </a:solidFill>
          <a:ln w="12700">
            <a:solidFill>
              <a:schemeClr val="bg1"/>
            </a:solidFill>
            <a:prstDash val="solid"/>
          </a:ln>
        </p:spPr>
      </p:sp>
      <p:pic>
        <p:nvPicPr>
          <p:cNvPr id="26" name="Image 5" descr="Juan Gabriel Colorado">    </p:cNvPr>
          <p:cNvPicPr>
            <a:picLocks noChangeAspect="1"/>
          </p:cNvPicPr>
          <p:nvPr/>
        </p:nvPicPr>
        <p:blipFill>
          <a:blip r:embed="rId6"/>
          <a:stretch>
            <a:fillRect/>
          </a:stretch>
        </p:blipFill>
        <p:spPr>
          <a:xfrm>
            <a:off x="8375904" y="4233672"/>
            <a:ext cx="512064" cy="512064"/>
          </a:xfrm>
          <a:prstGeom prst="ellipse">
            <a:avLst/>
          </a:prstGeom>
        </p:spPr>
      </p:pic>
      <p:sp>
        <p:nvSpPr>
          <p:cNvPr id="27" name="Text 19"/>
          <p:cNvSpPr txBox="1"/>
          <p:nvPr/>
        </p:nvSpPr>
        <p:spPr>
          <a:xfrm>
            <a:off x="9052560" y="4197096"/>
            <a:ext cx="2633472" cy="585216"/>
          </a:xfrm>
          <a:prstGeom prst="rect">
            <a:avLst/>
          </a:prstGeom>
          <a:noFill/>
          <a:ln/>
        </p:spPr>
        <p:txBody>
          <a:bodyPr wrap="square" lIns="0" tIns="0" rIns="0" bIns="0" rtlCol="0" anchor="ctr"/>
          <a:lstStyle/>
          <a:p>
            <a:pPr indent="0" marL="0">
              <a:buNone/>
            </a:pPr>
            <a:r>
              <a:rPr lang="en-US" sz="1150" b="1" dirty="0">
                <a:solidFill>
                  <a:schemeClr val="bg1"/>
                </a:solidFill>
              </a:rPr>
              <a:t>Juan Gabriel Colorado</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
        <p:nvSpPr>
          <p:cNvPr id="28" name="Shape 20"/>
          <p:cNvSpPr/>
          <p:nvPr/>
        </p:nvSpPr>
        <p:spPr>
          <a:xfrm>
            <a:off x="8183880" y="4928616"/>
            <a:ext cx="3611880" cy="694944"/>
          </a:xfrm>
          <a:prstGeom prst="roundRect">
            <a:avLst>
              <a:gd name="adj" fmla="val 15789"/>
            </a:avLst>
          </a:prstGeom>
          <a:solidFill>
            <a:srgbClr val="3A1878"/>
          </a:solidFill>
          <a:ln w="9525">
            <a:solidFill>
              <a:srgbClr val="5B3D96"/>
            </a:solidFill>
            <a:prstDash val="solid"/>
          </a:ln>
        </p:spPr>
      </p:sp>
      <p:sp>
        <p:nvSpPr>
          <p:cNvPr id="29" name="Shape 21"/>
          <p:cNvSpPr/>
          <p:nvPr/>
        </p:nvSpPr>
        <p:spPr>
          <a:xfrm>
            <a:off x="8348472" y="4992624"/>
            <a:ext cx="566928" cy="566928"/>
          </a:xfrm>
          <a:prstGeom prst="ellipse">
            <a:avLst/>
          </a:prstGeom>
          <a:solidFill>
            <a:schemeClr val="bg1"/>
          </a:solidFill>
          <a:ln w="12700">
            <a:solidFill>
              <a:schemeClr val="bg1"/>
            </a:solidFill>
            <a:prstDash val="solid"/>
          </a:ln>
        </p:spPr>
      </p:sp>
      <p:pic>
        <p:nvPicPr>
          <p:cNvPr id="30" name="Image 6" descr="Gian Valdiris">    </p:cNvPr>
          <p:cNvPicPr>
            <a:picLocks noChangeAspect="1"/>
          </p:cNvPicPr>
          <p:nvPr/>
        </p:nvPicPr>
        <p:blipFill>
          <a:blip r:embed="rId7"/>
          <a:stretch>
            <a:fillRect/>
          </a:stretch>
        </p:blipFill>
        <p:spPr>
          <a:xfrm>
            <a:off x="8375904" y="5020056"/>
            <a:ext cx="512064" cy="512064"/>
          </a:xfrm>
          <a:prstGeom prst="ellipse">
            <a:avLst/>
          </a:prstGeom>
        </p:spPr>
      </p:pic>
      <p:sp>
        <p:nvSpPr>
          <p:cNvPr id="31" name="Text 22"/>
          <p:cNvSpPr txBox="1"/>
          <p:nvPr/>
        </p:nvSpPr>
        <p:spPr>
          <a:xfrm>
            <a:off x="9052560" y="4983480"/>
            <a:ext cx="2633472" cy="585216"/>
          </a:xfrm>
          <a:prstGeom prst="rect">
            <a:avLst/>
          </a:prstGeom>
          <a:noFill/>
          <a:ln/>
        </p:spPr>
        <p:txBody>
          <a:bodyPr wrap="square" lIns="0" tIns="0" rIns="0" bIns="0" rtlCol="0" anchor="ctr"/>
          <a:lstStyle/>
          <a:p>
            <a:pPr indent="0" marL="0">
              <a:buNone/>
            </a:pPr>
            <a:r>
              <a:rPr lang="en-US" sz="1150" b="1" dirty="0">
                <a:solidFill>
                  <a:schemeClr val="bg1"/>
                </a:solidFill>
              </a:rPr>
              <a:t>Gian Valdiris</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
        <p:nvSpPr>
          <p:cNvPr id="32" name="Shape 23"/>
          <p:cNvSpPr/>
          <p:nvPr/>
        </p:nvSpPr>
        <p:spPr>
          <a:xfrm>
            <a:off x="8183880" y="5715000"/>
            <a:ext cx="3611880" cy="694944"/>
          </a:xfrm>
          <a:prstGeom prst="roundRect">
            <a:avLst>
              <a:gd name="adj" fmla="val 15789"/>
            </a:avLst>
          </a:prstGeom>
          <a:solidFill>
            <a:srgbClr val="3A1878"/>
          </a:solidFill>
          <a:ln w="9525">
            <a:solidFill>
              <a:srgbClr val="5B3D96"/>
            </a:solidFill>
            <a:prstDash val="solid"/>
          </a:ln>
        </p:spPr>
      </p:sp>
      <p:sp>
        <p:nvSpPr>
          <p:cNvPr id="33" name="Shape 24"/>
          <p:cNvSpPr/>
          <p:nvPr/>
        </p:nvSpPr>
        <p:spPr>
          <a:xfrm>
            <a:off x="8348472" y="5779008"/>
            <a:ext cx="566928" cy="566928"/>
          </a:xfrm>
          <a:prstGeom prst="ellipse">
            <a:avLst/>
          </a:prstGeom>
          <a:solidFill>
            <a:schemeClr val="bg1"/>
          </a:solidFill>
          <a:ln w="12700">
            <a:solidFill>
              <a:schemeClr val="bg1"/>
            </a:solidFill>
            <a:prstDash val="solid"/>
          </a:ln>
        </p:spPr>
      </p:sp>
      <p:sp>
        <p:nvSpPr>
          <p:cNvPr id="34" name="Text 25"/>
          <p:cNvSpPr txBox="1"/>
          <p:nvPr/>
        </p:nvSpPr>
        <p:spPr>
          <a:xfrm>
            <a:off x="8348472" y="5779008"/>
            <a:ext cx="566928" cy="566928"/>
          </a:xfrm>
          <a:prstGeom prst="rect">
            <a:avLst/>
          </a:prstGeom>
          <a:noFill/>
          <a:ln/>
        </p:spPr>
        <p:txBody>
          <a:bodyPr wrap="square" lIns="0" tIns="0" rIns="0" bIns="0" rtlCol="0" anchor="ctr"/>
          <a:lstStyle/>
          <a:p>
            <a:pPr algn="ctr" indent="0" marL="0">
              <a:buNone/>
            </a:pPr>
            <a:r>
              <a:rPr lang="en-US" sz="1600" b="1" dirty="0">
                <a:solidFill>
                  <a:schemeClr val="tx2"/>
                </a:solidFill>
              </a:rPr>
              <a:t>S</a:t>
            </a:r>
            <a:endParaRPr lang="en-US" sz="1600" dirty="0"/>
          </a:p>
        </p:txBody>
      </p:sp>
      <p:sp>
        <p:nvSpPr>
          <p:cNvPr id="35" name="Text 26"/>
          <p:cNvSpPr txBox="1"/>
          <p:nvPr/>
        </p:nvSpPr>
        <p:spPr>
          <a:xfrm>
            <a:off x="9052560" y="5769864"/>
            <a:ext cx="2633472" cy="585216"/>
          </a:xfrm>
          <a:prstGeom prst="rect">
            <a:avLst/>
          </a:prstGeom>
          <a:noFill/>
          <a:ln/>
        </p:spPr>
        <p:txBody>
          <a:bodyPr wrap="square" lIns="0" tIns="0" rIns="0" bIns="0" rtlCol="0" anchor="ctr"/>
          <a:lstStyle/>
          <a:p>
            <a:pPr indent="0" marL="0">
              <a:buNone/>
            </a:pPr>
            <a:r>
              <a:rPr lang="en-US" sz="1150" b="1" dirty="0">
                <a:solidFill>
                  <a:schemeClr val="bg1"/>
                </a:solidFill>
              </a:rPr>
              <a:t>Soporte</a:t>
            </a:r>
            <a:endParaRPr lang="en-US" sz="1400" dirty="0"/>
          </a:p>
          <a:p>
            <a:pPr indent="0" marL="0">
              <a:buNone/>
            </a:pPr>
            <a:r>
              <a:rPr lang="en-US" sz="950" dirty="0">
                <a:solidFill>
                  <a:schemeClr val="bg2"/>
                </a:solidFill>
              </a:rPr>
              <a:t>Media jornada · Opera el pipeline y el monitoreo, y atiende lo que ya opera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Equipo de trabajo propuesto: modelo Tech and Solve y SURA</a:t>
            </a:r>
            <a:endParaRPr lang="en-US" sz="2800" dirty="0"/>
          </a:p>
        </p:txBody>
      </p:sp>
      <p:sp>
        <p:nvSpPr>
          <p:cNvPr id="4" name="Shape 1"/>
          <p:cNvSpPr/>
          <p:nvPr/>
        </p:nvSpPr>
        <p:spPr>
          <a:xfrm>
            <a:off x="548640" y="1463040"/>
            <a:ext cx="7223760" cy="1298448"/>
          </a:xfrm>
          <a:prstGeom prst="roundRect">
            <a:avLst>
              <a:gd name="adj" fmla="val 5634"/>
            </a:avLst>
          </a:prstGeom>
          <a:solidFill>
            <a:schemeClr val="bg2"/>
          </a:solidFill>
          <a:ln w="12700">
            <a:solidFill>
              <a:schemeClr val="bg2"/>
            </a:solidFill>
            <a:prstDash val="solid"/>
          </a:ln>
        </p:spPr>
      </p:sp>
      <p:sp>
        <p:nvSpPr>
          <p:cNvPr id="5" name="Text 2"/>
          <p:cNvSpPr txBox="1"/>
          <p:nvPr/>
        </p:nvSpPr>
        <p:spPr>
          <a:xfrm>
            <a:off x="777240" y="1536192"/>
            <a:ext cx="6766560" cy="228600"/>
          </a:xfrm>
          <a:prstGeom prst="rect">
            <a:avLst/>
          </a:prstGeom>
          <a:noFill/>
          <a:ln/>
        </p:spPr>
        <p:txBody>
          <a:bodyPr wrap="square" lIns="0" tIns="0" rIns="0" bIns="0" rtlCol="0" anchor="t"/>
          <a:lstStyle/>
          <a:p>
            <a:pPr indent="0" marL="0">
              <a:buNone/>
            </a:pPr>
            <a:r>
              <a:rPr lang="en-US" sz="950" b="1" spc="100" kern="0" dirty="0">
                <a:solidFill>
                  <a:schemeClr val="tx2"/>
                </a:solidFill>
              </a:rPr>
              <a:t>LIDERAZGO QUE ACOMPAÑA</a:t>
            </a:r>
            <a:endParaRPr lang="en-US" sz="950" dirty="0"/>
          </a:p>
        </p:txBody>
      </p:sp>
      <p:sp>
        <p:nvSpPr>
          <p:cNvPr id="6" name="Shape 3"/>
          <p:cNvSpPr/>
          <p:nvPr/>
        </p:nvSpPr>
        <p:spPr>
          <a:xfrm>
            <a:off x="777240" y="1810512"/>
            <a:ext cx="438912" cy="438912"/>
          </a:xfrm>
          <a:prstGeom prst="ellipse">
            <a:avLst/>
          </a:prstGeom>
          <a:solidFill>
            <a:schemeClr val="bg1"/>
          </a:solidFill>
          <a:ln w="12700">
            <a:solidFill>
              <a:srgbClr val="DCD8EC"/>
            </a:solidFill>
            <a:prstDash val="solid"/>
          </a:ln>
        </p:spPr>
      </p:sp>
      <p:pic>
        <p:nvPicPr>
          <p:cNvPr id="7" name="Image 0" descr="preencoded.png">    </p:cNvPr>
          <p:cNvPicPr>
            <a:picLocks noChangeAspect="1"/>
          </p:cNvPicPr>
          <p:nvPr/>
        </p:nvPicPr>
        <p:blipFill>
          <a:blip r:embed="rId1"/>
          <a:stretch>
            <a:fillRect/>
          </a:stretch>
        </p:blipFill>
        <p:spPr>
          <a:xfrm>
            <a:off x="804672" y="1837944"/>
            <a:ext cx="384048" cy="384048"/>
          </a:xfrm>
          <a:prstGeom prst="ellipse">
            <a:avLst/>
          </a:prstGeom>
        </p:spPr>
      </p:pic>
      <p:sp>
        <p:nvSpPr>
          <p:cNvPr id="8" name="Text 4"/>
          <p:cNvSpPr txBox="1"/>
          <p:nvPr/>
        </p:nvSpPr>
        <p:spPr>
          <a:xfrm>
            <a:off x="1307592" y="1783080"/>
            <a:ext cx="1633728" cy="493776"/>
          </a:xfrm>
          <a:prstGeom prst="rect">
            <a:avLst/>
          </a:prstGeom>
          <a:noFill/>
          <a:ln/>
        </p:spPr>
        <p:txBody>
          <a:bodyPr wrap="square" lIns="0" tIns="0" rIns="0" bIns="0" rtlCol="0" anchor="ctr"/>
          <a:lstStyle/>
          <a:p>
            <a:pPr indent="0" marL="0">
              <a:buNone/>
            </a:pPr>
            <a:r>
              <a:rPr lang="en-US" sz="1000" b="1" dirty="0">
                <a:solidFill>
                  <a:schemeClr val="tx2"/>
                </a:solidFill>
              </a:rPr>
              <a:t>Raúl A. De Villa C.</a:t>
            </a:r>
            <a:endParaRPr lang="en-US" sz="1400" dirty="0"/>
          </a:p>
          <a:p>
            <a:pPr indent="0" marL="0">
              <a:buNone/>
            </a:pPr>
            <a:r>
              <a:rPr lang="en-US" sz="850" b="1" dirty="0">
                <a:solidFill>
                  <a:schemeClr val="accent2"/>
                </a:solidFill>
              </a:rPr>
              <a:t>Co-Founder</a:t>
            </a:r>
            <a:endParaRPr lang="en-US" sz="1400" dirty="0"/>
          </a:p>
        </p:txBody>
      </p:sp>
      <p:sp>
        <p:nvSpPr>
          <p:cNvPr id="9" name="Text 5"/>
          <p:cNvSpPr txBox="1"/>
          <p:nvPr/>
        </p:nvSpPr>
        <p:spPr>
          <a:xfrm>
            <a:off x="777240" y="2304288"/>
            <a:ext cx="2164080" cy="411480"/>
          </a:xfrm>
          <a:prstGeom prst="rect">
            <a:avLst/>
          </a:prstGeom>
          <a:noFill/>
          <a:ln/>
        </p:spPr>
        <p:txBody>
          <a:bodyPr wrap="square" lIns="0" tIns="0" rIns="0" bIns="0" rtlCol="0" anchor="t"/>
          <a:lstStyle/>
          <a:p>
            <a:pPr indent="0" marL="0">
              <a:buNone/>
            </a:pPr>
            <a:r>
              <a:rPr lang="en-US" sz="950" dirty="0">
                <a:solidFill>
                  <a:schemeClr val="tx1"/>
                </a:solidFill>
              </a:rPr>
              <a:t>Acompaña los hitos clave con una mirada crítica de negocio y de solución.</a:t>
            </a:r>
            <a:endParaRPr lang="en-US" sz="950" dirty="0"/>
          </a:p>
        </p:txBody>
      </p:sp>
      <p:sp>
        <p:nvSpPr>
          <p:cNvPr id="10" name="Shape 6"/>
          <p:cNvSpPr/>
          <p:nvPr/>
        </p:nvSpPr>
        <p:spPr>
          <a:xfrm>
            <a:off x="3078480" y="1810512"/>
            <a:ext cx="438912" cy="438912"/>
          </a:xfrm>
          <a:prstGeom prst="ellipse">
            <a:avLst/>
          </a:prstGeom>
          <a:solidFill>
            <a:schemeClr val="bg1"/>
          </a:solidFill>
          <a:ln w="12700">
            <a:solidFill>
              <a:srgbClr val="DCD8EC"/>
            </a:solidFill>
            <a:prstDash val="solid"/>
          </a:ln>
        </p:spPr>
      </p:sp>
      <p:pic>
        <p:nvPicPr>
          <p:cNvPr id="11" name="Image 1" descr="preencoded.png">    </p:cNvPr>
          <p:cNvPicPr>
            <a:picLocks noChangeAspect="1"/>
          </p:cNvPicPr>
          <p:nvPr/>
        </p:nvPicPr>
        <p:blipFill>
          <a:blip r:embed="rId2"/>
          <a:stretch>
            <a:fillRect/>
          </a:stretch>
        </p:blipFill>
        <p:spPr>
          <a:xfrm>
            <a:off x="3105912" y="1837944"/>
            <a:ext cx="384048" cy="384048"/>
          </a:xfrm>
          <a:prstGeom prst="ellipse">
            <a:avLst/>
          </a:prstGeom>
        </p:spPr>
      </p:pic>
      <p:sp>
        <p:nvSpPr>
          <p:cNvPr id="12" name="Text 7"/>
          <p:cNvSpPr txBox="1"/>
          <p:nvPr/>
        </p:nvSpPr>
        <p:spPr>
          <a:xfrm>
            <a:off x="3608832" y="1783080"/>
            <a:ext cx="1633728" cy="493776"/>
          </a:xfrm>
          <a:prstGeom prst="rect">
            <a:avLst/>
          </a:prstGeom>
          <a:noFill/>
          <a:ln/>
        </p:spPr>
        <p:txBody>
          <a:bodyPr wrap="square" lIns="0" tIns="0" rIns="0" bIns="0" rtlCol="0" anchor="ctr"/>
          <a:lstStyle/>
          <a:p>
            <a:pPr indent="0" marL="0">
              <a:buNone/>
            </a:pPr>
            <a:r>
              <a:rPr lang="en-US" sz="1000" b="1" dirty="0">
                <a:solidFill>
                  <a:schemeClr val="tx2"/>
                </a:solidFill>
              </a:rPr>
              <a:t>Alexandra Acosta</a:t>
            </a:r>
            <a:endParaRPr lang="en-US" sz="1400" dirty="0"/>
          </a:p>
          <a:p>
            <a:pPr indent="0" marL="0">
              <a:buNone/>
            </a:pPr>
            <a:r>
              <a:rPr lang="en-US" sz="850" b="1" dirty="0">
                <a:solidFill>
                  <a:schemeClr val="accent2"/>
                </a:solidFill>
              </a:rPr>
              <a:t>Gerente de Éxito del Cliente</a:t>
            </a:r>
            <a:endParaRPr lang="en-US" sz="1400" dirty="0"/>
          </a:p>
        </p:txBody>
      </p:sp>
      <p:sp>
        <p:nvSpPr>
          <p:cNvPr id="13" name="Text 8"/>
          <p:cNvSpPr txBox="1"/>
          <p:nvPr/>
        </p:nvSpPr>
        <p:spPr>
          <a:xfrm>
            <a:off x="3078480" y="2304288"/>
            <a:ext cx="2164080" cy="411480"/>
          </a:xfrm>
          <a:prstGeom prst="rect">
            <a:avLst/>
          </a:prstGeom>
          <a:noFill/>
          <a:ln/>
        </p:spPr>
        <p:txBody>
          <a:bodyPr wrap="square" lIns="0" tIns="0" rIns="0" bIns="0" rtlCol="0" anchor="t"/>
          <a:lstStyle/>
          <a:p>
            <a:pPr indent="0" marL="0">
              <a:buNone/>
            </a:pPr>
            <a:r>
              <a:rPr lang="en-US" sz="950" dirty="0">
                <a:solidFill>
                  <a:schemeClr val="tx1"/>
                </a:solidFill>
              </a:rPr>
              <a:t>Pone al servicio de SURA la experiencia y los estándares de toda la compañía.</a:t>
            </a:r>
            <a:endParaRPr lang="en-US" sz="950" dirty="0"/>
          </a:p>
        </p:txBody>
      </p:sp>
      <p:sp>
        <p:nvSpPr>
          <p:cNvPr id="14" name="Shape 9"/>
          <p:cNvSpPr/>
          <p:nvPr/>
        </p:nvSpPr>
        <p:spPr>
          <a:xfrm>
            <a:off x="5379720" y="1810512"/>
            <a:ext cx="438912" cy="438912"/>
          </a:xfrm>
          <a:prstGeom prst="ellipse">
            <a:avLst/>
          </a:prstGeom>
          <a:solidFill>
            <a:schemeClr val="bg1"/>
          </a:solidFill>
          <a:ln w="12700">
            <a:solidFill>
              <a:srgbClr val="DCD8EC"/>
            </a:solidFill>
            <a:prstDash val="solid"/>
          </a:ln>
        </p:spPr>
      </p:sp>
      <p:pic>
        <p:nvPicPr>
          <p:cNvPr id="15" name="Image 2" descr="preencoded.png">    </p:cNvPr>
          <p:cNvPicPr>
            <a:picLocks noChangeAspect="1"/>
          </p:cNvPicPr>
          <p:nvPr/>
        </p:nvPicPr>
        <p:blipFill>
          <a:blip r:embed="rId3"/>
          <a:stretch>
            <a:fillRect/>
          </a:stretch>
        </p:blipFill>
        <p:spPr>
          <a:xfrm>
            <a:off x="5407152" y="1837944"/>
            <a:ext cx="384048" cy="384048"/>
          </a:xfrm>
          <a:prstGeom prst="ellipse">
            <a:avLst/>
          </a:prstGeom>
        </p:spPr>
      </p:pic>
      <p:sp>
        <p:nvSpPr>
          <p:cNvPr id="16" name="Text 10"/>
          <p:cNvSpPr txBox="1"/>
          <p:nvPr/>
        </p:nvSpPr>
        <p:spPr>
          <a:xfrm>
            <a:off x="5910072" y="1783080"/>
            <a:ext cx="1633728" cy="493776"/>
          </a:xfrm>
          <a:prstGeom prst="rect">
            <a:avLst/>
          </a:prstGeom>
          <a:noFill/>
          <a:ln/>
        </p:spPr>
        <p:txBody>
          <a:bodyPr wrap="square" lIns="0" tIns="0" rIns="0" bIns="0" rtlCol="0" anchor="ctr"/>
          <a:lstStyle/>
          <a:p>
            <a:pPr indent="0" marL="0">
              <a:buNone/>
            </a:pPr>
            <a:r>
              <a:rPr lang="en-US" sz="1000" b="1" dirty="0">
                <a:solidFill>
                  <a:schemeClr val="tx2"/>
                </a:solidFill>
              </a:rPr>
              <a:t>Jorge Andrés Gómez Velásquez</a:t>
            </a:r>
            <a:endParaRPr lang="en-US" sz="1400" dirty="0"/>
          </a:p>
          <a:p>
            <a:pPr indent="0" marL="0">
              <a:buNone/>
            </a:pPr>
            <a:r>
              <a:rPr lang="en-US" sz="850" b="1" dirty="0">
                <a:solidFill>
                  <a:schemeClr val="accent2"/>
                </a:solidFill>
              </a:rPr>
              <a:t>Líder del Éxito del Cliente</a:t>
            </a:r>
            <a:endParaRPr lang="en-US" sz="1400" dirty="0"/>
          </a:p>
        </p:txBody>
      </p:sp>
      <p:sp>
        <p:nvSpPr>
          <p:cNvPr id="17" name="Text 11"/>
          <p:cNvSpPr txBox="1"/>
          <p:nvPr/>
        </p:nvSpPr>
        <p:spPr>
          <a:xfrm>
            <a:off x="5379720" y="2304288"/>
            <a:ext cx="2164080" cy="411480"/>
          </a:xfrm>
          <a:prstGeom prst="rect">
            <a:avLst/>
          </a:prstGeom>
          <a:noFill/>
          <a:ln/>
        </p:spPr>
        <p:txBody>
          <a:bodyPr wrap="square" lIns="0" tIns="0" rIns="0" bIns="0" rtlCol="0" anchor="t"/>
          <a:lstStyle/>
          <a:p>
            <a:pPr indent="0" marL="0">
              <a:buNone/>
            </a:pPr>
            <a:r>
              <a:rPr lang="en-US" sz="950" dirty="0">
                <a:solidFill>
                  <a:schemeClr val="tx1"/>
                </a:solidFill>
              </a:rPr>
              <a:t>Punto de contacto con SURA: lo acordado, con calidad y a tiempo.</a:t>
            </a:r>
            <a:endParaRPr lang="en-US" sz="950" dirty="0"/>
          </a:p>
        </p:txBody>
      </p:sp>
      <p:sp>
        <p:nvSpPr>
          <p:cNvPr id="18" name="Shape 12"/>
          <p:cNvSpPr/>
          <p:nvPr/>
        </p:nvSpPr>
        <p:spPr>
          <a:xfrm>
            <a:off x="548640" y="2834640"/>
            <a:ext cx="7223760" cy="822960"/>
          </a:xfrm>
          <a:prstGeom prst="roundRect">
            <a:avLst>
              <a:gd name="adj" fmla="val 8889"/>
            </a:avLst>
          </a:prstGeom>
          <a:solidFill>
            <a:schemeClr val="accent4"/>
          </a:solidFill>
          <a:ln w="12700">
            <a:solidFill>
              <a:srgbClr val="DCD8EC"/>
            </a:solidFill>
            <a:prstDash val="solid"/>
          </a:ln>
        </p:spPr>
      </p:sp>
      <p:sp>
        <p:nvSpPr>
          <p:cNvPr id="19" name="Shape 13"/>
          <p:cNvSpPr/>
          <p:nvPr/>
        </p:nvSpPr>
        <p:spPr>
          <a:xfrm>
            <a:off x="731520" y="2907792"/>
            <a:ext cx="658368" cy="658368"/>
          </a:xfrm>
          <a:prstGeom prst="ellipse">
            <a:avLst/>
          </a:prstGeom>
          <a:solidFill>
            <a:schemeClr val="bg1"/>
          </a:solidFill>
          <a:ln w="12700">
            <a:solidFill>
              <a:srgbClr val="DCD8EC"/>
            </a:solidFill>
            <a:prstDash val="solid"/>
          </a:ln>
        </p:spPr>
      </p:sp>
      <p:pic>
        <p:nvPicPr>
          <p:cNvPr id="20" name="Image 3" descr="preencoded.png">    </p:cNvPr>
          <p:cNvPicPr>
            <a:picLocks noChangeAspect="1"/>
          </p:cNvPicPr>
          <p:nvPr/>
        </p:nvPicPr>
        <p:blipFill>
          <a:blip r:embed="rId4"/>
          <a:stretch>
            <a:fillRect/>
          </a:stretch>
        </p:blipFill>
        <p:spPr>
          <a:xfrm>
            <a:off x="758952" y="2935224"/>
            <a:ext cx="603504" cy="603504"/>
          </a:xfrm>
          <a:prstGeom prst="ellipse">
            <a:avLst/>
          </a:prstGeom>
        </p:spPr>
      </p:pic>
      <p:sp>
        <p:nvSpPr>
          <p:cNvPr id="21" name="Text 14"/>
          <p:cNvSpPr txBox="1"/>
          <p:nvPr/>
        </p:nvSpPr>
        <p:spPr>
          <a:xfrm>
            <a:off x="1536192" y="2880360"/>
            <a:ext cx="6080760" cy="274320"/>
          </a:xfrm>
          <a:prstGeom prst="rect">
            <a:avLst/>
          </a:prstGeom>
          <a:noFill/>
          <a:ln/>
        </p:spPr>
        <p:txBody>
          <a:bodyPr wrap="square" lIns="0" tIns="0" rIns="0" bIns="0" rtlCol="0" anchor="t"/>
          <a:lstStyle/>
          <a:p>
            <a:pPr indent="0" marL="0">
              <a:buNone/>
            </a:pPr>
            <a:r>
              <a:rPr lang="en-US" sz="1300" b="1" dirty="0">
                <a:solidFill>
                  <a:schemeClr val="tx2"/>
                </a:solidFill>
              </a:rPr>
              <a:t>Didier Fabián Franco Gómez</a:t>
            </a:r>
            <a:pPr indent="0" marL="0">
              <a:buNone/>
            </a:pPr>
            <a:r>
              <a:rPr lang="en-US" sz="1100" b="1" dirty="0">
                <a:solidFill>
                  <a:schemeClr val="accent2"/>
                </a:solidFill>
              </a:rPr>
              <a:t>  · Arquitecto Líder</a:t>
            </a:r>
            <a:endParaRPr lang="en-US" sz="1400" dirty="0"/>
          </a:p>
        </p:txBody>
      </p:sp>
      <p:sp>
        <p:nvSpPr>
          <p:cNvPr id="22" name="Text 15"/>
          <p:cNvSpPr txBox="1"/>
          <p:nvPr/>
        </p:nvSpPr>
        <p:spPr>
          <a:xfrm>
            <a:off x="1536192" y="3154680"/>
            <a:ext cx="6080760" cy="457200"/>
          </a:xfrm>
          <a:prstGeom prst="rect">
            <a:avLst/>
          </a:prstGeom>
          <a:noFill/>
          <a:ln/>
        </p:spPr>
        <p:txBody>
          <a:bodyPr wrap="square" lIns="0" tIns="0" rIns="0" bIns="0" rtlCol="0" anchor="t"/>
          <a:lstStyle/>
          <a:p>
            <a:pPr indent="0" marL="0">
              <a:buNone/>
            </a:pPr>
            <a:r>
              <a:rPr lang="en-US" sz="1050" dirty="0">
                <a:solidFill>
                  <a:schemeClr val="tx1"/>
                </a:solidFill>
              </a:rPr>
              <a:t>Marca el rumbo técnico: define con el equipo prácticas, arquetipos y componentes, los alinea con la arquitectura de SURA, cuida el harness que guía a la IA y asegura que cada capacidad los cumpla.</a:t>
            </a:r>
            <a:endParaRPr lang="en-US" sz="1050" dirty="0"/>
          </a:p>
        </p:txBody>
      </p:sp>
      <p:sp>
        <p:nvSpPr>
          <p:cNvPr id="23" name="Shape 16"/>
          <p:cNvSpPr/>
          <p:nvPr/>
        </p:nvSpPr>
        <p:spPr>
          <a:xfrm>
            <a:off x="548640" y="3730752"/>
            <a:ext cx="7223760" cy="1874520"/>
          </a:xfrm>
          <a:prstGeom prst="roundRect">
            <a:avLst>
              <a:gd name="adj" fmla="val 3902"/>
            </a:avLst>
          </a:prstGeom>
          <a:solidFill>
            <a:schemeClr val="accent4"/>
          </a:solidFill>
          <a:ln w="12700">
            <a:solidFill>
              <a:srgbClr val="DCD8EC"/>
            </a:solidFill>
            <a:prstDash val="solid"/>
          </a:ln>
        </p:spPr>
      </p:sp>
      <p:sp>
        <p:nvSpPr>
          <p:cNvPr id="24" name="Text 17"/>
          <p:cNvSpPr txBox="1"/>
          <p:nvPr/>
        </p:nvSpPr>
        <p:spPr>
          <a:xfrm>
            <a:off x="749808" y="3785616"/>
            <a:ext cx="1554480" cy="502920"/>
          </a:xfrm>
          <a:prstGeom prst="rect">
            <a:avLst/>
          </a:prstGeom>
          <a:noFill/>
          <a:ln/>
        </p:spPr>
        <p:txBody>
          <a:bodyPr wrap="square" lIns="0" tIns="0" rIns="0" bIns="0" rtlCol="0" anchor="ctr"/>
          <a:lstStyle/>
          <a:p>
            <a:pPr indent="0" marL="0">
              <a:buNone/>
            </a:pPr>
            <a:r>
              <a:rPr lang="en-US" sz="1500" b="1" dirty="0">
                <a:solidFill>
                  <a:schemeClr val="tx2"/>
                </a:solidFill>
              </a:rPr>
              <a:t>Builders</a:t>
            </a:r>
            <a:endParaRPr lang="en-US" sz="1400" dirty="0"/>
          </a:p>
          <a:p>
            <a:pPr indent="0" marL="0">
              <a:buNone/>
            </a:pPr>
            <a:r>
              <a:rPr lang="en-US" sz="900" b="1" dirty="0">
                <a:solidFill>
                  <a:schemeClr val="accent2"/>
                </a:solidFill>
              </a:rPr>
              <a:t>Dedicación completa</a:t>
            </a:r>
            <a:endParaRPr lang="en-US" sz="1400" dirty="0"/>
          </a:p>
        </p:txBody>
      </p:sp>
      <p:sp>
        <p:nvSpPr>
          <p:cNvPr id="25" name="Shape 18"/>
          <p:cNvSpPr/>
          <p:nvPr/>
        </p:nvSpPr>
        <p:spPr>
          <a:xfrm>
            <a:off x="2468880" y="3803904"/>
            <a:ext cx="438912" cy="438912"/>
          </a:xfrm>
          <a:prstGeom prst="ellipse">
            <a:avLst/>
          </a:prstGeom>
          <a:solidFill>
            <a:schemeClr val="bg1"/>
          </a:solidFill>
          <a:ln w="12700">
            <a:solidFill>
              <a:srgbClr val="DCD8EC"/>
            </a:solidFill>
            <a:prstDash val="solid"/>
          </a:ln>
        </p:spPr>
      </p:sp>
      <p:pic>
        <p:nvPicPr>
          <p:cNvPr id="26" name="Image 4" descr="preencoded.png">    </p:cNvPr>
          <p:cNvPicPr>
            <a:picLocks noChangeAspect="1"/>
          </p:cNvPicPr>
          <p:nvPr/>
        </p:nvPicPr>
        <p:blipFill>
          <a:blip r:embed="rId5"/>
          <a:stretch>
            <a:fillRect/>
          </a:stretch>
        </p:blipFill>
        <p:spPr>
          <a:xfrm>
            <a:off x="2496312" y="3831336"/>
            <a:ext cx="384048" cy="384048"/>
          </a:xfrm>
          <a:prstGeom prst="ellipse">
            <a:avLst/>
          </a:prstGeom>
        </p:spPr>
      </p:pic>
      <p:sp>
        <p:nvSpPr>
          <p:cNvPr id="27" name="Text 19"/>
          <p:cNvSpPr txBox="1"/>
          <p:nvPr/>
        </p:nvSpPr>
        <p:spPr>
          <a:xfrm>
            <a:off x="2980944" y="3776472"/>
            <a:ext cx="1920240" cy="493776"/>
          </a:xfrm>
          <a:prstGeom prst="rect">
            <a:avLst/>
          </a:prstGeom>
          <a:noFill/>
          <a:ln/>
        </p:spPr>
        <p:txBody>
          <a:bodyPr wrap="square" lIns="0" tIns="0" rIns="0" bIns="0" rtlCol="0" anchor="ctr"/>
          <a:lstStyle/>
          <a:p>
            <a:pPr indent="0" marL="0">
              <a:buNone/>
            </a:pPr>
            <a:r>
              <a:rPr lang="en-US" sz="1000" b="1" dirty="0">
                <a:solidFill>
                  <a:schemeClr val="tx2"/>
                </a:solidFill>
              </a:rPr>
              <a:t>Juan Gabriel Colorado</a:t>
            </a:r>
            <a:endParaRPr lang="en-US" sz="1400" dirty="0"/>
          </a:p>
          <a:p>
            <a:pPr indent="0" marL="0">
              <a:buNone/>
            </a:pPr>
            <a:r>
              <a:rPr lang="en-US" sz="850" b="1" dirty="0">
                <a:solidFill>
                  <a:schemeClr val="accent2"/>
                </a:solidFill>
              </a:rPr>
              <a:t>Desarrollador IA</a:t>
            </a:r>
            <a:endParaRPr lang="en-US" sz="1400" dirty="0"/>
          </a:p>
        </p:txBody>
      </p:sp>
      <p:sp>
        <p:nvSpPr>
          <p:cNvPr id="28" name="Shape 20"/>
          <p:cNvSpPr/>
          <p:nvPr/>
        </p:nvSpPr>
        <p:spPr>
          <a:xfrm>
            <a:off x="4983480" y="3803904"/>
            <a:ext cx="438912" cy="438912"/>
          </a:xfrm>
          <a:prstGeom prst="ellipse">
            <a:avLst/>
          </a:prstGeom>
          <a:solidFill>
            <a:schemeClr val="bg1"/>
          </a:solidFill>
          <a:ln w="12700">
            <a:solidFill>
              <a:srgbClr val="DCD8EC"/>
            </a:solidFill>
            <a:prstDash val="solid"/>
          </a:ln>
        </p:spPr>
      </p:sp>
      <p:pic>
        <p:nvPicPr>
          <p:cNvPr id="29" name="Image 5" descr="preencoded.png">    </p:cNvPr>
          <p:cNvPicPr>
            <a:picLocks noChangeAspect="1"/>
          </p:cNvPicPr>
          <p:nvPr/>
        </p:nvPicPr>
        <p:blipFill>
          <a:blip r:embed="rId6"/>
          <a:stretch>
            <a:fillRect/>
          </a:stretch>
        </p:blipFill>
        <p:spPr>
          <a:xfrm>
            <a:off x="5010912" y="3831336"/>
            <a:ext cx="384048" cy="384048"/>
          </a:xfrm>
          <a:prstGeom prst="ellipse">
            <a:avLst/>
          </a:prstGeom>
        </p:spPr>
      </p:pic>
      <p:sp>
        <p:nvSpPr>
          <p:cNvPr id="30" name="Text 21"/>
          <p:cNvSpPr txBox="1"/>
          <p:nvPr/>
        </p:nvSpPr>
        <p:spPr>
          <a:xfrm>
            <a:off x="5495544" y="3776472"/>
            <a:ext cx="1920240" cy="493776"/>
          </a:xfrm>
          <a:prstGeom prst="rect">
            <a:avLst/>
          </a:prstGeom>
          <a:noFill/>
          <a:ln/>
        </p:spPr>
        <p:txBody>
          <a:bodyPr wrap="square" lIns="0" tIns="0" rIns="0" bIns="0" rtlCol="0" anchor="ctr"/>
          <a:lstStyle/>
          <a:p>
            <a:pPr indent="0" marL="0">
              <a:buNone/>
            </a:pPr>
            <a:r>
              <a:rPr lang="en-US" sz="1000" b="1" dirty="0">
                <a:solidFill>
                  <a:schemeClr val="tx2"/>
                </a:solidFill>
              </a:rPr>
              <a:t>Gian Valdiris</a:t>
            </a:r>
            <a:endParaRPr lang="en-US" sz="1400" dirty="0"/>
          </a:p>
          <a:p>
            <a:pPr indent="0" marL="0">
              <a:buNone/>
            </a:pPr>
            <a:r>
              <a:rPr lang="en-US" sz="850" b="1" dirty="0">
                <a:solidFill>
                  <a:schemeClr val="accent2"/>
                </a:solidFill>
              </a:rPr>
              <a:t>Desarrollador IA</a:t>
            </a:r>
            <a:endParaRPr lang="en-US" sz="1400" dirty="0"/>
          </a:p>
        </p:txBody>
      </p:sp>
      <p:sp>
        <p:nvSpPr>
          <p:cNvPr id="31" name="Shape 22"/>
          <p:cNvSpPr/>
          <p:nvPr/>
        </p:nvSpPr>
        <p:spPr>
          <a:xfrm>
            <a:off x="749808" y="4343400"/>
            <a:ext cx="2200656" cy="749808"/>
          </a:xfrm>
          <a:prstGeom prst="roundRect">
            <a:avLst>
              <a:gd name="adj" fmla="val 9756"/>
            </a:avLst>
          </a:prstGeom>
          <a:solidFill>
            <a:schemeClr val="bg1"/>
          </a:solidFill>
          <a:ln w="12700">
            <a:solidFill>
              <a:srgbClr val="DCD8EC"/>
            </a:solidFill>
            <a:prstDash val="solid"/>
          </a:ln>
        </p:spPr>
      </p:sp>
      <p:sp>
        <p:nvSpPr>
          <p:cNvPr id="32" name="Text 23"/>
          <p:cNvSpPr txBox="1"/>
          <p:nvPr/>
        </p:nvSpPr>
        <p:spPr>
          <a:xfrm>
            <a:off x="841248" y="4370832"/>
            <a:ext cx="2017776" cy="704088"/>
          </a:xfrm>
          <a:prstGeom prst="rect">
            <a:avLst/>
          </a:prstGeom>
          <a:noFill/>
          <a:ln/>
        </p:spPr>
        <p:txBody>
          <a:bodyPr wrap="square" lIns="0" tIns="0" rIns="0" bIns="0" rtlCol="0" anchor="t"/>
          <a:lstStyle/>
          <a:p>
            <a:pPr indent="0" marL="0">
              <a:buNone/>
            </a:pPr>
            <a:r>
              <a:rPr lang="en-US" sz="950" b="1" dirty="0">
                <a:solidFill>
                  <a:schemeClr val="accent1"/>
                </a:solidFill>
              </a:rPr>
              <a:t>1 · Refinan</a:t>
            </a:r>
            <a:endParaRPr lang="en-US" sz="950" dirty="0"/>
          </a:p>
          <a:p>
            <a:pPr indent="0" marL="0">
              <a:buNone/>
            </a:pPr>
            <a:r>
              <a:rPr lang="en-US" sz="950" dirty="0">
                <a:solidFill>
                  <a:schemeClr val="tx1"/>
                </a:solidFill>
              </a:rPr>
              <a:t>Bajan cada capacidad a especificación y diseño técnico con el arquetipo, junto al arquitecto.</a:t>
            </a:r>
            <a:endParaRPr lang="en-US" sz="950" dirty="0"/>
          </a:p>
        </p:txBody>
      </p:sp>
      <p:sp>
        <p:nvSpPr>
          <p:cNvPr id="33" name="Shape 24"/>
          <p:cNvSpPr/>
          <p:nvPr/>
        </p:nvSpPr>
        <p:spPr>
          <a:xfrm>
            <a:off x="3060192" y="4343400"/>
            <a:ext cx="2200656" cy="749808"/>
          </a:xfrm>
          <a:prstGeom prst="roundRect">
            <a:avLst>
              <a:gd name="adj" fmla="val 9756"/>
            </a:avLst>
          </a:prstGeom>
          <a:solidFill>
            <a:schemeClr val="bg1"/>
          </a:solidFill>
          <a:ln w="12700">
            <a:solidFill>
              <a:srgbClr val="DCD8EC"/>
            </a:solidFill>
            <a:prstDash val="solid"/>
          </a:ln>
        </p:spPr>
      </p:sp>
      <p:sp>
        <p:nvSpPr>
          <p:cNvPr id="34" name="Text 25"/>
          <p:cNvSpPr txBox="1"/>
          <p:nvPr/>
        </p:nvSpPr>
        <p:spPr>
          <a:xfrm>
            <a:off x="3151632" y="4370832"/>
            <a:ext cx="2017776" cy="704088"/>
          </a:xfrm>
          <a:prstGeom prst="rect">
            <a:avLst/>
          </a:prstGeom>
          <a:noFill/>
          <a:ln/>
        </p:spPr>
        <p:txBody>
          <a:bodyPr wrap="square" lIns="0" tIns="0" rIns="0" bIns="0" rtlCol="0" anchor="t"/>
          <a:lstStyle/>
          <a:p>
            <a:pPr indent="0" marL="0">
              <a:buNone/>
            </a:pPr>
            <a:r>
              <a:rPr lang="en-US" sz="950" b="1" dirty="0">
                <a:solidFill>
                  <a:schemeClr val="accent1"/>
                </a:solidFill>
              </a:rPr>
              <a:t>2 · Dimensionan</a:t>
            </a:r>
            <a:endParaRPr lang="en-US" sz="950" dirty="0"/>
          </a:p>
          <a:p>
            <a:pPr indent="0" marL="0">
              <a:buNone/>
            </a:pPr>
            <a:r>
              <a:rPr lang="en-US" sz="950" dirty="0">
                <a:solidFill>
                  <a:schemeClr val="tx1"/>
                </a:solidFill>
              </a:rPr>
              <a:t>Definen si cada capacidad es acotada o amplia, y parten la amplia.</a:t>
            </a:r>
            <a:endParaRPr lang="en-US" sz="950" dirty="0"/>
          </a:p>
        </p:txBody>
      </p:sp>
      <p:sp>
        <p:nvSpPr>
          <p:cNvPr id="35" name="Shape 26"/>
          <p:cNvSpPr/>
          <p:nvPr/>
        </p:nvSpPr>
        <p:spPr>
          <a:xfrm>
            <a:off x="5370576" y="4343400"/>
            <a:ext cx="2200656" cy="749808"/>
          </a:xfrm>
          <a:prstGeom prst="roundRect">
            <a:avLst>
              <a:gd name="adj" fmla="val 9756"/>
            </a:avLst>
          </a:prstGeom>
          <a:solidFill>
            <a:schemeClr val="bg1"/>
          </a:solidFill>
          <a:ln w="12700">
            <a:solidFill>
              <a:srgbClr val="DCD8EC"/>
            </a:solidFill>
            <a:prstDash val="solid"/>
          </a:ln>
        </p:spPr>
      </p:sp>
      <p:sp>
        <p:nvSpPr>
          <p:cNvPr id="36" name="Text 27"/>
          <p:cNvSpPr txBox="1"/>
          <p:nvPr/>
        </p:nvSpPr>
        <p:spPr>
          <a:xfrm>
            <a:off x="5462016" y="4370832"/>
            <a:ext cx="2017776" cy="704088"/>
          </a:xfrm>
          <a:prstGeom prst="rect">
            <a:avLst/>
          </a:prstGeom>
          <a:noFill/>
          <a:ln/>
        </p:spPr>
        <p:txBody>
          <a:bodyPr wrap="square" lIns="0" tIns="0" rIns="0" bIns="0" rtlCol="0" anchor="t"/>
          <a:lstStyle/>
          <a:p>
            <a:pPr indent="0" marL="0">
              <a:buNone/>
            </a:pPr>
            <a:r>
              <a:rPr lang="en-US" sz="950" b="1" dirty="0">
                <a:solidFill>
                  <a:schemeClr val="accent1"/>
                </a:solidFill>
              </a:rPr>
              <a:t>3 · Implementan</a:t>
            </a:r>
            <a:endParaRPr lang="en-US" sz="950" dirty="0"/>
          </a:p>
          <a:p>
            <a:pPr indent="0" marL="0">
              <a:buNone/>
            </a:pPr>
            <a:r>
              <a:rPr lang="en-US" sz="950" dirty="0">
                <a:solidFill>
                  <a:schemeClr val="tx1"/>
                </a:solidFill>
              </a:rPr>
              <a:t>Dirigen a la IA con las prácticas del equipo, revisan, integran y la entregan a certificación.</a:t>
            </a:r>
            <a:endParaRPr lang="en-US" sz="950" dirty="0"/>
          </a:p>
        </p:txBody>
      </p:sp>
      <p:sp>
        <p:nvSpPr>
          <p:cNvPr id="37" name="Text 28"/>
          <p:cNvSpPr txBox="1"/>
          <p:nvPr/>
        </p:nvSpPr>
        <p:spPr>
          <a:xfrm>
            <a:off x="749808" y="5120640"/>
            <a:ext cx="6821424" cy="457200"/>
          </a:xfrm>
          <a:prstGeom prst="rect">
            <a:avLst/>
          </a:prstGeom>
          <a:noFill/>
          <a:ln/>
        </p:spPr>
        <p:txBody>
          <a:bodyPr wrap="square" lIns="0" tIns="0" rIns="0" bIns="0" rtlCol="0" anchor="ctr"/>
          <a:lstStyle/>
          <a:p>
            <a:pPr indent="0" marL="0">
              <a:buNone/>
            </a:pPr>
            <a:r>
              <a:rPr lang="en-US" sz="950" b="1" dirty="0">
                <a:solidFill>
                  <a:schemeClr val="tx2"/>
                </a:solidFill>
              </a:rPr>
              <a:t>Un equipo, un backlog: </a:t>
            </a:r>
            <a:pPr indent="0" marL="0">
              <a:buNone/>
            </a:pPr>
            <a:r>
              <a:rPr lang="en-US" sz="950" dirty="0">
                <a:solidFill>
                  <a:schemeClr val="accent6"/>
                </a:solidFill>
              </a:rPr>
              <a:t>siempre se trabaja en la prioridad más alta de SURA, y el conocimiento queda en el equipo. Los builders también verifican: con IA convierten los ejemplos de SURA en pruebas y evalúan a los agentes.</a:t>
            </a:r>
            <a:endParaRPr lang="en-US" sz="950" dirty="0"/>
          </a:p>
        </p:txBody>
      </p:sp>
      <p:sp>
        <p:nvSpPr>
          <p:cNvPr id="38" name="Shape 29"/>
          <p:cNvSpPr/>
          <p:nvPr/>
        </p:nvSpPr>
        <p:spPr>
          <a:xfrm>
            <a:off x="548640" y="5669280"/>
            <a:ext cx="7223760" cy="566928"/>
          </a:xfrm>
          <a:prstGeom prst="roundRect">
            <a:avLst>
              <a:gd name="adj" fmla="val 12903"/>
            </a:avLst>
          </a:prstGeom>
          <a:solidFill>
            <a:schemeClr val="accent4"/>
          </a:solidFill>
          <a:ln w="12700">
            <a:solidFill>
              <a:srgbClr val="DCD8EC"/>
            </a:solidFill>
            <a:prstDash val="solid"/>
          </a:ln>
        </p:spPr>
      </p:sp>
      <p:sp>
        <p:nvSpPr>
          <p:cNvPr id="39" name="Shape 30"/>
          <p:cNvSpPr/>
          <p:nvPr/>
        </p:nvSpPr>
        <p:spPr>
          <a:xfrm>
            <a:off x="731520" y="5769864"/>
            <a:ext cx="365760" cy="365760"/>
          </a:xfrm>
          <a:prstGeom prst="ellipse">
            <a:avLst/>
          </a:prstGeom>
          <a:solidFill>
            <a:schemeClr val="accent2"/>
          </a:solidFill>
          <a:ln w="12700">
            <a:solidFill>
              <a:schemeClr val="accent2"/>
            </a:solidFill>
            <a:prstDash val="solid"/>
          </a:ln>
        </p:spPr>
      </p:sp>
      <p:sp>
        <p:nvSpPr>
          <p:cNvPr id="40" name="Text 31"/>
          <p:cNvSpPr txBox="1"/>
          <p:nvPr/>
        </p:nvSpPr>
        <p:spPr>
          <a:xfrm>
            <a:off x="731520" y="576986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S</a:t>
            </a:r>
            <a:endParaRPr lang="en-US" sz="1200" dirty="0"/>
          </a:p>
        </p:txBody>
      </p:sp>
      <p:sp>
        <p:nvSpPr>
          <p:cNvPr id="41" name="Text 32"/>
          <p:cNvSpPr txBox="1"/>
          <p:nvPr/>
        </p:nvSpPr>
        <p:spPr>
          <a:xfrm>
            <a:off x="1234440" y="5669280"/>
            <a:ext cx="6355080" cy="566928"/>
          </a:xfrm>
          <a:prstGeom prst="rect">
            <a:avLst/>
          </a:prstGeom>
          <a:noFill/>
          <a:ln/>
        </p:spPr>
        <p:txBody>
          <a:bodyPr wrap="square" lIns="0" tIns="0" rIns="0" bIns="0" rtlCol="0" anchor="ctr"/>
          <a:lstStyle/>
          <a:p>
            <a:pPr indent="0" marL="0">
              <a:buNone/>
            </a:pPr>
            <a:r>
              <a:rPr lang="en-US" sz="1200" b="1" dirty="0">
                <a:solidFill>
                  <a:schemeClr val="tx2"/>
                </a:solidFill>
              </a:rPr>
              <a:t>Soporte</a:t>
            </a:r>
            <a:pPr indent="0" marL="0">
              <a:buNone/>
            </a:pPr>
            <a:r>
              <a:rPr lang="en-US" sz="1000" b="1" dirty="0">
                <a:solidFill>
                  <a:schemeClr val="accent2"/>
                </a:solidFill>
              </a:rPr>
              <a:t>  · media jornada · operador de liberación</a:t>
            </a:r>
            <a:endParaRPr lang="en-US" sz="1400" dirty="0"/>
          </a:p>
          <a:p>
            <a:pPr indent="0" marL="0">
              <a:buNone/>
            </a:pPr>
            <a:r>
              <a:rPr lang="en-US" sz="1000" dirty="0">
                <a:solidFill>
                  <a:schemeClr val="tx1"/>
                </a:solidFill>
              </a:rPr>
              <a:t>Opera pipeline, banderas, monitoreo e incidentes, y atiende lo que ya opera sin frenar el flujo.</a:t>
            </a:r>
            <a:endParaRPr lang="en-US" sz="1400" dirty="0"/>
          </a:p>
        </p:txBody>
      </p:sp>
      <p:sp>
        <p:nvSpPr>
          <p:cNvPr id="42" name="Text 33"/>
          <p:cNvSpPr txBox="1"/>
          <p:nvPr/>
        </p:nvSpPr>
        <p:spPr>
          <a:xfrm>
            <a:off x="8138160" y="1417320"/>
            <a:ext cx="3502152" cy="347472"/>
          </a:xfrm>
          <a:prstGeom prst="rect">
            <a:avLst/>
          </a:prstGeom>
          <a:noFill/>
          <a:ln/>
        </p:spPr>
        <p:txBody>
          <a:bodyPr wrap="square" lIns="0" tIns="0" rIns="0" bIns="0" rtlCol="0" anchor="t"/>
          <a:lstStyle/>
          <a:p>
            <a:pPr indent="0" marL="0">
              <a:buNone/>
            </a:pPr>
            <a:r>
              <a:rPr lang="en-US" sz="1700" b="1" dirty="0">
                <a:solidFill>
                  <a:schemeClr val="tx2"/>
                </a:solidFill>
              </a:rPr>
              <a:t>Equipo SURA</a:t>
            </a:r>
            <a:endParaRPr lang="en-US" sz="1700" dirty="0"/>
          </a:p>
        </p:txBody>
      </p:sp>
      <p:sp>
        <p:nvSpPr>
          <p:cNvPr id="43" name="Text 34"/>
          <p:cNvSpPr txBox="1"/>
          <p:nvPr/>
        </p:nvSpPr>
        <p:spPr>
          <a:xfrm>
            <a:off x="8138160" y="1810512"/>
            <a:ext cx="3502152" cy="201168"/>
          </a:xfrm>
          <a:prstGeom prst="rect">
            <a:avLst/>
          </a:prstGeom>
          <a:noFill/>
          <a:ln/>
        </p:spPr>
        <p:txBody>
          <a:bodyPr wrap="square" lIns="0" tIns="0" rIns="0" bIns="0" rtlCol="0" anchor="t"/>
          <a:lstStyle/>
          <a:p>
            <a:pPr indent="0" marL="0">
              <a:buNone/>
            </a:pPr>
            <a:r>
              <a:rPr lang="en-US" sz="850" b="1" spc="100" kern="0" dirty="0">
                <a:solidFill>
                  <a:schemeClr val="accent3"/>
                </a:solidFill>
              </a:rPr>
              <a:t>ROLES EN TECH AND SOLVE SPEC FLOW</a:t>
            </a:r>
            <a:endParaRPr lang="en-US" sz="850" dirty="0"/>
          </a:p>
        </p:txBody>
      </p:sp>
      <p:sp>
        <p:nvSpPr>
          <p:cNvPr id="44" name="Shape 35"/>
          <p:cNvSpPr/>
          <p:nvPr/>
        </p:nvSpPr>
        <p:spPr>
          <a:xfrm>
            <a:off x="8138160" y="2048256"/>
            <a:ext cx="3502152" cy="786384"/>
          </a:xfrm>
          <a:prstGeom prst="roundRect">
            <a:avLst>
              <a:gd name="adj" fmla="val 9302"/>
            </a:avLst>
          </a:prstGeom>
          <a:solidFill>
            <a:srgbClr val="E8F1ED"/>
          </a:solidFill>
          <a:ln w="12700">
            <a:solidFill>
              <a:schemeClr val="accent3"/>
            </a:solidFill>
            <a:prstDash val="solid"/>
          </a:ln>
        </p:spPr>
      </p:sp>
      <p:sp>
        <p:nvSpPr>
          <p:cNvPr id="45" name="Text 36"/>
          <p:cNvSpPr txBox="1"/>
          <p:nvPr/>
        </p:nvSpPr>
        <p:spPr>
          <a:xfrm>
            <a:off x="8275320" y="2048256"/>
            <a:ext cx="3227832" cy="786384"/>
          </a:xfrm>
          <a:prstGeom prst="rect">
            <a:avLst/>
          </a:prstGeom>
          <a:noFill/>
          <a:ln/>
        </p:spPr>
        <p:txBody>
          <a:bodyPr wrap="square" lIns="0" tIns="0" rIns="0" bIns="0" rtlCol="0" anchor="ctr"/>
          <a:lstStyle/>
          <a:p>
            <a:pPr indent="0" marL="0">
              <a:buNone/>
            </a:pPr>
            <a:r>
              <a:rPr lang="en-US" sz="1000" b="1" dirty="0">
                <a:solidFill>
                  <a:schemeClr val="tx2"/>
                </a:solidFill>
              </a:rPr>
              <a:t>Líder funcional</a:t>
            </a:r>
            <a:pPr indent="0" marL="0">
              <a:buNone/>
            </a:pPr>
            <a:r>
              <a:rPr lang="en-US" sz="850" b="1" dirty="0">
                <a:solidFill>
                  <a:schemeClr val="accent3"/>
                </a:solidFill>
              </a:rPr>
              <a:t>  · Product Owner</a:t>
            </a:r>
            <a:pPr indent="0" marL="0">
              <a:buNone/>
            </a:pPr>
            <a:endParaRPr lang="en-US" sz="1000" dirty="0"/>
          </a:p>
          <a:p>
            <a:pPr indent="0" marL="0">
              <a:buNone/>
            </a:pPr>
            <a:r>
              <a:rPr lang="en-US" sz="1000" dirty="0">
                <a:solidFill>
                  <a:schemeClr val="accent6"/>
                </a:solidFill>
              </a:rPr>
              <a:t>Prioriza el backlog, aporta ejemplos con datos en la mesa de definición y certifica cada capacidad.</a:t>
            </a:r>
            <a:endParaRPr lang="en-US" sz="1000" dirty="0"/>
          </a:p>
        </p:txBody>
      </p:sp>
      <p:sp>
        <p:nvSpPr>
          <p:cNvPr id="46" name="Shape 37"/>
          <p:cNvSpPr/>
          <p:nvPr/>
        </p:nvSpPr>
        <p:spPr>
          <a:xfrm>
            <a:off x="8138160" y="2898648"/>
            <a:ext cx="3502152" cy="914400"/>
          </a:xfrm>
          <a:prstGeom prst="roundRect">
            <a:avLst>
              <a:gd name="adj" fmla="val 8000"/>
            </a:avLst>
          </a:prstGeom>
          <a:solidFill>
            <a:srgbClr val="E8F1ED"/>
          </a:solidFill>
          <a:ln w="12700">
            <a:solidFill>
              <a:schemeClr val="accent3"/>
            </a:solidFill>
            <a:prstDash val="solid"/>
          </a:ln>
        </p:spPr>
      </p:sp>
      <p:sp>
        <p:nvSpPr>
          <p:cNvPr id="47" name="Text 38"/>
          <p:cNvSpPr txBox="1"/>
          <p:nvPr/>
        </p:nvSpPr>
        <p:spPr>
          <a:xfrm>
            <a:off x="8275320" y="2898648"/>
            <a:ext cx="3227832" cy="914400"/>
          </a:xfrm>
          <a:prstGeom prst="rect">
            <a:avLst/>
          </a:prstGeom>
          <a:noFill/>
          <a:ln/>
        </p:spPr>
        <p:txBody>
          <a:bodyPr wrap="square" lIns="0" tIns="0" rIns="0" bIns="0" rtlCol="0" anchor="ctr"/>
          <a:lstStyle/>
          <a:p>
            <a:pPr indent="0" marL="0">
              <a:buNone/>
            </a:pPr>
            <a:r>
              <a:rPr lang="en-US" sz="1000" b="1" dirty="0">
                <a:solidFill>
                  <a:schemeClr val="tx2"/>
                </a:solidFill>
              </a:rPr>
              <a:t>Arquitecto técnico de negocio</a:t>
            </a:r>
            <a:pPr indent="0" marL="0">
              <a:buNone/>
            </a:pPr>
            <a:r>
              <a:rPr lang="en-US" sz="850" b="1" dirty="0">
                <a:solidFill>
                  <a:schemeClr val="accent3"/>
                </a:solidFill>
              </a:rPr>
              <a:t>  · arquitectura de SURA</a:t>
            </a:r>
            <a:pPr indent="0" marL="0">
              <a:buNone/>
            </a:pPr>
            <a:endParaRPr lang="en-US" sz="1000" dirty="0"/>
          </a:p>
          <a:p>
            <a:pPr indent="0" marL="0">
              <a:buNone/>
            </a:pPr>
            <a:r>
              <a:rPr lang="en-US" sz="1000" dirty="0">
                <a:solidFill>
                  <a:schemeClr val="accent6"/>
                </a:solidFill>
              </a:rPr>
              <a:t>Acuerda lineamientos con nuestro arquitecto líder; aporta reglas, integraciones, seguridad y cumplimiento, y acceso a ambientes y datos.</a:t>
            </a:r>
            <a:endParaRPr lang="en-US" sz="1000" dirty="0"/>
          </a:p>
        </p:txBody>
      </p:sp>
      <p:sp>
        <p:nvSpPr>
          <p:cNvPr id="48" name="Shape 39"/>
          <p:cNvSpPr/>
          <p:nvPr/>
        </p:nvSpPr>
        <p:spPr>
          <a:xfrm>
            <a:off x="8138160" y="3877056"/>
            <a:ext cx="3502152" cy="713232"/>
          </a:xfrm>
          <a:prstGeom prst="roundRect">
            <a:avLst>
              <a:gd name="adj" fmla="val 10256"/>
            </a:avLst>
          </a:prstGeom>
          <a:solidFill>
            <a:schemeClr val="bg1"/>
          </a:solidFill>
          <a:ln w="12700">
            <a:solidFill>
              <a:srgbClr val="DCD8EC"/>
            </a:solidFill>
            <a:prstDash val="solid"/>
          </a:ln>
        </p:spPr>
      </p:sp>
      <p:sp>
        <p:nvSpPr>
          <p:cNvPr id="49" name="Text 40"/>
          <p:cNvSpPr txBox="1"/>
          <p:nvPr/>
        </p:nvSpPr>
        <p:spPr>
          <a:xfrm>
            <a:off x="8275320" y="3877056"/>
            <a:ext cx="3227832" cy="713232"/>
          </a:xfrm>
          <a:prstGeom prst="rect">
            <a:avLst/>
          </a:prstGeom>
          <a:noFill/>
          <a:ln/>
        </p:spPr>
        <p:txBody>
          <a:bodyPr wrap="square" lIns="0" tIns="0" rIns="0" bIns="0" rtlCol="0" anchor="ctr"/>
          <a:lstStyle/>
          <a:p>
            <a:pPr indent="0" marL="0">
              <a:buNone/>
            </a:pPr>
            <a:r>
              <a:rPr lang="en-US" sz="1000" b="1" dirty="0">
                <a:solidFill>
                  <a:schemeClr val="tx2"/>
                </a:solidFill>
              </a:rPr>
              <a:t>Usuarios clave, negocio y equipo médico</a:t>
            </a:r>
            <a:pPr indent="0" marL="0">
              <a:buNone/>
            </a:pPr>
            <a:endParaRPr lang="en-US" sz="1000" dirty="0"/>
          </a:p>
          <a:p>
            <a:pPr indent="0" marL="0">
              <a:buNone/>
            </a:pPr>
            <a:r>
              <a:rPr lang="en-US" sz="1000" dirty="0">
                <a:solidFill>
                  <a:schemeClr val="accent6"/>
                </a:solidFill>
              </a:rPr>
              <a:t>Apoyan la certificación, definen el error tolerable y validan la muestra clínica.</a:t>
            </a:r>
            <a:endParaRPr lang="en-US" sz="1000" dirty="0"/>
          </a:p>
        </p:txBody>
      </p:sp>
      <p:sp>
        <p:nvSpPr>
          <p:cNvPr id="50" name="Text 41"/>
          <p:cNvSpPr txBox="1"/>
          <p:nvPr/>
        </p:nvSpPr>
        <p:spPr>
          <a:xfrm>
            <a:off x="8138160" y="4681728"/>
            <a:ext cx="3502152" cy="201168"/>
          </a:xfrm>
          <a:prstGeom prst="rect">
            <a:avLst/>
          </a:prstGeom>
          <a:noFill/>
          <a:ln/>
        </p:spPr>
        <p:txBody>
          <a:bodyPr wrap="square" lIns="0" tIns="0" rIns="0" bIns="0" rtlCol="0" anchor="t"/>
          <a:lstStyle/>
          <a:p>
            <a:pPr indent="0" marL="0">
              <a:buNone/>
            </a:pPr>
            <a:r>
              <a:rPr lang="en-US" sz="850" b="1" spc="100" kern="0" dirty="0">
                <a:solidFill>
                  <a:schemeClr val="accent6"/>
                </a:solidFill>
              </a:rPr>
              <a:t>EQUIPOS DE LOS QUE DEPENDEMOS</a:t>
            </a:r>
            <a:endParaRPr lang="en-US" sz="850" dirty="0"/>
          </a:p>
        </p:txBody>
      </p:sp>
      <p:sp>
        <p:nvSpPr>
          <p:cNvPr id="51" name="Shape 42"/>
          <p:cNvSpPr/>
          <p:nvPr/>
        </p:nvSpPr>
        <p:spPr>
          <a:xfrm>
            <a:off x="8138160" y="4919472"/>
            <a:ext cx="3502152" cy="658368"/>
          </a:xfrm>
          <a:prstGeom prst="roundRect">
            <a:avLst>
              <a:gd name="adj" fmla="val 11111"/>
            </a:avLst>
          </a:prstGeom>
          <a:solidFill>
            <a:schemeClr val="bg1"/>
          </a:solidFill>
          <a:ln w="12700">
            <a:solidFill>
              <a:srgbClr val="DCD8EC"/>
            </a:solidFill>
            <a:prstDash val="solid"/>
          </a:ln>
        </p:spPr>
      </p:sp>
      <p:sp>
        <p:nvSpPr>
          <p:cNvPr id="52" name="Text 43"/>
          <p:cNvSpPr txBox="1"/>
          <p:nvPr/>
        </p:nvSpPr>
        <p:spPr>
          <a:xfrm>
            <a:off x="8275320" y="4919472"/>
            <a:ext cx="3227832" cy="658368"/>
          </a:xfrm>
          <a:prstGeom prst="rect">
            <a:avLst/>
          </a:prstGeom>
          <a:noFill/>
          <a:ln/>
        </p:spPr>
        <p:txBody>
          <a:bodyPr wrap="square" lIns="0" tIns="0" rIns="0" bIns="0" rtlCol="0" anchor="ctr"/>
          <a:lstStyle/>
          <a:p>
            <a:pPr indent="0" marL="0">
              <a:buNone/>
            </a:pPr>
            <a:r>
              <a:rPr lang="en-US" sz="1000" b="1" dirty="0">
                <a:solidFill>
                  <a:schemeClr val="tx2"/>
                </a:solidFill>
              </a:rPr>
              <a:t>Front, integración y core SuraHis</a:t>
            </a:r>
            <a:pPr indent="0" marL="0">
              <a:buNone/>
            </a:pPr>
            <a:endParaRPr lang="en-US" sz="1000" dirty="0"/>
          </a:p>
          <a:p>
            <a:pPr indent="0" marL="0">
              <a:buNone/>
            </a:pPr>
            <a:r>
              <a:rPr lang="en-US" sz="1000" dirty="0">
                <a:solidFill>
                  <a:schemeClr val="accent6"/>
                </a:solidFill>
              </a:rPr>
              <a:t>Construyen la base donde se integran los agentes; mientras llega, trabajamos contra simuladores.</a:t>
            </a:r>
            <a:endParaRPr lang="en-US" sz="1000" dirty="0"/>
          </a:p>
        </p:txBody>
      </p:sp>
      <p:sp>
        <p:nvSpPr>
          <p:cNvPr id="53" name="Shape 44"/>
          <p:cNvSpPr/>
          <p:nvPr/>
        </p:nvSpPr>
        <p:spPr>
          <a:xfrm>
            <a:off x="8138160" y="5641848"/>
            <a:ext cx="3502152" cy="594360"/>
          </a:xfrm>
          <a:prstGeom prst="roundRect">
            <a:avLst>
              <a:gd name="adj" fmla="val 12308"/>
            </a:avLst>
          </a:prstGeom>
          <a:solidFill>
            <a:schemeClr val="bg1"/>
          </a:solidFill>
          <a:ln w="12700">
            <a:solidFill>
              <a:srgbClr val="DCD8EC"/>
            </a:solidFill>
            <a:prstDash val="solid"/>
          </a:ln>
        </p:spPr>
      </p:sp>
      <p:sp>
        <p:nvSpPr>
          <p:cNvPr id="54" name="Text 45"/>
          <p:cNvSpPr txBox="1"/>
          <p:nvPr/>
        </p:nvSpPr>
        <p:spPr>
          <a:xfrm>
            <a:off x="8275320" y="5641848"/>
            <a:ext cx="3227832" cy="594360"/>
          </a:xfrm>
          <a:prstGeom prst="rect">
            <a:avLst/>
          </a:prstGeom>
          <a:noFill/>
          <a:ln/>
        </p:spPr>
        <p:txBody>
          <a:bodyPr wrap="square" lIns="0" tIns="0" rIns="0" bIns="0" rtlCol="0" anchor="ctr"/>
          <a:lstStyle/>
          <a:p>
            <a:pPr indent="0" marL="0">
              <a:buNone/>
            </a:pPr>
            <a:r>
              <a:rPr lang="en-US" sz="1000" b="1" dirty="0">
                <a:solidFill>
                  <a:schemeClr val="tx2"/>
                </a:solidFill>
              </a:rPr>
              <a:t>Plataformas habilitadora y agéntica</a:t>
            </a:r>
            <a:pPr indent="0" marL="0">
              <a:buNone/>
            </a:pPr>
            <a:endParaRPr lang="en-US" sz="1000" dirty="0"/>
          </a:p>
          <a:p>
            <a:pPr indent="0" marL="0">
              <a:buNone/>
            </a:pPr>
            <a:r>
              <a:rPr lang="en-US" sz="1000" dirty="0">
                <a:solidFill>
                  <a:schemeClr val="accent6"/>
                </a:solidFill>
              </a:rPr>
              <a:t>Exponen gateways, modelos y herramientas autorizadas por SURA.</a:t>
            </a:r>
            <a:endParaRPr lang="en-US" sz="10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Construimos los sistemas agénticos; el front y la integración los lideran los equipos de SURA</a:t>
            </a:r>
            <a:endParaRPr lang="en-US" sz="2800" dirty="0"/>
          </a:p>
        </p:txBody>
      </p:sp>
      <p:sp>
        <p:nvSpPr>
          <p:cNvPr id="4" name="Shape 1"/>
          <p:cNvSpPr/>
          <p:nvPr/>
        </p:nvSpPr>
        <p:spPr>
          <a:xfrm>
            <a:off x="548640" y="1508760"/>
            <a:ext cx="5440680" cy="4526280"/>
          </a:xfrm>
          <a:prstGeom prst="roundRect">
            <a:avLst>
              <a:gd name="adj" fmla="val 1616"/>
            </a:avLst>
          </a:prstGeom>
          <a:solidFill>
            <a:schemeClr val="bg2"/>
          </a:solidFill>
          <a:ln w="12700">
            <a:solidFill>
              <a:schemeClr val="bg2"/>
            </a:solidFill>
            <a:prstDash val="solid"/>
          </a:ln>
        </p:spPr>
      </p:sp>
      <p:sp>
        <p:nvSpPr>
          <p:cNvPr id="5" name="Text 2"/>
          <p:cNvSpPr txBox="1"/>
          <p:nvPr/>
        </p:nvSpPr>
        <p:spPr>
          <a:xfrm>
            <a:off x="822960" y="1645920"/>
            <a:ext cx="4069080" cy="365760"/>
          </a:xfrm>
          <a:prstGeom prst="rect">
            <a:avLst/>
          </a:prstGeom>
          <a:noFill/>
          <a:ln/>
        </p:spPr>
        <p:txBody>
          <a:bodyPr wrap="square" lIns="0" tIns="0" rIns="0" bIns="0" rtlCol="0" anchor="t"/>
          <a:lstStyle/>
          <a:p>
            <a:pPr indent="0" marL="0">
              <a:buNone/>
            </a:pPr>
            <a:r>
              <a:rPr lang="en-US" sz="1600" b="1" dirty="0">
                <a:solidFill>
                  <a:schemeClr val="tx2"/>
                </a:solidFill>
              </a:rPr>
              <a:t>Lo construye y mantiene este equipo</a:t>
            </a:r>
            <a:endParaRPr lang="en-US" sz="1600" dirty="0"/>
          </a:p>
        </p:txBody>
      </p:sp>
      <p:sp>
        <p:nvSpPr>
          <p:cNvPr id="6" name="Shape 3"/>
          <p:cNvSpPr/>
          <p:nvPr/>
        </p:nvSpPr>
        <p:spPr>
          <a:xfrm>
            <a:off x="4937760" y="1728216"/>
            <a:ext cx="731520" cy="201168"/>
          </a:xfrm>
          <a:prstGeom prst="roundRect">
            <a:avLst>
              <a:gd name="adj" fmla="val 50000"/>
            </a:avLst>
          </a:prstGeom>
          <a:solidFill>
            <a:schemeClr val="accent1"/>
          </a:solidFill>
          <a:ln w="12700">
            <a:solidFill>
              <a:schemeClr val="accent1"/>
            </a:solidFill>
            <a:prstDash val="solid"/>
          </a:ln>
        </p:spPr>
      </p:sp>
      <p:sp>
        <p:nvSpPr>
          <p:cNvPr id="7" name="Text 4"/>
          <p:cNvSpPr txBox="1"/>
          <p:nvPr/>
        </p:nvSpPr>
        <p:spPr>
          <a:xfrm>
            <a:off x="4937760" y="1728216"/>
            <a:ext cx="731520" cy="201168"/>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8" name="Text 5"/>
          <p:cNvSpPr txBox="1"/>
          <p:nvPr/>
        </p:nvSpPr>
        <p:spPr>
          <a:xfrm>
            <a:off x="822960" y="2103120"/>
            <a:ext cx="4892040" cy="3840480"/>
          </a:xfrm>
          <a:prstGeom prst="rect">
            <a:avLst/>
          </a:prstGeom>
          <a:noFill/>
          <a:ln/>
        </p:spPr>
        <p:txBody>
          <a:bodyPr wrap="square" lIns="0" tIns="0" rIns="0" bIns="0" rtlCol="0" anchor="t"/>
          <a:lstStyle/>
          <a:p>
            <a:pPr indent="0" marL="0">
              <a:buNone/>
            </a:pPr>
            <a:r>
              <a:rPr lang="en-US" sz="1250" b="1" dirty="0">
                <a:solidFill>
                  <a:schemeClr val="accent1"/>
                </a:solidFill>
              </a:rPr>
              <a:t>Los agentes</a:t>
            </a:r>
            <a:endParaRPr lang="en-US" sz="1250" dirty="0"/>
          </a:p>
          <a:p>
            <a:pPr indent="0" marL="0">
              <a:spcAft>
                <a:spcPts val="800"/>
              </a:spcAft>
              <a:buNone/>
            </a:pPr>
            <a:r>
              <a:rPr lang="en-US" sz="1250" dirty="0">
                <a:solidFill>
                  <a:schemeClr val="tx1"/>
                </a:solidFill>
              </a:rPr>
              <a:t>Clasificador, enrutador, extractores, request builder, LLM-as-a-judge, pertinencia médica, duplicidad, concepto al escalar y auditor.</a:t>
            </a:r>
            <a:endParaRPr lang="en-US" sz="1250" dirty="0"/>
          </a:p>
          <a:p>
            <a:pPr indent="0" marL="0">
              <a:buNone/>
            </a:pPr>
            <a:r>
              <a:rPr lang="en-US" sz="1250" b="1" dirty="0">
                <a:solidFill>
                  <a:schemeClr val="accent1"/>
                </a:solidFill>
              </a:rPr>
              <a:t>Lo que los gobierna</a:t>
            </a:r>
            <a:endParaRPr lang="en-US" sz="1250" dirty="0"/>
          </a:p>
          <a:p>
            <a:pPr indent="0" marL="0">
              <a:spcAft>
                <a:spcPts val="800"/>
              </a:spcAft>
              <a:buNone/>
            </a:pPr>
            <a:r>
              <a:rPr lang="en-US" sz="1250" dirty="0">
                <a:solidFill>
                  <a:schemeClr val="tx1"/>
                </a:solidFill>
              </a:rPr>
              <a:t>Golden set, compuerta, traza de la decisión, umbrales, calibración del juez y techos de autonomía.</a:t>
            </a:r>
            <a:endParaRPr lang="en-US" sz="1250" dirty="0"/>
          </a:p>
          <a:p>
            <a:pPr indent="0" marL="0">
              <a:buNone/>
            </a:pPr>
            <a:r>
              <a:rPr lang="en-US" sz="1250" b="1" dirty="0">
                <a:solidFill>
                  <a:schemeClr val="accent1"/>
                </a:solidFill>
              </a:rPr>
              <a:t>La base de la torre de control</a:t>
            </a:r>
            <a:endParaRPr lang="en-US" sz="1250" dirty="0"/>
          </a:p>
          <a:p>
            <a:pPr indent="0" marL="0">
              <a:spcAft>
                <a:spcPts val="800"/>
              </a:spcAft>
              <a:buNone/>
            </a:pPr>
            <a:r>
              <a:rPr lang="en-US" sz="1250" dirty="0">
                <a:solidFill>
                  <a:schemeClr val="tx1"/>
                </a:solidFill>
              </a:rPr>
              <a:t>Contrato de eventos y torre de control, capas 1 y 2.</a:t>
            </a:r>
            <a:endParaRPr lang="en-US" sz="1250" dirty="0"/>
          </a:p>
          <a:p>
            <a:pPr indent="0" marL="0">
              <a:buNone/>
            </a:pPr>
            <a:r>
              <a:rPr lang="en-US" sz="1250" b="1" dirty="0">
                <a:solidFill>
                  <a:schemeClr val="accent1"/>
                </a:solidFill>
              </a:rPr>
              <a:t>Los simuladores de cada gestor</a:t>
            </a:r>
            <a:endParaRPr lang="en-US" sz="1250" dirty="0"/>
          </a:p>
          <a:p>
            <a:pPr indent="0" marL="0">
              <a:spcAft>
                <a:spcPts val="800"/>
              </a:spcAft>
              <a:buNone/>
            </a:pPr>
            <a:r>
              <a:rPr lang="en-US" sz="1250" dirty="0">
                <a:solidFill>
                  <a:schemeClr val="tx1"/>
                </a:solidFill>
              </a:rPr>
              <a:t>Del front, de la API orquestadora y de SuraHis, sobre el contrato acordado, para construir y verificar sin esperar a que lleguen.</a:t>
            </a:r>
            <a:endParaRPr lang="en-US" sz="1250" dirty="0"/>
          </a:p>
        </p:txBody>
      </p:sp>
      <p:sp>
        <p:nvSpPr>
          <p:cNvPr id="9" name="Shape 6"/>
          <p:cNvSpPr/>
          <p:nvPr/>
        </p:nvSpPr>
        <p:spPr>
          <a:xfrm>
            <a:off x="6172200" y="1508760"/>
            <a:ext cx="5440680" cy="4526280"/>
          </a:xfrm>
          <a:prstGeom prst="roundRect">
            <a:avLst>
              <a:gd name="adj" fmla="val 1616"/>
            </a:avLst>
          </a:prstGeom>
          <a:solidFill>
            <a:schemeClr val="accent4"/>
          </a:solidFill>
          <a:ln w="12700">
            <a:solidFill>
              <a:srgbClr val="DCD8EC"/>
            </a:solidFill>
            <a:prstDash val="solid"/>
          </a:ln>
        </p:spPr>
      </p:sp>
      <p:sp>
        <p:nvSpPr>
          <p:cNvPr id="10" name="Text 7"/>
          <p:cNvSpPr txBox="1"/>
          <p:nvPr/>
        </p:nvSpPr>
        <p:spPr>
          <a:xfrm>
            <a:off x="6446520" y="1645920"/>
            <a:ext cx="4069080" cy="365760"/>
          </a:xfrm>
          <a:prstGeom prst="rect">
            <a:avLst/>
          </a:prstGeom>
          <a:noFill/>
          <a:ln/>
        </p:spPr>
        <p:txBody>
          <a:bodyPr wrap="square" lIns="0" tIns="0" rIns="0" bIns="0" rtlCol="0" anchor="t"/>
          <a:lstStyle/>
          <a:p>
            <a:pPr indent="0" marL="0">
              <a:buNone/>
            </a:pPr>
            <a:r>
              <a:rPr lang="en-US" sz="1600" b="1" dirty="0">
                <a:solidFill>
                  <a:schemeClr val="accent6"/>
                </a:solidFill>
              </a:rPr>
              <a:t>Lo lideran los equipos de SURA</a:t>
            </a:r>
            <a:endParaRPr lang="en-US" sz="1600" dirty="0"/>
          </a:p>
        </p:txBody>
      </p:sp>
      <p:sp>
        <p:nvSpPr>
          <p:cNvPr id="11" name="Shape 8"/>
          <p:cNvSpPr/>
          <p:nvPr/>
        </p:nvSpPr>
        <p:spPr>
          <a:xfrm>
            <a:off x="10561320" y="1728216"/>
            <a:ext cx="731520" cy="201168"/>
          </a:xfrm>
          <a:prstGeom prst="roundRect">
            <a:avLst>
              <a:gd name="adj" fmla="val 50000"/>
            </a:avLst>
          </a:prstGeom>
          <a:solidFill>
            <a:schemeClr val="accent3"/>
          </a:solidFill>
          <a:ln w="12700">
            <a:solidFill>
              <a:schemeClr val="accent3"/>
            </a:solidFill>
            <a:prstDash val="solid"/>
          </a:ln>
        </p:spPr>
      </p:sp>
      <p:sp>
        <p:nvSpPr>
          <p:cNvPr id="12" name="Text 9"/>
          <p:cNvSpPr txBox="1"/>
          <p:nvPr/>
        </p:nvSpPr>
        <p:spPr>
          <a:xfrm>
            <a:off x="10561320" y="1728216"/>
            <a:ext cx="731520" cy="201168"/>
          </a:xfrm>
          <a:prstGeom prst="rect">
            <a:avLst/>
          </a:prstGeom>
          <a:noFill/>
          <a:ln/>
        </p:spPr>
        <p:txBody>
          <a:bodyPr wrap="square" lIns="0" tIns="0" rIns="0" bIns="0" rtlCol="0" anchor="ctr"/>
          <a:lstStyle/>
          <a:p>
            <a:pPr algn="ctr" indent="0" marL="0">
              <a:buNone/>
            </a:pPr>
            <a:r>
              <a:rPr lang="en-US" sz="850" b="1" dirty="0">
                <a:solidFill>
                  <a:schemeClr val="bg1"/>
                </a:solidFill>
              </a:rPr>
              <a:t>SURA</a:t>
            </a:r>
            <a:endParaRPr lang="en-US" sz="850" dirty="0"/>
          </a:p>
        </p:txBody>
      </p:sp>
      <p:sp>
        <p:nvSpPr>
          <p:cNvPr id="13" name="Text 10"/>
          <p:cNvSpPr txBox="1"/>
          <p:nvPr/>
        </p:nvSpPr>
        <p:spPr>
          <a:xfrm>
            <a:off x="6446520" y="2148840"/>
            <a:ext cx="48920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Front Angular y canales</a:t>
            </a:r>
            <a:endParaRPr lang="en-US" sz="1400" dirty="0"/>
          </a:p>
          <a:p>
            <a:pPr marL="342900" indent="-342900">
              <a:spcAft>
                <a:spcPts val="800"/>
              </a:spcAft>
              <a:buSzPct val="100000"/>
              <a:buChar char="•"/>
            </a:pPr>
            <a:r>
              <a:rPr lang="en-US" sz="1400" dirty="0">
                <a:solidFill>
                  <a:schemeClr val="tx1"/>
                </a:solidFill>
              </a:rPr>
              <a:t>API orquestadora de cada gestor e integración con el core SuraHis</a:t>
            </a:r>
            <a:endParaRPr lang="en-US" sz="1400" dirty="0"/>
          </a:p>
          <a:p>
            <a:pPr marL="342900" indent="-342900">
              <a:spcAft>
                <a:spcPts val="800"/>
              </a:spcAft>
              <a:buSzPct val="100000"/>
              <a:buChar char="•"/>
            </a:pPr>
            <a:r>
              <a:rPr lang="en-US" sz="1400" dirty="0">
                <a:solidFill>
                  <a:schemeClr val="tx1"/>
                </a:solidFill>
              </a:rPr>
              <a:t>Plataforma habilitadora y plataforma agéntica</a:t>
            </a:r>
            <a:endParaRPr lang="en-US" sz="1400" dirty="0"/>
          </a:p>
        </p:txBody>
      </p:sp>
      <p:sp>
        <p:nvSpPr>
          <p:cNvPr id="14" name="Shape 11"/>
          <p:cNvSpPr/>
          <p:nvPr/>
        </p:nvSpPr>
        <p:spPr>
          <a:xfrm>
            <a:off x="6446520" y="3840480"/>
            <a:ext cx="4892040" cy="2011680"/>
          </a:xfrm>
          <a:prstGeom prst="roundRect">
            <a:avLst>
              <a:gd name="adj" fmla="val 3636"/>
            </a:avLst>
          </a:prstGeom>
          <a:solidFill>
            <a:schemeClr val="bg2"/>
          </a:solidFill>
          <a:ln w="12700">
            <a:solidFill>
              <a:schemeClr val="bg2"/>
            </a:solidFill>
            <a:prstDash val="solid"/>
          </a:ln>
        </p:spPr>
      </p:sp>
      <p:sp>
        <p:nvSpPr>
          <p:cNvPr id="15" name="Text 12"/>
          <p:cNvSpPr txBox="1"/>
          <p:nvPr/>
        </p:nvSpPr>
        <p:spPr>
          <a:xfrm>
            <a:off x="6647688" y="3840480"/>
            <a:ext cx="4489704" cy="2011680"/>
          </a:xfrm>
          <a:prstGeom prst="rect">
            <a:avLst/>
          </a:prstGeom>
          <a:noFill/>
          <a:ln/>
        </p:spPr>
        <p:txBody>
          <a:bodyPr wrap="square" lIns="0" tIns="0" rIns="0" bIns="0" rtlCol="0" anchor="ctr"/>
          <a:lstStyle/>
          <a:p>
            <a:pPr indent="0" marL="0">
              <a:buNone/>
            </a:pPr>
            <a:r>
              <a:rPr lang="en-US" sz="1300" b="1" dirty="0">
                <a:solidFill>
                  <a:schemeClr val="tx2"/>
                </a:solidFill>
              </a:rPr>
              <a:t>El contrato manda. </a:t>
            </a:r>
            <a:pPr indent="0" marL="0">
              <a:buNone/>
            </a:pPr>
            <a:r>
              <a:rPr lang="en-US" sz="1300" dirty="0">
                <a:solidFill>
                  <a:schemeClr val="tx1"/>
                </a:solidFill>
              </a:rPr>
              <a:t>El contrato entre cada agente y su gestor se acuerda en el arranque. Los simuladores lo respetan; cuando llega la pieza real de SURA, se cambia el simulador por ella y el golden set confirma que nada se rompe.</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822960" y="178308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932688" y="1856232"/>
            <a:ext cx="1517904" cy="795528"/>
          </a:xfrm>
          <a:prstGeom prst="rect">
            <a:avLst/>
          </a:prstGeom>
        </p:spPr>
      </p:pic>
      <p:sp>
        <p:nvSpPr>
          <p:cNvPr id="5" name="Text 2"/>
          <p:cNvSpPr txBox="1"/>
          <p:nvPr/>
        </p:nvSpPr>
        <p:spPr>
          <a:xfrm>
            <a:off x="822960" y="2971800"/>
            <a:ext cx="10515600" cy="914400"/>
          </a:xfrm>
          <a:prstGeom prst="rect">
            <a:avLst/>
          </a:prstGeom>
          <a:noFill/>
          <a:ln/>
        </p:spPr>
        <p:txBody>
          <a:bodyPr wrap="square" lIns="0" tIns="0" rIns="0" bIns="0" rtlCol="0" anchor="t"/>
          <a:lstStyle/>
          <a:p>
            <a:pPr indent="0" marL="0">
              <a:buNone/>
            </a:pPr>
            <a:r>
              <a:rPr lang="en-US" sz="4600" b="1" dirty="0">
                <a:solidFill>
                  <a:schemeClr val="bg1"/>
                </a:solidFill>
                <a:latin typeface="+mj-lt" pitchFamily="34" charset="0"/>
                <a:ea typeface="+mj-lt" pitchFamily="34" charset="-122"/>
                <a:cs typeface="+mj-lt" pitchFamily="34" charset="-120"/>
              </a:rPr>
              <a:t>Tech and Solve Spec Flow</a:t>
            </a:r>
            <a:endParaRPr lang="en-US" sz="4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Principios: seis reglas que guían cada capacidad</a:t>
            </a:r>
            <a:endParaRPr lang="en-US" sz="2800" dirty="0"/>
          </a:p>
        </p:txBody>
      </p:sp>
      <p:sp>
        <p:nvSpPr>
          <p:cNvPr id="4" name="Shape 1"/>
          <p:cNvSpPr/>
          <p:nvPr/>
        </p:nvSpPr>
        <p:spPr>
          <a:xfrm>
            <a:off x="548640" y="1463040"/>
            <a:ext cx="3154680" cy="4709160"/>
          </a:xfrm>
          <a:prstGeom prst="roundRect">
            <a:avLst>
              <a:gd name="adj" fmla="val 2899"/>
            </a:avLst>
          </a:prstGeom>
          <a:solidFill>
            <a:schemeClr val="tx2"/>
          </a:solidFill>
          <a:ln w="12700">
            <a:solidFill>
              <a:schemeClr val="tx2"/>
            </a:solidFill>
            <a:prstDash val="solid"/>
          </a:ln>
        </p:spPr>
      </p:sp>
      <p:sp>
        <p:nvSpPr>
          <p:cNvPr id="5" name="Text 2"/>
          <p:cNvSpPr txBox="1"/>
          <p:nvPr/>
        </p:nvSpPr>
        <p:spPr>
          <a:xfrm>
            <a:off x="822960" y="2011680"/>
            <a:ext cx="2606040" cy="146304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Las personas definen y revisan.</a:t>
            </a:r>
            <a:endParaRPr lang="en-US" sz="2000" dirty="0"/>
          </a:p>
          <a:p>
            <a:pPr indent="0" marL="0">
              <a:buNone/>
            </a:pPr>
            <a:r>
              <a:rPr lang="en-US" sz="2000" b="1" dirty="0">
                <a:solidFill>
                  <a:schemeClr val="bg1"/>
                </a:solidFill>
                <a:latin typeface="+mj-lt" pitchFamily="34" charset="0"/>
                <a:ea typeface="+mj-lt" pitchFamily="34" charset="-122"/>
                <a:cs typeface="+mj-lt" pitchFamily="34" charset="-120"/>
              </a:rPr>
              <a:t>La IA escribe el código.</a:t>
            </a:r>
            <a:endParaRPr lang="en-US" sz="2000" dirty="0"/>
          </a:p>
        </p:txBody>
      </p:sp>
      <p:sp>
        <p:nvSpPr>
          <p:cNvPr id="6" name="Text 3"/>
          <p:cNvSpPr txBox="1"/>
          <p:nvPr/>
        </p:nvSpPr>
        <p:spPr>
          <a:xfrm>
            <a:off x="822960" y="3657600"/>
            <a:ext cx="2606040" cy="2011680"/>
          </a:xfrm>
          <a:prstGeom prst="rect">
            <a:avLst/>
          </a:prstGeom>
          <a:noFill/>
          <a:ln/>
        </p:spPr>
        <p:txBody>
          <a:bodyPr wrap="square" lIns="0" tIns="0" rIns="0" bIns="0" rtlCol="0" anchor="t"/>
          <a:lstStyle/>
          <a:p>
            <a:pPr indent="0" marL="0">
              <a:buNone/>
            </a:pPr>
            <a:r>
              <a:rPr lang="en-US" sz="1300" dirty="0">
                <a:solidFill>
                  <a:schemeClr val="bg2"/>
                </a:solidFill>
              </a:rPr>
              <a:t>Un equipo pequeño dirige a los agentes de IA, SURA define y certifica cada capacidad, y después del primer release las capacidades se liberan de forma continua.</a:t>
            </a:r>
            <a:endParaRPr lang="en-US" sz="1300" dirty="0"/>
          </a:p>
        </p:txBody>
      </p:sp>
      <p:sp>
        <p:nvSpPr>
          <p:cNvPr id="7" name="Shape 4"/>
          <p:cNvSpPr/>
          <p:nvPr/>
        </p:nvSpPr>
        <p:spPr>
          <a:xfrm>
            <a:off x="3886200" y="1463040"/>
            <a:ext cx="3781044" cy="1478280"/>
          </a:xfrm>
          <a:prstGeom prst="roundRect">
            <a:avLst>
              <a:gd name="adj" fmla="val 4948"/>
            </a:avLst>
          </a:prstGeom>
          <a:solidFill>
            <a:schemeClr val="accent4"/>
          </a:solidFill>
          <a:ln w="12700">
            <a:solidFill>
              <a:srgbClr val="DCD8EC"/>
            </a:solidFill>
            <a:prstDash val="solid"/>
          </a:ln>
        </p:spPr>
      </p:sp>
      <p:sp>
        <p:nvSpPr>
          <p:cNvPr id="8" name="Shape 5"/>
          <p:cNvSpPr/>
          <p:nvPr/>
        </p:nvSpPr>
        <p:spPr>
          <a:xfrm>
            <a:off x="3886200" y="1572768"/>
            <a:ext cx="54864" cy="1258824"/>
          </a:xfrm>
          <a:prstGeom prst="rect">
            <a:avLst/>
          </a:prstGeom>
          <a:solidFill>
            <a:schemeClr val="accent1"/>
          </a:solidFill>
          <a:ln w="12700">
            <a:solidFill>
              <a:schemeClr val="accent1"/>
            </a:solidFill>
            <a:prstDash val="solid"/>
          </a:ln>
        </p:spPr>
      </p:sp>
      <p:sp>
        <p:nvSpPr>
          <p:cNvPr id="9" name="Text 6"/>
          <p:cNvSpPr txBox="1"/>
          <p:nvPr/>
        </p:nvSpPr>
        <p:spPr>
          <a:xfrm>
            <a:off x="4069080" y="146304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01</a:t>
            </a:r>
            <a:endParaRPr lang="en-US" sz="2800" dirty="0"/>
          </a:p>
        </p:txBody>
      </p:sp>
      <p:sp>
        <p:nvSpPr>
          <p:cNvPr id="10" name="Text 7"/>
          <p:cNvSpPr txBox="1"/>
          <p:nvPr/>
        </p:nvSpPr>
        <p:spPr>
          <a:xfrm>
            <a:off x="4754880" y="153619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La especificación es el producto principal del equipo humano</a:t>
            </a:r>
            <a:endParaRPr lang="en-US" sz="1400" dirty="0"/>
          </a:p>
          <a:p>
            <a:pPr indent="0" marL="0">
              <a:buNone/>
            </a:pPr>
            <a:r>
              <a:rPr lang="en-US" sz="1050" dirty="0">
                <a:solidFill>
                  <a:schemeClr val="tx1"/>
                </a:solidFill>
              </a:rPr>
              <a:t>La IA escribe código. Las personas definen qué debe hacer, con qué datos y cómo se comprueba, y la especificación resultante es la fuente de verdad del sistema.</a:t>
            </a:r>
            <a:endParaRPr lang="en-US" sz="1400" dirty="0"/>
          </a:p>
        </p:txBody>
      </p:sp>
      <p:sp>
        <p:nvSpPr>
          <p:cNvPr id="11" name="Shape 8"/>
          <p:cNvSpPr/>
          <p:nvPr/>
        </p:nvSpPr>
        <p:spPr>
          <a:xfrm>
            <a:off x="7831836" y="1463040"/>
            <a:ext cx="3781044" cy="1478280"/>
          </a:xfrm>
          <a:prstGeom prst="roundRect">
            <a:avLst>
              <a:gd name="adj" fmla="val 4948"/>
            </a:avLst>
          </a:prstGeom>
          <a:solidFill>
            <a:schemeClr val="accent4"/>
          </a:solidFill>
          <a:ln w="12700">
            <a:solidFill>
              <a:srgbClr val="DCD8EC"/>
            </a:solidFill>
            <a:prstDash val="solid"/>
          </a:ln>
        </p:spPr>
      </p:sp>
      <p:sp>
        <p:nvSpPr>
          <p:cNvPr id="12" name="Shape 9"/>
          <p:cNvSpPr/>
          <p:nvPr/>
        </p:nvSpPr>
        <p:spPr>
          <a:xfrm>
            <a:off x="7831836" y="1572768"/>
            <a:ext cx="54864" cy="1258824"/>
          </a:xfrm>
          <a:prstGeom prst="rect">
            <a:avLst/>
          </a:prstGeom>
          <a:solidFill>
            <a:schemeClr val="accent1"/>
          </a:solidFill>
          <a:ln w="12700">
            <a:solidFill>
              <a:schemeClr val="accent1"/>
            </a:solidFill>
            <a:prstDash val="solid"/>
          </a:ln>
        </p:spPr>
      </p:sp>
      <p:sp>
        <p:nvSpPr>
          <p:cNvPr id="13" name="Text 10"/>
          <p:cNvSpPr txBox="1"/>
          <p:nvPr/>
        </p:nvSpPr>
        <p:spPr>
          <a:xfrm>
            <a:off x="8014716" y="146304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02</a:t>
            </a:r>
            <a:endParaRPr lang="en-US" sz="2800" dirty="0"/>
          </a:p>
        </p:txBody>
      </p:sp>
      <p:sp>
        <p:nvSpPr>
          <p:cNvPr id="14" name="Text 11"/>
          <p:cNvSpPr txBox="1"/>
          <p:nvPr/>
        </p:nvSpPr>
        <p:spPr>
          <a:xfrm>
            <a:off x="8700516" y="153619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Primero los ejemplos, después el código</a:t>
            </a:r>
            <a:endParaRPr lang="en-US" sz="1400" dirty="0"/>
          </a:p>
          <a:p>
            <a:pPr indent="0" marL="0">
              <a:buNone/>
            </a:pPr>
            <a:r>
              <a:rPr lang="en-US" sz="1050" dirty="0">
                <a:solidFill>
                  <a:schemeClr val="tx1"/>
                </a:solidFill>
              </a:rPr>
              <a:t>Los datos de prueba y los criterios de certificación de SURA se convierten en pruebas automatizadas antes de generar código.</a:t>
            </a:r>
            <a:endParaRPr lang="en-US" sz="1400" dirty="0"/>
          </a:p>
        </p:txBody>
      </p:sp>
      <p:sp>
        <p:nvSpPr>
          <p:cNvPr id="15" name="Shape 12"/>
          <p:cNvSpPr/>
          <p:nvPr/>
        </p:nvSpPr>
        <p:spPr>
          <a:xfrm>
            <a:off x="3886200" y="3078480"/>
            <a:ext cx="3781044" cy="1478280"/>
          </a:xfrm>
          <a:prstGeom prst="roundRect">
            <a:avLst>
              <a:gd name="adj" fmla="val 4948"/>
            </a:avLst>
          </a:prstGeom>
          <a:solidFill>
            <a:schemeClr val="accent4"/>
          </a:solidFill>
          <a:ln w="12700">
            <a:solidFill>
              <a:srgbClr val="DCD8EC"/>
            </a:solidFill>
            <a:prstDash val="solid"/>
          </a:ln>
        </p:spPr>
      </p:sp>
      <p:sp>
        <p:nvSpPr>
          <p:cNvPr id="16" name="Shape 13"/>
          <p:cNvSpPr/>
          <p:nvPr/>
        </p:nvSpPr>
        <p:spPr>
          <a:xfrm>
            <a:off x="3886200" y="3188208"/>
            <a:ext cx="54864" cy="1258824"/>
          </a:xfrm>
          <a:prstGeom prst="rect">
            <a:avLst/>
          </a:prstGeom>
          <a:solidFill>
            <a:schemeClr val="accent1"/>
          </a:solidFill>
          <a:ln w="12700">
            <a:solidFill>
              <a:schemeClr val="accent1"/>
            </a:solidFill>
            <a:prstDash val="solid"/>
          </a:ln>
        </p:spPr>
      </p:sp>
      <p:sp>
        <p:nvSpPr>
          <p:cNvPr id="17" name="Text 14"/>
          <p:cNvSpPr txBox="1"/>
          <p:nvPr/>
        </p:nvSpPr>
        <p:spPr>
          <a:xfrm>
            <a:off x="4069080" y="307848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03</a:t>
            </a:r>
            <a:endParaRPr lang="en-US" sz="2800" dirty="0"/>
          </a:p>
        </p:txBody>
      </p:sp>
      <p:sp>
        <p:nvSpPr>
          <p:cNvPr id="18" name="Text 15"/>
          <p:cNvSpPr txBox="1"/>
          <p:nvPr/>
        </p:nvSpPr>
        <p:spPr>
          <a:xfrm>
            <a:off x="4754880" y="315163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Revisión humana obligatoria</a:t>
            </a:r>
            <a:endParaRPr lang="en-US" sz="1400" dirty="0"/>
          </a:p>
          <a:p>
            <a:pPr indent="0" marL="0">
              <a:buNone/>
            </a:pPr>
            <a:r>
              <a:rPr lang="en-US" sz="1050" dirty="0">
                <a:solidFill>
                  <a:schemeClr val="tx1"/>
                </a:solidFill>
              </a:rPr>
              <a:t>Ningún código generado llega a producción sin revisión de un builder y, cuando afecta a la arquitectura, del arquitecto líder.</a:t>
            </a:r>
            <a:endParaRPr lang="en-US" sz="1400" dirty="0"/>
          </a:p>
        </p:txBody>
      </p:sp>
      <p:sp>
        <p:nvSpPr>
          <p:cNvPr id="19" name="Shape 16"/>
          <p:cNvSpPr/>
          <p:nvPr/>
        </p:nvSpPr>
        <p:spPr>
          <a:xfrm>
            <a:off x="7831836" y="3078480"/>
            <a:ext cx="3781044" cy="1478280"/>
          </a:xfrm>
          <a:prstGeom prst="roundRect">
            <a:avLst>
              <a:gd name="adj" fmla="val 4948"/>
            </a:avLst>
          </a:prstGeom>
          <a:solidFill>
            <a:schemeClr val="accent4"/>
          </a:solidFill>
          <a:ln w="12700">
            <a:solidFill>
              <a:srgbClr val="DCD8EC"/>
            </a:solidFill>
            <a:prstDash val="solid"/>
          </a:ln>
        </p:spPr>
      </p:sp>
      <p:sp>
        <p:nvSpPr>
          <p:cNvPr id="20" name="Shape 17"/>
          <p:cNvSpPr/>
          <p:nvPr/>
        </p:nvSpPr>
        <p:spPr>
          <a:xfrm>
            <a:off x="7831836" y="3188208"/>
            <a:ext cx="54864" cy="1258824"/>
          </a:xfrm>
          <a:prstGeom prst="rect">
            <a:avLst/>
          </a:prstGeom>
          <a:solidFill>
            <a:schemeClr val="accent1"/>
          </a:solidFill>
          <a:ln w="12700">
            <a:solidFill>
              <a:schemeClr val="accent1"/>
            </a:solidFill>
            <a:prstDash val="solid"/>
          </a:ln>
        </p:spPr>
      </p:sp>
      <p:sp>
        <p:nvSpPr>
          <p:cNvPr id="21" name="Text 18"/>
          <p:cNvSpPr txBox="1"/>
          <p:nvPr/>
        </p:nvSpPr>
        <p:spPr>
          <a:xfrm>
            <a:off x="8014716" y="307848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04</a:t>
            </a:r>
            <a:endParaRPr lang="en-US" sz="2800" dirty="0"/>
          </a:p>
        </p:txBody>
      </p:sp>
      <p:sp>
        <p:nvSpPr>
          <p:cNvPr id="22" name="Text 19"/>
          <p:cNvSpPr txBox="1"/>
          <p:nvPr/>
        </p:nvSpPr>
        <p:spPr>
          <a:xfrm>
            <a:off x="8700516" y="315163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Flujo continuo</a:t>
            </a:r>
            <a:endParaRPr lang="en-US" sz="1400" dirty="0"/>
          </a:p>
          <a:p>
            <a:pPr indent="0" marL="0">
              <a:buNone/>
            </a:pPr>
            <a:r>
              <a:rPr lang="en-US" sz="1050" dirty="0">
                <a:solidFill>
                  <a:schemeClr val="tx1"/>
                </a:solidFill>
              </a:rPr>
              <a:t>Cada capacidad avanza a su ritmo y se libera cuando está certificada.</a:t>
            </a:r>
            <a:endParaRPr lang="en-US" sz="1400" dirty="0"/>
          </a:p>
        </p:txBody>
      </p:sp>
      <p:sp>
        <p:nvSpPr>
          <p:cNvPr id="23" name="Shape 20"/>
          <p:cNvSpPr/>
          <p:nvPr/>
        </p:nvSpPr>
        <p:spPr>
          <a:xfrm>
            <a:off x="3886200" y="4693920"/>
            <a:ext cx="3781044" cy="1478280"/>
          </a:xfrm>
          <a:prstGeom prst="roundRect">
            <a:avLst>
              <a:gd name="adj" fmla="val 4948"/>
            </a:avLst>
          </a:prstGeom>
          <a:solidFill>
            <a:schemeClr val="accent4"/>
          </a:solidFill>
          <a:ln w="12700">
            <a:solidFill>
              <a:srgbClr val="DCD8EC"/>
            </a:solidFill>
            <a:prstDash val="solid"/>
          </a:ln>
        </p:spPr>
      </p:sp>
      <p:sp>
        <p:nvSpPr>
          <p:cNvPr id="24" name="Shape 21"/>
          <p:cNvSpPr/>
          <p:nvPr/>
        </p:nvSpPr>
        <p:spPr>
          <a:xfrm>
            <a:off x="3886200" y="4803648"/>
            <a:ext cx="54864" cy="1258824"/>
          </a:xfrm>
          <a:prstGeom prst="rect">
            <a:avLst/>
          </a:prstGeom>
          <a:solidFill>
            <a:schemeClr val="accent1"/>
          </a:solidFill>
          <a:ln w="12700">
            <a:solidFill>
              <a:schemeClr val="accent1"/>
            </a:solidFill>
            <a:prstDash val="solid"/>
          </a:ln>
        </p:spPr>
      </p:sp>
      <p:sp>
        <p:nvSpPr>
          <p:cNvPr id="25" name="Text 22"/>
          <p:cNvSpPr txBox="1"/>
          <p:nvPr/>
        </p:nvSpPr>
        <p:spPr>
          <a:xfrm>
            <a:off x="4069080" y="469392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05</a:t>
            </a:r>
            <a:endParaRPr lang="en-US" sz="2800" dirty="0"/>
          </a:p>
        </p:txBody>
      </p:sp>
      <p:sp>
        <p:nvSpPr>
          <p:cNvPr id="26" name="Text 23"/>
          <p:cNvSpPr txBox="1"/>
          <p:nvPr/>
        </p:nvSpPr>
        <p:spPr>
          <a:xfrm>
            <a:off x="4754880" y="476707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SURA forma parte del equipo</a:t>
            </a:r>
            <a:endParaRPr lang="en-US" sz="1400" dirty="0"/>
          </a:p>
          <a:p>
            <a:pPr indent="0" marL="0">
              <a:buNone/>
            </a:pPr>
            <a:r>
              <a:rPr lang="en-US" sz="1050" dirty="0">
                <a:solidFill>
                  <a:schemeClr val="tx1"/>
                </a:solidFill>
              </a:rPr>
              <a:t>Su tiempo de respuesta es parte del flujo y se mide igual que el del equipo.</a:t>
            </a:r>
            <a:endParaRPr lang="en-US" sz="1400" dirty="0"/>
          </a:p>
        </p:txBody>
      </p:sp>
      <p:sp>
        <p:nvSpPr>
          <p:cNvPr id="27" name="Shape 24"/>
          <p:cNvSpPr/>
          <p:nvPr/>
        </p:nvSpPr>
        <p:spPr>
          <a:xfrm>
            <a:off x="7831836" y="4693920"/>
            <a:ext cx="3781044" cy="1478280"/>
          </a:xfrm>
          <a:prstGeom prst="roundRect">
            <a:avLst>
              <a:gd name="adj" fmla="val 4948"/>
            </a:avLst>
          </a:prstGeom>
          <a:solidFill>
            <a:schemeClr val="accent4"/>
          </a:solidFill>
          <a:ln w="12700">
            <a:solidFill>
              <a:srgbClr val="DCD8EC"/>
            </a:solidFill>
            <a:prstDash val="solid"/>
          </a:ln>
        </p:spPr>
      </p:sp>
      <p:sp>
        <p:nvSpPr>
          <p:cNvPr id="28" name="Shape 25"/>
          <p:cNvSpPr/>
          <p:nvPr/>
        </p:nvSpPr>
        <p:spPr>
          <a:xfrm>
            <a:off x="7831836" y="4803648"/>
            <a:ext cx="54864" cy="1258824"/>
          </a:xfrm>
          <a:prstGeom prst="rect">
            <a:avLst/>
          </a:prstGeom>
          <a:solidFill>
            <a:schemeClr val="accent1"/>
          </a:solidFill>
          <a:ln w="12700">
            <a:solidFill>
              <a:schemeClr val="accent1"/>
            </a:solidFill>
            <a:prstDash val="solid"/>
          </a:ln>
        </p:spPr>
      </p:sp>
      <p:sp>
        <p:nvSpPr>
          <p:cNvPr id="29" name="Text 26"/>
          <p:cNvSpPr txBox="1"/>
          <p:nvPr/>
        </p:nvSpPr>
        <p:spPr>
          <a:xfrm>
            <a:off x="8014716" y="4693920"/>
            <a:ext cx="685800" cy="1478280"/>
          </a:xfrm>
          <a:prstGeom prst="rect">
            <a:avLst/>
          </a:prstGeom>
          <a:noFill/>
          <a:ln/>
        </p:spPr>
        <p:txBody>
          <a:bodyPr wrap="square" lIns="0" tIns="0" rIns="0" bIns="0" rtlCol="0" anchor="ctr"/>
          <a:lstStyle/>
          <a:p>
            <a:pPr indent="0" marL="0">
              <a:buNone/>
            </a:pPr>
            <a:r>
              <a:rPr lang="en-US" sz="2800" b="1" dirty="0">
                <a:solidFill>
                  <a:srgbClr val="C9BEF5"/>
                </a:solidFill>
              </a:rPr>
              <a:t>06</a:t>
            </a:r>
            <a:endParaRPr lang="en-US" sz="2800" dirty="0"/>
          </a:p>
        </p:txBody>
      </p:sp>
      <p:sp>
        <p:nvSpPr>
          <p:cNvPr id="30" name="Text 27"/>
          <p:cNvSpPr txBox="1"/>
          <p:nvPr/>
        </p:nvSpPr>
        <p:spPr>
          <a:xfrm>
            <a:off x="8700516" y="4767072"/>
            <a:ext cx="2775204" cy="1331976"/>
          </a:xfrm>
          <a:prstGeom prst="rect">
            <a:avLst/>
          </a:prstGeom>
          <a:noFill/>
          <a:ln/>
        </p:spPr>
        <p:txBody>
          <a:bodyPr wrap="square" lIns="0" tIns="0" rIns="0" bIns="0" rtlCol="0" anchor="ctr"/>
          <a:lstStyle/>
          <a:p>
            <a:pPr indent="0" marL="0">
              <a:buNone/>
            </a:pPr>
            <a:r>
              <a:rPr lang="en-US" sz="1250" b="1" dirty="0">
                <a:solidFill>
                  <a:schemeClr val="tx2"/>
                </a:solidFill>
              </a:rPr>
              <a:t>La arquitectura definida es el marco</a:t>
            </a:r>
            <a:endParaRPr lang="en-US" sz="1400" dirty="0"/>
          </a:p>
          <a:p>
            <a:pPr indent="0" marL="0">
              <a:buNone/>
            </a:pPr>
            <a:r>
              <a:rPr lang="en-US" sz="1050" dirty="0">
                <a:solidFill>
                  <a:schemeClr val="tx1"/>
                </a:solidFill>
              </a:rPr>
              <a:t>Partimos de la arquitectura de gestores ya trabajada con SURA y la hacemos evolucionar. Cualquier desviación es una decisión explícita del arquitecto líder con el arquitecto de negocio de SURA.</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Conceptos: el vocabulario común del método</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8961120"/>
              </a:tblGrid>
              <a:tr h="274320">
                <a:tc>
                  <a:txBody>
                    <a:bodyPr/>
                    <a:lstStyle/>
                    <a:p>
                      <a:pPr indent="0" marL="0">
                        <a:buNone/>
                      </a:pPr>
                      <a:r>
                        <a:rPr lang="en-US" sz="950" b="1" dirty="0">
                          <a:solidFill>
                            <a:schemeClr val="bg1"/>
                          </a:solidFill>
                        </a:rPr>
                        <a:t>Concepto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Definición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384048">
                <a:tc>
                  <a:txBody>
                    <a:bodyPr/>
                    <a:lstStyle/>
                    <a:p>
                      <a:pPr indent="0" marL="0">
                        <a:buNone/>
                      </a:pPr>
                      <a:r>
                        <a:rPr lang="en-US" sz="950" b="1" dirty="0">
                          <a:solidFill>
                            <a:schemeClr val="tx2"/>
                          </a:solidFill>
                        </a:rPr>
                        <a:t>Capacidad</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Unidad de valor que se puede construir, certificar y liberar por sí sola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Meta funcional</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Agrupa capacidades y conserva su talla S, M, L o XL para ordenar el backlog. Ejemplo: pertinencia médica (XL) se parte en capacidades como la homologación de CUPS y CIE-10, lista para CIE-11</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Backlog</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Lista de capacidades priorizada por el líder funcional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Ficha de capacidad</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Ficha de una sola pantalla que acompaña a cada capacidad: para qué, ejemplos con datos, reglas no obvias y cómo se certifica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Especificación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Traducción técnica de la ficha en requisitos verificables, generada por el agente y revisada por el equipo. Vive en el repositorio y es la fuente de verdad del comportamiento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Talla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Acotada (cabe en una ficha y se construye en no más de tres días) o amplia (se parte antes de construirse). No se estima esfuerzo; se mide el tiempo de ciclo real</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Contexto del agente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Archivos que guían a la IA: arquitectura, convenciones de código, estructura del repositorio, patrones aprobados y registros de decisiones técnicas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Harness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Lo que rodea al modelo para que el código salga bien: contexto del agente, plantillas, reglas desde revisiones reales, puntos de aprobación, pruebas primero y agentes auditores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Golden set y compuerta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Casos con respuesta conocida que prueban cada agente. Ningún agente se promueve si su golden set muestra regresión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Simulador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Réplica del front, la API orquestadora o SuraHis sobre el contrato acordado. La construye y mantiene Tech and Solve para no esperar a que lleguen las piezas reales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950" b="1" dirty="0">
                          <a:solidFill>
                            <a:schemeClr val="tx2"/>
                          </a:solidFill>
                        </a:rPr>
                        <a:t>Liberada y estable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Una capacidad está terminada cuando está en producción y superó el periodo de observación sin incidentes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548640" y="5806440"/>
            <a:ext cx="11064240" cy="502920"/>
          </a:xfrm>
          <a:prstGeom prst="rect">
            <a:avLst/>
          </a:prstGeom>
          <a:noFill/>
          <a:ln/>
        </p:spPr>
        <p:txBody>
          <a:bodyPr wrap="square" lIns="0" tIns="0" rIns="0" bIns="0" rtlCol="0" anchor="b"/>
          <a:lstStyle/>
          <a:p>
            <a:pPr indent="0" marL="0">
              <a:buNone/>
            </a:pPr>
            <a:r>
              <a:rPr lang="en-US" sz="950" b="1" dirty="0">
                <a:solidFill>
                  <a:schemeClr val="accent6"/>
                </a:solidFill>
              </a:rPr>
              <a:t>CIE-10 y CIE-11: </a:t>
            </a:r>
            <a:pPr indent="0" marL="0">
              <a:buNone/>
            </a:pPr>
            <a:r>
              <a:rPr lang="en-US" sz="950" dirty="0">
                <a:solidFill>
                  <a:schemeClr val="accent6"/>
                </a:solidFill>
              </a:rPr>
              <a:t>clasificación internacional de enfermedades. Colombia adoptó la CIE-11 con la </a:t>
            </a:r>
            <a:pPr indent="0" marL="0">
              <a:buNone/>
            </a:pPr>
            <a:r>
              <a:rPr lang="en-US" sz="95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Resolución 1442 de 2024</a:t>
            </a:r>
            <a:pPr indent="0" marL="0">
              <a:buNone/>
            </a:pPr>
            <a:r>
              <a:rPr lang="en-US" sz="950" dirty="0">
                <a:solidFill>
                  <a:schemeClr val="accent6"/>
                </a:solidFill>
              </a:rPr>
              <a:t>; la </a:t>
            </a:r>
            <a:pPr indent="0" marL="0">
              <a:buNone/>
            </a:pPr>
            <a:r>
              <a:rPr lang="en-US" sz="95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Resolución 1657 de 2025</a:t>
            </a:r>
            <a:pPr indent="0" marL="0">
              <a:buNone/>
            </a:pPr>
            <a:r>
              <a:rPr lang="en-US" sz="950" dirty="0">
                <a:solidFill>
                  <a:schemeClr val="accent6"/>
                </a:solidFill>
              </a:rPr>
              <a:t> da hasta 36 meses de transición, con la CIE-10 vigente y codificación dual para quien migra. </a:t>
            </a:r>
            <a:pPr indent="0" marL="0">
              <a:buNone/>
            </a:pPr>
            <a:r>
              <a:rPr lang="en-US" sz="950" b="1" dirty="0">
                <a:solidFill>
                  <a:schemeClr val="accent6"/>
                </a:solidFill>
              </a:rPr>
              <a:t>CUPS: </a:t>
            </a:r>
            <a:pPr indent="0" marL="0">
              <a:buNone/>
            </a:pPr>
            <a:r>
              <a:rPr lang="en-US" sz="950" dirty="0">
                <a:solidFill>
                  <a:schemeClr val="accent6"/>
                </a:solidFill>
              </a:rPr>
              <a:t>clasificación colombiana de procedimientos en salud, hoy la de la </a:t>
            </a:r>
            <a:pPr indent="0" marL="0">
              <a:buNone/>
            </a:pPr>
            <a:r>
              <a:rPr lang="en-US" sz="95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Resolución 2706 de 2025</a:t>
            </a:r>
            <a:pPr indent="0" marL="0">
              <a:buNone/>
            </a:pPr>
            <a:r>
              <a:rPr lang="en-US" sz="950" dirty="0">
                <a:solidFill>
                  <a:schemeClr val="accent6"/>
                </a:solidFill>
              </a:rPr>
              <a:t>.</a:t>
            </a:r>
            <a:endParaRPr lang="en-US" sz="9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Roles: dos de SURA y cuatro de Tech and Solve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822960"/>
                <a:gridCol w="7863840"/>
              </a:tblGrid>
              <a:tr h="292608">
                <a:tc>
                  <a:txBody>
                    <a:bodyPr/>
                    <a:lstStyle/>
                    <a:p>
                      <a:pPr indent="0" marL="0">
                        <a:buNone/>
                      </a:pPr>
                      <a:r>
                        <a:rPr lang="en-US" sz="1000" b="1" dirty="0">
                          <a:solidFill>
                            <a:schemeClr val="bg1"/>
                          </a:solidFill>
                        </a:rPr>
                        <a:t>Rol</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Parte</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Responsabilidad</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48640">
                <a:tc>
                  <a:txBody>
                    <a:bodyPr/>
                    <a:lstStyle/>
                    <a:p>
                      <a:pPr indent="0" marL="0">
                        <a:buNone/>
                      </a:pPr>
                      <a:r>
                        <a:rPr lang="en-US" sz="1000" b="1" dirty="0">
                          <a:solidFill>
                            <a:schemeClr val="tx2"/>
                          </a:solidFill>
                        </a:rPr>
                        <a:t>Líder funcional</a:t>
                      </a:r>
                      <a:endParaRPr lang="en-US" sz="1000" dirty="0"/>
                    </a:p>
                    <a:p>
                      <a:pPr indent="0" marL="0">
                        <a:buNone/>
                      </a:pPr>
                      <a:r>
                        <a:rPr lang="en-US" sz="850" dirty="0">
                          <a:solidFill>
                            <a:schemeClr val="accent6"/>
                          </a:solidFill>
                        </a:rPr>
                        <a:t>Product Owner de SURA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3"/>
                          </a:solidFill>
                        </a:rPr>
                        <a:t>SURA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Decide qué capacidades importan y en qué orden. Describe cómo deben funcionar con ejemplos concretos, entrega datos de prueba realistas y certifica cada capacidad, apoyándose en usuarios clave si lo necesita.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48640">
                <a:tc>
                  <a:txBody>
                    <a:bodyPr/>
                    <a:lstStyle/>
                    <a:p>
                      <a:pPr indent="0" marL="0">
                        <a:buNone/>
                      </a:pPr>
                      <a:r>
                        <a:rPr lang="en-US" sz="1000" b="1" dirty="0">
                          <a:solidFill>
                            <a:schemeClr val="tx2"/>
                          </a:solidFill>
                        </a:rPr>
                        <a:t>Arquitecto técnico de negocio</a:t>
                      </a:r>
                      <a:endParaRPr lang="en-US" sz="1000" dirty="0"/>
                    </a:p>
                    <a:p>
                      <a:pPr indent="0" marL="0">
                        <a:buNone/>
                      </a:pPr>
                      <a:r>
                        <a:rPr lang="en-US" sz="850" dirty="0">
                          <a:solidFill>
                            <a:schemeClr val="accent6"/>
                          </a:solidFill>
                        </a:rPr>
                        <a:t>Arquitectura de SURA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3"/>
                          </a:solidFill>
                        </a:rPr>
                        <a:t>SURA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Aporta reglas de negocio complejas, integraciones con sus sistemas, restricciones de seguridad y cumplimiento, y acceso a ambientes y datos. Valida cualquier decisión técnica que afecte a sus sistemas y aprueba con el arquitecto líder cada paso a producción.</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658368">
                <a:tc>
                  <a:txBody>
                    <a:bodyPr/>
                    <a:lstStyle/>
                    <a:p>
                      <a:pPr indent="0" marL="0">
                        <a:buNone/>
                      </a:pPr>
                      <a:r>
                        <a:rPr lang="en-US" sz="1000" b="1" dirty="0">
                          <a:solidFill>
                            <a:schemeClr val="tx2"/>
                          </a:solidFill>
                        </a:rPr>
                        <a:t>Arquitecto líder</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1"/>
                          </a:solidFill>
                        </a:rPr>
                        <a:t>Tech</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Garantiza que la implementación respete la arquitectura de gestores definida con SURA, sus lineamientos AI First y los techos de autonomía: ningún agente niega. Mantiene el contexto del agente y las plantillas, revisa el código crítico y es el interlocutor del arquitecto de SURA, con quien aprueba cada paso a producción. Responde del tablero y del ajuste continuo del método.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48640">
                <a:tc>
                  <a:txBody>
                    <a:bodyPr/>
                    <a:lstStyle/>
                    <a:p>
                      <a:pPr indent="0" marL="0">
                        <a:buNone/>
                      </a:pPr>
                      <a:r>
                        <a:rPr lang="en-US" sz="1000" b="1" dirty="0">
                          <a:solidFill>
                            <a:schemeClr val="tx2"/>
                          </a:solidFill>
                        </a:rPr>
                        <a:t>Builders (2)</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1"/>
                          </a:solidFill>
                        </a:rPr>
                        <a:t>Tech</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Generan con el agente la especificación, el diseño técnico y las tareas de cada capacidad a partir de la ficha, dirigen la generación de código, revisan, integran y corrigen lo que la IA no resuelve bien. Máximo dos capacidades a la vez cada uno. Con IA asumen también la verificación.</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48640">
                <a:tc>
                  <a:txBody>
                    <a:bodyPr/>
                    <a:lstStyle/>
                    <a:p>
                      <a:pPr indent="0" marL="0">
                        <a:buNone/>
                      </a:pPr>
                      <a:r>
                        <a:rPr lang="en-US" sz="1000" b="1" dirty="0">
                          <a:solidFill>
                            <a:schemeClr val="tx2"/>
                          </a:solidFill>
                        </a:rPr>
                        <a:t>Verificador</a:t>
                      </a:r>
                      <a:endParaRPr lang="en-US" sz="1000" dirty="0"/>
                    </a:p>
                    <a:p>
                      <a:pPr indent="0" marL="0">
                        <a:buNone/>
                      </a:pPr>
                      <a:r>
                        <a:rPr lang="en-US" sz="850" dirty="0">
                          <a:solidFill>
                            <a:schemeClr val="accent6"/>
                          </a:solidFill>
                        </a:rPr>
                        <a:t>Lo asumen los builders, con IA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1"/>
                          </a:solidFill>
                        </a:rPr>
                        <a:t>Tech</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Traduce los ejemplos y datos de SURA en pruebas automatizadas de aceptación, mantiene la suite de regresión y los controles de calidad del pipeline, e incorpora la evaluación de los agentes: golden set sin regresión, LLM-as-a-judge calibrado, y latencia y costo por caso.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48640">
                <a:tc>
                  <a:txBody>
                    <a:bodyPr/>
                    <a:lstStyle/>
                    <a:p>
                      <a:pPr indent="0" marL="0">
                        <a:buNone/>
                      </a:pPr>
                      <a:r>
                        <a:rPr lang="en-US" sz="1000" b="1" dirty="0">
                          <a:solidFill>
                            <a:schemeClr val="tx2"/>
                          </a:solidFill>
                        </a:rPr>
                        <a:t>Operador de liberación</a:t>
                      </a:r>
                      <a:endParaRPr lang="en-US" sz="1000" dirty="0"/>
                    </a:p>
                    <a:p>
                      <a:pPr indent="0" marL="0">
                        <a:buNone/>
                      </a:pPr>
                      <a:r>
                        <a:rPr lang="en-US" sz="850" dirty="0">
                          <a:solidFill>
                            <a:schemeClr val="accent6"/>
                          </a:solidFill>
                        </a:rPr>
                        <a:t>El soporte de media jornada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accent1"/>
                          </a:solidFill>
                        </a:rPr>
                        <a:t>Tech</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Mantiene el pipeline de integración y despliegue continuo, que lleva cada capacidad a certificación de forma automática y a producción una vez aprobada, con su rollback. Atiende la operación: banderas, monitoreo e incidentes, con una prueba nueva por cada incidente, y se alinea con el arquitecto líder o un builder si tiene dudas.</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548640" y="5074920"/>
            <a:ext cx="11064240" cy="365760"/>
          </a:xfrm>
          <a:prstGeom prst="rect">
            <a:avLst/>
          </a:prstGeom>
          <a:noFill/>
          <a:ln/>
        </p:spPr>
        <p:txBody>
          <a:bodyPr wrap="square" lIns="0" tIns="0" rIns="0" bIns="0" rtlCol="0" anchor="t"/>
          <a:lstStyle/>
          <a:p>
            <a:pPr indent="0" marL="0">
              <a:buNone/>
            </a:pPr>
            <a:r>
              <a:rPr lang="en-US" sz="950" dirty="0">
                <a:solidFill>
                  <a:schemeClr val="accent6"/>
                </a:solidFill>
              </a:rPr>
              <a:t>En el equipo propuesto, el arquitecto líder es Didier Fabián Franco Gómez; los builders son Juan Gabriel Colorado y Gian Valdiris, que con IA asumen también la verificación, y el operador de liberación es el soporte de media jornada.</a:t>
            </a:r>
            <a:endParaRPr lang="en-US" sz="9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Fases del proyecto: arranque, primer release y flujo continuo</a:t>
            </a:r>
            <a:endParaRPr lang="en-US" sz="2800" dirty="0"/>
          </a:p>
        </p:txBody>
      </p:sp>
      <p:sp>
        <p:nvSpPr>
          <p:cNvPr id="4" name="Shape 1"/>
          <p:cNvSpPr/>
          <p:nvPr/>
        </p:nvSpPr>
        <p:spPr>
          <a:xfrm>
            <a:off x="548640" y="1417320"/>
            <a:ext cx="2697480" cy="384048"/>
          </a:xfrm>
          <a:prstGeom prst="homePlate">
            <a:avLst/>
          </a:prstGeom>
          <a:solidFill>
            <a:schemeClr val="tx2"/>
          </a:solidFill>
          <a:ln w="12700">
            <a:solidFill>
              <a:schemeClr val="tx2"/>
            </a:solidFill>
            <a:prstDash val="solid"/>
          </a:ln>
        </p:spPr>
      </p:sp>
      <p:sp>
        <p:nvSpPr>
          <p:cNvPr id="5" name="Shape 2"/>
          <p:cNvSpPr/>
          <p:nvPr/>
        </p:nvSpPr>
        <p:spPr>
          <a:xfrm>
            <a:off x="3319272" y="1417320"/>
            <a:ext cx="2240280" cy="384048"/>
          </a:xfrm>
          <a:prstGeom prst="chevron">
            <a:avLst/>
          </a:prstGeom>
          <a:solidFill>
            <a:schemeClr val="accent1"/>
          </a:solidFill>
          <a:ln w="12700">
            <a:solidFill>
              <a:schemeClr val="accent1"/>
            </a:solidFill>
            <a:prstDash val="solid"/>
          </a:ln>
        </p:spPr>
      </p:sp>
      <p:sp>
        <p:nvSpPr>
          <p:cNvPr id="6" name="Shape 3"/>
          <p:cNvSpPr/>
          <p:nvPr/>
        </p:nvSpPr>
        <p:spPr>
          <a:xfrm>
            <a:off x="5632704" y="1417320"/>
            <a:ext cx="5980176" cy="384048"/>
          </a:xfrm>
          <a:prstGeom prst="chevron">
            <a:avLst/>
          </a:prstGeom>
          <a:solidFill>
            <a:schemeClr val="accent3"/>
          </a:solidFill>
          <a:ln w="12700">
            <a:solidFill>
              <a:schemeClr val="accent3"/>
            </a:solidFill>
            <a:prstDash val="solid"/>
          </a:ln>
        </p:spPr>
      </p:sp>
      <p:sp>
        <p:nvSpPr>
          <p:cNvPr id="7" name="Text 4"/>
          <p:cNvSpPr txBox="1"/>
          <p:nvPr/>
        </p:nvSpPr>
        <p:spPr>
          <a:xfrm>
            <a:off x="548640" y="1417320"/>
            <a:ext cx="2697480" cy="384048"/>
          </a:xfrm>
          <a:prstGeom prst="rect">
            <a:avLst/>
          </a:prstGeom>
          <a:noFill/>
          <a:ln/>
        </p:spPr>
        <p:txBody>
          <a:bodyPr wrap="square" lIns="0" tIns="0" rIns="0" bIns="0" rtlCol="0" anchor="ctr"/>
          <a:lstStyle/>
          <a:p>
            <a:pPr algn="ctr" indent="0" marL="0">
              <a:buNone/>
            </a:pPr>
            <a:r>
              <a:rPr lang="en-US" sz="1250" b="1" dirty="0">
                <a:solidFill>
                  <a:schemeClr val="bg1"/>
                </a:solidFill>
              </a:rPr>
              <a:t>1 · Arranque</a:t>
            </a:r>
            <a:endParaRPr lang="en-US" sz="1250" dirty="0"/>
          </a:p>
        </p:txBody>
      </p:sp>
      <p:sp>
        <p:nvSpPr>
          <p:cNvPr id="8" name="Text 5"/>
          <p:cNvSpPr txBox="1"/>
          <p:nvPr/>
        </p:nvSpPr>
        <p:spPr>
          <a:xfrm>
            <a:off x="3319272" y="1417320"/>
            <a:ext cx="2240280" cy="384048"/>
          </a:xfrm>
          <a:prstGeom prst="rect">
            <a:avLst/>
          </a:prstGeom>
          <a:noFill/>
          <a:ln/>
        </p:spPr>
        <p:txBody>
          <a:bodyPr wrap="square" lIns="0" tIns="0" rIns="0" bIns="0" rtlCol="0" anchor="ctr"/>
          <a:lstStyle/>
          <a:p>
            <a:pPr algn="ctr" indent="0" marL="0">
              <a:buNone/>
            </a:pPr>
            <a:r>
              <a:rPr lang="en-US" sz="1250" b="1" dirty="0">
                <a:solidFill>
                  <a:schemeClr val="bg1"/>
                </a:solidFill>
              </a:rPr>
              <a:t>2 · Primer release</a:t>
            </a:r>
            <a:endParaRPr lang="en-US" sz="1250" dirty="0"/>
          </a:p>
        </p:txBody>
      </p:sp>
      <p:sp>
        <p:nvSpPr>
          <p:cNvPr id="9" name="Text 6"/>
          <p:cNvSpPr txBox="1"/>
          <p:nvPr/>
        </p:nvSpPr>
        <p:spPr>
          <a:xfrm>
            <a:off x="5632704" y="1417320"/>
            <a:ext cx="5980176" cy="384048"/>
          </a:xfrm>
          <a:prstGeom prst="rect">
            <a:avLst/>
          </a:prstGeom>
          <a:noFill/>
          <a:ln/>
        </p:spPr>
        <p:txBody>
          <a:bodyPr wrap="square" lIns="0" tIns="0" rIns="0" bIns="0" rtlCol="0" anchor="ctr"/>
          <a:lstStyle/>
          <a:p>
            <a:pPr algn="ctr" indent="0" marL="0">
              <a:buNone/>
            </a:pPr>
            <a:r>
              <a:rPr lang="en-US" sz="1250" b="1" dirty="0">
                <a:solidFill>
                  <a:schemeClr val="bg1"/>
                </a:solidFill>
              </a:rPr>
              <a:t>3 · Flujo continuo</a:t>
            </a:r>
            <a:endParaRPr lang="en-US" sz="1250" dirty="0"/>
          </a:p>
        </p:txBody>
      </p:sp>
      <p:sp>
        <p:nvSpPr>
          <p:cNvPr id="10" name="Shape 7"/>
          <p:cNvSpPr/>
          <p:nvPr/>
        </p:nvSpPr>
        <p:spPr>
          <a:xfrm>
            <a:off x="548640" y="1874520"/>
            <a:ext cx="2697480" cy="3520440"/>
          </a:xfrm>
          <a:prstGeom prst="roundRect">
            <a:avLst>
              <a:gd name="adj" fmla="val 2712"/>
            </a:avLst>
          </a:prstGeom>
          <a:solidFill>
            <a:schemeClr val="accent4"/>
          </a:solidFill>
          <a:ln w="12700">
            <a:solidFill>
              <a:srgbClr val="DCD8EC"/>
            </a:solidFill>
            <a:prstDash val="solid"/>
          </a:ln>
        </p:spPr>
      </p:sp>
      <p:sp>
        <p:nvSpPr>
          <p:cNvPr id="11" name="Text 8"/>
          <p:cNvSpPr txBox="1"/>
          <p:nvPr/>
        </p:nvSpPr>
        <p:spPr>
          <a:xfrm>
            <a:off x="713232" y="1984248"/>
            <a:ext cx="2368296" cy="3300984"/>
          </a:xfrm>
          <a:prstGeom prst="rect">
            <a:avLst/>
          </a:prstGeom>
          <a:noFill/>
          <a:ln/>
        </p:spPr>
        <p:txBody>
          <a:bodyPr wrap="square" lIns="0" tIns="0" rIns="0" bIns="0" rtlCol="0" anchor="t"/>
          <a:lstStyle/>
          <a:p>
            <a:pPr indent="0" marL="0">
              <a:spcAft>
                <a:spcPts val="600"/>
              </a:spcAft>
              <a:buNone/>
            </a:pPr>
            <a:r>
              <a:rPr lang="en-US" sz="1250" b="1" dirty="0">
                <a:solidFill>
                  <a:schemeClr val="tx2"/>
                </a:solidFill>
              </a:rPr>
              <a:t>Máximo una semana</a:t>
            </a:r>
            <a:endParaRPr lang="en-US" sz="1150" dirty="0"/>
          </a:p>
          <a:p>
            <a:pPr indent="0" marL="0">
              <a:spcAft>
                <a:spcPts val="600"/>
              </a:spcAft>
              <a:buNone/>
            </a:pPr>
            <a:r>
              <a:rPr lang="en-US" sz="1150" dirty="0">
                <a:solidFill>
                  <a:schemeClr val="tx1"/>
                </a:solidFill>
              </a:rPr>
              <a:t>Repositorio base, contexto del agente, pipeline, simuladores, ambientes de desarrollo y certificación, acceso a datos y sistemas de SURA, y primeras fichas listas.</a:t>
            </a:r>
            <a:endParaRPr lang="en-US" sz="1150" dirty="0"/>
          </a:p>
          <a:p>
            <a:pPr indent="0" marL="0">
              <a:buNone/>
            </a:pPr>
            <a:r>
              <a:rPr lang="en-US" sz="1150" b="1" dirty="0">
                <a:solidFill>
                  <a:schemeClr val="tx2"/>
                </a:solidFill>
              </a:rPr>
              <a:t>Se define lo común: </a:t>
            </a:r>
            <a:pPr indent="0" marL="0">
              <a:buNone/>
            </a:pPr>
            <a:r>
              <a:rPr lang="en-US" sz="1150" dirty="0">
                <a:solidFill>
                  <a:schemeClr val="tx1"/>
                </a:solidFill>
              </a:rPr>
              <a:t>arquetipo, contrato de eventos y trazabilidad.</a:t>
            </a:r>
            <a:endParaRPr lang="en-US" sz="1150" dirty="0"/>
          </a:p>
        </p:txBody>
      </p:sp>
      <p:sp>
        <p:nvSpPr>
          <p:cNvPr id="12" name="Shape 9"/>
          <p:cNvSpPr/>
          <p:nvPr/>
        </p:nvSpPr>
        <p:spPr>
          <a:xfrm>
            <a:off x="3319272" y="1874520"/>
            <a:ext cx="2240280" cy="3520440"/>
          </a:xfrm>
          <a:prstGeom prst="roundRect">
            <a:avLst>
              <a:gd name="adj" fmla="val 3265"/>
            </a:avLst>
          </a:prstGeom>
          <a:solidFill>
            <a:schemeClr val="accent4"/>
          </a:solidFill>
          <a:ln w="12700">
            <a:solidFill>
              <a:srgbClr val="DCD8EC"/>
            </a:solidFill>
            <a:prstDash val="solid"/>
          </a:ln>
        </p:spPr>
      </p:sp>
      <p:sp>
        <p:nvSpPr>
          <p:cNvPr id="13" name="Text 10"/>
          <p:cNvSpPr txBox="1"/>
          <p:nvPr/>
        </p:nvSpPr>
        <p:spPr>
          <a:xfrm>
            <a:off x="3483864" y="1984248"/>
            <a:ext cx="1911096" cy="3300984"/>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Conjunto mínimo de capacidades acordado con el líder funcional.</a:t>
            </a:r>
            <a:endParaRPr lang="en-US" sz="1150" dirty="0"/>
          </a:p>
          <a:p>
            <a:pPr indent="0" marL="0">
              <a:buNone/>
            </a:pPr>
            <a:r>
              <a:rPr lang="en-US" sz="1150" b="1" dirty="0">
                <a:solidFill>
                  <a:schemeClr val="tx2"/>
                </a:solidFill>
              </a:rPr>
              <a:t>Es la única vez que se agrupa un alcance.</a:t>
            </a:r>
            <a:endParaRPr lang="en-US" sz="1150" dirty="0"/>
          </a:p>
        </p:txBody>
      </p:sp>
      <p:sp>
        <p:nvSpPr>
          <p:cNvPr id="14" name="Shape 11"/>
          <p:cNvSpPr/>
          <p:nvPr/>
        </p:nvSpPr>
        <p:spPr>
          <a:xfrm>
            <a:off x="5632704" y="1874520"/>
            <a:ext cx="5980176" cy="3520440"/>
          </a:xfrm>
          <a:prstGeom prst="roundRect">
            <a:avLst>
              <a:gd name="adj" fmla="val 2078"/>
            </a:avLst>
          </a:prstGeom>
          <a:solidFill>
            <a:schemeClr val="accent4"/>
          </a:solidFill>
          <a:ln w="12700">
            <a:solidFill>
              <a:srgbClr val="DCD8EC"/>
            </a:solidFill>
            <a:prstDash val="solid"/>
          </a:ln>
        </p:spPr>
      </p:sp>
      <p:sp>
        <p:nvSpPr>
          <p:cNvPr id="15" name="Text 12"/>
          <p:cNvSpPr txBox="1"/>
          <p:nvPr/>
        </p:nvSpPr>
        <p:spPr>
          <a:xfrm>
            <a:off x="5797296" y="1965960"/>
            <a:ext cx="5650992" cy="548640"/>
          </a:xfrm>
          <a:prstGeom prst="rect">
            <a:avLst/>
          </a:prstGeom>
          <a:noFill/>
          <a:ln/>
        </p:spPr>
        <p:txBody>
          <a:bodyPr wrap="square" lIns="0" tIns="0" rIns="0" bIns="0" rtlCol="0" anchor="t"/>
          <a:lstStyle/>
          <a:p>
            <a:pPr indent="0" marL="0">
              <a:buNone/>
            </a:pPr>
            <a:r>
              <a:rPr lang="en-US" sz="1150" dirty="0">
                <a:solidFill>
                  <a:schemeClr val="tx1"/>
                </a:solidFill>
              </a:rPr>
              <a:t>Cada capacidad certificada se libera de forma independiente y automatizada, normalmente detrás de una bandera de activación que SURA decide encender.</a:t>
            </a:r>
            <a:endParaRPr lang="en-US" sz="1150" dirty="0"/>
          </a:p>
        </p:txBody>
      </p:sp>
      <p:sp>
        <p:nvSpPr>
          <p:cNvPr id="16" name="Text 13"/>
          <p:cNvSpPr txBox="1"/>
          <p:nvPr/>
        </p:nvSpPr>
        <p:spPr>
          <a:xfrm>
            <a:off x="5797296" y="2532888"/>
            <a:ext cx="5650992" cy="256032"/>
          </a:xfrm>
          <a:prstGeom prst="rect">
            <a:avLst/>
          </a:prstGeom>
          <a:noFill/>
          <a:ln/>
        </p:spPr>
        <p:txBody>
          <a:bodyPr wrap="square" lIns="0" tIns="0" rIns="0" bIns="0" rtlCol="0" anchor="t"/>
          <a:lstStyle/>
          <a:p>
            <a:pPr indent="0" marL="0">
              <a:buNone/>
            </a:pPr>
            <a:r>
              <a:rPr lang="en-US" sz="1000" b="1" dirty="0">
                <a:solidFill>
                  <a:schemeClr val="accent3"/>
                </a:solidFill>
              </a:rPr>
              <a:t>Orden sugerido, no un calendario: SURA lo confirma o lo cambia al priorizar el backlog</a:t>
            </a:r>
            <a:endParaRPr lang="en-US" sz="1000" dirty="0"/>
          </a:p>
        </p:txBody>
      </p:sp>
      <p:sp>
        <p:nvSpPr>
          <p:cNvPr id="17" name="Shape 14"/>
          <p:cNvSpPr/>
          <p:nvPr/>
        </p:nvSpPr>
        <p:spPr>
          <a:xfrm>
            <a:off x="5797296" y="2862072"/>
            <a:ext cx="1810512" cy="1325880"/>
          </a:xfrm>
          <a:prstGeom prst="roundRect">
            <a:avLst>
              <a:gd name="adj" fmla="val 5517"/>
            </a:avLst>
          </a:prstGeom>
          <a:solidFill>
            <a:schemeClr val="bg1"/>
          </a:solidFill>
          <a:ln w="12700">
            <a:solidFill>
              <a:srgbClr val="DCD8EC"/>
            </a:solidFill>
            <a:prstDash val="solid"/>
          </a:ln>
        </p:spPr>
      </p:sp>
      <p:sp>
        <p:nvSpPr>
          <p:cNvPr id="18" name="Shape 15"/>
          <p:cNvSpPr/>
          <p:nvPr/>
        </p:nvSpPr>
        <p:spPr>
          <a:xfrm>
            <a:off x="5870448" y="2862072"/>
            <a:ext cx="1664208" cy="45720"/>
          </a:xfrm>
          <a:prstGeom prst="rect">
            <a:avLst/>
          </a:prstGeom>
          <a:solidFill>
            <a:schemeClr val="accent3"/>
          </a:solidFill>
          <a:ln w="12700">
            <a:solidFill>
              <a:schemeClr val="accent3"/>
            </a:solidFill>
            <a:prstDash val="solid"/>
          </a:ln>
        </p:spPr>
      </p:sp>
      <p:sp>
        <p:nvSpPr>
          <p:cNvPr id="19" name="Text 16"/>
          <p:cNvSpPr txBox="1"/>
          <p:nvPr/>
        </p:nvSpPr>
        <p:spPr>
          <a:xfrm>
            <a:off x="5888736" y="2935224"/>
            <a:ext cx="1627632" cy="1207008"/>
          </a:xfrm>
          <a:prstGeom prst="rect">
            <a:avLst/>
          </a:prstGeom>
          <a:noFill/>
          <a:ln/>
        </p:spPr>
        <p:txBody>
          <a:bodyPr wrap="square" lIns="0" tIns="0" rIns="0" bIns="0" rtlCol="0" anchor="t"/>
          <a:lstStyle/>
          <a:p>
            <a:pPr indent="0" marL="0">
              <a:buNone/>
            </a:pPr>
            <a:r>
              <a:rPr lang="en-US" sz="850" b="1" dirty="0">
                <a:solidFill>
                  <a:schemeClr val="accent2"/>
                </a:solidFill>
              </a:rPr>
              <a:t>Bloque 1</a:t>
            </a:r>
            <a:endParaRPr lang="en-US" sz="1400" dirty="0"/>
          </a:p>
          <a:p>
            <a:pPr indent="0" marL="0">
              <a:buNone/>
            </a:pPr>
            <a:r>
              <a:rPr lang="en-US" sz="1100" b="1" dirty="0">
                <a:solidFill>
                  <a:schemeClr val="tx2"/>
                </a:solidFill>
              </a:rPr>
              <a:t>Agentes de Solicitud</a:t>
            </a:r>
            <a:endParaRPr lang="en-US" sz="1400" dirty="0"/>
          </a:p>
          <a:p>
            <a:pPr indent="0" marL="0">
              <a:buNone/>
            </a:pPr>
            <a:r>
              <a:rPr lang="en-US" sz="950" dirty="0">
                <a:solidFill>
                  <a:schemeClr val="tx1"/>
                </a:solidFill>
              </a:rPr>
              <a:t>Clasificador, enrutador, extractores, request builder y LLM-as-a-judge; escala a preradicado con su motivo.</a:t>
            </a:r>
            <a:endParaRPr lang="en-US" sz="1400" dirty="0"/>
          </a:p>
        </p:txBody>
      </p:sp>
      <p:sp>
        <p:nvSpPr>
          <p:cNvPr id="20" name="Shape 17"/>
          <p:cNvSpPr/>
          <p:nvPr/>
        </p:nvSpPr>
        <p:spPr>
          <a:xfrm>
            <a:off x="5797296" y="4306824"/>
            <a:ext cx="1810512" cy="502920"/>
          </a:xfrm>
          <a:prstGeom prst="roundRect">
            <a:avLst>
              <a:gd name="adj" fmla="val 14545"/>
            </a:avLst>
          </a:prstGeom>
          <a:solidFill>
            <a:schemeClr val="bg1"/>
          </a:solidFill>
          <a:ln w="19050">
            <a:solidFill>
              <a:schemeClr val="accent3"/>
            </a:solidFill>
            <a:prstDash val="solid"/>
          </a:ln>
        </p:spPr>
      </p:sp>
      <p:sp>
        <p:nvSpPr>
          <p:cNvPr id="21" name="Text 18"/>
          <p:cNvSpPr txBox="1"/>
          <p:nvPr/>
        </p:nvSpPr>
        <p:spPr>
          <a:xfrm>
            <a:off x="5852160" y="4306824"/>
            <a:ext cx="1700784" cy="502920"/>
          </a:xfrm>
          <a:prstGeom prst="rect">
            <a:avLst/>
          </a:prstGeom>
          <a:noFill/>
          <a:ln/>
        </p:spPr>
        <p:txBody>
          <a:bodyPr wrap="square" lIns="0" tIns="0" rIns="0" bIns="0" rtlCol="0" anchor="ctr"/>
          <a:lstStyle/>
          <a:p>
            <a:pPr algn="ctr" indent="0" marL="0">
              <a:buNone/>
            </a:pPr>
            <a:r>
              <a:rPr lang="en-US" sz="900" b="1" dirty="0">
                <a:solidFill>
                  <a:schemeClr val="accent3"/>
                </a:solidFill>
              </a:rPr>
              <a:t>Hito 1 · agentes de Solicitud listos para activar</a:t>
            </a:r>
            <a:endParaRPr lang="en-US" sz="900" dirty="0"/>
          </a:p>
        </p:txBody>
      </p:sp>
      <p:sp>
        <p:nvSpPr>
          <p:cNvPr id="22" name="Shape 19"/>
          <p:cNvSpPr/>
          <p:nvPr/>
        </p:nvSpPr>
        <p:spPr>
          <a:xfrm>
            <a:off x="7717536" y="2862072"/>
            <a:ext cx="1810512" cy="1325880"/>
          </a:xfrm>
          <a:prstGeom prst="roundRect">
            <a:avLst>
              <a:gd name="adj" fmla="val 5517"/>
            </a:avLst>
          </a:prstGeom>
          <a:solidFill>
            <a:schemeClr val="bg1"/>
          </a:solidFill>
          <a:ln w="12700">
            <a:solidFill>
              <a:srgbClr val="DCD8EC"/>
            </a:solidFill>
            <a:prstDash val="solid"/>
          </a:ln>
        </p:spPr>
      </p:sp>
      <p:sp>
        <p:nvSpPr>
          <p:cNvPr id="23" name="Shape 20"/>
          <p:cNvSpPr/>
          <p:nvPr/>
        </p:nvSpPr>
        <p:spPr>
          <a:xfrm>
            <a:off x="7790688" y="2862072"/>
            <a:ext cx="1664208" cy="45720"/>
          </a:xfrm>
          <a:prstGeom prst="rect">
            <a:avLst/>
          </a:prstGeom>
          <a:solidFill>
            <a:schemeClr val="accent3"/>
          </a:solidFill>
          <a:ln w="12700">
            <a:solidFill>
              <a:schemeClr val="accent3"/>
            </a:solidFill>
            <a:prstDash val="solid"/>
          </a:ln>
        </p:spPr>
      </p:sp>
      <p:sp>
        <p:nvSpPr>
          <p:cNvPr id="24" name="Text 21"/>
          <p:cNvSpPr txBox="1"/>
          <p:nvPr/>
        </p:nvSpPr>
        <p:spPr>
          <a:xfrm>
            <a:off x="7808976" y="2935224"/>
            <a:ext cx="1627632" cy="1207008"/>
          </a:xfrm>
          <a:prstGeom prst="rect">
            <a:avLst/>
          </a:prstGeom>
          <a:noFill/>
          <a:ln/>
        </p:spPr>
        <p:txBody>
          <a:bodyPr wrap="square" lIns="0" tIns="0" rIns="0" bIns="0" rtlCol="0" anchor="t"/>
          <a:lstStyle/>
          <a:p>
            <a:pPr indent="0" marL="0">
              <a:buNone/>
            </a:pPr>
            <a:r>
              <a:rPr lang="en-US" sz="850" b="1" dirty="0">
                <a:solidFill>
                  <a:schemeClr val="accent2"/>
                </a:solidFill>
              </a:rPr>
              <a:t>Bloque 2</a:t>
            </a:r>
            <a:endParaRPr lang="en-US" sz="1400" dirty="0"/>
          </a:p>
          <a:p>
            <a:pPr indent="0" marL="0">
              <a:buNone/>
            </a:pPr>
            <a:r>
              <a:rPr lang="en-US" sz="1100" b="1" dirty="0">
                <a:solidFill>
                  <a:schemeClr val="tx2"/>
                </a:solidFill>
              </a:rPr>
              <a:t>Agentes de Evaluación</a:t>
            </a:r>
            <a:endParaRPr lang="en-US" sz="1400" dirty="0"/>
          </a:p>
          <a:p>
            <a:pPr indent="0" marL="0">
              <a:buNone/>
            </a:pPr>
            <a:r>
              <a:rPr lang="en-US" sz="950" dirty="0">
                <a:solidFill>
                  <a:schemeClr val="tx1"/>
                </a:solidFill>
              </a:rPr>
              <a:t>Coberturas, pertinencia médica, duplicidad y concepto al escalar. Ningún agente niega.</a:t>
            </a:r>
            <a:endParaRPr lang="en-US" sz="1400" dirty="0"/>
          </a:p>
        </p:txBody>
      </p:sp>
      <p:sp>
        <p:nvSpPr>
          <p:cNvPr id="25" name="Shape 22"/>
          <p:cNvSpPr/>
          <p:nvPr/>
        </p:nvSpPr>
        <p:spPr>
          <a:xfrm>
            <a:off x="7717536" y="4306824"/>
            <a:ext cx="1810512" cy="502920"/>
          </a:xfrm>
          <a:prstGeom prst="roundRect">
            <a:avLst>
              <a:gd name="adj" fmla="val 14545"/>
            </a:avLst>
          </a:prstGeom>
          <a:solidFill>
            <a:schemeClr val="bg1"/>
          </a:solidFill>
          <a:ln w="19050">
            <a:solidFill>
              <a:schemeClr val="accent3"/>
            </a:solidFill>
            <a:prstDash val="solid"/>
          </a:ln>
        </p:spPr>
      </p:sp>
      <p:sp>
        <p:nvSpPr>
          <p:cNvPr id="26" name="Text 23"/>
          <p:cNvSpPr txBox="1"/>
          <p:nvPr/>
        </p:nvSpPr>
        <p:spPr>
          <a:xfrm>
            <a:off x="7772400" y="4306824"/>
            <a:ext cx="1700784" cy="502920"/>
          </a:xfrm>
          <a:prstGeom prst="rect">
            <a:avLst/>
          </a:prstGeom>
          <a:noFill/>
          <a:ln/>
        </p:spPr>
        <p:txBody>
          <a:bodyPr wrap="square" lIns="0" tIns="0" rIns="0" bIns="0" rtlCol="0" anchor="ctr"/>
          <a:lstStyle/>
          <a:p>
            <a:pPr algn="ctr" indent="0" marL="0">
              <a:buNone/>
            </a:pPr>
            <a:r>
              <a:rPr lang="en-US" sz="900" b="1" dirty="0">
                <a:solidFill>
                  <a:schemeClr val="accent3"/>
                </a:solidFill>
              </a:rPr>
              <a:t>Hito 2 · autorización automática de nivel 1 lista para activar</a:t>
            </a:r>
            <a:endParaRPr lang="en-US" sz="900" dirty="0"/>
          </a:p>
        </p:txBody>
      </p:sp>
      <p:sp>
        <p:nvSpPr>
          <p:cNvPr id="27" name="Shape 24"/>
          <p:cNvSpPr/>
          <p:nvPr/>
        </p:nvSpPr>
        <p:spPr>
          <a:xfrm>
            <a:off x="9637776" y="2862072"/>
            <a:ext cx="1810512" cy="1325880"/>
          </a:xfrm>
          <a:prstGeom prst="roundRect">
            <a:avLst>
              <a:gd name="adj" fmla="val 5517"/>
            </a:avLst>
          </a:prstGeom>
          <a:solidFill>
            <a:schemeClr val="bg1"/>
          </a:solidFill>
          <a:ln w="12700">
            <a:solidFill>
              <a:srgbClr val="DCD8EC"/>
            </a:solidFill>
            <a:prstDash val="solid"/>
          </a:ln>
        </p:spPr>
      </p:sp>
      <p:sp>
        <p:nvSpPr>
          <p:cNvPr id="28" name="Shape 25"/>
          <p:cNvSpPr/>
          <p:nvPr/>
        </p:nvSpPr>
        <p:spPr>
          <a:xfrm>
            <a:off x="9710928" y="2862072"/>
            <a:ext cx="1664208" cy="45720"/>
          </a:xfrm>
          <a:prstGeom prst="rect">
            <a:avLst/>
          </a:prstGeom>
          <a:solidFill>
            <a:schemeClr val="accent3"/>
          </a:solidFill>
          <a:ln w="12700">
            <a:solidFill>
              <a:schemeClr val="accent3"/>
            </a:solidFill>
            <a:prstDash val="solid"/>
          </a:ln>
        </p:spPr>
      </p:sp>
      <p:sp>
        <p:nvSpPr>
          <p:cNvPr id="29" name="Text 26"/>
          <p:cNvSpPr txBox="1"/>
          <p:nvPr/>
        </p:nvSpPr>
        <p:spPr>
          <a:xfrm>
            <a:off x="9729216" y="2935224"/>
            <a:ext cx="1627632" cy="1207008"/>
          </a:xfrm>
          <a:prstGeom prst="rect">
            <a:avLst/>
          </a:prstGeom>
          <a:noFill/>
          <a:ln/>
        </p:spPr>
        <p:txBody>
          <a:bodyPr wrap="square" lIns="0" tIns="0" rIns="0" bIns="0" rtlCol="0" anchor="t"/>
          <a:lstStyle/>
          <a:p>
            <a:pPr indent="0" marL="0">
              <a:buNone/>
            </a:pPr>
            <a:r>
              <a:rPr lang="en-US" sz="850" b="1" dirty="0">
                <a:solidFill>
                  <a:schemeClr val="accent2"/>
                </a:solidFill>
              </a:rPr>
              <a:t>Bloque 3</a:t>
            </a:r>
            <a:endParaRPr lang="en-US" sz="1400" dirty="0"/>
          </a:p>
          <a:p>
            <a:pPr indent="0" marL="0">
              <a:buNone/>
            </a:pPr>
            <a:r>
              <a:rPr lang="en-US" sz="1100" b="1" dirty="0">
                <a:solidFill>
                  <a:schemeClr val="tx2"/>
                </a:solidFill>
              </a:rPr>
              <a:t>Auditor y cierre</a:t>
            </a:r>
            <a:endParaRPr lang="en-US" sz="1400" dirty="0"/>
          </a:p>
          <a:p>
            <a:pPr indent="0" marL="0">
              <a:buNone/>
            </a:pPr>
            <a:r>
              <a:rPr lang="en-US" sz="950" dirty="0">
                <a:solidFill>
                  <a:schemeClr val="tx1"/>
                </a:solidFill>
              </a:rPr>
              <a:t>Auditor dentro de cada gestor, que propone sin promover, y pruebas de punta a punta.</a:t>
            </a:r>
            <a:endParaRPr lang="en-US" sz="1400" dirty="0"/>
          </a:p>
        </p:txBody>
      </p:sp>
      <p:sp>
        <p:nvSpPr>
          <p:cNvPr id="30" name="Shape 27"/>
          <p:cNvSpPr/>
          <p:nvPr/>
        </p:nvSpPr>
        <p:spPr>
          <a:xfrm>
            <a:off x="548640" y="5532120"/>
            <a:ext cx="11064240" cy="658368"/>
          </a:xfrm>
          <a:prstGeom prst="roundRect">
            <a:avLst>
              <a:gd name="adj" fmla="val 11111"/>
            </a:avLst>
          </a:prstGeom>
          <a:solidFill>
            <a:schemeClr val="tx2"/>
          </a:solidFill>
          <a:ln w="12700">
            <a:solidFill>
              <a:schemeClr val="tx2"/>
            </a:solidFill>
            <a:prstDash val="solid"/>
          </a:ln>
        </p:spPr>
      </p:sp>
      <p:sp>
        <p:nvSpPr>
          <p:cNvPr id="31" name="Text 28"/>
          <p:cNvSpPr txBox="1"/>
          <p:nvPr/>
        </p:nvSpPr>
        <p:spPr>
          <a:xfrm>
            <a:off x="777240" y="5532120"/>
            <a:ext cx="10607040" cy="658368"/>
          </a:xfrm>
          <a:prstGeom prst="rect">
            <a:avLst/>
          </a:prstGeom>
          <a:noFill/>
          <a:ln/>
        </p:spPr>
        <p:txBody>
          <a:bodyPr wrap="square" lIns="0" tIns="0" rIns="0" bIns="0" rtlCol="0" anchor="ctr"/>
          <a:lstStyle/>
          <a:p>
            <a:pPr indent="0" marL="0">
              <a:buNone/>
            </a:pPr>
            <a:r>
              <a:rPr lang="en-US" sz="1100" b="1" dirty="0">
                <a:solidFill>
                  <a:schemeClr val="bg1"/>
                </a:solidFill>
              </a:rPr>
              <a:t>Transversal · trazabilidad para la torre de control. </a:t>
            </a:r>
            <a:pPr indent="0" marL="0">
              <a:buNone/>
            </a:pPr>
            <a:r>
              <a:rPr lang="en-US" sz="1100" dirty="0">
                <a:solidFill>
                  <a:schemeClr val="bg1"/>
                </a:solidFill>
              </a:rPr>
              <a:t>Se define en el arranque y se implementa en todos los bloques. Traza, golden set, compuerta, umbral y calibración entran con Solicitud; corrección estructurada y muestreo, con Evaluación.</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Etapas de una capacidad: SURA define y certifica, Tech and Solve construye, y liberamos y observamos en conjunto</a:t>
            </a:r>
            <a:endParaRPr lang="en-US" sz="2800" dirty="0"/>
          </a:p>
        </p:txBody>
      </p:sp>
      <p:sp>
        <p:nvSpPr>
          <p:cNvPr id="4" name="Shape 1"/>
          <p:cNvSpPr/>
          <p:nvPr/>
        </p:nvSpPr>
        <p:spPr>
          <a:xfrm>
            <a:off x="548640" y="1481328"/>
            <a:ext cx="2971800" cy="3657600"/>
          </a:xfrm>
          <a:prstGeom prst="roundRect">
            <a:avLst>
              <a:gd name="adj" fmla="val 2462"/>
            </a:avLst>
          </a:prstGeom>
          <a:solidFill>
            <a:schemeClr val="bg2"/>
          </a:solidFill>
          <a:ln w="12700">
            <a:solidFill>
              <a:srgbClr val="DCD8EC"/>
            </a:solidFill>
            <a:prstDash val="solid"/>
          </a:ln>
        </p:spPr>
      </p:sp>
      <p:sp>
        <p:nvSpPr>
          <p:cNvPr id="5" name="Text 2"/>
          <p:cNvSpPr txBox="1"/>
          <p:nvPr/>
        </p:nvSpPr>
        <p:spPr>
          <a:xfrm>
            <a:off x="713232" y="1554480"/>
            <a:ext cx="2642616" cy="292608"/>
          </a:xfrm>
          <a:prstGeom prst="rect">
            <a:avLst/>
          </a:prstGeom>
          <a:noFill/>
          <a:ln/>
        </p:spPr>
        <p:txBody>
          <a:bodyPr wrap="square" lIns="0" tIns="0" rIns="0" bIns="0" rtlCol="0" anchor="t"/>
          <a:lstStyle/>
          <a:p>
            <a:pPr indent="0" marL="0">
              <a:buNone/>
            </a:pPr>
            <a:r>
              <a:rPr lang="en-US" sz="1150" b="1" dirty="0">
                <a:solidFill>
                  <a:schemeClr val="tx2"/>
                </a:solidFill>
              </a:rPr>
              <a:t>Definir</a:t>
            </a:r>
            <a:endParaRPr lang="en-US" sz="1150" dirty="0"/>
          </a:p>
        </p:txBody>
      </p:sp>
      <p:sp>
        <p:nvSpPr>
          <p:cNvPr id="6" name="Shape 3"/>
          <p:cNvSpPr/>
          <p:nvPr/>
        </p:nvSpPr>
        <p:spPr>
          <a:xfrm>
            <a:off x="685800" y="1920240"/>
            <a:ext cx="2697480" cy="1005840"/>
          </a:xfrm>
          <a:prstGeom prst="roundRect">
            <a:avLst>
              <a:gd name="adj" fmla="val 7273"/>
            </a:avLst>
          </a:prstGeom>
          <a:solidFill>
            <a:schemeClr val="bg1"/>
          </a:solidFill>
          <a:ln w="12700">
            <a:solidFill>
              <a:srgbClr val="DCD8EC"/>
            </a:solidFill>
            <a:prstDash val="solid"/>
          </a:ln>
        </p:spPr>
      </p:sp>
      <p:sp>
        <p:nvSpPr>
          <p:cNvPr id="7" name="Shape 4"/>
          <p:cNvSpPr/>
          <p:nvPr/>
        </p:nvSpPr>
        <p:spPr>
          <a:xfrm>
            <a:off x="795528" y="2221992"/>
            <a:ext cx="402336" cy="402336"/>
          </a:xfrm>
          <a:prstGeom prst="ellipse">
            <a:avLst/>
          </a:prstGeom>
          <a:solidFill>
            <a:schemeClr val="accent3"/>
          </a:solidFill>
          <a:ln w="12700">
            <a:solidFill>
              <a:schemeClr val="accent3"/>
            </a:solidFill>
            <a:prstDash val="solid"/>
          </a:ln>
        </p:spPr>
      </p:sp>
      <p:sp>
        <p:nvSpPr>
          <p:cNvPr id="8" name="Text 5"/>
          <p:cNvSpPr txBox="1"/>
          <p:nvPr/>
        </p:nvSpPr>
        <p:spPr>
          <a:xfrm>
            <a:off x="795528" y="222199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6"/>
          <p:cNvSpPr txBox="1"/>
          <p:nvPr/>
        </p:nvSpPr>
        <p:spPr>
          <a:xfrm>
            <a:off x="1280160" y="1956816"/>
            <a:ext cx="2011680" cy="932688"/>
          </a:xfrm>
          <a:prstGeom prst="rect">
            <a:avLst/>
          </a:prstGeom>
          <a:noFill/>
          <a:ln/>
        </p:spPr>
        <p:txBody>
          <a:bodyPr wrap="square" lIns="0" tIns="0" rIns="0" bIns="0" rtlCol="0" anchor="ctr"/>
          <a:lstStyle/>
          <a:p>
            <a:pPr indent="0" marL="0">
              <a:buNone/>
            </a:pPr>
            <a:r>
              <a:rPr lang="en-US" sz="1200" b="1" dirty="0">
                <a:solidFill>
                  <a:schemeClr val="tx2"/>
                </a:solidFill>
              </a:rPr>
              <a:t>Propuesta</a:t>
            </a:r>
            <a:endParaRPr lang="en-US" sz="1400" dirty="0"/>
          </a:p>
          <a:p>
            <a:pPr indent="0" marL="0">
              <a:buNone/>
            </a:pPr>
            <a:r>
              <a:rPr lang="en-US" sz="950" dirty="0">
                <a:solidFill>
                  <a:schemeClr val="accent6"/>
                </a:solidFill>
              </a:rPr>
              <a:t>El líder funcional la registra con su valor de negocio</a:t>
            </a:r>
            <a:endParaRPr lang="en-US" sz="1400" dirty="0"/>
          </a:p>
        </p:txBody>
      </p:sp>
      <p:sp>
        <p:nvSpPr>
          <p:cNvPr id="10" name="Shape 7"/>
          <p:cNvSpPr/>
          <p:nvPr/>
        </p:nvSpPr>
        <p:spPr>
          <a:xfrm>
            <a:off x="685800" y="2999232"/>
            <a:ext cx="2697480" cy="1005840"/>
          </a:xfrm>
          <a:prstGeom prst="roundRect">
            <a:avLst>
              <a:gd name="adj" fmla="val 7273"/>
            </a:avLst>
          </a:prstGeom>
          <a:solidFill>
            <a:schemeClr val="bg1"/>
          </a:solidFill>
          <a:ln w="12700">
            <a:solidFill>
              <a:srgbClr val="DCD8EC"/>
            </a:solidFill>
            <a:prstDash val="solid"/>
          </a:ln>
        </p:spPr>
      </p:sp>
      <p:sp>
        <p:nvSpPr>
          <p:cNvPr id="11" name="Shape 8"/>
          <p:cNvSpPr/>
          <p:nvPr/>
        </p:nvSpPr>
        <p:spPr>
          <a:xfrm>
            <a:off x="795528" y="3300984"/>
            <a:ext cx="402336" cy="402336"/>
          </a:xfrm>
          <a:prstGeom prst="ellipse">
            <a:avLst/>
          </a:prstGeom>
          <a:solidFill>
            <a:schemeClr val="accent3"/>
          </a:solidFill>
          <a:ln w="12700">
            <a:solidFill>
              <a:schemeClr val="accent3"/>
            </a:solidFill>
            <a:prstDash val="solid"/>
          </a:ln>
        </p:spPr>
      </p:sp>
      <p:sp>
        <p:nvSpPr>
          <p:cNvPr id="12" name="Text 9"/>
          <p:cNvSpPr txBox="1"/>
          <p:nvPr/>
        </p:nvSpPr>
        <p:spPr>
          <a:xfrm>
            <a:off x="795528" y="3300984"/>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1280160" y="3035808"/>
            <a:ext cx="2011680" cy="932688"/>
          </a:xfrm>
          <a:prstGeom prst="rect">
            <a:avLst/>
          </a:prstGeom>
          <a:noFill/>
          <a:ln/>
        </p:spPr>
        <p:txBody>
          <a:bodyPr wrap="square" lIns="0" tIns="0" rIns="0" bIns="0" rtlCol="0" anchor="ctr"/>
          <a:lstStyle/>
          <a:p>
            <a:pPr indent="0" marL="0">
              <a:buNone/>
            </a:pPr>
            <a:r>
              <a:rPr lang="en-US" sz="1200" b="1" dirty="0">
                <a:solidFill>
                  <a:schemeClr val="tx2"/>
                </a:solidFill>
              </a:rPr>
              <a:t>Definición</a:t>
            </a:r>
            <a:endParaRPr lang="en-US" sz="1400" dirty="0"/>
          </a:p>
          <a:p>
            <a:pPr indent="0" marL="0">
              <a:buNone/>
            </a:pPr>
            <a:r>
              <a:rPr lang="en-US" sz="950" dirty="0">
                <a:solidFill>
                  <a:schemeClr val="accent6"/>
                </a:solidFill>
              </a:rPr>
              <a:t>Ficha en la mesa de definición y se asigna talla</a:t>
            </a:r>
            <a:endParaRPr lang="en-US" sz="1400" dirty="0"/>
          </a:p>
        </p:txBody>
      </p:sp>
      <p:sp>
        <p:nvSpPr>
          <p:cNvPr id="14" name="Shape 11"/>
          <p:cNvSpPr/>
          <p:nvPr/>
        </p:nvSpPr>
        <p:spPr>
          <a:xfrm>
            <a:off x="685800" y="4078224"/>
            <a:ext cx="2697480" cy="1005840"/>
          </a:xfrm>
          <a:prstGeom prst="roundRect">
            <a:avLst>
              <a:gd name="adj" fmla="val 7273"/>
            </a:avLst>
          </a:prstGeom>
          <a:solidFill>
            <a:schemeClr val="bg1"/>
          </a:solidFill>
          <a:ln w="12700">
            <a:solidFill>
              <a:srgbClr val="DCD8EC"/>
            </a:solidFill>
            <a:prstDash val="solid"/>
          </a:ln>
        </p:spPr>
      </p:sp>
      <p:sp>
        <p:nvSpPr>
          <p:cNvPr id="15" name="Shape 12"/>
          <p:cNvSpPr/>
          <p:nvPr/>
        </p:nvSpPr>
        <p:spPr>
          <a:xfrm>
            <a:off x="795528" y="4379976"/>
            <a:ext cx="402336" cy="402336"/>
          </a:xfrm>
          <a:prstGeom prst="ellipse">
            <a:avLst/>
          </a:prstGeom>
          <a:solidFill>
            <a:schemeClr val="accent1"/>
          </a:solidFill>
          <a:ln w="12700">
            <a:solidFill>
              <a:schemeClr val="accent1"/>
            </a:solidFill>
            <a:prstDash val="solid"/>
          </a:ln>
        </p:spPr>
      </p:sp>
      <p:sp>
        <p:nvSpPr>
          <p:cNvPr id="16" name="Text 13"/>
          <p:cNvSpPr txBox="1"/>
          <p:nvPr/>
        </p:nvSpPr>
        <p:spPr>
          <a:xfrm>
            <a:off x="795528" y="4379976"/>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Text 14"/>
          <p:cNvSpPr txBox="1"/>
          <p:nvPr/>
        </p:nvSpPr>
        <p:spPr>
          <a:xfrm>
            <a:off x="1280160" y="4114800"/>
            <a:ext cx="2011680" cy="932688"/>
          </a:xfrm>
          <a:prstGeom prst="rect">
            <a:avLst/>
          </a:prstGeom>
          <a:noFill/>
          <a:ln/>
        </p:spPr>
        <p:txBody>
          <a:bodyPr wrap="square" lIns="0" tIns="0" rIns="0" bIns="0" rtlCol="0" anchor="ctr"/>
          <a:lstStyle/>
          <a:p>
            <a:pPr indent="0" marL="0">
              <a:buNone/>
            </a:pPr>
            <a:r>
              <a:rPr lang="en-US" sz="1200" b="1" dirty="0">
                <a:solidFill>
                  <a:schemeClr val="tx2"/>
                </a:solidFill>
              </a:rPr>
              <a:t>Lista para construir</a:t>
            </a:r>
            <a:endParaRPr lang="en-US" sz="1400" dirty="0"/>
          </a:p>
          <a:p>
            <a:pPr indent="0" marL="0">
              <a:buNone/>
            </a:pPr>
            <a:r>
              <a:rPr lang="en-US" sz="950" dirty="0">
                <a:solidFill>
                  <a:schemeClr val="accent6"/>
                </a:solidFill>
              </a:rPr>
              <a:t>Ficha completa y al menos tres ejemplos con datos</a:t>
            </a:r>
            <a:endParaRPr lang="en-US" sz="1400" dirty="0"/>
          </a:p>
        </p:txBody>
      </p:sp>
      <p:sp>
        <p:nvSpPr>
          <p:cNvPr id="18" name="Shape 15"/>
          <p:cNvSpPr/>
          <p:nvPr/>
        </p:nvSpPr>
        <p:spPr>
          <a:xfrm>
            <a:off x="3703320" y="1481328"/>
            <a:ext cx="4937760" cy="3657600"/>
          </a:xfrm>
          <a:prstGeom prst="roundRect">
            <a:avLst>
              <a:gd name="adj" fmla="val 2000"/>
            </a:avLst>
          </a:prstGeom>
          <a:solidFill>
            <a:schemeClr val="accent4"/>
          </a:solidFill>
          <a:ln w="12700">
            <a:solidFill>
              <a:srgbClr val="DCD8EC"/>
            </a:solidFill>
            <a:prstDash val="solid"/>
          </a:ln>
        </p:spPr>
      </p:sp>
      <p:sp>
        <p:nvSpPr>
          <p:cNvPr id="19" name="Text 16"/>
          <p:cNvSpPr txBox="1"/>
          <p:nvPr/>
        </p:nvSpPr>
        <p:spPr>
          <a:xfrm>
            <a:off x="3867912" y="1554480"/>
            <a:ext cx="4608576" cy="292608"/>
          </a:xfrm>
          <a:prstGeom prst="rect">
            <a:avLst/>
          </a:prstGeom>
          <a:noFill/>
          <a:ln/>
        </p:spPr>
        <p:txBody>
          <a:bodyPr wrap="square" lIns="0" tIns="0" rIns="0" bIns="0" rtlCol="0" anchor="t"/>
          <a:lstStyle/>
          <a:p>
            <a:pPr indent="0" marL="0">
              <a:buNone/>
            </a:pPr>
            <a:r>
              <a:rPr lang="en-US" sz="1150" b="1" dirty="0">
                <a:solidFill>
                  <a:schemeClr val="accent1"/>
                </a:solidFill>
              </a:rPr>
              <a:t>Construir con IA · el equipo, con el negocio cerca</a:t>
            </a:r>
            <a:endParaRPr lang="en-US" sz="1150" dirty="0"/>
          </a:p>
        </p:txBody>
      </p:sp>
      <p:sp>
        <p:nvSpPr>
          <p:cNvPr id="20" name="Shape 17"/>
          <p:cNvSpPr/>
          <p:nvPr/>
        </p:nvSpPr>
        <p:spPr>
          <a:xfrm>
            <a:off x="3840480" y="1920240"/>
            <a:ext cx="2263140" cy="1005840"/>
          </a:xfrm>
          <a:prstGeom prst="roundRect">
            <a:avLst>
              <a:gd name="adj" fmla="val 7273"/>
            </a:avLst>
          </a:prstGeom>
          <a:solidFill>
            <a:schemeClr val="bg1"/>
          </a:solidFill>
          <a:ln w="12700">
            <a:solidFill>
              <a:srgbClr val="DCD8EC"/>
            </a:solidFill>
            <a:prstDash val="solid"/>
          </a:ln>
        </p:spPr>
      </p:sp>
      <p:sp>
        <p:nvSpPr>
          <p:cNvPr id="21" name="Shape 18"/>
          <p:cNvSpPr/>
          <p:nvPr/>
        </p:nvSpPr>
        <p:spPr>
          <a:xfrm>
            <a:off x="3950208" y="2221992"/>
            <a:ext cx="402336" cy="402336"/>
          </a:xfrm>
          <a:prstGeom prst="ellipse">
            <a:avLst/>
          </a:prstGeom>
          <a:solidFill>
            <a:schemeClr val="accent1"/>
          </a:solidFill>
          <a:ln w="12700">
            <a:solidFill>
              <a:schemeClr val="accent1"/>
            </a:solidFill>
            <a:prstDash val="solid"/>
          </a:ln>
        </p:spPr>
      </p:sp>
      <p:sp>
        <p:nvSpPr>
          <p:cNvPr id="22" name="Text 19"/>
          <p:cNvSpPr txBox="1"/>
          <p:nvPr/>
        </p:nvSpPr>
        <p:spPr>
          <a:xfrm>
            <a:off x="3950208" y="222199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3" name="Text 20"/>
          <p:cNvSpPr txBox="1"/>
          <p:nvPr/>
        </p:nvSpPr>
        <p:spPr>
          <a:xfrm>
            <a:off x="4434840" y="1956816"/>
            <a:ext cx="1577340" cy="932688"/>
          </a:xfrm>
          <a:prstGeom prst="rect">
            <a:avLst/>
          </a:prstGeom>
          <a:noFill/>
          <a:ln/>
        </p:spPr>
        <p:txBody>
          <a:bodyPr wrap="square" lIns="0" tIns="0" rIns="0" bIns="0" rtlCol="0" anchor="ctr"/>
          <a:lstStyle/>
          <a:p>
            <a:pPr indent="0" marL="0">
              <a:buNone/>
            </a:pPr>
            <a:r>
              <a:rPr lang="en-US" sz="1200" b="1" dirty="0">
                <a:solidFill>
                  <a:schemeClr val="tx2"/>
                </a:solidFill>
              </a:rPr>
              <a:t>Construcción</a:t>
            </a:r>
            <a:endParaRPr lang="en-US" sz="1400" dirty="0"/>
          </a:p>
          <a:p>
            <a:pPr indent="0" marL="0">
              <a:buNone/>
            </a:pPr>
            <a:r>
              <a:rPr lang="en-US" sz="950" dirty="0">
                <a:solidFill>
                  <a:schemeClr val="accent6"/>
                </a:solidFill>
              </a:rPr>
              <a:t>Especificación, diseño y tareas; primero pruebas, luego código</a:t>
            </a:r>
            <a:endParaRPr lang="en-US" sz="1400" dirty="0"/>
          </a:p>
        </p:txBody>
      </p:sp>
      <p:sp>
        <p:nvSpPr>
          <p:cNvPr id="24" name="Shape 21"/>
          <p:cNvSpPr/>
          <p:nvPr/>
        </p:nvSpPr>
        <p:spPr>
          <a:xfrm>
            <a:off x="6240780" y="1920240"/>
            <a:ext cx="2263140" cy="1005840"/>
          </a:xfrm>
          <a:prstGeom prst="roundRect">
            <a:avLst>
              <a:gd name="adj" fmla="val 7273"/>
            </a:avLst>
          </a:prstGeom>
          <a:solidFill>
            <a:schemeClr val="bg1"/>
          </a:solidFill>
          <a:ln w="12700">
            <a:solidFill>
              <a:srgbClr val="DCD8EC"/>
            </a:solidFill>
            <a:prstDash val="solid"/>
          </a:ln>
        </p:spPr>
      </p:sp>
      <p:sp>
        <p:nvSpPr>
          <p:cNvPr id="25" name="Shape 22"/>
          <p:cNvSpPr/>
          <p:nvPr/>
        </p:nvSpPr>
        <p:spPr>
          <a:xfrm>
            <a:off x="6350508" y="2221992"/>
            <a:ext cx="402336" cy="402336"/>
          </a:xfrm>
          <a:prstGeom prst="ellipse">
            <a:avLst/>
          </a:prstGeom>
          <a:solidFill>
            <a:schemeClr val="accent1"/>
          </a:solidFill>
          <a:ln w="12700">
            <a:solidFill>
              <a:schemeClr val="accent1"/>
            </a:solidFill>
            <a:prstDash val="solid"/>
          </a:ln>
        </p:spPr>
      </p:sp>
      <p:sp>
        <p:nvSpPr>
          <p:cNvPr id="26" name="Text 23"/>
          <p:cNvSpPr txBox="1"/>
          <p:nvPr/>
        </p:nvSpPr>
        <p:spPr>
          <a:xfrm>
            <a:off x="6350508" y="222199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7" name="Text 24"/>
          <p:cNvSpPr txBox="1"/>
          <p:nvPr/>
        </p:nvSpPr>
        <p:spPr>
          <a:xfrm>
            <a:off x="6835140" y="1956816"/>
            <a:ext cx="1577340" cy="932688"/>
          </a:xfrm>
          <a:prstGeom prst="rect">
            <a:avLst/>
          </a:prstGeom>
          <a:noFill/>
          <a:ln/>
        </p:spPr>
        <p:txBody>
          <a:bodyPr wrap="square" lIns="0" tIns="0" rIns="0" bIns="0" rtlCol="0" anchor="ctr"/>
          <a:lstStyle/>
          <a:p>
            <a:pPr indent="0" marL="0">
              <a:buNone/>
            </a:pPr>
            <a:r>
              <a:rPr lang="en-US" sz="1200" b="1" dirty="0">
                <a:solidFill>
                  <a:schemeClr val="tx2"/>
                </a:solidFill>
              </a:rPr>
              <a:t>Verificación</a:t>
            </a:r>
            <a:endParaRPr lang="en-US" sz="1400" dirty="0"/>
          </a:p>
          <a:p>
            <a:pPr indent="0" marL="0">
              <a:buNone/>
            </a:pPr>
            <a:r>
              <a:rPr lang="en-US" sz="950" dirty="0">
                <a:solidFill>
                  <a:schemeClr val="accent6"/>
                </a:solidFill>
              </a:rPr>
              <a:t>Pruebas, regresión y revisión de seguridad en el pipeline</a:t>
            </a:r>
            <a:endParaRPr lang="en-US" sz="1400" dirty="0"/>
          </a:p>
        </p:txBody>
      </p:sp>
      <p:sp>
        <p:nvSpPr>
          <p:cNvPr id="28" name="Shape 25"/>
          <p:cNvSpPr/>
          <p:nvPr/>
        </p:nvSpPr>
        <p:spPr>
          <a:xfrm>
            <a:off x="3840480" y="3035808"/>
            <a:ext cx="4663440" cy="2011680"/>
          </a:xfrm>
          <a:prstGeom prst="roundRect">
            <a:avLst>
              <a:gd name="adj" fmla="val 3636"/>
            </a:avLst>
          </a:prstGeom>
          <a:solidFill>
            <a:schemeClr val="bg2"/>
          </a:solidFill>
          <a:ln w="12700">
            <a:solidFill>
              <a:schemeClr val="bg2"/>
            </a:solidFill>
            <a:prstDash val="solid"/>
          </a:ln>
        </p:spPr>
      </p:sp>
      <p:sp>
        <p:nvSpPr>
          <p:cNvPr id="29" name="Text 26"/>
          <p:cNvSpPr txBox="1"/>
          <p:nvPr/>
        </p:nvSpPr>
        <p:spPr>
          <a:xfrm>
            <a:off x="3977640" y="3108960"/>
            <a:ext cx="4389120" cy="274320"/>
          </a:xfrm>
          <a:prstGeom prst="rect">
            <a:avLst/>
          </a:prstGeom>
          <a:noFill/>
          <a:ln/>
        </p:spPr>
        <p:txBody>
          <a:bodyPr wrap="square" lIns="0" tIns="0" rIns="0" bIns="0" rtlCol="0" anchor="t"/>
          <a:lstStyle/>
          <a:p>
            <a:pPr indent="0" marL="0">
              <a:buNone/>
            </a:pPr>
            <a:r>
              <a:rPr lang="en-US" sz="1050" b="1" dirty="0">
                <a:solidFill>
                  <a:schemeClr val="tx2"/>
                </a:solidFill>
              </a:rPr>
              <a:t>Dentro de Construcción: desarrollo guiado por especificaciones</a:t>
            </a:r>
            <a:endParaRPr lang="en-US" sz="1050" dirty="0"/>
          </a:p>
        </p:txBody>
      </p:sp>
      <p:sp>
        <p:nvSpPr>
          <p:cNvPr id="30" name="Shape 27"/>
          <p:cNvSpPr/>
          <p:nvPr/>
        </p:nvSpPr>
        <p:spPr>
          <a:xfrm>
            <a:off x="3977640" y="3611880"/>
            <a:ext cx="775411" cy="548640"/>
          </a:xfrm>
          <a:prstGeom prst="roundRect">
            <a:avLst>
              <a:gd name="adj" fmla="val 10000"/>
            </a:avLst>
          </a:prstGeom>
          <a:solidFill>
            <a:schemeClr val="bg1"/>
          </a:solidFill>
          <a:ln w="12700">
            <a:solidFill>
              <a:schemeClr val="accent3"/>
            </a:solidFill>
            <a:prstDash val="solid"/>
          </a:ln>
        </p:spPr>
      </p:sp>
      <p:sp>
        <p:nvSpPr>
          <p:cNvPr id="31" name="Text 28"/>
          <p:cNvSpPr txBox="1"/>
          <p:nvPr/>
        </p:nvSpPr>
        <p:spPr>
          <a:xfrm>
            <a:off x="3986784" y="3611880"/>
            <a:ext cx="757123" cy="548640"/>
          </a:xfrm>
          <a:prstGeom prst="rect">
            <a:avLst/>
          </a:prstGeom>
          <a:noFill/>
          <a:ln/>
        </p:spPr>
        <p:txBody>
          <a:bodyPr wrap="square" lIns="0" tIns="0" rIns="0" bIns="0" rtlCol="0" anchor="ctr"/>
          <a:lstStyle/>
          <a:p>
            <a:pPr algn="ctr" indent="0" marL="0">
              <a:buNone/>
            </a:pPr>
            <a:r>
              <a:rPr lang="en-US" sz="800" b="1" dirty="0">
                <a:solidFill>
                  <a:schemeClr val="tx2"/>
                </a:solidFill>
              </a:rPr>
              <a:t>Ficha</a:t>
            </a:r>
            <a:endParaRPr lang="en-US" sz="800" dirty="0"/>
          </a:p>
        </p:txBody>
      </p:sp>
      <p:sp>
        <p:nvSpPr>
          <p:cNvPr id="32" name="Shape 29"/>
          <p:cNvSpPr/>
          <p:nvPr/>
        </p:nvSpPr>
        <p:spPr>
          <a:xfrm>
            <a:off x="4762195" y="3886200"/>
            <a:ext cx="109728" cy="0"/>
          </a:xfrm>
          <a:prstGeom prst="line">
            <a:avLst/>
          </a:prstGeom>
          <a:noFill/>
          <a:ln w="12700">
            <a:solidFill>
              <a:schemeClr val="accent6"/>
            </a:solidFill>
            <a:prstDash val="solid"/>
            <a:tailEnd type="triangle"/>
          </a:ln>
        </p:spPr>
      </p:sp>
      <p:sp>
        <p:nvSpPr>
          <p:cNvPr id="33" name="Shape 30"/>
          <p:cNvSpPr/>
          <p:nvPr/>
        </p:nvSpPr>
        <p:spPr>
          <a:xfrm>
            <a:off x="4881067" y="3611880"/>
            <a:ext cx="775411" cy="548640"/>
          </a:xfrm>
          <a:prstGeom prst="roundRect">
            <a:avLst>
              <a:gd name="adj" fmla="val 10000"/>
            </a:avLst>
          </a:prstGeom>
          <a:solidFill>
            <a:schemeClr val="bg1"/>
          </a:solidFill>
          <a:ln w="12700">
            <a:solidFill>
              <a:schemeClr val="accent1"/>
            </a:solidFill>
            <a:prstDash val="solid"/>
          </a:ln>
        </p:spPr>
      </p:sp>
      <p:sp>
        <p:nvSpPr>
          <p:cNvPr id="34" name="Text 31"/>
          <p:cNvSpPr txBox="1"/>
          <p:nvPr/>
        </p:nvSpPr>
        <p:spPr>
          <a:xfrm>
            <a:off x="4890211" y="3611880"/>
            <a:ext cx="757123" cy="548640"/>
          </a:xfrm>
          <a:prstGeom prst="rect">
            <a:avLst/>
          </a:prstGeom>
          <a:noFill/>
          <a:ln/>
        </p:spPr>
        <p:txBody>
          <a:bodyPr wrap="square" lIns="0" tIns="0" rIns="0" bIns="0" rtlCol="0" anchor="ctr"/>
          <a:lstStyle/>
          <a:p>
            <a:pPr algn="ctr" indent="0" marL="0">
              <a:buNone/>
            </a:pPr>
            <a:r>
              <a:rPr lang="en-US" sz="800" b="1" dirty="0">
                <a:solidFill>
                  <a:schemeClr val="tx2"/>
                </a:solidFill>
              </a:rPr>
              <a:t>Especificación</a:t>
            </a:r>
            <a:endParaRPr lang="en-US" sz="800" dirty="0"/>
          </a:p>
        </p:txBody>
      </p:sp>
      <p:sp>
        <p:nvSpPr>
          <p:cNvPr id="35" name="Shape 32"/>
          <p:cNvSpPr/>
          <p:nvPr/>
        </p:nvSpPr>
        <p:spPr>
          <a:xfrm>
            <a:off x="5665622" y="3886200"/>
            <a:ext cx="109728" cy="0"/>
          </a:xfrm>
          <a:prstGeom prst="line">
            <a:avLst/>
          </a:prstGeom>
          <a:noFill/>
          <a:ln w="12700">
            <a:solidFill>
              <a:schemeClr val="accent6"/>
            </a:solidFill>
            <a:prstDash val="solid"/>
            <a:tailEnd type="triangle"/>
          </a:ln>
        </p:spPr>
      </p:sp>
      <p:sp>
        <p:nvSpPr>
          <p:cNvPr id="36" name="Shape 33"/>
          <p:cNvSpPr/>
          <p:nvPr/>
        </p:nvSpPr>
        <p:spPr>
          <a:xfrm>
            <a:off x="5784494" y="3611880"/>
            <a:ext cx="775411" cy="548640"/>
          </a:xfrm>
          <a:prstGeom prst="roundRect">
            <a:avLst>
              <a:gd name="adj" fmla="val 10000"/>
            </a:avLst>
          </a:prstGeom>
          <a:solidFill>
            <a:schemeClr val="bg1"/>
          </a:solidFill>
          <a:ln w="12700">
            <a:solidFill>
              <a:schemeClr val="accent1"/>
            </a:solidFill>
            <a:prstDash val="solid"/>
          </a:ln>
        </p:spPr>
      </p:sp>
      <p:sp>
        <p:nvSpPr>
          <p:cNvPr id="37" name="Text 34"/>
          <p:cNvSpPr txBox="1"/>
          <p:nvPr/>
        </p:nvSpPr>
        <p:spPr>
          <a:xfrm>
            <a:off x="5793638" y="3611880"/>
            <a:ext cx="757123" cy="548640"/>
          </a:xfrm>
          <a:prstGeom prst="rect">
            <a:avLst/>
          </a:prstGeom>
          <a:noFill/>
          <a:ln/>
        </p:spPr>
        <p:txBody>
          <a:bodyPr wrap="square" lIns="0" tIns="0" rIns="0" bIns="0" rtlCol="0" anchor="ctr"/>
          <a:lstStyle/>
          <a:p>
            <a:pPr algn="ctr" indent="0" marL="0">
              <a:buNone/>
            </a:pPr>
            <a:r>
              <a:rPr lang="en-US" sz="800" b="1" dirty="0">
                <a:solidFill>
                  <a:schemeClr val="tx2"/>
                </a:solidFill>
              </a:rPr>
              <a:t>Diseño técnico</a:t>
            </a:r>
            <a:endParaRPr lang="en-US" sz="800" dirty="0"/>
          </a:p>
        </p:txBody>
      </p:sp>
      <p:sp>
        <p:nvSpPr>
          <p:cNvPr id="38" name="Shape 35"/>
          <p:cNvSpPr/>
          <p:nvPr/>
        </p:nvSpPr>
        <p:spPr>
          <a:xfrm>
            <a:off x="6569050" y="3886200"/>
            <a:ext cx="109728" cy="0"/>
          </a:xfrm>
          <a:prstGeom prst="line">
            <a:avLst/>
          </a:prstGeom>
          <a:noFill/>
          <a:ln w="12700">
            <a:solidFill>
              <a:schemeClr val="accent6"/>
            </a:solidFill>
            <a:prstDash val="solid"/>
            <a:tailEnd type="triangle"/>
          </a:ln>
        </p:spPr>
      </p:sp>
      <p:sp>
        <p:nvSpPr>
          <p:cNvPr id="39" name="Shape 36"/>
          <p:cNvSpPr/>
          <p:nvPr/>
        </p:nvSpPr>
        <p:spPr>
          <a:xfrm>
            <a:off x="6687922" y="3611880"/>
            <a:ext cx="775411" cy="548640"/>
          </a:xfrm>
          <a:prstGeom prst="roundRect">
            <a:avLst>
              <a:gd name="adj" fmla="val 10000"/>
            </a:avLst>
          </a:prstGeom>
          <a:solidFill>
            <a:schemeClr val="bg1"/>
          </a:solidFill>
          <a:ln w="12700">
            <a:solidFill>
              <a:schemeClr val="accent1"/>
            </a:solidFill>
            <a:prstDash val="solid"/>
          </a:ln>
        </p:spPr>
      </p:sp>
      <p:sp>
        <p:nvSpPr>
          <p:cNvPr id="40" name="Text 37"/>
          <p:cNvSpPr txBox="1"/>
          <p:nvPr/>
        </p:nvSpPr>
        <p:spPr>
          <a:xfrm>
            <a:off x="6697066" y="3611880"/>
            <a:ext cx="757123" cy="548640"/>
          </a:xfrm>
          <a:prstGeom prst="rect">
            <a:avLst/>
          </a:prstGeom>
          <a:noFill/>
          <a:ln/>
        </p:spPr>
        <p:txBody>
          <a:bodyPr wrap="square" lIns="0" tIns="0" rIns="0" bIns="0" rtlCol="0" anchor="ctr"/>
          <a:lstStyle/>
          <a:p>
            <a:pPr algn="ctr" indent="0" marL="0">
              <a:buNone/>
            </a:pPr>
            <a:r>
              <a:rPr lang="en-US" sz="800" b="1" dirty="0">
                <a:solidFill>
                  <a:schemeClr val="tx2"/>
                </a:solidFill>
              </a:rPr>
              <a:t>Tareas</a:t>
            </a:r>
            <a:endParaRPr lang="en-US" sz="800" dirty="0"/>
          </a:p>
        </p:txBody>
      </p:sp>
      <p:sp>
        <p:nvSpPr>
          <p:cNvPr id="41" name="Shape 38"/>
          <p:cNvSpPr/>
          <p:nvPr/>
        </p:nvSpPr>
        <p:spPr>
          <a:xfrm>
            <a:off x="7472477" y="3886200"/>
            <a:ext cx="109728" cy="0"/>
          </a:xfrm>
          <a:prstGeom prst="line">
            <a:avLst/>
          </a:prstGeom>
          <a:noFill/>
          <a:ln w="12700">
            <a:solidFill>
              <a:schemeClr val="accent6"/>
            </a:solidFill>
            <a:prstDash val="solid"/>
            <a:tailEnd type="triangle"/>
          </a:ln>
        </p:spPr>
      </p:sp>
      <p:sp>
        <p:nvSpPr>
          <p:cNvPr id="42" name="Shape 39"/>
          <p:cNvSpPr/>
          <p:nvPr/>
        </p:nvSpPr>
        <p:spPr>
          <a:xfrm>
            <a:off x="7591349" y="3611880"/>
            <a:ext cx="775411" cy="548640"/>
          </a:xfrm>
          <a:prstGeom prst="roundRect">
            <a:avLst>
              <a:gd name="adj" fmla="val 10000"/>
            </a:avLst>
          </a:prstGeom>
          <a:solidFill>
            <a:schemeClr val="bg1"/>
          </a:solidFill>
          <a:ln w="12700">
            <a:solidFill>
              <a:schemeClr val="accent1"/>
            </a:solidFill>
            <a:prstDash val="solid"/>
          </a:ln>
        </p:spPr>
      </p:sp>
      <p:sp>
        <p:nvSpPr>
          <p:cNvPr id="43" name="Text 40"/>
          <p:cNvSpPr txBox="1"/>
          <p:nvPr/>
        </p:nvSpPr>
        <p:spPr>
          <a:xfrm>
            <a:off x="7600493" y="3611880"/>
            <a:ext cx="757123" cy="548640"/>
          </a:xfrm>
          <a:prstGeom prst="rect">
            <a:avLst/>
          </a:prstGeom>
          <a:noFill/>
          <a:ln/>
        </p:spPr>
        <p:txBody>
          <a:bodyPr wrap="square" lIns="0" tIns="0" rIns="0" bIns="0" rtlCol="0" anchor="ctr"/>
          <a:lstStyle/>
          <a:p>
            <a:pPr algn="ctr" indent="0" marL="0">
              <a:buNone/>
            </a:pPr>
            <a:r>
              <a:rPr lang="en-US" sz="800" b="1" dirty="0">
                <a:solidFill>
                  <a:schemeClr val="tx2"/>
                </a:solidFill>
              </a:rPr>
              <a:t>Pruebas y código</a:t>
            </a:r>
            <a:endParaRPr lang="en-US" sz="800" dirty="0"/>
          </a:p>
        </p:txBody>
      </p:sp>
      <p:sp>
        <p:nvSpPr>
          <p:cNvPr id="44" name="Text 41"/>
          <p:cNvSpPr txBox="1"/>
          <p:nvPr/>
        </p:nvSpPr>
        <p:spPr>
          <a:xfrm>
            <a:off x="3977640" y="4343400"/>
            <a:ext cx="4389120" cy="411480"/>
          </a:xfrm>
          <a:prstGeom prst="rect">
            <a:avLst/>
          </a:prstGeom>
          <a:noFill/>
          <a:ln/>
        </p:spPr>
        <p:txBody>
          <a:bodyPr wrap="square" lIns="0" tIns="0" rIns="0" bIns="0" rtlCol="0" anchor="ctr"/>
          <a:lstStyle/>
          <a:p>
            <a:pPr indent="0" marL="0">
              <a:buNone/>
            </a:pPr>
            <a:r>
              <a:rPr lang="en-US" sz="950" dirty="0">
                <a:solidFill>
                  <a:schemeClr val="accent6"/>
                </a:solidFill>
              </a:rPr>
              <a:t>Revisión humana antes de cada paso; la ficha la aprueba SURA.</a:t>
            </a:r>
            <a:endParaRPr lang="en-US" sz="950" dirty="0"/>
          </a:p>
        </p:txBody>
      </p:sp>
      <p:sp>
        <p:nvSpPr>
          <p:cNvPr id="45" name="Shape 42"/>
          <p:cNvSpPr/>
          <p:nvPr/>
        </p:nvSpPr>
        <p:spPr>
          <a:xfrm>
            <a:off x="8823960" y="1481328"/>
            <a:ext cx="2788920" cy="3657600"/>
          </a:xfrm>
          <a:prstGeom prst="roundRect">
            <a:avLst>
              <a:gd name="adj" fmla="val 2623"/>
            </a:avLst>
          </a:prstGeom>
          <a:solidFill>
            <a:schemeClr val="bg2"/>
          </a:solidFill>
          <a:ln w="12700">
            <a:solidFill>
              <a:srgbClr val="DCD8EC"/>
            </a:solidFill>
            <a:prstDash val="solid"/>
          </a:ln>
        </p:spPr>
      </p:sp>
      <p:sp>
        <p:nvSpPr>
          <p:cNvPr id="46" name="Text 43"/>
          <p:cNvSpPr txBox="1"/>
          <p:nvPr/>
        </p:nvSpPr>
        <p:spPr>
          <a:xfrm>
            <a:off x="8988552" y="1554480"/>
            <a:ext cx="2459736" cy="292608"/>
          </a:xfrm>
          <a:prstGeom prst="rect">
            <a:avLst/>
          </a:prstGeom>
          <a:noFill/>
          <a:ln/>
        </p:spPr>
        <p:txBody>
          <a:bodyPr wrap="square" lIns="0" tIns="0" rIns="0" bIns="0" rtlCol="0" anchor="t"/>
          <a:lstStyle/>
          <a:p>
            <a:pPr indent="0" marL="0">
              <a:buNone/>
            </a:pPr>
            <a:r>
              <a:rPr lang="en-US" sz="1150" b="1" dirty="0">
                <a:solidFill>
                  <a:schemeClr val="tx2"/>
                </a:solidFill>
              </a:rPr>
              <a:t>Certificar, liberar y observar</a:t>
            </a:r>
            <a:endParaRPr lang="en-US" sz="1150" dirty="0"/>
          </a:p>
        </p:txBody>
      </p:sp>
      <p:sp>
        <p:nvSpPr>
          <p:cNvPr id="47" name="Shape 44"/>
          <p:cNvSpPr/>
          <p:nvPr/>
        </p:nvSpPr>
        <p:spPr>
          <a:xfrm>
            <a:off x="8961120" y="1920240"/>
            <a:ext cx="2514600" cy="1005840"/>
          </a:xfrm>
          <a:prstGeom prst="roundRect">
            <a:avLst>
              <a:gd name="adj" fmla="val 7273"/>
            </a:avLst>
          </a:prstGeom>
          <a:solidFill>
            <a:schemeClr val="bg1"/>
          </a:solidFill>
          <a:ln w="12700">
            <a:solidFill>
              <a:srgbClr val="DCD8EC"/>
            </a:solidFill>
            <a:prstDash val="solid"/>
          </a:ln>
        </p:spPr>
      </p:sp>
      <p:sp>
        <p:nvSpPr>
          <p:cNvPr id="48" name="Shape 45"/>
          <p:cNvSpPr/>
          <p:nvPr/>
        </p:nvSpPr>
        <p:spPr>
          <a:xfrm>
            <a:off x="9070848" y="2221992"/>
            <a:ext cx="402336" cy="402336"/>
          </a:xfrm>
          <a:prstGeom prst="ellipse">
            <a:avLst/>
          </a:prstGeom>
          <a:solidFill>
            <a:schemeClr val="accent3"/>
          </a:solidFill>
          <a:ln w="12700">
            <a:solidFill>
              <a:schemeClr val="accent3"/>
            </a:solidFill>
            <a:prstDash val="solid"/>
          </a:ln>
        </p:spPr>
      </p:sp>
      <p:sp>
        <p:nvSpPr>
          <p:cNvPr id="49" name="Text 46"/>
          <p:cNvSpPr txBox="1"/>
          <p:nvPr/>
        </p:nvSpPr>
        <p:spPr>
          <a:xfrm>
            <a:off x="9070848" y="222199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50" name="Text 47"/>
          <p:cNvSpPr txBox="1"/>
          <p:nvPr/>
        </p:nvSpPr>
        <p:spPr>
          <a:xfrm>
            <a:off x="9555480" y="1956816"/>
            <a:ext cx="1828800" cy="932688"/>
          </a:xfrm>
          <a:prstGeom prst="rect">
            <a:avLst/>
          </a:prstGeom>
          <a:noFill/>
          <a:ln/>
        </p:spPr>
        <p:txBody>
          <a:bodyPr wrap="square" lIns="0" tIns="0" rIns="0" bIns="0" rtlCol="0" anchor="ctr"/>
          <a:lstStyle/>
          <a:p>
            <a:pPr indent="0" marL="0">
              <a:buNone/>
            </a:pPr>
            <a:r>
              <a:rPr lang="en-US" sz="1200" b="1" dirty="0">
                <a:solidFill>
                  <a:schemeClr val="tx2"/>
                </a:solidFill>
              </a:rPr>
              <a:t>Certificación</a:t>
            </a:r>
            <a:endParaRPr lang="en-US" sz="1400" dirty="0"/>
          </a:p>
          <a:p>
            <a:pPr indent="0" marL="0">
              <a:buNone/>
            </a:pPr>
            <a:r>
              <a:rPr lang="en-US" sz="950" dirty="0">
                <a:solidFill>
                  <a:schemeClr val="accent6"/>
                </a:solidFill>
              </a:rPr>
              <a:t>SURA prueba en QA y aprueba o rechaza con observaciones</a:t>
            </a:r>
            <a:endParaRPr lang="en-US" sz="1400" dirty="0"/>
          </a:p>
        </p:txBody>
      </p:sp>
      <p:sp>
        <p:nvSpPr>
          <p:cNvPr id="51" name="Shape 48"/>
          <p:cNvSpPr/>
          <p:nvPr/>
        </p:nvSpPr>
        <p:spPr>
          <a:xfrm>
            <a:off x="8961120" y="2999232"/>
            <a:ext cx="2514600" cy="1005840"/>
          </a:xfrm>
          <a:prstGeom prst="roundRect">
            <a:avLst>
              <a:gd name="adj" fmla="val 7273"/>
            </a:avLst>
          </a:prstGeom>
          <a:solidFill>
            <a:schemeClr val="bg1"/>
          </a:solidFill>
          <a:ln w="12700">
            <a:solidFill>
              <a:srgbClr val="DCD8EC"/>
            </a:solidFill>
            <a:prstDash val="solid"/>
          </a:ln>
        </p:spPr>
      </p:sp>
      <p:sp>
        <p:nvSpPr>
          <p:cNvPr id="52" name="Shape 49"/>
          <p:cNvSpPr/>
          <p:nvPr/>
        </p:nvSpPr>
        <p:spPr>
          <a:xfrm>
            <a:off x="9070848" y="3300984"/>
            <a:ext cx="402336" cy="402336"/>
          </a:xfrm>
          <a:prstGeom prst="ellipse">
            <a:avLst/>
          </a:prstGeom>
          <a:solidFill>
            <a:schemeClr val="accent2"/>
          </a:solidFill>
          <a:ln w="12700">
            <a:solidFill>
              <a:schemeClr val="accent2"/>
            </a:solidFill>
            <a:prstDash val="solid"/>
          </a:ln>
        </p:spPr>
      </p:sp>
      <p:sp>
        <p:nvSpPr>
          <p:cNvPr id="53" name="Text 50"/>
          <p:cNvSpPr txBox="1"/>
          <p:nvPr/>
        </p:nvSpPr>
        <p:spPr>
          <a:xfrm>
            <a:off x="9070848" y="3300984"/>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4" name="Text 51"/>
          <p:cNvSpPr txBox="1"/>
          <p:nvPr/>
        </p:nvSpPr>
        <p:spPr>
          <a:xfrm>
            <a:off x="9555480" y="3035808"/>
            <a:ext cx="1828800" cy="932688"/>
          </a:xfrm>
          <a:prstGeom prst="rect">
            <a:avLst/>
          </a:prstGeom>
          <a:noFill/>
          <a:ln/>
        </p:spPr>
        <p:txBody>
          <a:bodyPr wrap="square" lIns="0" tIns="0" rIns="0" bIns="0" rtlCol="0" anchor="ctr"/>
          <a:lstStyle/>
          <a:p>
            <a:pPr indent="0" marL="0">
              <a:buNone/>
            </a:pPr>
            <a:r>
              <a:rPr lang="en-US" sz="1200" b="1" dirty="0">
                <a:solidFill>
                  <a:schemeClr val="tx2"/>
                </a:solidFill>
              </a:rPr>
              <a:t>Liberada</a:t>
            </a:r>
            <a:endParaRPr lang="en-US" sz="1400" dirty="0"/>
          </a:p>
          <a:p>
            <a:pPr indent="0" marL="0">
              <a:buNone/>
            </a:pPr>
            <a:r>
              <a:rPr lang="en-US" sz="950" dirty="0">
                <a:solidFill>
                  <a:schemeClr val="accent6"/>
                </a:solidFill>
              </a:rPr>
              <a:t>Los dos arquitectos aprueban, el pipeline despliega y SURA activa</a:t>
            </a:r>
            <a:endParaRPr lang="en-US" sz="1400" dirty="0"/>
          </a:p>
        </p:txBody>
      </p:sp>
      <p:sp>
        <p:nvSpPr>
          <p:cNvPr id="55" name="Shape 52"/>
          <p:cNvSpPr/>
          <p:nvPr/>
        </p:nvSpPr>
        <p:spPr>
          <a:xfrm>
            <a:off x="8961120" y="4078224"/>
            <a:ext cx="2514600" cy="1005840"/>
          </a:xfrm>
          <a:prstGeom prst="roundRect">
            <a:avLst>
              <a:gd name="adj" fmla="val 7273"/>
            </a:avLst>
          </a:prstGeom>
          <a:solidFill>
            <a:schemeClr val="bg1"/>
          </a:solidFill>
          <a:ln w="12700">
            <a:solidFill>
              <a:srgbClr val="DCD8EC"/>
            </a:solidFill>
            <a:prstDash val="solid"/>
          </a:ln>
        </p:spPr>
      </p:sp>
      <p:sp>
        <p:nvSpPr>
          <p:cNvPr id="56" name="Shape 53"/>
          <p:cNvSpPr/>
          <p:nvPr/>
        </p:nvSpPr>
        <p:spPr>
          <a:xfrm>
            <a:off x="9070848" y="4379976"/>
            <a:ext cx="402336" cy="402336"/>
          </a:xfrm>
          <a:prstGeom prst="ellipse">
            <a:avLst/>
          </a:prstGeom>
          <a:solidFill>
            <a:schemeClr val="accent2"/>
          </a:solidFill>
          <a:ln w="12700">
            <a:solidFill>
              <a:schemeClr val="accent2"/>
            </a:solidFill>
            <a:prstDash val="solid"/>
          </a:ln>
        </p:spPr>
      </p:sp>
      <p:sp>
        <p:nvSpPr>
          <p:cNvPr id="57" name="Text 54"/>
          <p:cNvSpPr txBox="1"/>
          <p:nvPr/>
        </p:nvSpPr>
        <p:spPr>
          <a:xfrm>
            <a:off x="9070848" y="4379976"/>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8" name="Text 55"/>
          <p:cNvSpPr txBox="1"/>
          <p:nvPr/>
        </p:nvSpPr>
        <p:spPr>
          <a:xfrm>
            <a:off x="9555480" y="4114800"/>
            <a:ext cx="1828800" cy="932688"/>
          </a:xfrm>
          <a:prstGeom prst="rect">
            <a:avLst/>
          </a:prstGeom>
          <a:noFill/>
          <a:ln/>
        </p:spPr>
        <p:txBody>
          <a:bodyPr wrap="square" lIns="0" tIns="0" rIns="0" bIns="0" rtlCol="0" anchor="ctr"/>
          <a:lstStyle/>
          <a:p>
            <a:pPr indent="0" marL="0">
              <a:buNone/>
            </a:pPr>
            <a:r>
              <a:rPr lang="en-US" sz="1200" b="1" dirty="0">
                <a:solidFill>
                  <a:schemeClr val="tx2"/>
                </a:solidFill>
              </a:rPr>
              <a:t>Estable</a:t>
            </a:r>
            <a:endParaRPr lang="en-US" sz="1400" dirty="0"/>
          </a:p>
          <a:p>
            <a:pPr indent="0" marL="0">
              <a:buNone/>
            </a:pPr>
            <a:r>
              <a:rPr lang="en-US" sz="950" dirty="0">
                <a:solidFill>
                  <a:schemeClr val="accent6"/>
                </a:solidFill>
              </a:rPr>
              <a:t>Observación conjunta sin incidentes, p. ej. 5 días hábiles</a:t>
            </a:r>
            <a:endParaRPr lang="en-US" sz="1400" dirty="0"/>
          </a:p>
        </p:txBody>
      </p:sp>
      <p:sp>
        <p:nvSpPr>
          <p:cNvPr id="59" name="Shape 56"/>
          <p:cNvSpPr/>
          <p:nvPr/>
        </p:nvSpPr>
        <p:spPr>
          <a:xfrm>
            <a:off x="548640" y="5285232"/>
            <a:ext cx="11064240" cy="640080"/>
          </a:xfrm>
          <a:prstGeom prst="leftArrow">
            <a:avLst/>
          </a:prstGeom>
          <a:solidFill>
            <a:schemeClr val="bg2"/>
          </a:solidFill>
          <a:ln w="12700">
            <a:solidFill>
              <a:schemeClr val="bg2"/>
            </a:solidFill>
            <a:prstDash val="solid"/>
          </a:ln>
        </p:spPr>
      </p:sp>
      <p:sp>
        <p:nvSpPr>
          <p:cNvPr id="60" name="Text 57"/>
          <p:cNvSpPr txBox="1"/>
          <p:nvPr/>
        </p:nvSpPr>
        <p:spPr>
          <a:xfrm>
            <a:off x="1280160" y="5285232"/>
            <a:ext cx="10058400" cy="640080"/>
          </a:xfrm>
          <a:prstGeom prst="rect">
            <a:avLst/>
          </a:prstGeom>
          <a:noFill/>
          <a:ln/>
        </p:spPr>
        <p:txBody>
          <a:bodyPr wrap="square" lIns="0" tIns="0" rIns="0" bIns="0" rtlCol="0" anchor="ctr"/>
          <a:lstStyle/>
          <a:p>
            <a:pPr algn="ctr" indent="0" marL="0">
              <a:buNone/>
            </a:pPr>
            <a:r>
              <a:rPr lang="en-US" sz="1150" b="1" dirty="0">
                <a:solidFill>
                  <a:schemeClr val="tx2"/>
                </a:solidFill>
              </a:rPr>
              <a:t>Vuelve a construcción si falla la verificación o si SURA la rechaza en certificación; en el segundo caso, primero se actualiza la especificación</a:t>
            </a:r>
            <a:endParaRPr lang="en-US" sz="1150" dirty="0"/>
          </a:p>
        </p:txBody>
      </p:sp>
      <p:sp>
        <p:nvSpPr>
          <p:cNvPr id="61" name="Text 58"/>
          <p:cNvSpPr txBox="1"/>
          <p:nvPr/>
        </p:nvSpPr>
        <p:spPr>
          <a:xfrm>
            <a:off x="6035040" y="6382512"/>
            <a:ext cx="1188720" cy="320040"/>
          </a:xfrm>
          <a:prstGeom prst="rect">
            <a:avLst/>
          </a:prstGeom>
          <a:noFill/>
          <a:ln/>
        </p:spPr>
        <p:txBody>
          <a:bodyPr wrap="square" lIns="0" tIns="0" rIns="0" bIns="0" rtlCol="0" anchor="ctr"/>
          <a:lstStyle/>
          <a:p>
            <a:pPr indent="0" marL="0">
              <a:buNone/>
            </a:pPr>
            <a:r>
              <a:rPr lang="en-US" sz="1000" b="1" dirty="0">
                <a:solidFill>
                  <a:schemeClr val="tx2"/>
                </a:solidFill>
              </a:rPr>
              <a:t>Quién lidera:</a:t>
            </a:r>
            <a:endParaRPr lang="en-US" sz="1000" dirty="0"/>
          </a:p>
        </p:txBody>
      </p:sp>
      <p:sp>
        <p:nvSpPr>
          <p:cNvPr id="62" name="Shape 59"/>
          <p:cNvSpPr/>
          <p:nvPr/>
        </p:nvSpPr>
        <p:spPr>
          <a:xfrm>
            <a:off x="7269480" y="6473952"/>
            <a:ext cx="274320" cy="137160"/>
          </a:xfrm>
          <a:prstGeom prst="roundRect">
            <a:avLst>
              <a:gd name="adj" fmla="val 26667"/>
            </a:avLst>
          </a:prstGeom>
          <a:solidFill>
            <a:schemeClr val="accent3"/>
          </a:solidFill>
          <a:ln w="12700">
            <a:solidFill>
              <a:schemeClr val="accent3"/>
            </a:solidFill>
            <a:prstDash val="solid"/>
          </a:ln>
        </p:spPr>
      </p:sp>
      <p:sp>
        <p:nvSpPr>
          <p:cNvPr id="63" name="Text 60"/>
          <p:cNvSpPr txBox="1"/>
          <p:nvPr/>
        </p:nvSpPr>
        <p:spPr>
          <a:xfrm>
            <a:off x="761695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64" name="Shape 61"/>
          <p:cNvSpPr/>
          <p:nvPr/>
        </p:nvSpPr>
        <p:spPr>
          <a:xfrm>
            <a:off x="8183880" y="6473952"/>
            <a:ext cx="274320" cy="137160"/>
          </a:xfrm>
          <a:prstGeom prst="roundRect">
            <a:avLst>
              <a:gd name="adj" fmla="val 26667"/>
            </a:avLst>
          </a:prstGeom>
          <a:solidFill>
            <a:schemeClr val="accent1"/>
          </a:solidFill>
          <a:ln w="12700">
            <a:solidFill>
              <a:schemeClr val="accent1"/>
            </a:solidFill>
            <a:prstDash val="solid"/>
          </a:ln>
        </p:spPr>
      </p:sp>
      <p:sp>
        <p:nvSpPr>
          <p:cNvPr id="65" name="Text 62"/>
          <p:cNvSpPr txBox="1"/>
          <p:nvPr/>
        </p:nvSpPr>
        <p:spPr>
          <a:xfrm>
            <a:off x="8531352" y="6382512"/>
            <a:ext cx="1371600" cy="320040"/>
          </a:xfrm>
          <a:prstGeom prst="rect">
            <a:avLst/>
          </a:prstGeom>
          <a:noFill/>
          <a:ln/>
        </p:spPr>
        <p:txBody>
          <a:bodyPr wrap="square" lIns="0" tIns="0" rIns="0" bIns="0" rtlCol="0" anchor="ctr"/>
          <a:lstStyle/>
          <a:p>
            <a:pPr indent="0" marL="0">
              <a:buNone/>
            </a:pPr>
            <a:r>
              <a:rPr lang="en-US" sz="1000" dirty="0">
                <a:solidFill>
                  <a:schemeClr val="accent6"/>
                </a:solidFill>
              </a:rPr>
              <a:t>Tech and Solve</a:t>
            </a:r>
            <a:endParaRPr lang="en-US" sz="1000" dirty="0"/>
          </a:p>
        </p:txBody>
      </p:sp>
      <p:sp>
        <p:nvSpPr>
          <p:cNvPr id="66" name="Shape 63"/>
          <p:cNvSpPr/>
          <p:nvPr/>
        </p:nvSpPr>
        <p:spPr>
          <a:xfrm>
            <a:off x="9646920" y="6473952"/>
            <a:ext cx="274320" cy="137160"/>
          </a:xfrm>
          <a:prstGeom prst="roundRect">
            <a:avLst>
              <a:gd name="adj" fmla="val 26667"/>
            </a:avLst>
          </a:prstGeom>
          <a:solidFill>
            <a:schemeClr val="accent2"/>
          </a:solidFill>
          <a:ln w="12700">
            <a:solidFill>
              <a:schemeClr val="accent2"/>
            </a:solidFill>
            <a:prstDash val="solid"/>
          </a:ln>
        </p:spPr>
      </p:sp>
      <p:sp>
        <p:nvSpPr>
          <p:cNvPr id="67" name="Text 64"/>
          <p:cNvSpPr txBox="1"/>
          <p:nvPr/>
        </p:nvSpPr>
        <p:spPr>
          <a:xfrm>
            <a:off x="999439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En conjunto</a:t>
            </a:r>
            <a:endParaRPr lang="en-US" sz="10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Definición liviana: una conversación corta y una ficha de una sola pantalla</a:t>
            </a:r>
            <a:endParaRPr lang="en-US" sz="2800" dirty="0"/>
          </a:p>
        </p:txBody>
      </p:sp>
      <p:sp>
        <p:nvSpPr>
          <p:cNvPr id="4" name="Text 1"/>
          <p:cNvSpPr txBox="1"/>
          <p:nvPr/>
        </p:nvSpPr>
        <p:spPr>
          <a:xfrm>
            <a:off x="548640" y="1325880"/>
            <a:ext cx="4754880" cy="457200"/>
          </a:xfrm>
          <a:prstGeom prst="rect">
            <a:avLst/>
          </a:prstGeom>
          <a:noFill/>
          <a:ln/>
        </p:spPr>
        <p:txBody>
          <a:bodyPr wrap="square" lIns="0" tIns="0" rIns="0" bIns="0" rtlCol="0" anchor="t"/>
          <a:lstStyle/>
          <a:p>
            <a:pPr indent="0" marL="0">
              <a:buNone/>
            </a:pPr>
            <a:r>
              <a:rPr lang="en-US" sz="1050" dirty="0">
                <a:solidFill>
                  <a:schemeClr val="tx1"/>
                </a:solidFill>
              </a:rPr>
              <a:t>Con IA, </a:t>
            </a:r>
            <a:pPr indent="0" marL="0">
              <a:buNone/>
            </a:pPr>
            <a:r>
              <a:rPr lang="en-US" sz="1050" b="1" dirty="0">
                <a:solidFill>
                  <a:schemeClr val="tx2"/>
                </a:solidFill>
              </a:rPr>
              <a:t>construir es barato y lo caro es la ambigüedad</a:t>
            </a:r>
            <a:pPr indent="0" marL="0">
              <a:buNone/>
            </a:pPr>
            <a:r>
              <a:rPr lang="en-US" sz="1050" dirty="0">
                <a:solidFill>
                  <a:schemeClr val="tx1"/>
                </a:solidFill>
              </a:rPr>
              <a:t>. Si una capacidad no cabe en una pantalla o en tres días, se parte.</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4754880" cy="914400"/>
        </p:xfrm>
        <a:graphic>
          <a:graphicData uri="http://schemas.openxmlformats.org/drawingml/2006/table">
            <a:tbl>
              <a:tblPr/>
              <a:tblGrid>
                <a:gridCol w="1371600"/>
                <a:gridCol w="3383280"/>
              </a:tblGrid>
              <a:tr h="274320">
                <a:tc>
                  <a:txBody>
                    <a:bodyPr/>
                    <a:lstStyle/>
                    <a:p>
                      <a:pPr indent="0" marL="0">
                        <a:buNone/>
                      </a:pPr>
                      <a:r>
                        <a:rPr lang="en-US" sz="1000" b="1" dirty="0">
                          <a:solidFill>
                            <a:schemeClr val="bg1"/>
                          </a:solidFill>
                        </a:rPr>
                        <a:t>Campo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Contenido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384048">
                <a:tc>
                  <a:txBody>
                    <a:bodyPr/>
                    <a:lstStyle/>
                    <a:p>
                      <a:pPr indent="0" marL="0">
                        <a:buNone/>
                      </a:pPr>
                      <a:r>
                        <a:rPr lang="en-US" sz="1000" b="1" dirty="0">
                          <a:solidFill>
                            <a:schemeClr val="tx2"/>
                          </a:solidFill>
                        </a:rPr>
                        <a:t>Para qué</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Una frase con el resultado de negocio que se busca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38912">
                <a:tc>
                  <a:txBody>
                    <a:bodyPr/>
                    <a:lstStyle/>
                    <a:p>
                      <a:pPr indent="0" marL="0">
                        <a:buNone/>
                      </a:pPr>
                      <a:r>
                        <a:rPr lang="en-US" sz="1000" b="1" dirty="0">
                          <a:solidFill>
                            <a:schemeClr val="tx2"/>
                          </a:solidFill>
                        </a:rPr>
                        <a:t>Ejemplos</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Entre 3 y 5 casos concretos en tabla: datos de entrada y resultado esperado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1000" b="1" dirty="0">
                          <a:solidFill>
                            <a:schemeClr val="tx2"/>
                          </a:solidFill>
                        </a:rPr>
                        <a:t>Reglas no obvias</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Solo lo que un builder no deduciría por sí mismo</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384048">
                <a:tc>
                  <a:txBody>
                    <a:bodyPr/>
                    <a:lstStyle/>
                    <a:p>
                      <a:pPr indent="0" marL="0">
                        <a:buNone/>
                      </a:pPr>
                      <a:r>
                        <a:rPr lang="en-US" sz="1000" b="1" dirty="0">
                          <a:solidFill>
                            <a:schemeClr val="tx2"/>
                          </a:solidFill>
                        </a:rPr>
                        <a:t>Cómo se certifica</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00" dirty="0">
                          <a:solidFill>
                            <a:srgbClr val="000000"/>
                          </a:solidFill>
                        </a:rPr>
                        <a:t>Quién prueba y qué tiene que ver para aprobar</a:t>
                      </a:r>
                      <a:endParaRPr lang="en-US" sz="10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6" name="Shape 2"/>
          <p:cNvSpPr/>
          <p:nvPr/>
        </p:nvSpPr>
        <p:spPr>
          <a:xfrm>
            <a:off x="5532120" y="1325880"/>
            <a:ext cx="6080760" cy="2377440"/>
          </a:xfrm>
          <a:prstGeom prst="roundRect">
            <a:avLst>
              <a:gd name="adj" fmla="val 3077"/>
            </a:avLst>
          </a:prstGeom>
          <a:solidFill>
            <a:schemeClr val="accent4"/>
          </a:solidFill>
          <a:ln w="12700">
            <a:solidFill>
              <a:srgbClr val="DCD8EC"/>
            </a:solidFill>
            <a:prstDash val="solid"/>
          </a:ln>
        </p:spPr>
      </p:sp>
      <p:sp>
        <p:nvSpPr>
          <p:cNvPr id="7" name="Text 3"/>
          <p:cNvSpPr txBox="1"/>
          <p:nvPr/>
        </p:nvSpPr>
        <p:spPr>
          <a:xfrm>
            <a:off x="5715000" y="1389888"/>
            <a:ext cx="5715000" cy="292608"/>
          </a:xfrm>
          <a:prstGeom prst="rect">
            <a:avLst/>
          </a:prstGeom>
          <a:noFill/>
          <a:ln/>
        </p:spPr>
        <p:txBody>
          <a:bodyPr wrap="square" lIns="0" tIns="0" rIns="0" bIns="0" rtlCol="0" anchor="t"/>
          <a:lstStyle/>
          <a:p>
            <a:pPr indent="0" marL="0">
              <a:buNone/>
            </a:pPr>
            <a:r>
              <a:rPr lang="en-US" sz="1200" b="1" dirty="0">
                <a:solidFill>
                  <a:schemeClr val="tx2"/>
                </a:solidFill>
              </a:rPr>
              <a:t>Prácticas de la mesa de definición</a:t>
            </a:r>
            <a:endParaRPr lang="en-US" sz="1200" dirty="0"/>
          </a:p>
        </p:txBody>
      </p:sp>
      <p:sp>
        <p:nvSpPr>
          <p:cNvPr id="8" name="Text 4"/>
          <p:cNvSpPr txBox="1"/>
          <p:nvPr/>
        </p:nvSpPr>
        <p:spPr>
          <a:xfrm>
            <a:off x="5715000" y="1719072"/>
            <a:ext cx="5715000" cy="1920240"/>
          </a:xfrm>
          <a:prstGeom prst="rect">
            <a:avLst/>
          </a:prstGeom>
          <a:noFill/>
          <a:ln/>
        </p:spPr>
        <p:txBody>
          <a:bodyPr wrap="square" lIns="0" tIns="0" rIns="0" bIns="0" rtlCol="0" anchor="t"/>
          <a:lstStyle/>
          <a:p>
            <a:pPr marL="342900" indent="-342900">
              <a:buSzPct val="100000"/>
              <a:buChar char="•"/>
            </a:pPr>
            <a:r>
              <a:rPr lang="en-US" sz="1000" b="1" dirty="0">
                <a:solidFill>
                  <a:schemeClr val="tx1"/>
                </a:solidFill>
              </a:rPr>
              <a:t>Ejemplos en lugar de redacción: </a:t>
            </a:r>
            <a:pPr indent="0" marL="0">
              <a:spcAft>
                <a:spcPts val="300"/>
              </a:spcAft>
              <a:buNone/>
            </a:pPr>
            <a:r>
              <a:rPr lang="en-US" sz="1000" dirty="0">
                <a:solidFill>
                  <a:schemeClr val="tx1"/>
                </a:solidFill>
              </a:rPr>
              <a:t>los builders, con IA, los convierten en pruebas de aceptación.</a:t>
            </a:r>
            <a:endParaRPr lang="en-US" sz="1000" dirty="0"/>
          </a:p>
          <a:p>
            <a:pPr marL="342900" indent="-342900">
              <a:buSzPct val="100000"/>
              <a:buChar char="•"/>
            </a:pPr>
            <a:r>
              <a:rPr lang="en-US" sz="1000" b="1" dirty="0">
                <a:solidFill>
                  <a:schemeClr val="tx1"/>
                </a:solidFill>
              </a:rPr>
              <a:t>La ficha se escribe en la conversación, </a:t>
            </a:r>
            <a:pPr indent="0" marL="0">
              <a:spcAft>
                <a:spcPts val="300"/>
              </a:spcAft>
              <a:buNone/>
            </a:pPr>
            <a:r>
              <a:rPr lang="en-US" sz="1000" dirty="0">
                <a:solidFill>
                  <a:schemeClr val="tx1"/>
                </a:solidFill>
              </a:rPr>
              <a:t>de 20 a 30 minutos; con la sesión grabada, la IA genera el borrador y SURA solo corrige.</a:t>
            </a:r>
            <a:endParaRPr lang="en-US" sz="1000" dirty="0"/>
          </a:p>
          <a:p>
            <a:pPr marL="342900" indent="-342900">
              <a:buSzPct val="100000"/>
              <a:buChar char="•"/>
            </a:pPr>
            <a:r>
              <a:rPr lang="en-US" sz="1000" b="1" dirty="0">
                <a:solidFill>
                  <a:schemeClr val="tx1"/>
                </a:solidFill>
              </a:rPr>
              <a:t>Prototipo generado por IA, </a:t>
            </a:r>
            <a:pPr indent="0" marL="0">
              <a:spcAft>
                <a:spcPts val="300"/>
              </a:spcAft>
              <a:buNone/>
            </a:pPr>
            <a:r>
              <a:rPr lang="en-US" sz="1000" dirty="0">
                <a:solidFill>
                  <a:schemeClr val="tx1"/>
                </a:solidFill>
              </a:rPr>
              <a:t>desechable, para que SURA reaccione a algo visible.</a:t>
            </a:r>
            <a:endParaRPr lang="en-US" sz="1000" dirty="0"/>
          </a:p>
          <a:p>
            <a:pPr marL="342900" indent="-342900">
              <a:buSzPct val="100000"/>
              <a:buChar char="•"/>
            </a:pPr>
            <a:r>
              <a:rPr lang="en-US" sz="1000" b="1" dirty="0">
                <a:solidFill>
                  <a:schemeClr val="tx1"/>
                </a:solidFill>
              </a:rPr>
              <a:t>Justo a tiempo: </a:t>
            </a:r>
            <a:pPr indent="0" marL="0">
              <a:spcAft>
                <a:spcPts val="300"/>
              </a:spcAft>
              <a:buNone/>
            </a:pPr>
            <a:r>
              <a:rPr lang="en-US" sz="1000" dirty="0">
                <a:solidFill>
                  <a:schemeClr val="tx1"/>
                </a:solidFill>
              </a:rPr>
              <a:t>solo lo que entra a construcción en las próximas dos semanas.</a:t>
            </a:r>
            <a:endParaRPr lang="en-US" sz="1000" dirty="0"/>
          </a:p>
          <a:p>
            <a:pPr marL="342900" indent="-342900">
              <a:buSzPct val="100000"/>
              <a:buChar char="•"/>
            </a:pPr>
            <a:r>
              <a:rPr lang="en-US" sz="1000" b="1" dirty="0">
                <a:solidFill>
                  <a:schemeClr val="tx1"/>
                </a:solidFill>
              </a:rPr>
              <a:t>Las dudas menores no bloquean: </a:t>
            </a:r>
            <a:pPr indent="0" marL="0">
              <a:spcAft>
                <a:spcPts val="300"/>
              </a:spcAft>
              <a:buNone/>
            </a:pPr>
            <a:r>
              <a:rPr lang="en-US" sz="1000" dirty="0">
                <a:solidFill>
                  <a:schemeClr val="tx1"/>
                </a:solidFill>
              </a:rPr>
              <a:t>SURA responde en menos de 24 horas.</a:t>
            </a:r>
            <a:endParaRPr lang="en-US" sz="1000" dirty="0"/>
          </a:p>
        </p:txBody>
      </p:sp>
      <p:sp>
        <p:nvSpPr>
          <p:cNvPr id="9" name="Shape 5"/>
          <p:cNvSpPr/>
          <p:nvPr/>
        </p:nvSpPr>
        <p:spPr>
          <a:xfrm>
            <a:off x="548640" y="3840480"/>
            <a:ext cx="11064240" cy="2423160"/>
          </a:xfrm>
          <a:prstGeom prst="roundRect">
            <a:avLst>
              <a:gd name="adj" fmla="val 3019"/>
            </a:avLst>
          </a:prstGeom>
          <a:solidFill>
            <a:schemeClr val="bg2"/>
          </a:solidFill>
          <a:ln w="12700">
            <a:solidFill>
              <a:schemeClr val="bg2"/>
            </a:solidFill>
            <a:prstDash val="solid"/>
          </a:ln>
        </p:spPr>
      </p:sp>
      <p:sp>
        <p:nvSpPr>
          <p:cNvPr id="10" name="Text 6"/>
          <p:cNvSpPr txBox="1"/>
          <p:nvPr/>
        </p:nvSpPr>
        <p:spPr>
          <a:xfrm>
            <a:off x="777240" y="3913632"/>
            <a:ext cx="10607040" cy="310896"/>
          </a:xfrm>
          <a:prstGeom prst="rect">
            <a:avLst/>
          </a:prstGeom>
          <a:noFill/>
          <a:ln/>
        </p:spPr>
        <p:txBody>
          <a:bodyPr wrap="square" lIns="0" tIns="0" rIns="0" bIns="0" rtlCol="0" anchor="t"/>
          <a:lstStyle/>
          <a:p>
            <a:pPr indent="0" marL="0">
              <a:buNone/>
            </a:pPr>
            <a:r>
              <a:rPr lang="en-US" sz="1250" b="1" dirty="0">
                <a:solidFill>
                  <a:schemeClr val="tx2"/>
                </a:solidFill>
              </a:rPr>
              <a:t>Los datos clínicos: con qué datos se trabaja en cada momento</a:t>
            </a:r>
            <a:endParaRPr lang="en-US" sz="1250" dirty="0"/>
          </a:p>
        </p:txBody>
      </p:sp>
      <p:sp>
        <p:nvSpPr>
          <p:cNvPr id="11" name="Shape 7"/>
          <p:cNvSpPr/>
          <p:nvPr/>
        </p:nvSpPr>
        <p:spPr>
          <a:xfrm>
            <a:off x="777240" y="4297680"/>
            <a:ext cx="3352800" cy="45720"/>
          </a:xfrm>
          <a:prstGeom prst="rect">
            <a:avLst/>
          </a:prstGeom>
          <a:solidFill>
            <a:schemeClr val="accent1"/>
          </a:solidFill>
          <a:ln w="12700">
            <a:solidFill>
              <a:schemeClr val="accent1"/>
            </a:solidFill>
            <a:prstDash val="solid"/>
          </a:ln>
        </p:spPr>
      </p:sp>
      <p:sp>
        <p:nvSpPr>
          <p:cNvPr id="12" name="Text 8"/>
          <p:cNvSpPr txBox="1"/>
          <p:nvPr/>
        </p:nvSpPr>
        <p:spPr>
          <a:xfrm>
            <a:off x="777240" y="4389120"/>
            <a:ext cx="3352800" cy="1051560"/>
          </a:xfrm>
          <a:prstGeom prst="rect">
            <a:avLst/>
          </a:prstGeom>
          <a:noFill/>
          <a:ln/>
        </p:spPr>
        <p:txBody>
          <a:bodyPr wrap="square" lIns="0" tIns="0" rIns="0" bIns="0" rtlCol="0" anchor="t"/>
          <a:lstStyle/>
          <a:p>
            <a:pPr indent="0" marL="0">
              <a:buNone/>
            </a:pPr>
            <a:r>
              <a:rPr lang="en-US" sz="1000" b="1" dirty="0">
                <a:solidFill>
                  <a:schemeClr val="tx2"/>
                </a:solidFill>
              </a:rPr>
              <a:t>Construir y verificar. </a:t>
            </a:r>
            <a:pPr indent="0" marL="0">
              <a:buNone/>
            </a:pPr>
            <a:r>
              <a:rPr lang="en-US" sz="1000" dirty="0">
                <a:solidFill>
                  <a:schemeClr val="tx1"/>
                </a:solidFill>
              </a:rPr>
              <a:t>Casos reales de SURA con los datos sensibles anonimizados, para que la afinación de los agentes sea óptima. Nada que identifique a un paciente sale de SURA.</a:t>
            </a:r>
            <a:endParaRPr lang="en-US" sz="1000" dirty="0"/>
          </a:p>
        </p:txBody>
      </p:sp>
      <p:sp>
        <p:nvSpPr>
          <p:cNvPr id="13" name="Shape 9"/>
          <p:cNvSpPr/>
          <p:nvPr/>
        </p:nvSpPr>
        <p:spPr>
          <a:xfrm>
            <a:off x="4404360" y="4297680"/>
            <a:ext cx="3352800" cy="45720"/>
          </a:xfrm>
          <a:prstGeom prst="rect">
            <a:avLst/>
          </a:prstGeom>
          <a:solidFill>
            <a:schemeClr val="accent2"/>
          </a:solidFill>
          <a:ln w="12700">
            <a:solidFill>
              <a:schemeClr val="accent2"/>
            </a:solidFill>
            <a:prstDash val="solid"/>
          </a:ln>
        </p:spPr>
      </p:sp>
      <p:sp>
        <p:nvSpPr>
          <p:cNvPr id="14" name="Text 10"/>
          <p:cNvSpPr txBox="1"/>
          <p:nvPr/>
        </p:nvSpPr>
        <p:spPr>
          <a:xfrm>
            <a:off x="4404360" y="4389120"/>
            <a:ext cx="3352800" cy="1051560"/>
          </a:xfrm>
          <a:prstGeom prst="rect">
            <a:avLst/>
          </a:prstGeom>
          <a:noFill/>
          <a:ln/>
        </p:spPr>
        <p:txBody>
          <a:bodyPr wrap="square" lIns="0" tIns="0" rIns="0" bIns="0" rtlCol="0" anchor="t"/>
          <a:lstStyle/>
          <a:p>
            <a:pPr indent="0" marL="0">
              <a:buNone/>
            </a:pPr>
            <a:r>
              <a:rPr lang="en-US" sz="1000" b="1" dirty="0">
                <a:solidFill>
                  <a:schemeClr val="tx2"/>
                </a:solidFill>
              </a:rPr>
              <a:t>Evaluar con la muestra clínica. </a:t>
            </a:r>
            <a:pPr indent="0" marL="0">
              <a:buNone/>
            </a:pPr>
            <a:r>
              <a:rPr lang="en-US" sz="1000" dirty="0">
                <a:solidFill>
                  <a:schemeClr val="tx1"/>
                </a:solidFill>
              </a:rPr>
              <a:t>Dentro de la infraestructura de SURA, con muestra anonimizada que revisan sus expertos. Ahí se valida la pertinencia médica y se calibra el LLM-as-a-judge; los datos no salen de SURA.</a:t>
            </a:r>
            <a:endParaRPr lang="en-US" sz="1000" dirty="0"/>
          </a:p>
        </p:txBody>
      </p:sp>
      <p:sp>
        <p:nvSpPr>
          <p:cNvPr id="15" name="Shape 11"/>
          <p:cNvSpPr/>
          <p:nvPr/>
        </p:nvSpPr>
        <p:spPr>
          <a:xfrm>
            <a:off x="8031480" y="4297680"/>
            <a:ext cx="3352800" cy="45720"/>
          </a:xfrm>
          <a:prstGeom prst="rect">
            <a:avLst/>
          </a:prstGeom>
          <a:solidFill>
            <a:schemeClr val="accent3"/>
          </a:solidFill>
          <a:ln w="12700">
            <a:solidFill>
              <a:schemeClr val="accent3"/>
            </a:solidFill>
            <a:prstDash val="solid"/>
          </a:ln>
        </p:spPr>
      </p:sp>
      <p:sp>
        <p:nvSpPr>
          <p:cNvPr id="16" name="Text 12"/>
          <p:cNvSpPr txBox="1"/>
          <p:nvPr/>
        </p:nvSpPr>
        <p:spPr>
          <a:xfrm>
            <a:off x="8031480" y="4389120"/>
            <a:ext cx="3352800" cy="1051560"/>
          </a:xfrm>
          <a:prstGeom prst="rect">
            <a:avLst/>
          </a:prstGeom>
          <a:noFill/>
          <a:ln/>
        </p:spPr>
        <p:txBody>
          <a:bodyPr wrap="square" lIns="0" tIns="0" rIns="0" bIns="0" rtlCol="0" anchor="t"/>
          <a:lstStyle/>
          <a:p>
            <a:pPr indent="0" marL="0">
              <a:buNone/>
            </a:pPr>
            <a:r>
              <a:rPr lang="en-US" sz="1000" b="1" dirty="0">
                <a:solidFill>
                  <a:schemeClr val="tx2"/>
                </a:solidFill>
              </a:rPr>
              <a:t>Activar con control. </a:t>
            </a:r>
            <a:pPr indent="0" marL="0">
              <a:buNone/>
            </a:pPr>
            <a:r>
              <a:rPr lang="en-US" sz="1000" dirty="0">
                <a:solidFill>
                  <a:schemeClr val="tx1"/>
                </a:solidFill>
              </a:rPr>
              <a:t>En modo shadow, el agente opina sin decidir y se compara con las personas. SURA decide la activación.</a:t>
            </a:r>
            <a:endParaRPr lang="en-US" sz="1000" dirty="0"/>
          </a:p>
        </p:txBody>
      </p:sp>
      <p:sp>
        <p:nvSpPr>
          <p:cNvPr id="17" name="Text 13"/>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950" dirty="0">
                <a:solidFill>
                  <a:schemeClr val="accent6"/>
                </a:solidFill>
              </a:rPr>
              <a:t>Los datos de salud son sensibles según la </a:t>
            </a:r>
            <a:pPr indent="0" marL="0">
              <a:buNone/>
            </a:pPr>
            <a:r>
              <a:rPr lang="en-US" sz="95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Ley 1581 de 2012</a:t>
            </a:r>
            <a:pPr indent="0" marL="0">
              <a:buNone/>
            </a:pPr>
            <a:r>
              <a:rPr lang="en-US" sz="950" dirty="0">
                <a:solidFill>
                  <a:schemeClr val="accent6"/>
                </a:solidFill>
              </a:rPr>
              <a:t>; la historia clínica es reservada según la </a:t>
            </a:r>
            <a:pPr indent="0" marL="0">
              <a:buNone/>
            </a:pPr>
            <a:r>
              <a:rPr lang="en-US" sz="95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Resolución 1995 de 1999</a:t>
            </a:r>
            <a:pPr indent="0" marL="0">
              <a:buNone/>
            </a:pPr>
            <a:r>
              <a:rPr lang="en-US" sz="950" dirty="0">
                <a:solidFill>
                  <a:schemeClr val="accent6"/>
                </a:solidFill>
              </a:rPr>
              <a:t>, y su intercambio electrónico lo regula la </a:t>
            </a:r>
            <a:pPr indent="0" marL="0">
              <a:buNone/>
            </a:pPr>
            <a:r>
              <a:rPr lang="en-US" sz="95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Ley 2015 de 2020</a:t>
            </a:r>
            <a:pPr indent="0" marL="0">
              <a:buNone/>
            </a:pPr>
            <a:r>
              <a:rPr lang="en-US" sz="950" dirty="0">
                <a:solidFill>
                  <a:schemeClr val="accent6"/>
                </a:solidFill>
              </a:rPr>
              <a:t>. Aplican las políticas de SURA, y sus datos solo van a herramientas que SURA autorice.</a:t>
            </a:r>
            <a:endParaRPr lang="en-US" sz="9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Desarrollo guiado por especificaciones: la especificación define el qué antes del cómo</a:t>
            </a:r>
            <a:endParaRPr lang="en-US" sz="2800" dirty="0"/>
          </a:p>
        </p:txBody>
      </p:sp>
      <p:sp>
        <p:nvSpPr>
          <p:cNvPr id="4" name="Text 1"/>
          <p:cNvSpPr txBox="1"/>
          <p:nvPr/>
        </p:nvSpPr>
        <p:spPr>
          <a:xfrm>
            <a:off x="548640" y="1371600"/>
            <a:ext cx="11064240" cy="502920"/>
          </a:xfrm>
          <a:prstGeom prst="rect">
            <a:avLst/>
          </a:prstGeom>
          <a:noFill/>
          <a:ln/>
        </p:spPr>
        <p:txBody>
          <a:bodyPr wrap="square" lIns="0" tIns="0" rIns="0" bIns="0" rtlCol="0" anchor="t"/>
          <a:lstStyle/>
          <a:p>
            <a:pPr indent="0" marL="0">
              <a:buNone/>
            </a:pPr>
            <a:r>
              <a:rPr lang="en-US" sz="1100" dirty="0">
                <a:solidFill>
                  <a:schemeClr val="tx1"/>
                </a:solidFill>
              </a:rPr>
              <a:t>La especificación vive en el repositorio junto al código y es la fuente de verdad del comportamiento. La IA genera a partir de ella el diseño, las tareas y el código; las personas la revisan y aprueban en cada paso. La ficha sigue siendo liviana: SURA no carga con más documentación.</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1691640"/>
                <a:gridCol w="2331720"/>
                <a:gridCol w="2331720"/>
                <a:gridCol w="4709160"/>
              </a:tblGrid>
              <a:tr h="292608">
                <a:tc>
                  <a:txBody>
                    <a:bodyPr/>
                    <a:lstStyle/>
                    <a:p>
                      <a:pPr indent="0" marL="0">
                        <a:buNone/>
                      </a:pPr>
                      <a:r>
                        <a:rPr lang="en-US" sz="1050" b="1" dirty="0">
                          <a:solidFill>
                            <a:schemeClr val="bg1"/>
                          </a:solidFill>
                        </a:rPr>
                        <a:t>Artefacto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Quién lo produce</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Quién lo aprueba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Contenido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457200">
                <a:tc>
                  <a:txBody>
                    <a:bodyPr/>
                    <a:lstStyle/>
                    <a:p>
                      <a:pPr indent="0" marL="0">
                        <a:buNone/>
                      </a:pPr>
                      <a:r>
                        <a:rPr lang="en-US" sz="1050" b="1" dirty="0">
                          <a:solidFill>
                            <a:schemeClr val="tx2"/>
                          </a:solidFill>
                        </a:rPr>
                        <a:t>Ficha de capacidad</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Líder funcional con el arquitecto líder</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Líder funcional</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Para qué, ejemplos con datos, reglas no obvias, cómo se certifica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050" b="1" dirty="0">
                          <a:solidFill>
                            <a:schemeClr val="tx2"/>
                          </a:solidFill>
                        </a:rPr>
                        <a:t>Especificación</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Agente, dirigido por un builder</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Builder</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Requisitos verificables derivados de la ficha, en formato estructurado (por ejemplo, «cuando ocurra X, el sistema hará Y»)</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050" b="1" dirty="0">
                          <a:solidFill>
                            <a:schemeClr val="tx2"/>
                          </a:solidFill>
                        </a:rPr>
                        <a:t>Diseño técnico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Agente, dirigido por un builder</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Builder; arquitecto líder si toca la arquitectura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Cómo se implementa dentro de la arquitectura definida: componentes, datos, integraciones</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050" b="1" dirty="0">
                          <a:solidFill>
                            <a:schemeClr val="tx2"/>
                          </a:solidFill>
                        </a:rPr>
                        <a:t>Tareas</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Agente</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Builder</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Pasos pequeños y verificables que el agente ejecuta uno a uno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050" b="1" dirty="0">
                          <a:solidFill>
                            <a:schemeClr val="tx2"/>
                          </a:solidFill>
                        </a:rPr>
                        <a:t>Pruebas y código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Agente</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Builders, que verifican con IA</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050" dirty="0">
                          <a:solidFill>
                            <a:srgbClr val="000000"/>
                          </a:solidFill>
                        </a:rPr>
                        <a:t>Primero las pruebas de aceptación, después el código</a:t>
                      </a:r>
                      <a:endParaRPr lang="en-US" sz="10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6" name="Text 2"/>
          <p:cNvSpPr txBox="1"/>
          <p:nvPr/>
        </p:nvSpPr>
        <p:spPr>
          <a:xfrm>
            <a:off x="548640" y="4498848"/>
            <a:ext cx="11064240" cy="292608"/>
          </a:xfrm>
          <a:prstGeom prst="rect">
            <a:avLst/>
          </a:prstGeom>
          <a:noFill/>
          <a:ln/>
        </p:spPr>
        <p:txBody>
          <a:bodyPr wrap="square" lIns="0" tIns="0" rIns="0" bIns="0" rtlCol="0" anchor="t"/>
          <a:lstStyle/>
          <a:p>
            <a:pPr indent="0" marL="0">
              <a:buNone/>
            </a:pPr>
            <a:r>
              <a:rPr lang="en-US" sz="1300" b="1" dirty="0">
                <a:solidFill>
                  <a:schemeClr val="tx2"/>
                </a:solidFill>
              </a:rPr>
              <a:t>Reglas</a:t>
            </a:r>
            <a:endParaRPr lang="en-US" sz="1300" dirty="0"/>
          </a:p>
        </p:txBody>
      </p:sp>
      <p:sp>
        <p:nvSpPr>
          <p:cNvPr id="7" name="Shape 3"/>
          <p:cNvSpPr/>
          <p:nvPr/>
        </p:nvSpPr>
        <p:spPr>
          <a:xfrm>
            <a:off x="548640" y="4846320"/>
            <a:ext cx="5440680" cy="621792"/>
          </a:xfrm>
          <a:prstGeom prst="roundRect">
            <a:avLst>
              <a:gd name="adj" fmla="val 11765"/>
            </a:avLst>
          </a:prstGeom>
          <a:solidFill>
            <a:schemeClr val="bg2"/>
          </a:solidFill>
          <a:ln w="12700">
            <a:solidFill>
              <a:schemeClr val="bg2"/>
            </a:solidFill>
            <a:prstDash val="solid"/>
          </a:ln>
        </p:spPr>
      </p:sp>
      <p:sp>
        <p:nvSpPr>
          <p:cNvPr id="8" name="Text 4"/>
          <p:cNvSpPr txBox="1"/>
          <p:nvPr/>
        </p:nvSpPr>
        <p:spPr>
          <a:xfrm>
            <a:off x="713232" y="4846320"/>
            <a:ext cx="5111496" cy="621792"/>
          </a:xfrm>
          <a:prstGeom prst="rect">
            <a:avLst/>
          </a:prstGeom>
          <a:noFill/>
          <a:ln/>
        </p:spPr>
        <p:txBody>
          <a:bodyPr wrap="square" lIns="0" tIns="0" rIns="0" bIns="0" rtlCol="0" anchor="ctr"/>
          <a:lstStyle/>
          <a:p>
            <a:pPr indent="0" marL="0">
              <a:buNone/>
            </a:pPr>
            <a:r>
              <a:rPr lang="en-US" sz="1050" b="1" dirty="0">
                <a:solidFill>
                  <a:schemeClr val="tx2"/>
                </a:solidFill>
              </a:rPr>
              <a:t>Puntos de aprobación. </a:t>
            </a:r>
            <a:pPr indent="0" marL="0">
              <a:buNone/>
            </a:pPr>
            <a:r>
              <a:rPr lang="en-US" sz="1050" dirty="0">
                <a:solidFill>
                  <a:schemeClr val="tx1"/>
                </a:solidFill>
              </a:rPr>
              <a:t>No se pasa de especificación a diseño, ni de diseño a tareas, sin revisión humana: es el lugar más barato para corregir a la IA.</a:t>
            </a:r>
            <a:endParaRPr lang="en-US" sz="1050" dirty="0"/>
          </a:p>
        </p:txBody>
      </p:sp>
      <p:sp>
        <p:nvSpPr>
          <p:cNvPr id="9" name="Shape 5"/>
          <p:cNvSpPr/>
          <p:nvPr/>
        </p:nvSpPr>
        <p:spPr>
          <a:xfrm>
            <a:off x="6172200" y="4846320"/>
            <a:ext cx="5440680" cy="621792"/>
          </a:xfrm>
          <a:prstGeom prst="roundRect">
            <a:avLst>
              <a:gd name="adj" fmla="val 11765"/>
            </a:avLst>
          </a:prstGeom>
          <a:solidFill>
            <a:schemeClr val="bg2"/>
          </a:solidFill>
          <a:ln w="12700">
            <a:solidFill>
              <a:schemeClr val="bg2"/>
            </a:solidFill>
            <a:prstDash val="solid"/>
          </a:ln>
        </p:spPr>
      </p:sp>
      <p:sp>
        <p:nvSpPr>
          <p:cNvPr id="10" name="Text 6"/>
          <p:cNvSpPr txBox="1"/>
          <p:nvPr/>
        </p:nvSpPr>
        <p:spPr>
          <a:xfrm>
            <a:off x="6336792" y="4846320"/>
            <a:ext cx="5111496" cy="621792"/>
          </a:xfrm>
          <a:prstGeom prst="rect">
            <a:avLst/>
          </a:prstGeom>
          <a:noFill/>
          <a:ln/>
        </p:spPr>
        <p:txBody>
          <a:bodyPr wrap="square" lIns="0" tIns="0" rIns="0" bIns="0" rtlCol="0" anchor="ctr"/>
          <a:lstStyle/>
          <a:p>
            <a:pPr indent="0" marL="0">
              <a:buNone/>
            </a:pPr>
            <a:r>
              <a:rPr lang="en-US" sz="1050" b="1" dirty="0">
                <a:solidFill>
                  <a:schemeClr val="tx2"/>
                </a:solidFill>
              </a:rPr>
              <a:t>Primero la especificación. </a:t>
            </a:r>
            <a:pPr indent="0" marL="0">
              <a:buNone/>
            </a:pPr>
            <a:r>
              <a:rPr lang="en-US" sz="1050" dirty="0">
                <a:solidFill>
                  <a:schemeClr val="tx1"/>
                </a:solidFill>
              </a:rPr>
              <a:t>Todo cambio, incluidas observaciones de certificación e incidentes, va primero a la especificación y después se regenera.</a:t>
            </a:r>
            <a:endParaRPr lang="en-US" sz="1050" dirty="0"/>
          </a:p>
        </p:txBody>
      </p:sp>
      <p:sp>
        <p:nvSpPr>
          <p:cNvPr id="11" name="Shape 7"/>
          <p:cNvSpPr/>
          <p:nvPr/>
        </p:nvSpPr>
        <p:spPr>
          <a:xfrm>
            <a:off x="548640" y="5559552"/>
            <a:ext cx="5440680" cy="621792"/>
          </a:xfrm>
          <a:prstGeom prst="roundRect">
            <a:avLst>
              <a:gd name="adj" fmla="val 11765"/>
            </a:avLst>
          </a:prstGeom>
          <a:solidFill>
            <a:schemeClr val="bg2"/>
          </a:solidFill>
          <a:ln w="12700">
            <a:solidFill>
              <a:schemeClr val="bg2"/>
            </a:solidFill>
            <a:prstDash val="solid"/>
          </a:ln>
        </p:spPr>
      </p:sp>
      <p:sp>
        <p:nvSpPr>
          <p:cNvPr id="12" name="Text 8"/>
          <p:cNvSpPr txBox="1"/>
          <p:nvPr/>
        </p:nvSpPr>
        <p:spPr>
          <a:xfrm>
            <a:off x="713232" y="5559552"/>
            <a:ext cx="5111496" cy="621792"/>
          </a:xfrm>
          <a:prstGeom prst="rect">
            <a:avLst/>
          </a:prstGeom>
          <a:noFill/>
          <a:ln/>
        </p:spPr>
        <p:txBody>
          <a:bodyPr wrap="square" lIns="0" tIns="0" rIns="0" bIns="0" rtlCol="0" anchor="ctr"/>
          <a:lstStyle/>
          <a:p>
            <a:pPr indent="0" marL="0">
              <a:buNone/>
            </a:pPr>
            <a:r>
              <a:rPr lang="en-US" sz="1050" b="1" dirty="0">
                <a:solidFill>
                  <a:schemeClr val="tx2"/>
                </a:solidFill>
              </a:rPr>
              <a:t>El contexto del agente es la base común, </a:t>
            </a:r>
            <a:pPr indent="0" marL="0">
              <a:buNone/>
            </a:pPr>
            <a:r>
              <a:rPr lang="en-US" sz="1050" dirty="0">
                <a:solidFill>
                  <a:schemeClr val="tx1"/>
                </a:solidFill>
              </a:rPr>
              <a:t>y el arquitecto líder lo mantiene junto con las plantillas.</a:t>
            </a:r>
            <a:endParaRPr lang="en-US" sz="1050" dirty="0"/>
          </a:p>
        </p:txBody>
      </p:sp>
      <p:sp>
        <p:nvSpPr>
          <p:cNvPr id="13" name="Shape 9"/>
          <p:cNvSpPr/>
          <p:nvPr/>
        </p:nvSpPr>
        <p:spPr>
          <a:xfrm>
            <a:off x="6172200" y="5559552"/>
            <a:ext cx="5440680" cy="621792"/>
          </a:xfrm>
          <a:prstGeom prst="roundRect">
            <a:avLst>
              <a:gd name="adj" fmla="val 11765"/>
            </a:avLst>
          </a:prstGeom>
          <a:solidFill>
            <a:schemeClr val="bg2"/>
          </a:solidFill>
          <a:ln w="12700">
            <a:solidFill>
              <a:schemeClr val="bg2"/>
            </a:solidFill>
            <a:prstDash val="solid"/>
          </a:ln>
        </p:spPr>
      </p:sp>
      <p:sp>
        <p:nvSpPr>
          <p:cNvPr id="14" name="Text 10"/>
          <p:cNvSpPr txBox="1"/>
          <p:nvPr/>
        </p:nvSpPr>
        <p:spPr>
          <a:xfrm>
            <a:off x="6336792" y="5559552"/>
            <a:ext cx="5111496" cy="621792"/>
          </a:xfrm>
          <a:prstGeom prst="rect">
            <a:avLst/>
          </a:prstGeom>
          <a:noFill/>
          <a:ln/>
        </p:spPr>
        <p:txBody>
          <a:bodyPr wrap="square" lIns="0" tIns="0" rIns="0" bIns="0" rtlCol="0" anchor="ctr"/>
          <a:lstStyle/>
          <a:p>
            <a:pPr indent="0" marL="0">
              <a:buNone/>
            </a:pPr>
            <a:r>
              <a:rPr lang="en-US" sz="1050" b="1" dirty="0">
                <a:solidFill>
                  <a:schemeClr val="tx2"/>
                </a:solidFill>
              </a:rPr>
              <a:t>Trazabilidad. </a:t>
            </a:r>
            <a:pPr indent="0" marL="0">
              <a:buNone/>
            </a:pPr>
            <a:r>
              <a:rPr lang="en-US" sz="1050" dirty="0">
                <a:solidFill>
                  <a:schemeClr val="tx1"/>
                </a:solidFill>
              </a:rPr>
              <a:t>Cada prueba se vincula a un requisito, y cada requisito a un ejemplo de la ficha.</a:t>
            </a:r>
            <a:endParaRPr lang="en-US" sz="10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personas no escriben el código línea a línea: cuidan el harness que lo produce</a:t>
            </a:r>
            <a:endParaRPr lang="en-US" sz="2800" dirty="0"/>
          </a:p>
        </p:txBody>
      </p:sp>
      <p:sp>
        <p:nvSpPr>
          <p:cNvPr id="4" name="Text 1"/>
          <p:cNvSpPr txBox="1"/>
          <p:nvPr/>
        </p:nvSpPr>
        <p:spPr>
          <a:xfrm>
            <a:off x="548640" y="1371600"/>
            <a:ext cx="7178040" cy="365760"/>
          </a:xfrm>
          <a:prstGeom prst="rect">
            <a:avLst/>
          </a:prstGeom>
          <a:noFill/>
          <a:ln/>
        </p:spPr>
        <p:txBody>
          <a:bodyPr wrap="square" lIns="0" tIns="0" rIns="0" bIns="0" rtlCol="0" anchor="t"/>
          <a:lstStyle/>
          <a:p>
            <a:pPr indent="0" marL="0">
              <a:buNone/>
            </a:pPr>
            <a:r>
              <a:rPr lang="en-US" sz="1100" dirty="0">
                <a:solidFill>
                  <a:schemeClr val="tx1"/>
                </a:solidFill>
              </a:rPr>
              <a:t>El harness es todo lo que rodea al modelo para que el código salga bien y encaje con la arquitectura definida.</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178040" cy="914400"/>
        </p:xfrm>
        <a:graphic>
          <a:graphicData uri="http://schemas.openxmlformats.org/drawingml/2006/table">
            <a:tbl>
              <a:tblPr/>
              <a:tblGrid>
                <a:gridCol w="1828800"/>
                <a:gridCol w="3337560"/>
                <a:gridCol w="2011680"/>
              </a:tblGrid>
              <a:tr h="292608">
                <a:tc>
                  <a:txBody>
                    <a:bodyPr/>
                    <a:lstStyle/>
                    <a:p>
                      <a:pPr indent="0" marL="0">
                        <a:buNone/>
                      </a:pPr>
                      <a:r>
                        <a:rPr lang="en-US" sz="950" b="1" dirty="0">
                          <a:solidFill>
                            <a:schemeClr val="bg1"/>
                          </a:solidFill>
                        </a:rPr>
                        <a:t>Pieza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Qué hace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Quién la cuida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66928">
                <a:tc>
                  <a:txBody>
                    <a:bodyPr/>
                    <a:lstStyle/>
                    <a:p>
                      <a:pPr indent="0" marL="0">
                        <a:buNone/>
                      </a:pPr>
                      <a:r>
                        <a:rPr lang="en-US" sz="950" b="1" dirty="0">
                          <a:solidFill>
                            <a:schemeClr val="tx2"/>
                          </a:solidFill>
                        </a:rPr>
                        <a:t>Contexto del agente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Arquitectura, convenciones y decisiones técnicas, y una base de conocimiento sincronizada con el código antes de cada sesión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Arquitecto líder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93776">
                <a:tc>
                  <a:txBody>
                    <a:bodyPr/>
                    <a:lstStyle/>
                    <a:p>
                      <a:pPr indent="0" marL="0">
                        <a:buNone/>
                      </a:pPr>
                      <a:r>
                        <a:rPr lang="en-US" sz="950" b="1" dirty="0">
                          <a:solidFill>
                            <a:schemeClr val="tx2"/>
                          </a:solidFill>
                        </a:rPr>
                        <a:t>Plantillas de ficha y de especificación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Dan la misma forma a cada capacidad, de la conversación con SURA a los requisitos verificables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Arquitecto líder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93776">
                <a:tc>
                  <a:txBody>
                    <a:bodyPr/>
                    <a:lstStyle/>
                    <a:p>
                      <a:pPr indent="0" marL="0">
                        <a:buNone/>
                      </a:pPr>
                      <a:r>
                        <a:rPr lang="en-US" sz="950" b="1" dirty="0">
                          <a:solidFill>
                            <a:schemeClr val="tx2"/>
                          </a:solidFill>
                        </a:rPr>
                        <a:t>Reglas desde revisiones reales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Lo que un revisor corrigió una vez, el agente lo aplica siempre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Arquitecto líder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93776">
                <a:tc>
                  <a:txBody>
                    <a:bodyPr/>
                    <a:lstStyle/>
                    <a:p>
                      <a:pPr indent="0" marL="0">
                        <a:buNone/>
                      </a:pPr>
                      <a:r>
                        <a:rPr lang="en-US" sz="950" b="1" dirty="0">
                          <a:solidFill>
                            <a:schemeClr val="tx2"/>
                          </a:solidFill>
                        </a:rPr>
                        <a:t>Puntos de aprobación y compuertas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El agente no avanza sin revisión humana; publicar exige la firma de una persona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Builders; arquitecto líder si toca la arquitectura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93776">
                <a:tc>
                  <a:txBody>
                    <a:bodyPr/>
                    <a:lstStyle/>
                    <a:p>
                      <a:pPr indent="0" marL="0">
                        <a:buNone/>
                      </a:pPr>
                      <a:r>
                        <a:rPr lang="en-US" sz="950" b="1" dirty="0">
                          <a:solidFill>
                            <a:schemeClr val="tx2"/>
                          </a:solidFill>
                        </a:rPr>
                        <a:t>Pruebas primero y golden set</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Los ejemplos de SURA se vuelven pruebas antes de que exista el código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Builders, que verifican con IA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93776">
                <a:tc>
                  <a:txBody>
                    <a:bodyPr/>
                    <a:lstStyle/>
                    <a:p>
                      <a:pPr indent="0" marL="0">
                        <a:buNone/>
                      </a:pPr>
                      <a:r>
                        <a:rPr lang="en-US" sz="950" b="1" dirty="0">
                          <a:solidFill>
                            <a:schemeClr val="tx2"/>
                          </a:solidFill>
                        </a:rPr>
                        <a:t>Auditores, traza y continuidad</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Agentes auditores revisan requisitos y evidencia; cada tarea queda versionada y se retoma en cualquier momento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Builders y arquitecto líder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6" name="Shape 2"/>
          <p:cNvSpPr/>
          <p:nvPr/>
        </p:nvSpPr>
        <p:spPr>
          <a:xfrm>
            <a:off x="7955280" y="1371600"/>
            <a:ext cx="3657600" cy="2697480"/>
          </a:xfrm>
          <a:prstGeom prst="roundRect">
            <a:avLst>
              <a:gd name="adj" fmla="val 3390"/>
            </a:avLst>
          </a:prstGeom>
          <a:solidFill>
            <a:schemeClr val="tx2"/>
          </a:solidFill>
          <a:ln w="12700">
            <a:solidFill>
              <a:schemeClr val="tx2"/>
            </a:solidFill>
            <a:prstDash val="solid"/>
          </a:ln>
        </p:spPr>
      </p:sp>
      <p:sp>
        <p:nvSpPr>
          <p:cNvPr id="7" name="Text 3"/>
          <p:cNvSpPr txBox="1"/>
          <p:nvPr/>
        </p:nvSpPr>
        <p:spPr>
          <a:xfrm>
            <a:off x="8156448" y="1463040"/>
            <a:ext cx="3255264" cy="347472"/>
          </a:xfrm>
          <a:prstGeom prst="rect">
            <a:avLst/>
          </a:prstGeom>
          <a:noFill/>
          <a:ln/>
        </p:spPr>
        <p:txBody>
          <a:bodyPr wrap="square" lIns="0" tIns="0" rIns="0" bIns="0" rtlCol="0" anchor="t"/>
          <a:lstStyle/>
          <a:p>
            <a:pPr indent="0" marL="0">
              <a:buNone/>
            </a:pPr>
            <a:r>
              <a:rPr lang="en-US" sz="1300" b="1" dirty="0">
                <a:solidFill>
                  <a:schemeClr val="bg1"/>
                </a:solidFill>
              </a:rPr>
              <a:t>Qué cuida el arquitecto líder</a:t>
            </a:r>
            <a:endParaRPr lang="en-US" sz="1300" dirty="0"/>
          </a:p>
        </p:txBody>
      </p:sp>
      <p:sp>
        <p:nvSpPr>
          <p:cNvPr id="8" name="Text 4"/>
          <p:cNvSpPr txBox="1"/>
          <p:nvPr/>
        </p:nvSpPr>
        <p:spPr>
          <a:xfrm>
            <a:off x="8156448" y="1847088"/>
            <a:ext cx="3255264" cy="21488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chemeClr val="bg1"/>
                </a:solidFill>
              </a:rPr>
              <a:t>Que el contexto del agente refleje la arquitectura acordada con SURA.</a:t>
            </a:r>
            <a:endParaRPr lang="en-US" sz="1050" dirty="0"/>
          </a:p>
          <a:p>
            <a:pPr marL="342900" indent="-342900">
              <a:spcAft>
                <a:spcPts val="500"/>
              </a:spcAft>
              <a:buSzPct val="100000"/>
              <a:buChar char="•"/>
            </a:pPr>
            <a:r>
              <a:rPr lang="en-US" sz="1050" dirty="0">
                <a:solidFill>
                  <a:schemeClr val="bg1"/>
                </a:solidFill>
              </a:rPr>
              <a:t>Las plantillas de especificación y el arquetipo de agente.</a:t>
            </a:r>
            <a:endParaRPr lang="en-US" sz="1050" dirty="0"/>
          </a:p>
          <a:p>
            <a:pPr marL="342900" indent="-342900">
              <a:spcAft>
                <a:spcPts val="500"/>
              </a:spcAft>
              <a:buSzPct val="100000"/>
              <a:buChar char="•"/>
            </a:pPr>
            <a:r>
              <a:rPr lang="en-US" sz="1050" dirty="0">
                <a:solidFill>
                  <a:schemeClr val="bg1"/>
                </a:solidFill>
              </a:rPr>
              <a:t>Los diseños que tocan la arquitectura y el código crítico.</a:t>
            </a:r>
            <a:endParaRPr lang="en-US" sz="1050" dirty="0"/>
          </a:p>
          <a:p>
            <a:pPr marL="342900" indent="-342900">
              <a:spcAft>
                <a:spcPts val="500"/>
              </a:spcAft>
              <a:buSzPct val="100000"/>
              <a:buChar char="•"/>
            </a:pPr>
            <a:r>
              <a:rPr lang="en-US" sz="1050" dirty="0">
                <a:solidFill>
                  <a:schemeClr val="bg1"/>
                </a:solidFill>
              </a:rPr>
              <a:t>La bitácora del método: cada ajuste al harness queda a la vista del equipo y de SURA.</a:t>
            </a:r>
            <a:endParaRPr lang="en-US" sz="1050" dirty="0"/>
          </a:p>
        </p:txBody>
      </p:sp>
      <p:sp>
        <p:nvSpPr>
          <p:cNvPr id="9" name="Shape 5"/>
          <p:cNvSpPr/>
          <p:nvPr/>
        </p:nvSpPr>
        <p:spPr>
          <a:xfrm>
            <a:off x="7955280" y="4187952"/>
            <a:ext cx="3657600" cy="1298448"/>
          </a:xfrm>
          <a:prstGeom prst="roundRect">
            <a:avLst>
              <a:gd name="adj" fmla="val 5634"/>
            </a:avLst>
          </a:prstGeom>
          <a:solidFill>
            <a:schemeClr val="bg2"/>
          </a:solidFill>
          <a:ln w="12700">
            <a:solidFill>
              <a:schemeClr val="bg2"/>
            </a:solidFill>
            <a:prstDash val="solid"/>
          </a:ln>
        </p:spPr>
      </p:sp>
      <p:sp>
        <p:nvSpPr>
          <p:cNvPr id="10" name="Text 6"/>
          <p:cNvSpPr txBox="1"/>
          <p:nvPr/>
        </p:nvSpPr>
        <p:spPr>
          <a:xfrm>
            <a:off x="8138160" y="4187952"/>
            <a:ext cx="3291840" cy="1298448"/>
          </a:xfrm>
          <a:prstGeom prst="rect">
            <a:avLst/>
          </a:prstGeom>
          <a:noFill/>
          <a:ln/>
        </p:spPr>
        <p:txBody>
          <a:bodyPr wrap="square" lIns="0" tIns="0" rIns="0" bIns="0" rtlCol="0" anchor="ctr"/>
          <a:lstStyle/>
          <a:p>
            <a:pPr indent="0" marL="0">
              <a:buNone/>
            </a:pPr>
            <a:r>
              <a:rPr lang="en-US" sz="950" b="1" dirty="0">
                <a:solidFill>
                  <a:schemeClr val="tx2"/>
                </a:solidFill>
              </a:rPr>
              <a:t>No es un IDE con IA. </a:t>
            </a:r>
            <a:pPr indent="0" marL="0">
              <a:buNone/>
            </a:pPr>
            <a:r>
              <a:rPr lang="en-US" sz="950" dirty="0">
                <a:solidFill>
                  <a:schemeClr val="tx1"/>
                </a:solidFill>
              </a:rPr>
              <a:t>El conocimiento, las reglas y el control no dependen de la disciplina de cada quien. Es independiente de la herramienta: Claude Code y plantillas propias, GitHub Spec Kit o los specs de Kiro.</a:t>
            </a:r>
            <a:endParaRPr lang="en-US" sz="950" dirty="0"/>
          </a:p>
        </p:txBody>
      </p:sp>
      <p:sp>
        <p:nvSpPr>
          <p:cNvPr id="11" name="Shape 7"/>
          <p:cNvSpPr/>
          <p:nvPr/>
        </p:nvSpPr>
        <p:spPr>
          <a:xfrm>
            <a:off x="548640" y="5596128"/>
            <a:ext cx="11064240" cy="658368"/>
          </a:xfrm>
          <a:prstGeom prst="roundRect">
            <a:avLst>
              <a:gd name="adj" fmla="val 11111"/>
            </a:avLst>
          </a:prstGeom>
          <a:solidFill>
            <a:schemeClr val="bg2"/>
          </a:solidFill>
          <a:ln w="12700">
            <a:solidFill>
              <a:schemeClr val="bg2"/>
            </a:solidFill>
            <a:prstDash val="solid"/>
          </a:ln>
        </p:spPr>
      </p:sp>
      <p:sp>
        <p:nvSpPr>
          <p:cNvPr id="12" name="Text 8"/>
          <p:cNvSpPr txBox="1"/>
          <p:nvPr/>
        </p:nvSpPr>
        <p:spPr>
          <a:xfrm>
            <a:off x="749808" y="5596128"/>
            <a:ext cx="10661904" cy="658368"/>
          </a:xfrm>
          <a:prstGeom prst="rect">
            <a:avLst/>
          </a:prstGeom>
          <a:noFill/>
          <a:ln/>
        </p:spPr>
        <p:txBody>
          <a:bodyPr wrap="square" lIns="0" tIns="0" rIns="0" bIns="0" rtlCol="0" anchor="ctr"/>
          <a:lstStyle/>
          <a:p>
            <a:pPr indent="0" marL="0">
              <a:buNone/>
            </a:pPr>
            <a:r>
              <a:rPr lang="en-US" sz="1100" b="1" dirty="0">
                <a:solidFill>
                  <a:schemeClr val="tx2"/>
                </a:solidFill>
              </a:rPr>
              <a:t>Si algo sale mal, se corrige el harness, no solo el código: </a:t>
            </a:r>
            <a:pPr indent="0" marL="0">
              <a:buNone/>
            </a:pPr>
            <a:r>
              <a:rPr lang="en-US" sz="1100" dirty="0">
                <a:solidFill>
                  <a:schemeClr val="tx1"/>
                </a:solidFill>
              </a:rPr>
              <a:t>así el error no vuelve y la solución encaja con las definiciones de arquitectura. La responsabilidad sigue siendo de las personas: todo lo revisa alguien antes de llegar a certificación.</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Matriz de roles por momento</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280160"/>
                <a:gridCol w="1691640"/>
                <a:gridCol w="1554480"/>
                <a:gridCol w="1783080"/>
                <a:gridCol w="2514600"/>
                <a:gridCol w="2240280"/>
              </a:tblGrid>
              <a:tr h="246888">
                <a:tc rowSpan="2">
                  <a:txBody>
                    <a:bodyPr/>
                    <a:lstStyle/>
                    <a:p>
                      <a:pPr indent="0" marL="0">
                        <a:buNone/>
                      </a:pPr>
                      <a:r>
                        <a:rPr lang="en-US" sz="950" b="1" dirty="0">
                          <a:solidFill>
                            <a:schemeClr val="bg1"/>
                          </a:solidFill>
                        </a:rPr>
                        <a:t>Momento</a:t>
                      </a:r>
                      <a:endParaRPr lang="en-US" sz="950" dirty="0"/>
                    </a:p>
                  </a:txBody>
                  <a:tcPr marL="91440" marR="91440" marT="45720" marB="45720" anchor="b">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gridSpan="2">
                  <a:txBody>
                    <a:bodyPr/>
                    <a:lstStyle/>
                    <a:p>
                      <a:pPr algn="ctr" indent="0" marL="0">
                        <a:buNone/>
                      </a:pPr>
                      <a:r>
                        <a:rPr lang="en-US" sz="950" b="1" dirty="0">
                          <a:solidFill>
                            <a:schemeClr val="bg1"/>
                          </a:solidFill>
                        </a:rPr>
                        <a:t>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c hMerge="1">
                  <a:tcPr/>
                </a:tc>
                <a:tc gridSpan="3">
                  <a:txBody>
                    <a:bodyPr/>
                    <a:lstStyle/>
                    <a:p>
                      <a:pPr algn="ctr" indent="0" marL="0">
                        <a:buNone/>
                      </a:pPr>
                      <a:r>
                        <a:rPr lang="en-US" sz="950" b="1" dirty="0">
                          <a:solidFill>
                            <a:schemeClr val="bg1"/>
                          </a:solidFill>
                        </a:rPr>
                        <a:t>Tech and Solve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1"/>
                    </a:solidFill>
                  </a:tcPr>
                </a:tc>
                <a:tc hMerge="1">
                  <a:tcPr/>
                </a:tc>
                <a:tc hMerge="1">
                  <a:tcPr/>
                </a:tc>
              </a:tr>
              <a:tr h="402336">
                <a:tc vMerge="1">
                  <a:tcPr/>
                </a:tc>
                <a:tc>
                  <a:txBody>
                    <a:bodyPr/>
                    <a:lstStyle/>
                    <a:p>
                      <a:pPr indent="0" marL="0">
                        <a:buNone/>
                      </a:pPr>
                      <a:r>
                        <a:rPr lang="en-US" sz="950" b="1" dirty="0">
                          <a:solidFill>
                            <a:schemeClr val="bg1"/>
                          </a:solidFill>
                        </a:rPr>
                        <a:t>Líder funcional</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Arquitecto de negocio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Arquitecto líder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Builders (construyen y verifican con IA)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Soporte (operador de liberación)</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475488">
                <a:tc>
                  <a:txBody>
                    <a:bodyPr/>
                    <a:lstStyle/>
                    <a:p>
                      <a:pPr indent="0" marL="0">
                        <a:buNone/>
                      </a:pPr>
                      <a:r>
                        <a:rPr lang="en-US" sz="900" b="1" dirty="0">
                          <a:solidFill>
                            <a:schemeClr val="tx2"/>
                          </a:solidFill>
                        </a:rPr>
                        <a:t>Arranque</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Prioriza el backlog y define el alcance del primer release</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Da acceso a sistemas, datos y ambientes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Traslada la arquitectura al contexto del agente</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Montan la base del código y el marco de pruebas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Monta pipeline, ambientes y monitoreo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Propuesta</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Registra y prioriza capacidades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Señala impactos en sus sistemas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Detecta dependencias técnicas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Informados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Informado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Definición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Aporta ejemplos con datos y reacciona al prototipo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Aporta reglas e integraciones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Facilita la sesión, llena la ficha en vivo y asigna talla</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Hacen preguntas técnicas, generan prototipos desechables y validan que los criterios sean verificables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Señala impactos operativos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Lista para construir</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Confirma la ficha</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Confirma reglas e integraciones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Aprueba la entrada a construcción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Toman la capacidad y generan con IA las pruebas de aceptación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Informado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Construcción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Responde dudas en menos de 24 h</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Resuelve dudas de integración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Aprueba los diseños que tocan la arquitectura y revisa código crítico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Revisan especificación, diseño y tareas; dirigen la generación, revisan, integran y ajustan las pruebas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Prepara la bandera de activación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Verificación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Informado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Informado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Revisa hallazgos graves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Ejecutan las pruebas con IA, reportan resultados y corrigen fallos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Vigila el pipeline</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Certificación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Prueba y certifica en menos de 48 h</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Certifica aspectos de integración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Atiende observaciones técnicas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Actualizan la especificación, corrigen observaciones y suman los rechazos a la regresión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El pipeline despliega en certificación de forma automática</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Liberación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Decide cuándo activar</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Coordina ventanas y aprueba la liberación con el arquitecto líder</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Aprueba la liberación con el arquitecto de negocio</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De guardia ante incidencias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Una vez aprobada, el pipeline despliega; activa la bandera y ejecuta pruebas en producción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75488">
                <a:tc>
                  <a:txBody>
                    <a:bodyPr/>
                    <a:lstStyle/>
                    <a:p>
                      <a:pPr indent="0" marL="0">
                        <a:buNone/>
                      </a:pPr>
                      <a:r>
                        <a:rPr lang="en-US" sz="900" b="1" dirty="0">
                          <a:solidFill>
                            <a:schemeClr val="tx2"/>
                          </a:solidFill>
                        </a:rPr>
                        <a:t>Operación</a:t>
                      </a:r>
                      <a:endParaRPr lang="en-US" sz="9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850" dirty="0">
                          <a:solidFill>
                            <a:srgbClr val="000000"/>
                          </a:solidFill>
                        </a:rPr>
                        <a:t>Reporta comportamientos anómalos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Reporta incidencias de integración</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Analiza causas raíz</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Actualizan la especificación y corrigen incidentes</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850" dirty="0">
                          <a:solidFill>
                            <a:srgbClr val="000000"/>
                          </a:solidFill>
                        </a:rPr>
                        <a:t>Monitorea y atiende incidentes; añade pruebas para cada incidente</a:t>
                      </a:r>
                      <a:endParaRPr lang="en-US" sz="8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Encuentros de trabajo: tres espacios con SURA</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2194560"/>
                <a:gridCol w="3291840"/>
                <a:gridCol w="3383280"/>
              </a:tblGrid>
              <a:tr h="329184">
                <a:tc>
                  <a:txBody>
                    <a:bodyPr/>
                    <a:lstStyle/>
                    <a:p>
                      <a:pPr indent="0" marL="0">
                        <a:buNone/>
                      </a:pPr>
                      <a:r>
                        <a:rPr lang="en-US" sz="1200" b="1" dirty="0">
                          <a:solidFill>
                            <a:schemeClr val="bg1"/>
                          </a:solidFill>
                        </a:rPr>
                        <a:t>Encuentro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Frecuencia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Participantes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Propósito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2"/>
                          </a:solidFill>
                        </a:rPr>
                        <a:t>Mesa de definición</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Dos veces por semana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Líder funcional, arquitecto de negocio, arquitecto líder</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Llevar capacidades a «lista para construir», de 20 a 30 minutos por capacidad</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11480">
                <a:tc>
                  <a:txBody>
                    <a:bodyPr/>
                    <a:lstStyle/>
                    <a:p>
                      <a:pPr indent="0" marL="0">
                        <a:buNone/>
                      </a:pPr>
                      <a:r>
                        <a:rPr lang="en-US" sz="1200" b="1" dirty="0">
                          <a:solidFill>
                            <a:schemeClr val="tx2"/>
                          </a:solidFill>
                        </a:rPr>
                        <a:t>Revisión de flujo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Semanal, 45 minutos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Todos, incluido SURA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Prioridades, bloqueos y métricas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11480">
                <a:tc>
                  <a:txBody>
                    <a:bodyPr/>
                    <a:lstStyle/>
                    <a:p>
                      <a:pPr indent="0" marL="0">
                        <a:buNone/>
                      </a:pPr>
                      <a:r>
                        <a:rPr lang="en-US" sz="1200" b="1" dirty="0">
                          <a:solidFill>
                            <a:schemeClr val="tx2"/>
                          </a:solidFill>
                        </a:rPr>
                        <a:t>Certificación</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Según llegan capacidades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Líder funcional, usuarios clave y builders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200" dirty="0">
                          <a:solidFill>
                            <a:srgbClr val="000000"/>
                          </a:solidFill>
                        </a:rPr>
                        <a:t>Probar y aprobar</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548640" y="3246120"/>
            <a:ext cx="11064240" cy="310896"/>
          </a:xfrm>
          <a:prstGeom prst="rect">
            <a:avLst/>
          </a:prstGeom>
          <a:noFill/>
          <a:ln/>
        </p:spPr>
        <p:txBody>
          <a:bodyPr wrap="square" lIns="0" tIns="0" rIns="0" bIns="0" rtlCol="0" anchor="t"/>
          <a:lstStyle/>
          <a:p>
            <a:pPr indent="0" marL="0">
              <a:buNone/>
            </a:pPr>
            <a:r>
              <a:rPr lang="en-US" sz="1300" b="1" dirty="0">
                <a:solidFill>
                  <a:schemeClr val="tx2"/>
                </a:solidFill>
              </a:rPr>
              <a:t>Qué recibe SURA en cada certificación</a:t>
            </a:r>
            <a:endParaRPr lang="en-US" sz="1300" dirty="0"/>
          </a:p>
        </p:txBody>
      </p:sp>
      <p:sp>
        <p:nvSpPr>
          <p:cNvPr id="6" name="Shape 2"/>
          <p:cNvSpPr/>
          <p:nvPr/>
        </p:nvSpPr>
        <p:spPr>
          <a:xfrm>
            <a:off x="548640" y="3657600"/>
            <a:ext cx="3553968" cy="1600200"/>
          </a:xfrm>
          <a:prstGeom prst="roundRect">
            <a:avLst>
              <a:gd name="adj" fmla="val 4571"/>
            </a:avLst>
          </a:prstGeom>
          <a:solidFill>
            <a:schemeClr val="accent4"/>
          </a:solidFill>
          <a:ln w="12700">
            <a:solidFill>
              <a:srgbClr val="DCD8EC"/>
            </a:solidFill>
            <a:prstDash val="solid"/>
          </a:ln>
        </p:spPr>
      </p:sp>
      <p:sp>
        <p:nvSpPr>
          <p:cNvPr id="7" name="Shape 3"/>
          <p:cNvSpPr/>
          <p:nvPr/>
        </p:nvSpPr>
        <p:spPr>
          <a:xfrm>
            <a:off x="731520" y="3794760"/>
            <a:ext cx="384048" cy="384048"/>
          </a:xfrm>
          <a:prstGeom prst="ellipse">
            <a:avLst/>
          </a:prstGeom>
          <a:solidFill>
            <a:schemeClr val="accent3"/>
          </a:solidFill>
          <a:ln w="12700">
            <a:solidFill>
              <a:schemeClr val="accent3"/>
            </a:solidFill>
            <a:prstDash val="solid"/>
          </a:ln>
        </p:spPr>
      </p:sp>
      <p:sp>
        <p:nvSpPr>
          <p:cNvPr id="8" name="Text 4"/>
          <p:cNvSpPr txBox="1"/>
          <p:nvPr/>
        </p:nvSpPr>
        <p:spPr>
          <a:xfrm>
            <a:off x="731520" y="37947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5"/>
          <p:cNvSpPr txBox="1"/>
          <p:nvPr/>
        </p:nvSpPr>
        <p:spPr>
          <a:xfrm>
            <a:off x="1234440" y="3767328"/>
            <a:ext cx="2731008" cy="420624"/>
          </a:xfrm>
          <a:prstGeom prst="rect">
            <a:avLst/>
          </a:prstGeom>
          <a:noFill/>
          <a:ln/>
        </p:spPr>
        <p:txBody>
          <a:bodyPr wrap="square" lIns="0" tIns="0" rIns="0" bIns="0" rtlCol="0" anchor="ctr"/>
          <a:lstStyle/>
          <a:p>
            <a:pPr indent="0" marL="0">
              <a:buNone/>
            </a:pPr>
            <a:r>
              <a:rPr lang="en-US" sz="1200" b="1" dirty="0">
                <a:solidFill>
                  <a:schemeClr val="tx2"/>
                </a:solidFill>
              </a:rPr>
              <a:t>Capacidades con su estado</a:t>
            </a:r>
            <a:endParaRPr lang="en-US" sz="1200" dirty="0"/>
          </a:p>
        </p:txBody>
      </p:sp>
      <p:sp>
        <p:nvSpPr>
          <p:cNvPr id="10" name="Text 6"/>
          <p:cNvSpPr txBox="1"/>
          <p:nvPr/>
        </p:nvSpPr>
        <p:spPr>
          <a:xfrm>
            <a:off x="731520" y="4297680"/>
            <a:ext cx="3188208" cy="914400"/>
          </a:xfrm>
          <a:prstGeom prst="rect">
            <a:avLst/>
          </a:prstGeom>
          <a:noFill/>
          <a:ln/>
        </p:spPr>
        <p:txBody>
          <a:bodyPr wrap="square" lIns="0" tIns="0" rIns="0" bIns="0" rtlCol="0" anchor="t"/>
          <a:lstStyle/>
          <a:p>
            <a:pPr indent="0" marL="0">
              <a:buNone/>
            </a:pPr>
            <a:r>
              <a:rPr lang="en-US" sz="1100" dirty="0">
                <a:solidFill>
                  <a:schemeClr val="tx1"/>
                </a:solidFill>
              </a:rPr>
              <a:t>En el tablero: lista para certificar, certificada o de vuelta a construcción, y el porqué.</a:t>
            </a:r>
            <a:endParaRPr lang="en-US" sz="1100" dirty="0"/>
          </a:p>
        </p:txBody>
      </p:sp>
      <p:sp>
        <p:nvSpPr>
          <p:cNvPr id="11" name="Shape 7"/>
          <p:cNvSpPr/>
          <p:nvPr/>
        </p:nvSpPr>
        <p:spPr>
          <a:xfrm>
            <a:off x="4303776" y="3657600"/>
            <a:ext cx="3553968" cy="1600200"/>
          </a:xfrm>
          <a:prstGeom prst="roundRect">
            <a:avLst>
              <a:gd name="adj" fmla="val 4571"/>
            </a:avLst>
          </a:prstGeom>
          <a:solidFill>
            <a:schemeClr val="accent4"/>
          </a:solidFill>
          <a:ln w="12700">
            <a:solidFill>
              <a:srgbClr val="DCD8EC"/>
            </a:solidFill>
            <a:prstDash val="solid"/>
          </a:ln>
        </p:spPr>
      </p:sp>
      <p:sp>
        <p:nvSpPr>
          <p:cNvPr id="12" name="Shape 8"/>
          <p:cNvSpPr/>
          <p:nvPr/>
        </p:nvSpPr>
        <p:spPr>
          <a:xfrm>
            <a:off x="4486656" y="3794760"/>
            <a:ext cx="384048" cy="384048"/>
          </a:xfrm>
          <a:prstGeom prst="ellipse">
            <a:avLst/>
          </a:prstGeom>
          <a:solidFill>
            <a:schemeClr val="accent3"/>
          </a:solidFill>
          <a:ln w="12700">
            <a:solidFill>
              <a:schemeClr val="accent3"/>
            </a:solidFill>
            <a:prstDash val="solid"/>
          </a:ln>
        </p:spPr>
      </p:sp>
      <p:sp>
        <p:nvSpPr>
          <p:cNvPr id="13" name="Text 9"/>
          <p:cNvSpPr txBox="1"/>
          <p:nvPr/>
        </p:nvSpPr>
        <p:spPr>
          <a:xfrm>
            <a:off x="4486656" y="37947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10"/>
          <p:cNvSpPr txBox="1"/>
          <p:nvPr/>
        </p:nvSpPr>
        <p:spPr>
          <a:xfrm>
            <a:off x="4989576" y="3767328"/>
            <a:ext cx="2731008" cy="420624"/>
          </a:xfrm>
          <a:prstGeom prst="rect">
            <a:avLst/>
          </a:prstGeom>
          <a:noFill/>
          <a:ln/>
        </p:spPr>
        <p:txBody>
          <a:bodyPr wrap="square" lIns="0" tIns="0" rIns="0" bIns="0" rtlCol="0" anchor="ctr"/>
          <a:lstStyle/>
          <a:p>
            <a:pPr indent="0" marL="0">
              <a:buNone/>
            </a:pPr>
            <a:r>
              <a:rPr lang="en-US" sz="1200" b="1" dirty="0">
                <a:solidFill>
                  <a:schemeClr val="tx2"/>
                </a:solidFill>
              </a:rPr>
              <a:t>Entrega en QA</a:t>
            </a:r>
            <a:endParaRPr lang="en-US" sz="1200" dirty="0"/>
          </a:p>
        </p:txBody>
      </p:sp>
      <p:sp>
        <p:nvSpPr>
          <p:cNvPr id="15" name="Text 11"/>
          <p:cNvSpPr txBox="1"/>
          <p:nvPr/>
        </p:nvSpPr>
        <p:spPr>
          <a:xfrm>
            <a:off x="4486656" y="4297680"/>
            <a:ext cx="3188208" cy="914400"/>
          </a:xfrm>
          <a:prstGeom prst="rect">
            <a:avLst/>
          </a:prstGeom>
          <a:noFill/>
          <a:ln/>
        </p:spPr>
        <p:txBody>
          <a:bodyPr wrap="square" lIns="0" tIns="0" rIns="0" bIns="0" rtlCol="0" anchor="t"/>
          <a:lstStyle/>
          <a:p>
            <a:pPr indent="0" marL="0">
              <a:buNone/>
            </a:pPr>
            <a:r>
              <a:rPr lang="en-US" sz="1100" dirty="0">
                <a:solidFill>
                  <a:schemeClr val="tx1"/>
                </a:solidFill>
              </a:rPr>
              <a:t>Funcionando con su traza sobre casos reales anonimizados, con su bandera de activación lista.</a:t>
            </a:r>
            <a:endParaRPr lang="en-US" sz="1100" dirty="0"/>
          </a:p>
        </p:txBody>
      </p:sp>
      <p:sp>
        <p:nvSpPr>
          <p:cNvPr id="16" name="Shape 12"/>
          <p:cNvSpPr/>
          <p:nvPr/>
        </p:nvSpPr>
        <p:spPr>
          <a:xfrm>
            <a:off x="8058912" y="3657600"/>
            <a:ext cx="3553968" cy="1600200"/>
          </a:xfrm>
          <a:prstGeom prst="roundRect">
            <a:avLst>
              <a:gd name="adj" fmla="val 4571"/>
            </a:avLst>
          </a:prstGeom>
          <a:solidFill>
            <a:schemeClr val="accent4"/>
          </a:solidFill>
          <a:ln w="12700">
            <a:solidFill>
              <a:srgbClr val="DCD8EC"/>
            </a:solidFill>
            <a:prstDash val="solid"/>
          </a:ln>
        </p:spPr>
      </p:sp>
      <p:sp>
        <p:nvSpPr>
          <p:cNvPr id="17" name="Shape 13"/>
          <p:cNvSpPr/>
          <p:nvPr/>
        </p:nvSpPr>
        <p:spPr>
          <a:xfrm>
            <a:off x="8241792" y="3794760"/>
            <a:ext cx="384048" cy="384048"/>
          </a:xfrm>
          <a:prstGeom prst="ellipse">
            <a:avLst/>
          </a:prstGeom>
          <a:solidFill>
            <a:schemeClr val="accent3"/>
          </a:solidFill>
          <a:ln w="12700">
            <a:solidFill>
              <a:schemeClr val="accent3"/>
            </a:solidFill>
            <a:prstDash val="solid"/>
          </a:ln>
        </p:spPr>
      </p:sp>
      <p:sp>
        <p:nvSpPr>
          <p:cNvPr id="18" name="Text 14"/>
          <p:cNvSpPr txBox="1"/>
          <p:nvPr/>
        </p:nvSpPr>
        <p:spPr>
          <a:xfrm>
            <a:off x="8241792" y="37947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5"/>
          <p:cNvSpPr txBox="1"/>
          <p:nvPr/>
        </p:nvSpPr>
        <p:spPr>
          <a:xfrm>
            <a:off x="8744712" y="3767328"/>
            <a:ext cx="2731008" cy="420624"/>
          </a:xfrm>
          <a:prstGeom prst="rect">
            <a:avLst/>
          </a:prstGeom>
          <a:noFill/>
          <a:ln/>
        </p:spPr>
        <p:txBody>
          <a:bodyPr wrap="square" lIns="0" tIns="0" rIns="0" bIns="0" rtlCol="0" anchor="ctr"/>
          <a:lstStyle/>
          <a:p>
            <a:pPr indent="0" marL="0">
              <a:buNone/>
            </a:pPr>
            <a:r>
              <a:rPr lang="en-US" sz="1200" b="1" dirty="0">
                <a:solidFill>
                  <a:schemeClr val="tx2"/>
                </a:solidFill>
              </a:rPr>
              <a:t>Evidencias trazables</a:t>
            </a:r>
            <a:endParaRPr lang="en-US" sz="1200" dirty="0"/>
          </a:p>
        </p:txBody>
      </p:sp>
      <p:sp>
        <p:nvSpPr>
          <p:cNvPr id="20" name="Text 16"/>
          <p:cNvSpPr txBox="1"/>
          <p:nvPr/>
        </p:nvSpPr>
        <p:spPr>
          <a:xfrm>
            <a:off x="8241792" y="4297680"/>
            <a:ext cx="3188208" cy="914400"/>
          </a:xfrm>
          <a:prstGeom prst="rect">
            <a:avLst/>
          </a:prstGeom>
          <a:noFill/>
          <a:ln/>
        </p:spPr>
        <p:txBody>
          <a:bodyPr wrap="square" lIns="0" tIns="0" rIns="0" bIns="0" rtlCol="0" anchor="t"/>
          <a:lstStyle/>
          <a:p>
            <a:pPr indent="0" marL="0">
              <a:buNone/>
            </a:pPr>
            <a:r>
              <a:rPr lang="en-US" sz="1100" dirty="0">
                <a:solidFill>
                  <a:schemeClr val="tx1"/>
                </a:solidFill>
              </a:rPr>
              <a:t>Ficha, especificación aprobada, pruebas vinculadas a cada requisito, golden set sin regresión y revisión humana.</a:t>
            </a:r>
            <a:endParaRPr lang="en-US" sz="1100" dirty="0"/>
          </a:p>
        </p:txBody>
      </p:sp>
      <p:sp>
        <p:nvSpPr>
          <p:cNvPr id="21" name="Shape 17"/>
          <p:cNvSpPr/>
          <p:nvPr/>
        </p:nvSpPr>
        <p:spPr>
          <a:xfrm>
            <a:off x="548640" y="5440680"/>
            <a:ext cx="11064240" cy="548640"/>
          </a:xfrm>
          <a:prstGeom prst="roundRect">
            <a:avLst>
              <a:gd name="adj" fmla="val 13333"/>
            </a:avLst>
          </a:prstGeom>
          <a:solidFill>
            <a:schemeClr val="bg2"/>
          </a:solidFill>
          <a:ln w="12700">
            <a:solidFill>
              <a:schemeClr val="bg2"/>
            </a:solidFill>
            <a:prstDash val="solid"/>
          </a:ln>
        </p:spPr>
      </p:sp>
      <p:sp>
        <p:nvSpPr>
          <p:cNvPr id="22" name="Text 18"/>
          <p:cNvSpPr txBox="1"/>
          <p:nvPr/>
        </p:nvSpPr>
        <p:spPr>
          <a:xfrm>
            <a:off x="749808" y="5440680"/>
            <a:ext cx="10661904" cy="548640"/>
          </a:xfrm>
          <a:prstGeom prst="rect">
            <a:avLst/>
          </a:prstGeom>
          <a:noFill/>
          <a:ln/>
        </p:spPr>
        <p:txBody>
          <a:bodyPr wrap="square" lIns="0" tIns="0" rIns="0" bIns="0" rtlCol="0" anchor="ctr"/>
          <a:lstStyle/>
          <a:p>
            <a:pPr indent="0" marL="0">
              <a:buNone/>
            </a:pPr>
            <a:r>
              <a:rPr lang="en-US" sz="1150" b="1" dirty="0">
                <a:solidFill>
                  <a:schemeClr val="tx2"/>
                </a:solidFill>
              </a:rPr>
              <a:t>A producción, cuando SURA lo decide. </a:t>
            </a:r>
            <a:pPr indent="0" marL="0">
              <a:buNone/>
            </a:pPr>
            <a:r>
              <a:rPr lang="en-US" sz="1150" dirty="0">
                <a:solidFill>
                  <a:schemeClr val="tx1"/>
                </a:solidFill>
              </a:rPr>
              <a:t>El paso a producción lo aprueban el arquitecto líder y el arquitecto técnico de negocio de SURA, y el pipeline lo despliega de forma continua y automatizada; cada capacidad se activa por separado con su bandera, y la activación siempre la aprueba una persona.</a:t>
            </a:r>
            <a:endParaRPr lang="en-US" sz="11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Ajuste continuo del método: se mejora en cuanto se detecta un problema</a:t>
            </a:r>
            <a:endParaRPr lang="en-US" sz="2800" dirty="0"/>
          </a:p>
        </p:txBody>
      </p:sp>
      <p:sp>
        <p:nvSpPr>
          <p:cNvPr id="4" name="Shape 1"/>
          <p:cNvSpPr/>
          <p:nvPr/>
        </p:nvSpPr>
        <p:spPr>
          <a:xfrm>
            <a:off x="548640" y="1463040"/>
            <a:ext cx="3520440" cy="4023360"/>
          </a:xfrm>
          <a:prstGeom prst="roundRect">
            <a:avLst>
              <a:gd name="adj" fmla="val 2078"/>
            </a:avLst>
          </a:prstGeom>
          <a:solidFill>
            <a:schemeClr val="accent4"/>
          </a:solidFill>
          <a:ln w="12700">
            <a:solidFill>
              <a:srgbClr val="DCD8EC"/>
            </a:solidFill>
            <a:prstDash val="solid"/>
          </a:ln>
        </p:spPr>
      </p:sp>
      <p:sp>
        <p:nvSpPr>
          <p:cNvPr id="5" name="Shape 2"/>
          <p:cNvSpPr/>
          <p:nvPr/>
        </p:nvSpPr>
        <p:spPr>
          <a:xfrm>
            <a:off x="1211580" y="1828800"/>
            <a:ext cx="2194560" cy="2194560"/>
          </a:xfrm>
          <a:prstGeom prst="ellipse">
            <a:avLst/>
          </a:prstGeom>
          <a:ln w="25400">
            <a:solidFill>
              <a:schemeClr val="accent1"/>
            </a:solidFill>
            <a:prstDash val="solid"/>
          </a:ln>
        </p:spPr>
      </p:sp>
      <p:sp>
        <p:nvSpPr>
          <p:cNvPr id="6" name="Shape 3"/>
          <p:cNvSpPr/>
          <p:nvPr/>
        </p:nvSpPr>
        <p:spPr>
          <a:xfrm>
            <a:off x="1741932" y="2359152"/>
            <a:ext cx="1133856" cy="1133856"/>
          </a:xfrm>
          <a:prstGeom prst="ellipse">
            <a:avLst/>
          </a:prstGeom>
          <a:solidFill>
            <a:schemeClr val="tx2"/>
          </a:solidFill>
          <a:ln w="12700">
            <a:solidFill>
              <a:schemeClr val="tx2"/>
            </a:solidFill>
            <a:prstDash val="solid"/>
          </a:ln>
        </p:spPr>
      </p:sp>
      <p:sp>
        <p:nvSpPr>
          <p:cNvPr id="7" name="Text 4"/>
          <p:cNvSpPr txBox="1"/>
          <p:nvPr/>
        </p:nvSpPr>
        <p:spPr>
          <a:xfrm>
            <a:off x="1741932" y="2359152"/>
            <a:ext cx="1133856" cy="1133856"/>
          </a:xfrm>
          <a:prstGeom prst="rect">
            <a:avLst/>
          </a:prstGeom>
          <a:noFill/>
          <a:ln/>
        </p:spPr>
        <p:txBody>
          <a:bodyPr wrap="square" lIns="0" tIns="0" rIns="0" bIns="0" rtlCol="0" anchor="ctr"/>
          <a:lstStyle/>
          <a:p>
            <a:pPr algn="ctr" indent="0" marL="0">
              <a:buNone/>
            </a:pPr>
            <a:r>
              <a:rPr lang="en-US" sz="1200" b="1" dirty="0">
                <a:solidFill>
                  <a:schemeClr val="bg1"/>
                </a:solidFill>
              </a:rPr>
              <a:t>Arquitecto</a:t>
            </a:r>
            <a:endParaRPr lang="en-US" sz="1200" dirty="0"/>
          </a:p>
          <a:p>
            <a:pPr algn="ctr" indent="0" marL="0">
              <a:buNone/>
            </a:pPr>
            <a:r>
              <a:rPr lang="en-US" sz="1200" b="1" dirty="0">
                <a:solidFill>
                  <a:schemeClr val="bg1"/>
                </a:solidFill>
              </a:rPr>
              <a:t>líder</a:t>
            </a:r>
            <a:endParaRPr lang="en-US" sz="1200" dirty="0"/>
          </a:p>
        </p:txBody>
      </p:sp>
      <p:sp>
        <p:nvSpPr>
          <p:cNvPr id="8" name="Shape 5"/>
          <p:cNvSpPr/>
          <p:nvPr/>
        </p:nvSpPr>
        <p:spPr>
          <a:xfrm>
            <a:off x="1714500" y="1572768"/>
            <a:ext cx="1188720" cy="512064"/>
          </a:xfrm>
          <a:prstGeom prst="roundRect">
            <a:avLst>
              <a:gd name="adj" fmla="val 17857"/>
            </a:avLst>
          </a:prstGeom>
          <a:solidFill>
            <a:schemeClr val="bg1"/>
          </a:solidFill>
          <a:ln w="19050">
            <a:solidFill>
              <a:schemeClr val="accent1"/>
            </a:solidFill>
            <a:prstDash val="solid"/>
          </a:ln>
        </p:spPr>
      </p:sp>
      <p:sp>
        <p:nvSpPr>
          <p:cNvPr id="9" name="Text 6"/>
          <p:cNvSpPr txBox="1"/>
          <p:nvPr/>
        </p:nvSpPr>
        <p:spPr>
          <a:xfrm>
            <a:off x="1714500" y="1572768"/>
            <a:ext cx="1188720" cy="512064"/>
          </a:xfrm>
          <a:prstGeom prst="rect">
            <a:avLst/>
          </a:prstGeom>
          <a:noFill/>
          <a:ln/>
        </p:spPr>
        <p:txBody>
          <a:bodyPr wrap="square" lIns="0" tIns="0" rIns="0" bIns="0" rtlCol="0" anchor="ctr"/>
          <a:lstStyle/>
          <a:p>
            <a:pPr algn="ctr" indent="0" marL="0">
              <a:buNone/>
            </a:pPr>
            <a:r>
              <a:rPr lang="en-US" sz="1100" b="1" dirty="0">
                <a:solidFill>
                  <a:schemeClr val="tx2"/>
                </a:solidFill>
              </a:rPr>
              <a:t>1 · Observa</a:t>
            </a:r>
            <a:endParaRPr lang="en-US" sz="1400" dirty="0"/>
          </a:p>
          <a:p>
            <a:pPr algn="ctr" indent="0" marL="0">
              <a:buNone/>
            </a:pPr>
            <a:r>
              <a:rPr lang="en-US" sz="850" dirty="0">
                <a:solidFill>
                  <a:schemeClr val="accent6"/>
                </a:solidFill>
              </a:rPr>
              <a:t>tablero y código</a:t>
            </a:r>
            <a:endParaRPr lang="en-US" sz="1400" dirty="0"/>
          </a:p>
        </p:txBody>
      </p:sp>
      <p:sp>
        <p:nvSpPr>
          <p:cNvPr id="10" name="Shape 7"/>
          <p:cNvSpPr/>
          <p:nvPr/>
        </p:nvSpPr>
        <p:spPr>
          <a:xfrm>
            <a:off x="2811780" y="2670048"/>
            <a:ext cx="1188720" cy="512064"/>
          </a:xfrm>
          <a:prstGeom prst="roundRect">
            <a:avLst>
              <a:gd name="adj" fmla="val 17857"/>
            </a:avLst>
          </a:prstGeom>
          <a:solidFill>
            <a:schemeClr val="bg1"/>
          </a:solidFill>
          <a:ln w="19050">
            <a:solidFill>
              <a:schemeClr val="accent1"/>
            </a:solidFill>
            <a:prstDash val="solid"/>
          </a:ln>
        </p:spPr>
      </p:sp>
      <p:sp>
        <p:nvSpPr>
          <p:cNvPr id="11" name="Text 8"/>
          <p:cNvSpPr txBox="1"/>
          <p:nvPr/>
        </p:nvSpPr>
        <p:spPr>
          <a:xfrm>
            <a:off x="2811780" y="2670048"/>
            <a:ext cx="1188720" cy="512064"/>
          </a:xfrm>
          <a:prstGeom prst="rect">
            <a:avLst/>
          </a:prstGeom>
          <a:noFill/>
          <a:ln/>
        </p:spPr>
        <p:txBody>
          <a:bodyPr wrap="square" lIns="0" tIns="0" rIns="0" bIns="0" rtlCol="0" anchor="ctr"/>
          <a:lstStyle/>
          <a:p>
            <a:pPr algn="ctr" indent="0" marL="0">
              <a:buNone/>
            </a:pPr>
            <a:r>
              <a:rPr lang="en-US" sz="1100" b="1" dirty="0">
                <a:solidFill>
                  <a:schemeClr val="tx2"/>
                </a:solidFill>
              </a:rPr>
              <a:t>2 · Detecta</a:t>
            </a:r>
            <a:endParaRPr lang="en-US" sz="1400" dirty="0"/>
          </a:p>
          <a:p>
            <a:pPr algn="ctr" indent="0" marL="0">
              <a:buNone/>
            </a:pPr>
            <a:r>
              <a:rPr lang="en-US" sz="850" dirty="0">
                <a:solidFill>
                  <a:schemeClr val="accent6"/>
                </a:solidFill>
              </a:rPr>
              <a:t>un problema</a:t>
            </a:r>
            <a:endParaRPr lang="en-US" sz="1400" dirty="0"/>
          </a:p>
        </p:txBody>
      </p:sp>
      <p:sp>
        <p:nvSpPr>
          <p:cNvPr id="12" name="Shape 9"/>
          <p:cNvSpPr/>
          <p:nvPr/>
        </p:nvSpPr>
        <p:spPr>
          <a:xfrm>
            <a:off x="1714500" y="3767328"/>
            <a:ext cx="1188720" cy="512064"/>
          </a:xfrm>
          <a:prstGeom prst="roundRect">
            <a:avLst>
              <a:gd name="adj" fmla="val 17857"/>
            </a:avLst>
          </a:prstGeom>
          <a:solidFill>
            <a:schemeClr val="bg1"/>
          </a:solidFill>
          <a:ln w="19050">
            <a:solidFill>
              <a:schemeClr val="accent1"/>
            </a:solidFill>
            <a:prstDash val="solid"/>
          </a:ln>
        </p:spPr>
      </p:sp>
      <p:sp>
        <p:nvSpPr>
          <p:cNvPr id="13" name="Text 10"/>
          <p:cNvSpPr txBox="1"/>
          <p:nvPr/>
        </p:nvSpPr>
        <p:spPr>
          <a:xfrm>
            <a:off x="1714500" y="3767328"/>
            <a:ext cx="1188720" cy="512064"/>
          </a:xfrm>
          <a:prstGeom prst="rect">
            <a:avLst/>
          </a:prstGeom>
          <a:noFill/>
          <a:ln/>
        </p:spPr>
        <p:txBody>
          <a:bodyPr wrap="square" lIns="0" tIns="0" rIns="0" bIns="0" rtlCol="0" anchor="ctr"/>
          <a:lstStyle/>
          <a:p>
            <a:pPr algn="ctr" indent="0" marL="0">
              <a:buNone/>
            </a:pPr>
            <a:r>
              <a:rPr lang="en-US" sz="1100" b="1" dirty="0">
                <a:solidFill>
                  <a:schemeClr val="tx2"/>
                </a:solidFill>
              </a:rPr>
              <a:t>3 · Ajusta</a:t>
            </a:r>
            <a:endParaRPr lang="en-US" sz="1400" dirty="0"/>
          </a:p>
          <a:p>
            <a:pPr algn="ctr" indent="0" marL="0">
              <a:buNone/>
            </a:pPr>
            <a:r>
              <a:rPr lang="en-US" sz="850" dirty="0">
                <a:solidFill>
                  <a:schemeClr val="accent6"/>
                </a:solidFill>
              </a:rPr>
              <a:t>una palanca</a:t>
            </a:r>
            <a:endParaRPr lang="en-US" sz="1400" dirty="0"/>
          </a:p>
        </p:txBody>
      </p:sp>
      <p:sp>
        <p:nvSpPr>
          <p:cNvPr id="14" name="Shape 11"/>
          <p:cNvSpPr/>
          <p:nvPr/>
        </p:nvSpPr>
        <p:spPr>
          <a:xfrm>
            <a:off x="617220" y="2670048"/>
            <a:ext cx="1188720" cy="512064"/>
          </a:xfrm>
          <a:prstGeom prst="roundRect">
            <a:avLst>
              <a:gd name="adj" fmla="val 17857"/>
            </a:avLst>
          </a:prstGeom>
          <a:solidFill>
            <a:schemeClr val="bg1"/>
          </a:solidFill>
          <a:ln w="19050">
            <a:solidFill>
              <a:schemeClr val="accent1"/>
            </a:solidFill>
            <a:prstDash val="solid"/>
          </a:ln>
        </p:spPr>
      </p:sp>
      <p:sp>
        <p:nvSpPr>
          <p:cNvPr id="15" name="Text 12"/>
          <p:cNvSpPr txBox="1"/>
          <p:nvPr/>
        </p:nvSpPr>
        <p:spPr>
          <a:xfrm>
            <a:off x="617220" y="2670048"/>
            <a:ext cx="1188720" cy="512064"/>
          </a:xfrm>
          <a:prstGeom prst="rect">
            <a:avLst/>
          </a:prstGeom>
          <a:noFill/>
          <a:ln/>
        </p:spPr>
        <p:txBody>
          <a:bodyPr wrap="square" lIns="0" tIns="0" rIns="0" bIns="0" rtlCol="0" anchor="ctr"/>
          <a:lstStyle/>
          <a:p>
            <a:pPr algn="ctr" indent="0" marL="0">
              <a:buNone/>
            </a:pPr>
            <a:r>
              <a:rPr lang="en-US" sz="1100" b="1" dirty="0">
                <a:solidFill>
                  <a:schemeClr val="tx2"/>
                </a:solidFill>
              </a:rPr>
              <a:t>4 · Registra</a:t>
            </a:r>
            <a:endParaRPr lang="en-US" sz="1400" dirty="0"/>
          </a:p>
          <a:p>
            <a:pPr algn="ctr" indent="0" marL="0">
              <a:buNone/>
            </a:pPr>
            <a:r>
              <a:rPr lang="en-US" sz="850" dirty="0">
                <a:solidFill>
                  <a:schemeClr val="accent6"/>
                </a:solidFill>
              </a:rPr>
              <a:t>en la bitácora</a:t>
            </a:r>
            <a:endParaRPr lang="en-US" sz="1400" dirty="0"/>
          </a:p>
        </p:txBody>
      </p:sp>
      <p:sp>
        <p:nvSpPr>
          <p:cNvPr id="16" name="Text 13"/>
          <p:cNvSpPr txBox="1"/>
          <p:nvPr/>
        </p:nvSpPr>
        <p:spPr>
          <a:xfrm>
            <a:off x="731520" y="4526280"/>
            <a:ext cx="3154680" cy="822960"/>
          </a:xfrm>
          <a:prstGeom prst="rect">
            <a:avLst/>
          </a:prstGeom>
          <a:noFill/>
          <a:ln/>
        </p:spPr>
        <p:txBody>
          <a:bodyPr wrap="square" lIns="0" tIns="0" rIns="0" bIns="0" rtlCol="0" anchor="ctr"/>
          <a:lstStyle/>
          <a:p>
            <a:pPr algn="ctr" indent="0" marL="0">
              <a:buNone/>
            </a:pPr>
            <a:r>
              <a:rPr lang="en-US" sz="1000" dirty="0">
                <a:solidFill>
                  <a:schemeClr val="accent6"/>
                </a:solidFill>
              </a:rPr>
              <a:t>De forma permanente, con las métricas del tablero y la calidad del código generado, sin esperar a una sesión dedicada.</a:t>
            </a:r>
            <a:endParaRPr lang="en-US" sz="1000" dirty="0"/>
          </a:p>
        </p:txBody>
      </p:sp>
      <p:sp>
        <p:nvSpPr>
          <p:cNvPr id="17" name="Shape 14"/>
          <p:cNvSpPr/>
          <p:nvPr/>
        </p:nvSpPr>
        <p:spPr>
          <a:xfrm>
            <a:off x="4297680" y="1463040"/>
            <a:ext cx="2999232" cy="914400"/>
          </a:xfrm>
          <a:prstGeom prst="roundRect">
            <a:avLst>
              <a:gd name="adj" fmla="val 8000"/>
            </a:avLst>
          </a:prstGeom>
          <a:solidFill>
            <a:srgbClr val="F7EEDF"/>
          </a:solidFill>
          <a:ln w="12700">
            <a:solidFill>
              <a:srgbClr val="F7EEDF"/>
            </a:solidFill>
            <a:prstDash val="solid"/>
          </a:ln>
        </p:spPr>
      </p:sp>
      <p:sp>
        <p:nvSpPr>
          <p:cNvPr id="18" name="Text 15"/>
          <p:cNvSpPr txBox="1"/>
          <p:nvPr/>
        </p:nvSpPr>
        <p:spPr>
          <a:xfrm>
            <a:off x="4434840" y="1463040"/>
            <a:ext cx="2724912" cy="914400"/>
          </a:xfrm>
          <a:prstGeom prst="rect">
            <a:avLst/>
          </a:prstGeom>
          <a:noFill/>
          <a:ln/>
        </p:spPr>
        <p:txBody>
          <a:bodyPr wrap="square" lIns="0" tIns="0" rIns="0" bIns="0" rtlCol="0" anchor="ctr"/>
          <a:lstStyle/>
          <a:p>
            <a:pPr indent="0" marL="0">
              <a:buNone/>
            </a:pPr>
            <a:r>
              <a:rPr lang="en-US" sz="800" b="1" dirty="0">
                <a:solidFill>
                  <a:schemeClr val="accent2"/>
                </a:solidFill>
              </a:rPr>
              <a:t>SEÑAL</a:t>
            </a:r>
            <a:endParaRPr lang="en-US" sz="1150" dirty="0"/>
          </a:p>
          <a:p>
            <a:pPr indent="0" marL="0">
              <a:buNone/>
            </a:pPr>
            <a:r>
              <a:rPr lang="en-US" sz="1150" dirty="0">
                <a:solidFill>
                  <a:schemeClr val="tx1"/>
                </a:solidFill>
              </a:rPr>
              <a:t>La IA repite un error o se desvía de un patrón</a:t>
            </a:r>
            <a:endParaRPr lang="en-US" sz="1150" dirty="0"/>
          </a:p>
        </p:txBody>
      </p:sp>
      <p:sp>
        <p:nvSpPr>
          <p:cNvPr id="19" name="Shape 16"/>
          <p:cNvSpPr/>
          <p:nvPr/>
        </p:nvSpPr>
        <p:spPr>
          <a:xfrm>
            <a:off x="7360920" y="1920240"/>
            <a:ext cx="237744" cy="0"/>
          </a:xfrm>
          <a:prstGeom prst="line">
            <a:avLst/>
          </a:prstGeom>
          <a:noFill/>
          <a:ln w="22225">
            <a:solidFill>
              <a:schemeClr val="accent1"/>
            </a:solidFill>
            <a:prstDash val="solid"/>
            <a:tailEnd type="triangle"/>
          </a:ln>
        </p:spPr>
      </p:sp>
      <p:sp>
        <p:nvSpPr>
          <p:cNvPr id="20" name="Shape 17"/>
          <p:cNvSpPr/>
          <p:nvPr/>
        </p:nvSpPr>
        <p:spPr>
          <a:xfrm>
            <a:off x="7662672" y="1463040"/>
            <a:ext cx="3950208" cy="914400"/>
          </a:xfrm>
          <a:prstGeom prst="roundRect">
            <a:avLst>
              <a:gd name="adj" fmla="val 8000"/>
            </a:avLst>
          </a:prstGeom>
          <a:solidFill>
            <a:schemeClr val="bg2"/>
          </a:solidFill>
          <a:ln w="12700">
            <a:solidFill>
              <a:schemeClr val="bg2"/>
            </a:solidFill>
            <a:prstDash val="solid"/>
          </a:ln>
        </p:spPr>
      </p:sp>
      <p:sp>
        <p:nvSpPr>
          <p:cNvPr id="21" name="Text 18"/>
          <p:cNvSpPr txBox="1"/>
          <p:nvPr/>
        </p:nvSpPr>
        <p:spPr>
          <a:xfrm>
            <a:off x="7799832" y="1463040"/>
            <a:ext cx="3675888" cy="914400"/>
          </a:xfrm>
          <a:prstGeom prst="rect">
            <a:avLst/>
          </a:prstGeom>
          <a:noFill/>
          <a:ln/>
        </p:spPr>
        <p:txBody>
          <a:bodyPr wrap="square" lIns="0" tIns="0" rIns="0" bIns="0" rtlCol="0" anchor="ctr"/>
          <a:lstStyle/>
          <a:p>
            <a:pPr indent="0" marL="0">
              <a:buNone/>
            </a:pPr>
            <a:r>
              <a:rPr lang="en-US" sz="800" b="1" dirty="0">
                <a:solidFill>
                  <a:schemeClr val="accent1"/>
                </a:solidFill>
              </a:rPr>
              <a:t>PALANCA 1</a:t>
            </a:r>
            <a:endParaRPr lang="en-US" sz="1150" dirty="0"/>
          </a:p>
          <a:p>
            <a:pPr indent="0" marL="0">
              <a:buNone/>
            </a:pPr>
            <a:r>
              <a:rPr lang="en-US" sz="1150" b="1" dirty="0">
                <a:solidFill>
                  <a:schemeClr val="tx2"/>
                </a:solidFill>
              </a:rPr>
              <a:t>Contexto del agente: </a:t>
            </a:r>
            <a:pPr indent="0" marL="0">
              <a:buNone/>
            </a:pPr>
            <a:r>
              <a:rPr lang="en-US" sz="1150" dirty="0">
                <a:solidFill>
                  <a:schemeClr val="tx1"/>
                </a:solidFill>
              </a:rPr>
              <a:t>se corrige para que no vuelva a ocurrir.</a:t>
            </a:r>
            <a:endParaRPr lang="en-US" sz="1150" dirty="0"/>
          </a:p>
        </p:txBody>
      </p:sp>
      <p:sp>
        <p:nvSpPr>
          <p:cNvPr id="22" name="Shape 19"/>
          <p:cNvSpPr/>
          <p:nvPr/>
        </p:nvSpPr>
        <p:spPr>
          <a:xfrm>
            <a:off x="4297680" y="2496312"/>
            <a:ext cx="2999232" cy="914400"/>
          </a:xfrm>
          <a:prstGeom prst="roundRect">
            <a:avLst>
              <a:gd name="adj" fmla="val 8000"/>
            </a:avLst>
          </a:prstGeom>
          <a:solidFill>
            <a:srgbClr val="F7EEDF"/>
          </a:solidFill>
          <a:ln w="12700">
            <a:solidFill>
              <a:srgbClr val="F7EEDF"/>
            </a:solidFill>
            <a:prstDash val="solid"/>
          </a:ln>
        </p:spPr>
      </p:sp>
      <p:sp>
        <p:nvSpPr>
          <p:cNvPr id="23" name="Text 20"/>
          <p:cNvSpPr txBox="1"/>
          <p:nvPr/>
        </p:nvSpPr>
        <p:spPr>
          <a:xfrm>
            <a:off x="4434840" y="2496312"/>
            <a:ext cx="2724912" cy="914400"/>
          </a:xfrm>
          <a:prstGeom prst="rect">
            <a:avLst/>
          </a:prstGeom>
          <a:noFill/>
          <a:ln/>
        </p:spPr>
        <p:txBody>
          <a:bodyPr wrap="square" lIns="0" tIns="0" rIns="0" bIns="0" rtlCol="0" anchor="ctr"/>
          <a:lstStyle/>
          <a:p>
            <a:pPr indent="0" marL="0">
              <a:buNone/>
            </a:pPr>
            <a:r>
              <a:rPr lang="en-US" sz="800" b="1" dirty="0">
                <a:solidFill>
                  <a:schemeClr val="accent2"/>
                </a:solidFill>
              </a:rPr>
              <a:t>SEÑAL</a:t>
            </a:r>
            <a:endParaRPr lang="en-US" sz="1150" dirty="0"/>
          </a:p>
          <a:p>
            <a:pPr indent="0" marL="0">
              <a:buNone/>
            </a:pPr>
            <a:r>
              <a:rPr lang="en-US" sz="1150" dirty="0">
                <a:solidFill>
                  <a:schemeClr val="tx1"/>
                </a:solidFill>
              </a:rPr>
              <a:t>Sube el rechazo en certificación o el código se aparta de lo esperado</a:t>
            </a:r>
            <a:endParaRPr lang="en-US" sz="1150" dirty="0"/>
          </a:p>
        </p:txBody>
      </p:sp>
      <p:sp>
        <p:nvSpPr>
          <p:cNvPr id="24" name="Shape 21"/>
          <p:cNvSpPr/>
          <p:nvPr/>
        </p:nvSpPr>
        <p:spPr>
          <a:xfrm>
            <a:off x="7360920" y="2953512"/>
            <a:ext cx="237744" cy="0"/>
          </a:xfrm>
          <a:prstGeom prst="line">
            <a:avLst/>
          </a:prstGeom>
          <a:noFill/>
          <a:ln w="22225">
            <a:solidFill>
              <a:schemeClr val="accent1"/>
            </a:solidFill>
            <a:prstDash val="solid"/>
            <a:tailEnd type="triangle"/>
          </a:ln>
        </p:spPr>
      </p:sp>
      <p:sp>
        <p:nvSpPr>
          <p:cNvPr id="25" name="Shape 22"/>
          <p:cNvSpPr/>
          <p:nvPr/>
        </p:nvSpPr>
        <p:spPr>
          <a:xfrm>
            <a:off x="7662672" y="2496312"/>
            <a:ext cx="3950208" cy="914400"/>
          </a:xfrm>
          <a:prstGeom prst="roundRect">
            <a:avLst>
              <a:gd name="adj" fmla="val 8000"/>
            </a:avLst>
          </a:prstGeom>
          <a:solidFill>
            <a:schemeClr val="bg2"/>
          </a:solidFill>
          <a:ln w="12700">
            <a:solidFill>
              <a:schemeClr val="bg2"/>
            </a:solidFill>
            <a:prstDash val="solid"/>
          </a:ln>
        </p:spPr>
      </p:sp>
      <p:sp>
        <p:nvSpPr>
          <p:cNvPr id="26" name="Text 23"/>
          <p:cNvSpPr txBox="1"/>
          <p:nvPr/>
        </p:nvSpPr>
        <p:spPr>
          <a:xfrm>
            <a:off x="7799832" y="2496312"/>
            <a:ext cx="3675888" cy="914400"/>
          </a:xfrm>
          <a:prstGeom prst="rect">
            <a:avLst/>
          </a:prstGeom>
          <a:noFill/>
          <a:ln/>
        </p:spPr>
        <p:txBody>
          <a:bodyPr wrap="square" lIns="0" tIns="0" rIns="0" bIns="0" rtlCol="0" anchor="ctr"/>
          <a:lstStyle/>
          <a:p>
            <a:pPr indent="0" marL="0">
              <a:buNone/>
            </a:pPr>
            <a:r>
              <a:rPr lang="en-US" sz="800" b="1" dirty="0">
                <a:solidFill>
                  <a:schemeClr val="accent1"/>
                </a:solidFill>
              </a:rPr>
              <a:t>PALANCA 2</a:t>
            </a:r>
            <a:endParaRPr lang="en-US" sz="1150" dirty="0"/>
          </a:p>
          <a:p>
            <a:pPr indent="0" marL="0">
              <a:buNone/>
            </a:pPr>
            <a:r>
              <a:rPr lang="en-US" sz="1150" b="1" dirty="0">
                <a:solidFill>
                  <a:schemeClr val="tx2"/>
                </a:solidFill>
              </a:rPr>
              <a:t>Plantillas de la ficha y de especificación: </a:t>
            </a:r>
            <a:pPr indent="0" marL="0">
              <a:buNone/>
            </a:pPr>
            <a:r>
              <a:rPr lang="en-US" sz="1150" dirty="0">
                <a:solidFill>
                  <a:schemeClr val="tx1"/>
                </a:solidFill>
              </a:rPr>
              <a:t>se ajustan para cerrar los huecos.</a:t>
            </a:r>
            <a:endParaRPr lang="en-US" sz="1150" dirty="0"/>
          </a:p>
        </p:txBody>
      </p:sp>
      <p:sp>
        <p:nvSpPr>
          <p:cNvPr id="27" name="Shape 24"/>
          <p:cNvSpPr/>
          <p:nvPr/>
        </p:nvSpPr>
        <p:spPr>
          <a:xfrm>
            <a:off x="4297680" y="3529584"/>
            <a:ext cx="2999232" cy="914400"/>
          </a:xfrm>
          <a:prstGeom prst="roundRect">
            <a:avLst>
              <a:gd name="adj" fmla="val 8000"/>
            </a:avLst>
          </a:prstGeom>
          <a:solidFill>
            <a:srgbClr val="F7EEDF"/>
          </a:solidFill>
          <a:ln w="12700">
            <a:solidFill>
              <a:srgbClr val="F7EEDF"/>
            </a:solidFill>
            <a:prstDash val="solid"/>
          </a:ln>
        </p:spPr>
      </p:sp>
      <p:sp>
        <p:nvSpPr>
          <p:cNvPr id="28" name="Text 25"/>
          <p:cNvSpPr txBox="1"/>
          <p:nvPr/>
        </p:nvSpPr>
        <p:spPr>
          <a:xfrm>
            <a:off x="4434840" y="3529584"/>
            <a:ext cx="2724912" cy="914400"/>
          </a:xfrm>
          <a:prstGeom prst="rect">
            <a:avLst/>
          </a:prstGeom>
          <a:noFill/>
          <a:ln/>
        </p:spPr>
        <p:txBody>
          <a:bodyPr wrap="square" lIns="0" tIns="0" rIns="0" bIns="0" rtlCol="0" anchor="ctr"/>
          <a:lstStyle/>
          <a:p>
            <a:pPr indent="0" marL="0">
              <a:buNone/>
            </a:pPr>
            <a:r>
              <a:rPr lang="en-US" sz="800" b="1" dirty="0">
                <a:solidFill>
                  <a:schemeClr val="accent2"/>
                </a:solidFill>
              </a:rPr>
              <a:t>SEÑAL</a:t>
            </a:r>
            <a:endParaRPr lang="en-US" sz="1150" dirty="0"/>
          </a:p>
          <a:p>
            <a:pPr indent="0" marL="0">
              <a:buNone/>
            </a:pPr>
            <a:r>
              <a:rPr lang="en-US" sz="1150" dirty="0">
                <a:solidFill>
                  <a:schemeClr val="tx1"/>
                </a:solidFill>
              </a:rPr>
              <a:t>Se forma cola en una etapa</a:t>
            </a:r>
            <a:endParaRPr lang="en-US" sz="1150" dirty="0"/>
          </a:p>
        </p:txBody>
      </p:sp>
      <p:sp>
        <p:nvSpPr>
          <p:cNvPr id="29" name="Shape 26"/>
          <p:cNvSpPr/>
          <p:nvPr/>
        </p:nvSpPr>
        <p:spPr>
          <a:xfrm>
            <a:off x="7360920" y="3986784"/>
            <a:ext cx="237744" cy="0"/>
          </a:xfrm>
          <a:prstGeom prst="line">
            <a:avLst/>
          </a:prstGeom>
          <a:noFill/>
          <a:ln w="22225">
            <a:solidFill>
              <a:schemeClr val="accent1"/>
            </a:solidFill>
            <a:prstDash val="solid"/>
            <a:tailEnd type="triangle"/>
          </a:ln>
        </p:spPr>
      </p:sp>
      <p:sp>
        <p:nvSpPr>
          <p:cNvPr id="30" name="Shape 27"/>
          <p:cNvSpPr/>
          <p:nvPr/>
        </p:nvSpPr>
        <p:spPr>
          <a:xfrm>
            <a:off x="7662672" y="3529584"/>
            <a:ext cx="3950208" cy="914400"/>
          </a:xfrm>
          <a:prstGeom prst="roundRect">
            <a:avLst>
              <a:gd name="adj" fmla="val 8000"/>
            </a:avLst>
          </a:prstGeom>
          <a:solidFill>
            <a:schemeClr val="bg2"/>
          </a:solidFill>
          <a:ln w="12700">
            <a:solidFill>
              <a:schemeClr val="bg2"/>
            </a:solidFill>
            <a:prstDash val="solid"/>
          </a:ln>
        </p:spPr>
      </p:sp>
      <p:sp>
        <p:nvSpPr>
          <p:cNvPr id="31" name="Text 28"/>
          <p:cNvSpPr txBox="1"/>
          <p:nvPr/>
        </p:nvSpPr>
        <p:spPr>
          <a:xfrm>
            <a:off x="7799832" y="3529584"/>
            <a:ext cx="3675888" cy="914400"/>
          </a:xfrm>
          <a:prstGeom prst="rect">
            <a:avLst/>
          </a:prstGeom>
          <a:noFill/>
          <a:ln/>
        </p:spPr>
        <p:txBody>
          <a:bodyPr wrap="square" lIns="0" tIns="0" rIns="0" bIns="0" rtlCol="0" anchor="ctr"/>
          <a:lstStyle/>
          <a:p>
            <a:pPr indent="0" marL="0">
              <a:buNone/>
            </a:pPr>
            <a:r>
              <a:rPr lang="en-US" sz="800" b="1" dirty="0">
                <a:solidFill>
                  <a:schemeClr val="accent1"/>
                </a:solidFill>
              </a:rPr>
              <a:t>PALANCA 3</a:t>
            </a:r>
            <a:endParaRPr lang="en-US" sz="1150" dirty="0"/>
          </a:p>
          <a:p>
            <a:pPr indent="0" marL="0">
              <a:buNone/>
            </a:pPr>
            <a:r>
              <a:rPr lang="en-US" sz="1150" b="1" dirty="0">
                <a:solidFill>
                  <a:schemeClr val="tx2"/>
                </a:solidFill>
              </a:rPr>
              <a:t>Límites de trabajo en curso: </a:t>
            </a:r>
            <a:pPr indent="0" marL="0">
              <a:buNone/>
            </a:pPr>
            <a:r>
              <a:rPr lang="en-US" sz="1150" dirty="0">
                <a:solidFill>
                  <a:schemeClr val="tx1"/>
                </a:solidFill>
              </a:rPr>
              <a:t>se suben o bajan según dónde esté la cola.</a:t>
            </a:r>
            <a:endParaRPr lang="en-US" sz="1150" dirty="0"/>
          </a:p>
        </p:txBody>
      </p:sp>
      <p:sp>
        <p:nvSpPr>
          <p:cNvPr id="32" name="Shape 29"/>
          <p:cNvSpPr/>
          <p:nvPr/>
        </p:nvSpPr>
        <p:spPr>
          <a:xfrm>
            <a:off x="4297680" y="4562856"/>
            <a:ext cx="2999232" cy="914400"/>
          </a:xfrm>
          <a:prstGeom prst="roundRect">
            <a:avLst>
              <a:gd name="adj" fmla="val 8000"/>
            </a:avLst>
          </a:prstGeom>
          <a:solidFill>
            <a:srgbClr val="F7EEDF"/>
          </a:solidFill>
          <a:ln w="12700">
            <a:solidFill>
              <a:srgbClr val="F7EEDF"/>
            </a:solidFill>
            <a:prstDash val="solid"/>
          </a:ln>
        </p:spPr>
      </p:sp>
      <p:sp>
        <p:nvSpPr>
          <p:cNvPr id="33" name="Text 30"/>
          <p:cNvSpPr txBox="1"/>
          <p:nvPr/>
        </p:nvSpPr>
        <p:spPr>
          <a:xfrm>
            <a:off x="4434840" y="4562856"/>
            <a:ext cx="2724912" cy="914400"/>
          </a:xfrm>
          <a:prstGeom prst="rect">
            <a:avLst/>
          </a:prstGeom>
          <a:noFill/>
          <a:ln/>
        </p:spPr>
        <p:txBody>
          <a:bodyPr wrap="square" lIns="0" tIns="0" rIns="0" bIns="0" rtlCol="0" anchor="ctr"/>
          <a:lstStyle/>
          <a:p>
            <a:pPr indent="0" marL="0">
              <a:buNone/>
            </a:pPr>
            <a:r>
              <a:rPr lang="en-US" sz="800" b="1" dirty="0">
                <a:solidFill>
                  <a:schemeClr val="accent2"/>
                </a:solidFill>
              </a:rPr>
              <a:t>SEÑAL</a:t>
            </a:r>
            <a:endParaRPr lang="en-US" sz="1150" dirty="0"/>
          </a:p>
          <a:p>
            <a:pPr indent="0" marL="0">
              <a:buNone/>
            </a:pPr>
            <a:r>
              <a:rPr lang="en-US" sz="1150" dirty="0">
                <a:solidFill>
                  <a:schemeClr val="tx1"/>
                </a:solidFill>
              </a:rPr>
              <a:t>Crecen los bloqueos de SURA</a:t>
            </a:r>
            <a:endParaRPr lang="en-US" sz="1150" dirty="0"/>
          </a:p>
        </p:txBody>
      </p:sp>
      <p:sp>
        <p:nvSpPr>
          <p:cNvPr id="34" name="Shape 31"/>
          <p:cNvSpPr/>
          <p:nvPr/>
        </p:nvSpPr>
        <p:spPr>
          <a:xfrm>
            <a:off x="7360920" y="5020056"/>
            <a:ext cx="237744" cy="0"/>
          </a:xfrm>
          <a:prstGeom prst="line">
            <a:avLst/>
          </a:prstGeom>
          <a:noFill/>
          <a:ln w="22225">
            <a:solidFill>
              <a:schemeClr val="accent1"/>
            </a:solidFill>
            <a:prstDash val="solid"/>
            <a:tailEnd type="triangle"/>
          </a:ln>
        </p:spPr>
      </p:sp>
      <p:sp>
        <p:nvSpPr>
          <p:cNvPr id="35" name="Shape 32"/>
          <p:cNvSpPr/>
          <p:nvPr/>
        </p:nvSpPr>
        <p:spPr>
          <a:xfrm>
            <a:off x="7662672" y="4562856"/>
            <a:ext cx="3950208" cy="914400"/>
          </a:xfrm>
          <a:prstGeom prst="roundRect">
            <a:avLst>
              <a:gd name="adj" fmla="val 8000"/>
            </a:avLst>
          </a:prstGeom>
          <a:solidFill>
            <a:schemeClr val="bg2"/>
          </a:solidFill>
          <a:ln w="12700">
            <a:solidFill>
              <a:schemeClr val="bg2"/>
            </a:solidFill>
            <a:prstDash val="solid"/>
          </a:ln>
        </p:spPr>
      </p:sp>
      <p:sp>
        <p:nvSpPr>
          <p:cNvPr id="36" name="Text 33"/>
          <p:cNvSpPr txBox="1"/>
          <p:nvPr/>
        </p:nvSpPr>
        <p:spPr>
          <a:xfrm>
            <a:off x="7799832" y="4562856"/>
            <a:ext cx="3675888" cy="914400"/>
          </a:xfrm>
          <a:prstGeom prst="rect">
            <a:avLst/>
          </a:prstGeom>
          <a:noFill/>
          <a:ln/>
        </p:spPr>
        <p:txBody>
          <a:bodyPr wrap="square" lIns="0" tIns="0" rIns="0" bIns="0" rtlCol="0" anchor="ctr"/>
          <a:lstStyle/>
          <a:p>
            <a:pPr indent="0" marL="0">
              <a:buNone/>
            </a:pPr>
            <a:r>
              <a:rPr lang="en-US" sz="800" b="1" dirty="0">
                <a:solidFill>
                  <a:schemeClr val="accent1"/>
                </a:solidFill>
              </a:rPr>
              <a:t>PALANCA 4</a:t>
            </a:r>
            <a:endParaRPr lang="en-US" sz="1150" dirty="0"/>
          </a:p>
          <a:p>
            <a:pPr indent="0" marL="0">
              <a:buNone/>
            </a:pPr>
            <a:r>
              <a:rPr lang="en-US" sz="1150" b="1" dirty="0">
                <a:solidFill>
                  <a:schemeClr val="tx2"/>
                </a:solidFill>
              </a:rPr>
              <a:t>Acuerdos con SURA: </a:t>
            </a:r>
            <a:pPr indent="0" marL="0">
              <a:buNone/>
            </a:pPr>
            <a:r>
              <a:rPr lang="en-US" sz="1150" dirty="0">
                <a:solidFill>
                  <a:schemeClr val="tx1"/>
                </a:solidFill>
              </a:rPr>
              <a:t>se tratan en la revisión de flujo semanal.</a:t>
            </a:r>
            <a:endParaRPr lang="en-US" sz="1150" dirty="0"/>
          </a:p>
        </p:txBody>
      </p:sp>
      <p:sp>
        <p:nvSpPr>
          <p:cNvPr id="37" name="Shape 34"/>
          <p:cNvSpPr/>
          <p:nvPr/>
        </p:nvSpPr>
        <p:spPr>
          <a:xfrm>
            <a:off x="548640" y="5623560"/>
            <a:ext cx="11064240" cy="566928"/>
          </a:xfrm>
          <a:prstGeom prst="roundRect">
            <a:avLst>
              <a:gd name="adj" fmla="val 12903"/>
            </a:avLst>
          </a:prstGeom>
          <a:solidFill>
            <a:schemeClr val="bg2"/>
          </a:solidFill>
          <a:ln w="12700">
            <a:solidFill>
              <a:schemeClr val="bg2"/>
            </a:solidFill>
            <a:prstDash val="solid"/>
          </a:ln>
        </p:spPr>
      </p:sp>
      <p:sp>
        <p:nvSpPr>
          <p:cNvPr id="38" name="Text 35"/>
          <p:cNvSpPr txBox="1"/>
          <p:nvPr/>
        </p:nvSpPr>
        <p:spPr>
          <a:xfrm>
            <a:off x="749808" y="5623560"/>
            <a:ext cx="10661904" cy="566928"/>
          </a:xfrm>
          <a:prstGeom prst="rect">
            <a:avLst/>
          </a:prstGeom>
          <a:noFill/>
          <a:ln/>
        </p:spPr>
        <p:txBody>
          <a:bodyPr wrap="square" lIns="0" tIns="0" rIns="0" bIns="0" rtlCol="0" anchor="ctr"/>
          <a:lstStyle/>
          <a:p>
            <a:pPr indent="0" marL="0">
              <a:buNone/>
            </a:pPr>
            <a:r>
              <a:rPr lang="en-US" sz="1200" b="1" dirty="0">
                <a:solidFill>
                  <a:schemeClr val="tx2"/>
                </a:solidFill>
              </a:rPr>
              <a:t>Bitácora del método. </a:t>
            </a:r>
            <a:pPr indent="0" marL="0">
              <a:buNone/>
            </a:pPr>
            <a:r>
              <a:rPr lang="en-US" sz="1200" dirty="0">
                <a:solidFill>
                  <a:schemeClr val="tx1"/>
                </a:solidFill>
              </a:rPr>
              <a:t>Cada cambio queda registrado en una bitácora visible para todo el equipo y se comenta brevemente en la revisión de flujo.</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Tablero de gestión: una columna por etapa y límites de trabajo en curso</a:t>
            </a:r>
            <a:endParaRPr lang="en-US" sz="2800" dirty="0"/>
          </a:p>
        </p:txBody>
      </p:sp>
      <p:sp>
        <p:nvSpPr>
          <p:cNvPr id="4" name="Shape 1"/>
          <p:cNvSpPr/>
          <p:nvPr/>
        </p:nvSpPr>
        <p:spPr>
          <a:xfrm>
            <a:off x="548640" y="1417320"/>
            <a:ext cx="1319022" cy="1783080"/>
          </a:xfrm>
          <a:prstGeom prst="roundRect">
            <a:avLst>
              <a:gd name="adj" fmla="val 4159"/>
            </a:avLst>
          </a:prstGeom>
          <a:solidFill>
            <a:schemeClr val="accent4"/>
          </a:solidFill>
          <a:ln w="12700">
            <a:solidFill>
              <a:srgbClr val="DCD8EC"/>
            </a:solidFill>
            <a:prstDash val="solid"/>
          </a:ln>
        </p:spPr>
      </p:sp>
      <p:sp>
        <p:nvSpPr>
          <p:cNvPr id="5" name="Shape 2"/>
          <p:cNvSpPr/>
          <p:nvPr/>
        </p:nvSpPr>
        <p:spPr>
          <a:xfrm>
            <a:off x="594360" y="1417320"/>
            <a:ext cx="1227582" cy="54864"/>
          </a:xfrm>
          <a:prstGeom prst="rect">
            <a:avLst/>
          </a:prstGeom>
          <a:solidFill>
            <a:schemeClr val="accent3"/>
          </a:solidFill>
          <a:ln w="12700">
            <a:solidFill>
              <a:schemeClr val="accent3"/>
            </a:solidFill>
            <a:prstDash val="solid"/>
          </a:ln>
        </p:spPr>
      </p:sp>
      <p:sp>
        <p:nvSpPr>
          <p:cNvPr id="6" name="Text 3"/>
          <p:cNvSpPr txBox="1"/>
          <p:nvPr/>
        </p:nvSpPr>
        <p:spPr>
          <a:xfrm>
            <a:off x="585216"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Propuesta</a:t>
            </a:r>
            <a:endParaRPr lang="en-US" sz="1000" dirty="0"/>
          </a:p>
        </p:txBody>
      </p:sp>
      <p:sp>
        <p:nvSpPr>
          <p:cNvPr id="7" name="Text 4"/>
          <p:cNvSpPr txBox="1"/>
          <p:nvPr/>
        </p:nvSpPr>
        <p:spPr>
          <a:xfrm>
            <a:off x="548640" y="1856232"/>
            <a:ext cx="1319022" cy="365760"/>
          </a:xfrm>
          <a:prstGeom prst="rect">
            <a:avLst/>
          </a:prstGeom>
          <a:noFill/>
          <a:ln/>
        </p:spPr>
        <p:txBody>
          <a:bodyPr wrap="square" lIns="0" tIns="0" rIns="0" bIns="0" rtlCol="0" anchor="ctr"/>
          <a:lstStyle/>
          <a:p>
            <a:pPr algn="ctr" indent="0" marL="0">
              <a:buNone/>
            </a:pPr>
            <a:r>
              <a:rPr lang="en-US" sz="850" dirty="0">
                <a:solidFill>
                  <a:schemeClr val="accent6"/>
                </a:solidFill>
              </a:rPr>
              <a:t>sin límite</a:t>
            </a:r>
            <a:endParaRPr lang="en-US" sz="850" dirty="0"/>
          </a:p>
        </p:txBody>
      </p:sp>
      <p:sp>
        <p:nvSpPr>
          <p:cNvPr id="8" name="Shape 5"/>
          <p:cNvSpPr/>
          <p:nvPr/>
        </p:nvSpPr>
        <p:spPr>
          <a:xfrm>
            <a:off x="621792" y="2423160"/>
            <a:ext cx="1172718" cy="685800"/>
          </a:xfrm>
          <a:prstGeom prst="roundRect">
            <a:avLst>
              <a:gd name="adj" fmla="val 5333"/>
            </a:avLst>
          </a:prstGeom>
          <a:solidFill>
            <a:schemeClr val="bg1"/>
          </a:solidFill>
          <a:ln w="9525">
            <a:solidFill>
              <a:srgbClr val="DCD8EC"/>
            </a:solidFill>
            <a:prstDash val="solid"/>
          </a:ln>
        </p:spPr>
      </p:sp>
      <p:sp>
        <p:nvSpPr>
          <p:cNvPr id="9" name="Shape 6"/>
          <p:cNvSpPr/>
          <p:nvPr/>
        </p:nvSpPr>
        <p:spPr>
          <a:xfrm>
            <a:off x="1940814" y="1417320"/>
            <a:ext cx="1319022" cy="1783080"/>
          </a:xfrm>
          <a:prstGeom prst="roundRect">
            <a:avLst>
              <a:gd name="adj" fmla="val 4159"/>
            </a:avLst>
          </a:prstGeom>
          <a:solidFill>
            <a:schemeClr val="accent4"/>
          </a:solidFill>
          <a:ln w="12700">
            <a:solidFill>
              <a:srgbClr val="DCD8EC"/>
            </a:solidFill>
            <a:prstDash val="solid"/>
          </a:ln>
        </p:spPr>
      </p:sp>
      <p:sp>
        <p:nvSpPr>
          <p:cNvPr id="10" name="Shape 7"/>
          <p:cNvSpPr/>
          <p:nvPr/>
        </p:nvSpPr>
        <p:spPr>
          <a:xfrm>
            <a:off x="1986534" y="1417320"/>
            <a:ext cx="1227582" cy="54864"/>
          </a:xfrm>
          <a:prstGeom prst="rect">
            <a:avLst/>
          </a:prstGeom>
          <a:solidFill>
            <a:schemeClr val="accent3"/>
          </a:solidFill>
          <a:ln w="12700">
            <a:solidFill>
              <a:schemeClr val="accent3"/>
            </a:solidFill>
            <a:prstDash val="solid"/>
          </a:ln>
        </p:spPr>
      </p:sp>
      <p:sp>
        <p:nvSpPr>
          <p:cNvPr id="11" name="Text 8"/>
          <p:cNvSpPr txBox="1"/>
          <p:nvPr/>
        </p:nvSpPr>
        <p:spPr>
          <a:xfrm>
            <a:off x="1977390"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Definición</a:t>
            </a:r>
            <a:endParaRPr lang="en-US" sz="1000" dirty="0"/>
          </a:p>
        </p:txBody>
      </p:sp>
      <p:sp>
        <p:nvSpPr>
          <p:cNvPr id="12" name="Text 9"/>
          <p:cNvSpPr txBox="1"/>
          <p:nvPr/>
        </p:nvSpPr>
        <p:spPr>
          <a:xfrm>
            <a:off x="1940814" y="1856232"/>
            <a:ext cx="1319022" cy="365760"/>
          </a:xfrm>
          <a:prstGeom prst="rect">
            <a:avLst/>
          </a:prstGeom>
          <a:noFill/>
          <a:ln/>
        </p:spPr>
        <p:txBody>
          <a:bodyPr wrap="square" lIns="0" tIns="0" rIns="0" bIns="0" rtlCol="0" anchor="ctr"/>
          <a:lstStyle/>
          <a:p>
            <a:pPr algn="ctr" indent="0" marL="0">
              <a:buNone/>
            </a:pPr>
            <a:r>
              <a:rPr lang="en-US" sz="2200" b="1" dirty="0">
                <a:solidFill>
                  <a:schemeClr val="accent3"/>
                </a:solidFill>
              </a:rPr>
              <a:t>6</a:t>
            </a:r>
            <a:pPr algn="ctr" indent="0" marL="0">
              <a:buNone/>
            </a:pPr>
            <a:r>
              <a:rPr lang="en-US" sz="850" dirty="0">
                <a:solidFill>
                  <a:schemeClr val="accent6"/>
                </a:solidFill>
              </a:rPr>
              <a:t> límite</a:t>
            </a:r>
            <a:endParaRPr lang="en-US" sz="1400" dirty="0"/>
          </a:p>
        </p:txBody>
      </p:sp>
      <p:sp>
        <p:nvSpPr>
          <p:cNvPr id="13" name="Text 10"/>
          <p:cNvSpPr txBox="1"/>
          <p:nvPr/>
        </p:nvSpPr>
        <p:spPr>
          <a:xfrm>
            <a:off x="1940814" y="2221992"/>
            <a:ext cx="1319022" cy="164592"/>
          </a:xfrm>
          <a:prstGeom prst="rect">
            <a:avLst/>
          </a:prstGeom>
          <a:noFill/>
          <a:ln/>
        </p:spPr>
        <p:txBody>
          <a:bodyPr wrap="square" lIns="0" tIns="0" rIns="0" bIns="0" rtlCol="0" anchor="t"/>
          <a:lstStyle/>
          <a:p>
            <a:pPr algn="ctr" indent="0" marL="0">
              <a:buNone/>
            </a:pPr>
            <a:r>
              <a:rPr lang="en-US" sz="750" dirty="0">
                <a:solidFill>
                  <a:schemeClr val="accent6"/>
                </a:solidFill>
              </a:rPr>
              <a:t> </a:t>
            </a:r>
            <a:endParaRPr lang="en-US" sz="750" dirty="0"/>
          </a:p>
        </p:txBody>
      </p:sp>
      <p:sp>
        <p:nvSpPr>
          <p:cNvPr id="14" name="Shape 11"/>
          <p:cNvSpPr/>
          <p:nvPr/>
        </p:nvSpPr>
        <p:spPr>
          <a:xfrm>
            <a:off x="2013966" y="2423160"/>
            <a:ext cx="549783" cy="685800"/>
          </a:xfrm>
          <a:prstGeom prst="roundRect">
            <a:avLst>
              <a:gd name="adj" fmla="val 6653"/>
            </a:avLst>
          </a:prstGeom>
          <a:solidFill>
            <a:schemeClr val="bg1"/>
          </a:solidFill>
          <a:ln w="9525">
            <a:solidFill>
              <a:srgbClr val="DCD8EC"/>
            </a:solidFill>
            <a:prstDash val="solid"/>
          </a:ln>
        </p:spPr>
      </p:sp>
      <p:sp>
        <p:nvSpPr>
          <p:cNvPr id="15" name="Shape 12"/>
          <p:cNvSpPr/>
          <p:nvPr/>
        </p:nvSpPr>
        <p:spPr>
          <a:xfrm>
            <a:off x="2636901" y="2423160"/>
            <a:ext cx="549783" cy="685800"/>
          </a:xfrm>
          <a:prstGeom prst="roundRect">
            <a:avLst>
              <a:gd name="adj" fmla="val 6653"/>
            </a:avLst>
          </a:prstGeom>
          <a:solidFill>
            <a:schemeClr val="bg1"/>
          </a:solidFill>
          <a:ln w="9525">
            <a:solidFill>
              <a:srgbClr val="DCD8EC"/>
            </a:solidFill>
            <a:prstDash val="dash"/>
          </a:ln>
        </p:spPr>
      </p:sp>
      <p:sp>
        <p:nvSpPr>
          <p:cNvPr id="16" name="Text 13"/>
          <p:cNvSpPr txBox="1"/>
          <p:nvPr/>
        </p:nvSpPr>
        <p:spPr>
          <a:xfrm>
            <a:off x="2013966"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en curso</a:t>
            </a:r>
            <a:endParaRPr lang="en-US" sz="650" dirty="0"/>
          </a:p>
        </p:txBody>
      </p:sp>
      <p:sp>
        <p:nvSpPr>
          <p:cNvPr id="17" name="Text 14"/>
          <p:cNvSpPr txBox="1"/>
          <p:nvPr/>
        </p:nvSpPr>
        <p:spPr>
          <a:xfrm>
            <a:off x="2636901"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terminado</a:t>
            </a:r>
            <a:endParaRPr lang="en-US" sz="650" dirty="0"/>
          </a:p>
        </p:txBody>
      </p:sp>
      <p:sp>
        <p:nvSpPr>
          <p:cNvPr id="18" name="Shape 15"/>
          <p:cNvSpPr/>
          <p:nvPr/>
        </p:nvSpPr>
        <p:spPr>
          <a:xfrm>
            <a:off x="3332988" y="1417320"/>
            <a:ext cx="1319022" cy="1783080"/>
          </a:xfrm>
          <a:prstGeom prst="roundRect">
            <a:avLst>
              <a:gd name="adj" fmla="val 4159"/>
            </a:avLst>
          </a:prstGeom>
          <a:solidFill>
            <a:schemeClr val="accent4"/>
          </a:solidFill>
          <a:ln w="12700">
            <a:solidFill>
              <a:srgbClr val="DCD8EC"/>
            </a:solidFill>
            <a:prstDash val="solid"/>
          </a:ln>
        </p:spPr>
      </p:sp>
      <p:sp>
        <p:nvSpPr>
          <p:cNvPr id="19" name="Shape 16"/>
          <p:cNvSpPr/>
          <p:nvPr/>
        </p:nvSpPr>
        <p:spPr>
          <a:xfrm>
            <a:off x="3378708" y="1417320"/>
            <a:ext cx="1227582" cy="54864"/>
          </a:xfrm>
          <a:prstGeom prst="rect">
            <a:avLst/>
          </a:prstGeom>
          <a:solidFill>
            <a:schemeClr val="accent1"/>
          </a:solidFill>
          <a:ln w="12700">
            <a:solidFill>
              <a:schemeClr val="accent1"/>
            </a:solidFill>
            <a:prstDash val="solid"/>
          </a:ln>
        </p:spPr>
      </p:sp>
      <p:sp>
        <p:nvSpPr>
          <p:cNvPr id="20" name="Text 17"/>
          <p:cNvSpPr txBox="1"/>
          <p:nvPr/>
        </p:nvSpPr>
        <p:spPr>
          <a:xfrm>
            <a:off x="3369564"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Lista para construir</a:t>
            </a:r>
            <a:endParaRPr lang="en-US" sz="1000" dirty="0"/>
          </a:p>
        </p:txBody>
      </p:sp>
      <p:sp>
        <p:nvSpPr>
          <p:cNvPr id="21" name="Text 18"/>
          <p:cNvSpPr txBox="1"/>
          <p:nvPr/>
        </p:nvSpPr>
        <p:spPr>
          <a:xfrm>
            <a:off x="3332988" y="1856232"/>
            <a:ext cx="1319022" cy="365760"/>
          </a:xfrm>
          <a:prstGeom prst="rect">
            <a:avLst/>
          </a:prstGeom>
          <a:noFill/>
          <a:ln/>
        </p:spPr>
        <p:txBody>
          <a:bodyPr wrap="square" lIns="0" tIns="0" rIns="0" bIns="0" rtlCol="0" anchor="ctr"/>
          <a:lstStyle/>
          <a:p>
            <a:pPr algn="ctr" indent="0" marL="0">
              <a:buNone/>
            </a:pPr>
            <a:r>
              <a:rPr lang="en-US" sz="2200" b="1" dirty="0">
                <a:solidFill>
                  <a:schemeClr val="accent1"/>
                </a:solidFill>
              </a:rPr>
              <a:t>6</a:t>
            </a:r>
            <a:pPr algn="ctr" indent="0" marL="0">
              <a:buNone/>
            </a:pPr>
            <a:r>
              <a:rPr lang="en-US" sz="850" dirty="0">
                <a:solidFill>
                  <a:schemeClr val="accent6"/>
                </a:solidFill>
              </a:rPr>
              <a:t> límite</a:t>
            </a:r>
            <a:endParaRPr lang="en-US" sz="1400" dirty="0"/>
          </a:p>
        </p:txBody>
      </p:sp>
      <p:sp>
        <p:nvSpPr>
          <p:cNvPr id="22" name="Text 19"/>
          <p:cNvSpPr txBox="1"/>
          <p:nvPr/>
        </p:nvSpPr>
        <p:spPr>
          <a:xfrm>
            <a:off x="3332988" y="2221992"/>
            <a:ext cx="1319022" cy="164592"/>
          </a:xfrm>
          <a:prstGeom prst="rect">
            <a:avLst/>
          </a:prstGeom>
          <a:noFill/>
          <a:ln/>
        </p:spPr>
        <p:txBody>
          <a:bodyPr wrap="square" lIns="0" tIns="0" rIns="0" bIns="0" rtlCol="0" anchor="t"/>
          <a:lstStyle/>
          <a:p>
            <a:pPr algn="ctr" indent="0" marL="0">
              <a:buNone/>
            </a:pPr>
            <a:r>
              <a:rPr lang="en-US" sz="750" dirty="0">
                <a:solidFill>
                  <a:schemeClr val="accent6"/>
                </a:solidFill>
              </a:rPr>
              <a:t>reserva</a:t>
            </a:r>
            <a:endParaRPr lang="en-US" sz="750" dirty="0"/>
          </a:p>
        </p:txBody>
      </p:sp>
      <p:sp>
        <p:nvSpPr>
          <p:cNvPr id="23" name="Shape 20"/>
          <p:cNvSpPr/>
          <p:nvPr/>
        </p:nvSpPr>
        <p:spPr>
          <a:xfrm>
            <a:off x="3406140" y="2423160"/>
            <a:ext cx="549783" cy="685800"/>
          </a:xfrm>
          <a:prstGeom prst="roundRect">
            <a:avLst>
              <a:gd name="adj" fmla="val 6653"/>
            </a:avLst>
          </a:prstGeom>
          <a:solidFill>
            <a:schemeClr val="bg1"/>
          </a:solidFill>
          <a:ln w="9525">
            <a:solidFill>
              <a:srgbClr val="DCD8EC"/>
            </a:solidFill>
            <a:prstDash val="solid"/>
          </a:ln>
        </p:spPr>
      </p:sp>
      <p:sp>
        <p:nvSpPr>
          <p:cNvPr id="24" name="Shape 21"/>
          <p:cNvSpPr/>
          <p:nvPr/>
        </p:nvSpPr>
        <p:spPr>
          <a:xfrm>
            <a:off x="4029075" y="2423160"/>
            <a:ext cx="549783" cy="685800"/>
          </a:xfrm>
          <a:prstGeom prst="roundRect">
            <a:avLst>
              <a:gd name="adj" fmla="val 6653"/>
            </a:avLst>
          </a:prstGeom>
          <a:solidFill>
            <a:schemeClr val="bg1"/>
          </a:solidFill>
          <a:ln w="9525">
            <a:solidFill>
              <a:srgbClr val="DCD8EC"/>
            </a:solidFill>
            <a:prstDash val="dash"/>
          </a:ln>
        </p:spPr>
      </p:sp>
      <p:sp>
        <p:nvSpPr>
          <p:cNvPr id="25" name="Text 22"/>
          <p:cNvSpPr txBox="1"/>
          <p:nvPr/>
        </p:nvSpPr>
        <p:spPr>
          <a:xfrm>
            <a:off x="3406140"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en curso</a:t>
            </a:r>
            <a:endParaRPr lang="en-US" sz="650" dirty="0"/>
          </a:p>
        </p:txBody>
      </p:sp>
      <p:sp>
        <p:nvSpPr>
          <p:cNvPr id="26" name="Text 23"/>
          <p:cNvSpPr txBox="1"/>
          <p:nvPr/>
        </p:nvSpPr>
        <p:spPr>
          <a:xfrm>
            <a:off x="4029075"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terminado</a:t>
            </a:r>
            <a:endParaRPr lang="en-US" sz="650" dirty="0"/>
          </a:p>
        </p:txBody>
      </p:sp>
      <p:sp>
        <p:nvSpPr>
          <p:cNvPr id="27" name="Shape 24"/>
          <p:cNvSpPr/>
          <p:nvPr/>
        </p:nvSpPr>
        <p:spPr>
          <a:xfrm>
            <a:off x="4725162" y="1417320"/>
            <a:ext cx="1319022" cy="1783080"/>
          </a:xfrm>
          <a:prstGeom prst="roundRect">
            <a:avLst>
              <a:gd name="adj" fmla="val 4159"/>
            </a:avLst>
          </a:prstGeom>
          <a:solidFill>
            <a:schemeClr val="accent4"/>
          </a:solidFill>
          <a:ln w="12700">
            <a:solidFill>
              <a:srgbClr val="DCD8EC"/>
            </a:solidFill>
            <a:prstDash val="solid"/>
          </a:ln>
        </p:spPr>
      </p:sp>
      <p:sp>
        <p:nvSpPr>
          <p:cNvPr id="28" name="Shape 25"/>
          <p:cNvSpPr/>
          <p:nvPr/>
        </p:nvSpPr>
        <p:spPr>
          <a:xfrm>
            <a:off x="4770882" y="1417320"/>
            <a:ext cx="1227582" cy="54864"/>
          </a:xfrm>
          <a:prstGeom prst="rect">
            <a:avLst/>
          </a:prstGeom>
          <a:solidFill>
            <a:schemeClr val="accent1"/>
          </a:solidFill>
          <a:ln w="12700">
            <a:solidFill>
              <a:schemeClr val="accent1"/>
            </a:solidFill>
            <a:prstDash val="solid"/>
          </a:ln>
        </p:spPr>
      </p:sp>
      <p:sp>
        <p:nvSpPr>
          <p:cNvPr id="29" name="Text 26"/>
          <p:cNvSpPr txBox="1"/>
          <p:nvPr/>
        </p:nvSpPr>
        <p:spPr>
          <a:xfrm>
            <a:off x="4761738"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Construcción</a:t>
            </a:r>
            <a:endParaRPr lang="en-US" sz="1000" dirty="0"/>
          </a:p>
        </p:txBody>
      </p:sp>
      <p:sp>
        <p:nvSpPr>
          <p:cNvPr id="30" name="Text 27"/>
          <p:cNvSpPr txBox="1"/>
          <p:nvPr/>
        </p:nvSpPr>
        <p:spPr>
          <a:xfrm>
            <a:off x="4725162" y="1856232"/>
            <a:ext cx="1319022" cy="365760"/>
          </a:xfrm>
          <a:prstGeom prst="rect">
            <a:avLst/>
          </a:prstGeom>
          <a:noFill/>
          <a:ln/>
        </p:spPr>
        <p:txBody>
          <a:bodyPr wrap="square" lIns="0" tIns="0" rIns="0" bIns="0" rtlCol="0" anchor="ctr"/>
          <a:lstStyle/>
          <a:p>
            <a:pPr algn="ctr" indent="0" marL="0">
              <a:buNone/>
            </a:pPr>
            <a:r>
              <a:rPr lang="en-US" sz="2200" b="1" dirty="0">
                <a:solidFill>
                  <a:schemeClr val="accent1"/>
                </a:solidFill>
              </a:rPr>
              <a:t>4</a:t>
            </a:r>
            <a:pPr algn="ctr" indent="0" marL="0">
              <a:buNone/>
            </a:pPr>
            <a:r>
              <a:rPr lang="en-US" sz="850" dirty="0">
                <a:solidFill>
                  <a:schemeClr val="accent6"/>
                </a:solidFill>
              </a:rPr>
              <a:t> límite</a:t>
            </a:r>
            <a:endParaRPr lang="en-US" sz="1400" dirty="0"/>
          </a:p>
        </p:txBody>
      </p:sp>
      <p:sp>
        <p:nvSpPr>
          <p:cNvPr id="31" name="Text 28"/>
          <p:cNvSpPr txBox="1"/>
          <p:nvPr/>
        </p:nvSpPr>
        <p:spPr>
          <a:xfrm>
            <a:off x="4725162" y="2221992"/>
            <a:ext cx="1319022" cy="164592"/>
          </a:xfrm>
          <a:prstGeom prst="rect">
            <a:avLst/>
          </a:prstGeom>
          <a:noFill/>
          <a:ln/>
        </p:spPr>
        <p:txBody>
          <a:bodyPr wrap="square" lIns="0" tIns="0" rIns="0" bIns="0" rtlCol="0" anchor="t"/>
          <a:lstStyle/>
          <a:p>
            <a:pPr algn="ctr" indent="0" marL="0">
              <a:buNone/>
            </a:pPr>
            <a:r>
              <a:rPr lang="en-US" sz="750" dirty="0">
                <a:solidFill>
                  <a:schemeClr val="accent6"/>
                </a:solidFill>
              </a:rPr>
              <a:t>2 por builder</a:t>
            </a:r>
            <a:endParaRPr lang="en-US" sz="750" dirty="0"/>
          </a:p>
        </p:txBody>
      </p:sp>
      <p:sp>
        <p:nvSpPr>
          <p:cNvPr id="32" name="Shape 29"/>
          <p:cNvSpPr/>
          <p:nvPr/>
        </p:nvSpPr>
        <p:spPr>
          <a:xfrm>
            <a:off x="4798314" y="2423160"/>
            <a:ext cx="549783" cy="685800"/>
          </a:xfrm>
          <a:prstGeom prst="roundRect">
            <a:avLst>
              <a:gd name="adj" fmla="val 6653"/>
            </a:avLst>
          </a:prstGeom>
          <a:solidFill>
            <a:schemeClr val="bg1"/>
          </a:solidFill>
          <a:ln w="9525">
            <a:solidFill>
              <a:srgbClr val="DCD8EC"/>
            </a:solidFill>
            <a:prstDash val="solid"/>
          </a:ln>
        </p:spPr>
      </p:sp>
      <p:sp>
        <p:nvSpPr>
          <p:cNvPr id="33" name="Shape 30"/>
          <p:cNvSpPr/>
          <p:nvPr/>
        </p:nvSpPr>
        <p:spPr>
          <a:xfrm>
            <a:off x="5421249" y="2423160"/>
            <a:ext cx="549783" cy="685800"/>
          </a:xfrm>
          <a:prstGeom prst="roundRect">
            <a:avLst>
              <a:gd name="adj" fmla="val 6653"/>
            </a:avLst>
          </a:prstGeom>
          <a:solidFill>
            <a:schemeClr val="bg1"/>
          </a:solidFill>
          <a:ln w="9525">
            <a:solidFill>
              <a:srgbClr val="DCD8EC"/>
            </a:solidFill>
            <a:prstDash val="dash"/>
          </a:ln>
        </p:spPr>
      </p:sp>
      <p:sp>
        <p:nvSpPr>
          <p:cNvPr id="34" name="Text 31"/>
          <p:cNvSpPr txBox="1"/>
          <p:nvPr/>
        </p:nvSpPr>
        <p:spPr>
          <a:xfrm>
            <a:off x="4798314"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en curso</a:t>
            </a:r>
            <a:endParaRPr lang="en-US" sz="650" dirty="0"/>
          </a:p>
        </p:txBody>
      </p:sp>
      <p:sp>
        <p:nvSpPr>
          <p:cNvPr id="35" name="Text 32"/>
          <p:cNvSpPr txBox="1"/>
          <p:nvPr/>
        </p:nvSpPr>
        <p:spPr>
          <a:xfrm>
            <a:off x="5421249"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terminado</a:t>
            </a:r>
            <a:endParaRPr lang="en-US" sz="650" dirty="0"/>
          </a:p>
        </p:txBody>
      </p:sp>
      <p:sp>
        <p:nvSpPr>
          <p:cNvPr id="36" name="Shape 33"/>
          <p:cNvSpPr/>
          <p:nvPr/>
        </p:nvSpPr>
        <p:spPr>
          <a:xfrm>
            <a:off x="6117336" y="1417320"/>
            <a:ext cx="1319022" cy="1783080"/>
          </a:xfrm>
          <a:prstGeom prst="roundRect">
            <a:avLst>
              <a:gd name="adj" fmla="val 4159"/>
            </a:avLst>
          </a:prstGeom>
          <a:solidFill>
            <a:schemeClr val="accent4"/>
          </a:solidFill>
          <a:ln w="12700">
            <a:solidFill>
              <a:srgbClr val="DCD8EC"/>
            </a:solidFill>
            <a:prstDash val="solid"/>
          </a:ln>
        </p:spPr>
      </p:sp>
      <p:sp>
        <p:nvSpPr>
          <p:cNvPr id="37" name="Shape 34"/>
          <p:cNvSpPr/>
          <p:nvPr/>
        </p:nvSpPr>
        <p:spPr>
          <a:xfrm>
            <a:off x="6163056" y="1417320"/>
            <a:ext cx="1227582" cy="54864"/>
          </a:xfrm>
          <a:prstGeom prst="rect">
            <a:avLst/>
          </a:prstGeom>
          <a:solidFill>
            <a:schemeClr val="accent1"/>
          </a:solidFill>
          <a:ln w="12700">
            <a:solidFill>
              <a:schemeClr val="accent1"/>
            </a:solidFill>
            <a:prstDash val="solid"/>
          </a:ln>
        </p:spPr>
      </p:sp>
      <p:sp>
        <p:nvSpPr>
          <p:cNvPr id="38" name="Text 35"/>
          <p:cNvSpPr txBox="1"/>
          <p:nvPr/>
        </p:nvSpPr>
        <p:spPr>
          <a:xfrm>
            <a:off x="6153912"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Verificación</a:t>
            </a:r>
            <a:endParaRPr lang="en-US" sz="1000" dirty="0"/>
          </a:p>
        </p:txBody>
      </p:sp>
      <p:sp>
        <p:nvSpPr>
          <p:cNvPr id="39" name="Text 36"/>
          <p:cNvSpPr txBox="1"/>
          <p:nvPr/>
        </p:nvSpPr>
        <p:spPr>
          <a:xfrm>
            <a:off x="6117336" y="1856232"/>
            <a:ext cx="1319022" cy="365760"/>
          </a:xfrm>
          <a:prstGeom prst="rect">
            <a:avLst/>
          </a:prstGeom>
          <a:noFill/>
          <a:ln/>
        </p:spPr>
        <p:txBody>
          <a:bodyPr wrap="square" lIns="0" tIns="0" rIns="0" bIns="0" rtlCol="0" anchor="ctr"/>
          <a:lstStyle/>
          <a:p>
            <a:pPr algn="ctr" indent="0" marL="0">
              <a:buNone/>
            </a:pPr>
            <a:r>
              <a:rPr lang="en-US" sz="2200" b="1" dirty="0">
                <a:solidFill>
                  <a:schemeClr val="accent1"/>
                </a:solidFill>
              </a:rPr>
              <a:t>3</a:t>
            </a:r>
            <a:pPr algn="ctr" indent="0" marL="0">
              <a:buNone/>
            </a:pPr>
            <a:r>
              <a:rPr lang="en-US" sz="850" dirty="0">
                <a:solidFill>
                  <a:schemeClr val="accent6"/>
                </a:solidFill>
              </a:rPr>
              <a:t> límite</a:t>
            </a:r>
            <a:endParaRPr lang="en-US" sz="1400" dirty="0"/>
          </a:p>
        </p:txBody>
      </p:sp>
      <p:sp>
        <p:nvSpPr>
          <p:cNvPr id="40" name="Text 37"/>
          <p:cNvSpPr txBox="1"/>
          <p:nvPr/>
        </p:nvSpPr>
        <p:spPr>
          <a:xfrm>
            <a:off x="6117336" y="2221992"/>
            <a:ext cx="1319022" cy="164592"/>
          </a:xfrm>
          <a:prstGeom prst="rect">
            <a:avLst/>
          </a:prstGeom>
          <a:noFill/>
          <a:ln/>
        </p:spPr>
        <p:txBody>
          <a:bodyPr wrap="square" lIns="0" tIns="0" rIns="0" bIns="0" rtlCol="0" anchor="t"/>
          <a:lstStyle/>
          <a:p>
            <a:pPr algn="ctr" indent="0" marL="0">
              <a:buNone/>
            </a:pPr>
            <a:r>
              <a:rPr lang="en-US" sz="750" dirty="0">
                <a:solidFill>
                  <a:schemeClr val="accent6"/>
                </a:solidFill>
              </a:rPr>
              <a:t> </a:t>
            </a:r>
            <a:endParaRPr lang="en-US" sz="750" dirty="0"/>
          </a:p>
        </p:txBody>
      </p:sp>
      <p:sp>
        <p:nvSpPr>
          <p:cNvPr id="41" name="Shape 38"/>
          <p:cNvSpPr/>
          <p:nvPr/>
        </p:nvSpPr>
        <p:spPr>
          <a:xfrm>
            <a:off x="6190488" y="2423160"/>
            <a:ext cx="549783" cy="685800"/>
          </a:xfrm>
          <a:prstGeom prst="roundRect">
            <a:avLst>
              <a:gd name="adj" fmla="val 6653"/>
            </a:avLst>
          </a:prstGeom>
          <a:solidFill>
            <a:schemeClr val="bg1"/>
          </a:solidFill>
          <a:ln w="9525">
            <a:solidFill>
              <a:srgbClr val="DCD8EC"/>
            </a:solidFill>
            <a:prstDash val="solid"/>
          </a:ln>
        </p:spPr>
      </p:sp>
      <p:sp>
        <p:nvSpPr>
          <p:cNvPr id="42" name="Shape 39"/>
          <p:cNvSpPr/>
          <p:nvPr/>
        </p:nvSpPr>
        <p:spPr>
          <a:xfrm>
            <a:off x="6813423" y="2423160"/>
            <a:ext cx="549783" cy="685800"/>
          </a:xfrm>
          <a:prstGeom prst="roundRect">
            <a:avLst>
              <a:gd name="adj" fmla="val 6653"/>
            </a:avLst>
          </a:prstGeom>
          <a:solidFill>
            <a:schemeClr val="bg1"/>
          </a:solidFill>
          <a:ln w="9525">
            <a:solidFill>
              <a:srgbClr val="DCD8EC"/>
            </a:solidFill>
            <a:prstDash val="dash"/>
          </a:ln>
        </p:spPr>
      </p:sp>
      <p:sp>
        <p:nvSpPr>
          <p:cNvPr id="43" name="Text 40"/>
          <p:cNvSpPr txBox="1"/>
          <p:nvPr/>
        </p:nvSpPr>
        <p:spPr>
          <a:xfrm>
            <a:off x="6190488"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en curso</a:t>
            </a:r>
            <a:endParaRPr lang="en-US" sz="650" dirty="0"/>
          </a:p>
        </p:txBody>
      </p:sp>
      <p:sp>
        <p:nvSpPr>
          <p:cNvPr id="44" name="Text 41"/>
          <p:cNvSpPr txBox="1"/>
          <p:nvPr/>
        </p:nvSpPr>
        <p:spPr>
          <a:xfrm>
            <a:off x="6813423"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terminado</a:t>
            </a:r>
            <a:endParaRPr lang="en-US" sz="650" dirty="0"/>
          </a:p>
        </p:txBody>
      </p:sp>
      <p:sp>
        <p:nvSpPr>
          <p:cNvPr id="45" name="Shape 42"/>
          <p:cNvSpPr/>
          <p:nvPr/>
        </p:nvSpPr>
        <p:spPr>
          <a:xfrm>
            <a:off x="7509510" y="1417320"/>
            <a:ext cx="1319022" cy="1783080"/>
          </a:xfrm>
          <a:prstGeom prst="roundRect">
            <a:avLst>
              <a:gd name="adj" fmla="val 4159"/>
            </a:avLst>
          </a:prstGeom>
          <a:solidFill>
            <a:schemeClr val="accent4"/>
          </a:solidFill>
          <a:ln w="12700">
            <a:solidFill>
              <a:srgbClr val="DCD8EC"/>
            </a:solidFill>
            <a:prstDash val="solid"/>
          </a:ln>
        </p:spPr>
      </p:sp>
      <p:sp>
        <p:nvSpPr>
          <p:cNvPr id="46" name="Shape 43"/>
          <p:cNvSpPr/>
          <p:nvPr/>
        </p:nvSpPr>
        <p:spPr>
          <a:xfrm>
            <a:off x="7555230" y="1417320"/>
            <a:ext cx="1227582" cy="54864"/>
          </a:xfrm>
          <a:prstGeom prst="rect">
            <a:avLst/>
          </a:prstGeom>
          <a:solidFill>
            <a:schemeClr val="accent3"/>
          </a:solidFill>
          <a:ln w="12700">
            <a:solidFill>
              <a:schemeClr val="accent3"/>
            </a:solidFill>
            <a:prstDash val="solid"/>
          </a:ln>
        </p:spPr>
      </p:sp>
      <p:sp>
        <p:nvSpPr>
          <p:cNvPr id="47" name="Text 44"/>
          <p:cNvSpPr txBox="1"/>
          <p:nvPr/>
        </p:nvSpPr>
        <p:spPr>
          <a:xfrm>
            <a:off x="7546086"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Certificación</a:t>
            </a:r>
            <a:endParaRPr lang="en-US" sz="1000" dirty="0"/>
          </a:p>
        </p:txBody>
      </p:sp>
      <p:sp>
        <p:nvSpPr>
          <p:cNvPr id="48" name="Text 45"/>
          <p:cNvSpPr txBox="1"/>
          <p:nvPr/>
        </p:nvSpPr>
        <p:spPr>
          <a:xfrm>
            <a:off x="7509510" y="1856232"/>
            <a:ext cx="1319022" cy="365760"/>
          </a:xfrm>
          <a:prstGeom prst="rect">
            <a:avLst/>
          </a:prstGeom>
          <a:noFill/>
          <a:ln/>
        </p:spPr>
        <p:txBody>
          <a:bodyPr wrap="square" lIns="0" tIns="0" rIns="0" bIns="0" rtlCol="0" anchor="ctr"/>
          <a:lstStyle/>
          <a:p>
            <a:pPr algn="ctr" indent="0" marL="0">
              <a:buNone/>
            </a:pPr>
            <a:r>
              <a:rPr lang="en-US" sz="2200" b="1" dirty="0">
                <a:solidFill>
                  <a:schemeClr val="accent3"/>
                </a:solidFill>
              </a:rPr>
              <a:t>4</a:t>
            </a:r>
            <a:pPr algn="ctr" indent="0" marL="0">
              <a:buNone/>
            </a:pPr>
            <a:r>
              <a:rPr lang="en-US" sz="850" dirty="0">
                <a:solidFill>
                  <a:schemeClr val="accent6"/>
                </a:solidFill>
              </a:rPr>
              <a:t> límite</a:t>
            </a:r>
            <a:endParaRPr lang="en-US" sz="1400" dirty="0"/>
          </a:p>
        </p:txBody>
      </p:sp>
      <p:sp>
        <p:nvSpPr>
          <p:cNvPr id="49" name="Text 46"/>
          <p:cNvSpPr txBox="1"/>
          <p:nvPr/>
        </p:nvSpPr>
        <p:spPr>
          <a:xfrm>
            <a:off x="7509510" y="2221992"/>
            <a:ext cx="1319022" cy="164592"/>
          </a:xfrm>
          <a:prstGeom prst="rect">
            <a:avLst/>
          </a:prstGeom>
          <a:noFill/>
          <a:ln/>
        </p:spPr>
        <p:txBody>
          <a:bodyPr wrap="square" lIns="0" tIns="0" rIns="0" bIns="0" rtlCol="0" anchor="t"/>
          <a:lstStyle/>
          <a:p>
            <a:pPr algn="ctr" indent="0" marL="0">
              <a:buNone/>
            </a:pPr>
            <a:r>
              <a:rPr lang="en-US" sz="750" dirty="0">
                <a:solidFill>
                  <a:schemeClr val="accent6"/>
                </a:solidFill>
              </a:rPr>
              <a:t> </a:t>
            </a:r>
            <a:endParaRPr lang="en-US" sz="750" dirty="0"/>
          </a:p>
        </p:txBody>
      </p:sp>
      <p:sp>
        <p:nvSpPr>
          <p:cNvPr id="50" name="Shape 47"/>
          <p:cNvSpPr/>
          <p:nvPr/>
        </p:nvSpPr>
        <p:spPr>
          <a:xfrm>
            <a:off x="7582662" y="2423160"/>
            <a:ext cx="549783" cy="685800"/>
          </a:xfrm>
          <a:prstGeom prst="roundRect">
            <a:avLst>
              <a:gd name="adj" fmla="val 6653"/>
            </a:avLst>
          </a:prstGeom>
          <a:solidFill>
            <a:schemeClr val="bg1"/>
          </a:solidFill>
          <a:ln w="9525">
            <a:solidFill>
              <a:srgbClr val="DCD8EC"/>
            </a:solidFill>
            <a:prstDash val="solid"/>
          </a:ln>
        </p:spPr>
      </p:sp>
      <p:sp>
        <p:nvSpPr>
          <p:cNvPr id="51" name="Shape 48"/>
          <p:cNvSpPr/>
          <p:nvPr/>
        </p:nvSpPr>
        <p:spPr>
          <a:xfrm>
            <a:off x="8205597" y="2423160"/>
            <a:ext cx="549783" cy="685800"/>
          </a:xfrm>
          <a:prstGeom prst="roundRect">
            <a:avLst>
              <a:gd name="adj" fmla="val 6653"/>
            </a:avLst>
          </a:prstGeom>
          <a:solidFill>
            <a:schemeClr val="bg1"/>
          </a:solidFill>
          <a:ln w="9525">
            <a:solidFill>
              <a:srgbClr val="DCD8EC"/>
            </a:solidFill>
            <a:prstDash val="dash"/>
          </a:ln>
        </p:spPr>
      </p:sp>
      <p:sp>
        <p:nvSpPr>
          <p:cNvPr id="52" name="Text 49"/>
          <p:cNvSpPr txBox="1"/>
          <p:nvPr/>
        </p:nvSpPr>
        <p:spPr>
          <a:xfrm>
            <a:off x="7582662"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en curso</a:t>
            </a:r>
            <a:endParaRPr lang="en-US" sz="650" dirty="0"/>
          </a:p>
        </p:txBody>
      </p:sp>
      <p:sp>
        <p:nvSpPr>
          <p:cNvPr id="53" name="Text 50"/>
          <p:cNvSpPr txBox="1"/>
          <p:nvPr/>
        </p:nvSpPr>
        <p:spPr>
          <a:xfrm>
            <a:off x="8205597" y="2441448"/>
            <a:ext cx="549783" cy="164592"/>
          </a:xfrm>
          <a:prstGeom prst="rect">
            <a:avLst/>
          </a:prstGeom>
          <a:noFill/>
          <a:ln/>
        </p:spPr>
        <p:txBody>
          <a:bodyPr wrap="square" lIns="0" tIns="0" rIns="0" bIns="0" rtlCol="0" anchor="t"/>
          <a:lstStyle/>
          <a:p>
            <a:pPr algn="ctr" indent="0" marL="0">
              <a:buNone/>
            </a:pPr>
            <a:r>
              <a:rPr lang="en-US" sz="650" dirty="0">
                <a:solidFill>
                  <a:schemeClr val="accent6"/>
                </a:solidFill>
              </a:rPr>
              <a:t>terminado</a:t>
            </a:r>
            <a:endParaRPr lang="en-US" sz="650" dirty="0"/>
          </a:p>
        </p:txBody>
      </p:sp>
      <p:sp>
        <p:nvSpPr>
          <p:cNvPr id="54" name="Shape 51"/>
          <p:cNvSpPr/>
          <p:nvPr/>
        </p:nvSpPr>
        <p:spPr>
          <a:xfrm>
            <a:off x="8901684" y="1417320"/>
            <a:ext cx="1319022" cy="1783080"/>
          </a:xfrm>
          <a:prstGeom prst="roundRect">
            <a:avLst>
              <a:gd name="adj" fmla="val 4159"/>
            </a:avLst>
          </a:prstGeom>
          <a:solidFill>
            <a:schemeClr val="accent4"/>
          </a:solidFill>
          <a:ln w="12700">
            <a:solidFill>
              <a:srgbClr val="DCD8EC"/>
            </a:solidFill>
            <a:prstDash val="solid"/>
          </a:ln>
        </p:spPr>
      </p:sp>
      <p:sp>
        <p:nvSpPr>
          <p:cNvPr id="55" name="Shape 52"/>
          <p:cNvSpPr/>
          <p:nvPr/>
        </p:nvSpPr>
        <p:spPr>
          <a:xfrm>
            <a:off x="8947404" y="1417320"/>
            <a:ext cx="1227582" cy="54864"/>
          </a:xfrm>
          <a:prstGeom prst="rect">
            <a:avLst/>
          </a:prstGeom>
          <a:solidFill>
            <a:schemeClr val="accent2"/>
          </a:solidFill>
          <a:ln w="12700">
            <a:solidFill>
              <a:schemeClr val="accent2"/>
            </a:solidFill>
            <a:prstDash val="solid"/>
          </a:ln>
        </p:spPr>
      </p:sp>
      <p:sp>
        <p:nvSpPr>
          <p:cNvPr id="56" name="Text 53"/>
          <p:cNvSpPr txBox="1"/>
          <p:nvPr/>
        </p:nvSpPr>
        <p:spPr>
          <a:xfrm>
            <a:off x="8938260"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Liberada</a:t>
            </a:r>
            <a:endParaRPr lang="en-US" sz="1000" dirty="0"/>
          </a:p>
        </p:txBody>
      </p:sp>
      <p:sp>
        <p:nvSpPr>
          <p:cNvPr id="57" name="Text 54"/>
          <p:cNvSpPr txBox="1"/>
          <p:nvPr/>
        </p:nvSpPr>
        <p:spPr>
          <a:xfrm>
            <a:off x="8901684" y="1856232"/>
            <a:ext cx="1319022" cy="365760"/>
          </a:xfrm>
          <a:prstGeom prst="rect">
            <a:avLst/>
          </a:prstGeom>
          <a:noFill/>
          <a:ln/>
        </p:spPr>
        <p:txBody>
          <a:bodyPr wrap="square" lIns="0" tIns="0" rIns="0" bIns="0" rtlCol="0" anchor="ctr"/>
          <a:lstStyle/>
          <a:p>
            <a:pPr algn="ctr" indent="0" marL="0">
              <a:buNone/>
            </a:pPr>
            <a:r>
              <a:rPr lang="en-US" sz="850" dirty="0">
                <a:solidFill>
                  <a:schemeClr val="accent6"/>
                </a:solidFill>
              </a:rPr>
              <a:t>sin límite</a:t>
            </a:r>
            <a:endParaRPr lang="en-US" sz="850" dirty="0"/>
          </a:p>
        </p:txBody>
      </p:sp>
      <p:sp>
        <p:nvSpPr>
          <p:cNvPr id="58" name="Shape 55"/>
          <p:cNvSpPr/>
          <p:nvPr/>
        </p:nvSpPr>
        <p:spPr>
          <a:xfrm>
            <a:off x="8974836" y="2423160"/>
            <a:ext cx="1172718" cy="685800"/>
          </a:xfrm>
          <a:prstGeom prst="roundRect">
            <a:avLst>
              <a:gd name="adj" fmla="val 5333"/>
            </a:avLst>
          </a:prstGeom>
          <a:solidFill>
            <a:schemeClr val="bg1"/>
          </a:solidFill>
          <a:ln w="9525">
            <a:solidFill>
              <a:srgbClr val="DCD8EC"/>
            </a:solidFill>
            <a:prstDash val="solid"/>
          </a:ln>
        </p:spPr>
      </p:sp>
      <p:sp>
        <p:nvSpPr>
          <p:cNvPr id="59" name="Shape 56"/>
          <p:cNvSpPr/>
          <p:nvPr/>
        </p:nvSpPr>
        <p:spPr>
          <a:xfrm>
            <a:off x="10293858" y="1417320"/>
            <a:ext cx="1319022" cy="1783080"/>
          </a:xfrm>
          <a:prstGeom prst="roundRect">
            <a:avLst>
              <a:gd name="adj" fmla="val 4159"/>
            </a:avLst>
          </a:prstGeom>
          <a:solidFill>
            <a:schemeClr val="accent4"/>
          </a:solidFill>
          <a:ln w="12700">
            <a:solidFill>
              <a:srgbClr val="DCD8EC"/>
            </a:solidFill>
            <a:prstDash val="solid"/>
          </a:ln>
        </p:spPr>
      </p:sp>
      <p:sp>
        <p:nvSpPr>
          <p:cNvPr id="60" name="Shape 57"/>
          <p:cNvSpPr/>
          <p:nvPr/>
        </p:nvSpPr>
        <p:spPr>
          <a:xfrm>
            <a:off x="10339578" y="1417320"/>
            <a:ext cx="1227582" cy="54864"/>
          </a:xfrm>
          <a:prstGeom prst="rect">
            <a:avLst/>
          </a:prstGeom>
          <a:solidFill>
            <a:schemeClr val="accent2"/>
          </a:solidFill>
          <a:ln w="12700">
            <a:solidFill>
              <a:schemeClr val="accent2"/>
            </a:solidFill>
            <a:prstDash val="solid"/>
          </a:ln>
        </p:spPr>
      </p:sp>
      <p:sp>
        <p:nvSpPr>
          <p:cNvPr id="61" name="Text 58"/>
          <p:cNvSpPr txBox="1"/>
          <p:nvPr/>
        </p:nvSpPr>
        <p:spPr>
          <a:xfrm>
            <a:off x="10330434" y="1508760"/>
            <a:ext cx="1245870" cy="329184"/>
          </a:xfrm>
          <a:prstGeom prst="rect">
            <a:avLst/>
          </a:prstGeom>
          <a:noFill/>
          <a:ln/>
        </p:spPr>
        <p:txBody>
          <a:bodyPr wrap="square" lIns="0" tIns="0" rIns="0" bIns="0" rtlCol="0" anchor="ctr"/>
          <a:lstStyle/>
          <a:p>
            <a:pPr algn="ctr" indent="0" marL="0">
              <a:buNone/>
            </a:pPr>
            <a:r>
              <a:rPr lang="en-US" sz="1000" b="1" dirty="0">
                <a:solidFill>
                  <a:schemeClr val="tx2"/>
                </a:solidFill>
              </a:rPr>
              <a:t>Estable</a:t>
            </a:r>
            <a:endParaRPr lang="en-US" sz="1000" dirty="0"/>
          </a:p>
        </p:txBody>
      </p:sp>
      <p:sp>
        <p:nvSpPr>
          <p:cNvPr id="62" name="Text 59"/>
          <p:cNvSpPr txBox="1"/>
          <p:nvPr/>
        </p:nvSpPr>
        <p:spPr>
          <a:xfrm>
            <a:off x="10293858" y="1856232"/>
            <a:ext cx="1319022" cy="365760"/>
          </a:xfrm>
          <a:prstGeom prst="rect">
            <a:avLst/>
          </a:prstGeom>
          <a:noFill/>
          <a:ln/>
        </p:spPr>
        <p:txBody>
          <a:bodyPr wrap="square" lIns="0" tIns="0" rIns="0" bIns="0" rtlCol="0" anchor="ctr"/>
          <a:lstStyle/>
          <a:p>
            <a:pPr algn="ctr" indent="0" marL="0">
              <a:buNone/>
            </a:pPr>
            <a:r>
              <a:rPr lang="en-US" sz="850" dirty="0">
                <a:solidFill>
                  <a:schemeClr val="accent6"/>
                </a:solidFill>
              </a:rPr>
              <a:t>sin límite</a:t>
            </a:r>
            <a:endParaRPr lang="en-US" sz="850" dirty="0"/>
          </a:p>
        </p:txBody>
      </p:sp>
      <p:sp>
        <p:nvSpPr>
          <p:cNvPr id="63" name="Shape 60"/>
          <p:cNvSpPr/>
          <p:nvPr/>
        </p:nvSpPr>
        <p:spPr>
          <a:xfrm>
            <a:off x="10367010" y="2423160"/>
            <a:ext cx="1172718" cy="685800"/>
          </a:xfrm>
          <a:prstGeom prst="roundRect">
            <a:avLst>
              <a:gd name="adj" fmla="val 5333"/>
            </a:avLst>
          </a:prstGeom>
          <a:solidFill>
            <a:schemeClr val="bg1"/>
          </a:solidFill>
          <a:ln w="9525">
            <a:solidFill>
              <a:srgbClr val="DCD8EC"/>
            </a:solidFill>
            <a:prstDash val="solid"/>
          </a:ln>
        </p:spPr>
      </p:sp>
      <p:sp>
        <p:nvSpPr>
          <p:cNvPr id="64" name="Text 61"/>
          <p:cNvSpPr txBox="1"/>
          <p:nvPr/>
        </p:nvSpPr>
        <p:spPr>
          <a:xfrm>
            <a:off x="548640" y="3246120"/>
            <a:ext cx="6766560" cy="256032"/>
          </a:xfrm>
          <a:prstGeom prst="rect">
            <a:avLst/>
          </a:prstGeom>
          <a:noFill/>
          <a:ln/>
        </p:spPr>
        <p:txBody>
          <a:bodyPr wrap="square" lIns="0" tIns="0" rIns="0" bIns="0" rtlCol="0" anchor="ctr"/>
          <a:lstStyle/>
          <a:p>
            <a:pPr indent="0" marL="0">
              <a:buNone/>
            </a:pPr>
            <a:r>
              <a:rPr lang="en-US" sz="900" dirty="0">
                <a:solidFill>
                  <a:schemeClr val="accent6"/>
                </a:solidFill>
              </a:rPr>
              <a:t>Las etapas activas tienen dos carriles, </a:t>
            </a:r>
            <a:pPr indent="0" marL="0">
              <a:buNone/>
            </a:pPr>
            <a:r>
              <a:rPr lang="en-US" sz="900" i="1" dirty="0">
                <a:solidFill>
                  <a:schemeClr val="accent6"/>
                </a:solidFill>
              </a:rPr>
              <a:t>en curso</a:t>
            </a:r>
            <a:pPr indent="0" marL="0">
              <a:buNone/>
            </a:pPr>
            <a:r>
              <a:rPr lang="en-US" sz="900" dirty="0">
                <a:solidFill>
                  <a:schemeClr val="accent6"/>
                </a:solidFill>
              </a:rPr>
              <a:t> y </a:t>
            </a:r>
            <a:pPr indent="0" marL="0">
              <a:buNone/>
            </a:pPr>
            <a:r>
              <a:rPr lang="en-US" sz="900" i="1" dirty="0">
                <a:solidFill>
                  <a:schemeClr val="accent6"/>
                </a:solidFill>
              </a:rPr>
              <a:t>terminado, esperando siguiente etapa</a:t>
            </a:r>
            <a:pPr indent="0" marL="0">
              <a:buNone/>
            </a:pPr>
            <a:r>
              <a:rPr lang="en-US" sz="900" dirty="0">
                <a:solidFill>
                  <a:schemeClr val="accent6"/>
                </a:solidFill>
              </a:rPr>
              <a:t>, para ver dónde se forma cola.</a:t>
            </a:r>
            <a:endParaRPr lang="en-US" sz="900" dirty="0"/>
          </a:p>
        </p:txBody>
      </p:sp>
      <p:sp>
        <p:nvSpPr>
          <p:cNvPr id="65" name="Shape 62"/>
          <p:cNvSpPr/>
          <p:nvPr/>
        </p:nvSpPr>
        <p:spPr>
          <a:xfrm>
            <a:off x="7406640" y="3310128"/>
            <a:ext cx="237744" cy="118872"/>
          </a:xfrm>
          <a:prstGeom prst="roundRect">
            <a:avLst>
              <a:gd name="adj" fmla="val 23077"/>
            </a:avLst>
          </a:prstGeom>
          <a:solidFill>
            <a:schemeClr val="accent3"/>
          </a:solidFill>
          <a:ln w="12700">
            <a:solidFill>
              <a:schemeClr val="accent3"/>
            </a:solidFill>
            <a:prstDash val="solid"/>
          </a:ln>
        </p:spPr>
      </p:sp>
      <p:sp>
        <p:nvSpPr>
          <p:cNvPr id="66" name="Text 63"/>
          <p:cNvSpPr txBox="1"/>
          <p:nvPr/>
        </p:nvSpPr>
        <p:spPr>
          <a:xfrm>
            <a:off x="7699248" y="3246120"/>
            <a:ext cx="1463040" cy="256032"/>
          </a:xfrm>
          <a:prstGeom prst="rect">
            <a:avLst/>
          </a:prstGeom>
          <a:noFill/>
          <a:ln/>
        </p:spPr>
        <p:txBody>
          <a:bodyPr wrap="square" lIns="0" tIns="0" rIns="0" bIns="0" rtlCol="0" anchor="ctr"/>
          <a:lstStyle/>
          <a:p>
            <a:pPr indent="0" marL="0">
              <a:buNone/>
            </a:pPr>
            <a:r>
              <a:rPr lang="en-US" sz="900" dirty="0">
                <a:solidFill>
                  <a:schemeClr val="accent6"/>
                </a:solidFill>
              </a:rPr>
              <a:t>Lidera SURA</a:t>
            </a:r>
            <a:endParaRPr lang="en-US" sz="900" dirty="0"/>
          </a:p>
        </p:txBody>
      </p:sp>
      <p:sp>
        <p:nvSpPr>
          <p:cNvPr id="67" name="Shape 64"/>
          <p:cNvSpPr/>
          <p:nvPr/>
        </p:nvSpPr>
        <p:spPr>
          <a:xfrm>
            <a:off x="8549640" y="3310128"/>
            <a:ext cx="237744" cy="118872"/>
          </a:xfrm>
          <a:prstGeom prst="roundRect">
            <a:avLst>
              <a:gd name="adj" fmla="val 23077"/>
            </a:avLst>
          </a:prstGeom>
          <a:solidFill>
            <a:schemeClr val="accent1"/>
          </a:solidFill>
          <a:ln w="12700">
            <a:solidFill>
              <a:schemeClr val="accent1"/>
            </a:solidFill>
            <a:prstDash val="solid"/>
          </a:ln>
        </p:spPr>
      </p:sp>
      <p:sp>
        <p:nvSpPr>
          <p:cNvPr id="68" name="Text 65"/>
          <p:cNvSpPr txBox="1"/>
          <p:nvPr/>
        </p:nvSpPr>
        <p:spPr>
          <a:xfrm>
            <a:off x="8842248" y="3246120"/>
            <a:ext cx="1463040" cy="256032"/>
          </a:xfrm>
          <a:prstGeom prst="rect">
            <a:avLst/>
          </a:prstGeom>
          <a:noFill/>
          <a:ln/>
        </p:spPr>
        <p:txBody>
          <a:bodyPr wrap="square" lIns="0" tIns="0" rIns="0" bIns="0" rtlCol="0" anchor="ctr"/>
          <a:lstStyle/>
          <a:p>
            <a:pPr indent="0" marL="0">
              <a:buNone/>
            </a:pPr>
            <a:r>
              <a:rPr lang="en-US" sz="900" dirty="0">
                <a:solidFill>
                  <a:schemeClr val="accent6"/>
                </a:solidFill>
              </a:rPr>
              <a:t>Lidera Tech and Solve</a:t>
            </a:r>
            <a:endParaRPr lang="en-US" sz="900" dirty="0"/>
          </a:p>
        </p:txBody>
      </p:sp>
      <p:sp>
        <p:nvSpPr>
          <p:cNvPr id="69" name="Shape 66"/>
          <p:cNvSpPr/>
          <p:nvPr/>
        </p:nvSpPr>
        <p:spPr>
          <a:xfrm>
            <a:off x="10195560" y="3310128"/>
            <a:ext cx="237744" cy="118872"/>
          </a:xfrm>
          <a:prstGeom prst="roundRect">
            <a:avLst>
              <a:gd name="adj" fmla="val 23077"/>
            </a:avLst>
          </a:prstGeom>
          <a:solidFill>
            <a:schemeClr val="accent2"/>
          </a:solidFill>
          <a:ln w="12700">
            <a:solidFill>
              <a:schemeClr val="accent2"/>
            </a:solidFill>
            <a:prstDash val="solid"/>
          </a:ln>
        </p:spPr>
      </p:sp>
      <p:sp>
        <p:nvSpPr>
          <p:cNvPr id="70" name="Text 67"/>
          <p:cNvSpPr txBox="1"/>
          <p:nvPr/>
        </p:nvSpPr>
        <p:spPr>
          <a:xfrm>
            <a:off x="10488168" y="3246120"/>
            <a:ext cx="1463040" cy="256032"/>
          </a:xfrm>
          <a:prstGeom prst="rect">
            <a:avLst/>
          </a:prstGeom>
          <a:noFill/>
          <a:ln/>
        </p:spPr>
        <p:txBody>
          <a:bodyPr wrap="square" lIns="0" tIns="0" rIns="0" bIns="0" rtlCol="0" anchor="ctr"/>
          <a:lstStyle/>
          <a:p>
            <a:pPr indent="0" marL="0">
              <a:buNone/>
            </a:pPr>
            <a:r>
              <a:rPr lang="en-US" sz="900" dirty="0">
                <a:solidFill>
                  <a:schemeClr val="accent6"/>
                </a:solidFill>
              </a:rPr>
              <a:t>En conjunto</a:t>
            </a:r>
            <a:endParaRPr lang="en-US" sz="900" dirty="0"/>
          </a:p>
        </p:txBody>
      </p:sp>
      <p:sp>
        <p:nvSpPr>
          <p:cNvPr id="71" name="Shape 68"/>
          <p:cNvSpPr/>
          <p:nvPr/>
        </p:nvSpPr>
        <p:spPr>
          <a:xfrm>
            <a:off x="548640" y="3611880"/>
            <a:ext cx="11064240" cy="457200"/>
          </a:xfrm>
          <a:prstGeom prst="roundRect">
            <a:avLst>
              <a:gd name="adj" fmla="val 16000"/>
            </a:avLst>
          </a:prstGeom>
          <a:solidFill>
            <a:schemeClr val="tx2"/>
          </a:solidFill>
          <a:ln w="12700">
            <a:solidFill>
              <a:schemeClr val="tx2"/>
            </a:solidFill>
            <a:prstDash val="solid"/>
          </a:ln>
        </p:spPr>
      </p:sp>
      <p:sp>
        <p:nvSpPr>
          <p:cNvPr id="72" name="Text 69"/>
          <p:cNvSpPr txBox="1"/>
          <p:nvPr/>
        </p:nvSpPr>
        <p:spPr>
          <a:xfrm>
            <a:off x="777240" y="3611880"/>
            <a:ext cx="10607040" cy="457200"/>
          </a:xfrm>
          <a:prstGeom prst="rect">
            <a:avLst/>
          </a:prstGeom>
          <a:noFill/>
          <a:ln/>
        </p:spPr>
        <p:txBody>
          <a:bodyPr wrap="square" lIns="0" tIns="0" rIns="0" bIns="0" rtlCol="0" anchor="ctr"/>
          <a:lstStyle/>
          <a:p>
            <a:pPr indent="0" marL="0">
              <a:buNone/>
            </a:pPr>
            <a:r>
              <a:rPr lang="en-US" sz="1300" b="1" dirty="0">
                <a:solidFill>
                  <a:schemeClr val="bg1"/>
                </a:solidFill>
              </a:rPr>
              <a:t>Si una etapa llega a su límite, </a:t>
            </a:r>
            <a:pPr indent="0" marL="0">
              <a:buNone/>
            </a:pPr>
            <a:r>
              <a:rPr lang="en-US" sz="1300" dirty="0">
                <a:solidFill>
                  <a:schemeClr val="bg1"/>
                </a:solidFill>
              </a:rPr>
              <a:t>el equipo ayuda a despejarla antes de tomar trabajo nuevo.</a:t>
            </a:r>
            <a:endParaRPr lang="en-US" sz="1300" dirty="0"/>
          </a:p>
        </p:txBody>
      </p:sp>
      <p:sp>
        <p:nvSpPr>
          <p:cNvPr id="73" name="Shape 70"/>
          <p:cNvSpPr/>
          <p:nvPr/>
        </p:nvSpPr>
        <p:spPr>
          <a:xfrm>
            <a:off x="548640" y="4206240"/>
            <a:ext cx="4800600" cy="2011680"/>
          </a:xfrm>
          <a:prstGeom prst="roundRect">
            <a:avLst>
              <a:gd name="adj" fmla="val 3636"/>
            </a:avLst>
          </a:prstGeom>
          <a:solidFill>
            <a:schemeClr val="accent4"/>
          </a:solidFill>
          <a:ln w="12700">
            <a:solidFill>
              <a:srgbClr val="DCD8EC"/>
            </a:solidFill>
            <a:prstDash val="solid"/>
          </a:ln>
        </p:spPr>
      </p:sp>
      <p:sp>
        <p:nvSpPr>
          <p:cNvPr id="74" name="Text 71"/>
          <p:cNvSpPr txBox="1"/>
          <p:nvPr/>
        </p:nvSpPr>
        <p:spPr>
          <a:xfrm>
            <a:off x="749808" y="4279392"/>
            <a:ext cx="4398264" cy="310896"/>
          </a:xfrm>
          <a:prstGeom prst="rect">
            <a:avLst/>
          </a:prstGeom>
          <a:noFill/>
          <a:ln/>
        </p:spPr>
        <p:txBody>
          <a:bodyPr wrap="square" lIns="0" tIns="0" rIns="0" bIns="0" rtlCol="0" anchor="t"/>
          <a:lstStyle/>
          <a:p>
            <a:pPr indent="0" marL="0">
              <a:buNone/>
            </a:pPr>
            <a:r>
              <a:rPr lang="en-US" sz="1350" b="1" dirty="0">
                <a:solidFill>
                  <a:schemeClr val="tx2"/>
                </a:solidFill>
              </a:rPr>
              <a:t>Bloqueos</a:t>
            </a:r>
            <a:endParaRPr lang="en-US" sz="1350" dirty="0"/>
          </a:p>
        </p:txBody>
      </p:sp>
      <p:sp>
        <p:nvSpPr>
          <p:cNvPr id="75" name="Text 72"/>
          <p:cNvSpPr txBox="1"/>
          <p:nvPr/>
        </p:nvSpPr>
        <p:spPr>
          <a:xfrm>
            <a:off x="749808" y="4617720"/>
            <a:ext cx="4398264" cy="868680"/>
          </a:xfrm>
          <a:prstGeom prst="rect">
            <a:avLst/>
          </a:prstGeom>
          <a:noFill/>
          <a:ln/>
        </p:spPr>
        <p:txBody>
          <a:bodyPr wrap="square" lIns="0" tIns="0" rIns="0" bIns="0" rtlCol="0" anchor="t"/>
          <a:lstStyle/>
          <a:p>
            <a:pPr indent="0" marL="0">
              <a:buNone/>
            </a:pPr>
            <a:r>
              <a:rPr lang="en-US" sz="1050" dirty="0">
                <a:solidFill>
                  <a:schemeClr val="tx1"/>
                </a:solidFill>
              </a:rPr>
              <a:t>Cada tarjeta bloqueada se marca con su </a:t>
            </a:r>
            <a:pPr indent="0" marL="0">
              <a:buNone/>
            </a:pPr>
            <a:r>
              <a:rPr lang="en-US" sz="1050" b="1" dirty="0">
                <a:solidFill>
                  <a:schemeClr val="tx1"/>
                </a:solidFill>
              </a:rPr>
              <a:t>origen</a:t>
            </a:r>
            <a:pPr indent="0" marL="0">
              <a:buNone/>
            </a:pPr>
            <a:r>
              <a:rPr lang="en-US" sz="1050" dirty="0">
                <a:solidFill>
                  <a:schemeClr val="tx1"/>
                </a:solidFill>
              </a:rPr>
              <a:t> (SURA, equipo o tercero), la </a:t>
            </a:r>
            <a:pPr indent="0" marL="0">
              <a:buNone/>
            </a:pPr>
            <a:r>
              <a:rPr lang="en-US" sz="1050" b="1" dirty="0">
                <a:solidFill>
                  <a:schemeClr val="tx1"/>
                </a:solidFill>
              </a:rPr>
              <a:t>fecha</a:t>
            </a:r>
            <a:pPr indent="0" marL="0">
              <a:buNone/>
            </a:pPr>
            <a:r>
              <a:rPr lang="en-US" sz="1050" dirty="0">
                <a:solidFill>
                  <a:schemeClr val="tx1"/>
                </a:solidFill>
              </a:rPr>
              <a:t> de inicio y el </a:t>
            </a:r>
            <a:pPr indent="0" marL="0">
              <a:buNone/>
            </a:pPr>
            <a:r>
              <a:rPr lang="en-US" sz="1050" b="1" dirty="0">
                <a:solidFill>
                  <a:schemeClr val="tx1"/>
                </a:solidFill>
              </a:rPr>
              <a:t>responsable</a:t>
            </a:r>
            <a:pPr indent="0" marL="0">
              <a:buNone/>
            </a:pPr>
            <a:r>
              <a:rPr lang="en-US" sz="1050" dirty="0">
                <a:solidFill>
                  <a:schemeClr val="tx1"/>
                </a:solidFill>
              </a:rPr>
              <a:t> de resolverlo. Los de SURA se muestran aparte y se tratan en la revisión de flujo.</a:t>
            </a:r>
            <a:endParaRPr lang="en-US" sz="1050" dirty="0"/>
          </a:p>
        </p:txBody>
      </p:sp>
      <p:sp>
        <p:nvSpPr>
          <p:cNvPr id="76" name="Shape 73"/>
          <p:cNvSpPr/>
          <p:nvPr/>
        </p:nvSpPr>
        <p:spPr>
          <a:xfrm>
            <a:off x="749808" y="5532120"/>
            <a:ext cx="4398264" cy="548640"/>
          </a:xfrm>
          <a:prstGeom prst="roundRect">
            <a:avLst>
              <a:gd name="adj" fmla="val 10000"/>
            </a:avLst>
          </a:prstGeom>
          <a:solidFill>
            <a:srgbClr val="F7EEDF"/>
          </a:solidFill>
          <a:ln w="15875">
            <a:solidFill>
              <a:schemeClr val="accent2"/>
            </a:solidFill>
            <a:prstDash val="solid"/>
          </a:ln>
        </p:spPr>
      </p:sp>
      <p:sp>
        <p:nvSpPr>
          <p:cNvPr id="77" name="Text 74"/>
          <p:cNvSpPr txBox="1"/>
          <p:nvPr/>
        </p:nvSpPr>
        <p:spPr>
          <a:xfrm>
            <a:off x="868680" y="5532120"/>
            <a:ext cx="4160520" cy="548640"/>
          </a:xfrm>
          <a:prstGeom prst="rect">
            <a:avLst/>
          </a:prstGeom>
          <a:noFill/>
          <a:ln/>
        </p:spPr>
        <p:txBody>
          <a:bodyPr wrap="square" lIns="0" tIns="0" rIns="0" bIns="0" rtlCol="0" anchor="ctr"/>
          <a:lstStyle/>
          <a:p>
            <a:pPr indent="0" marL="0">
              <a:buNone/>
            </a:pPr>
            <a:r>
              <a:rPr lang="en-US" sz="950" b="1" dirty="0">
                <a:solidFill>
                  <a:schemeClr val="tx2"/>
                </a:solidFill>
              </a:rPr>
              <a:t>C-09 · LLM-as-a-judge</a:t>
            </a:r>
            <a:endParaRPr lang="en-US" sz="950" dirty="0"/>
          </a:p>
          <a:p>
            <a:pPr indent="0" marL="0">
              <a:buNone/>
            </a:pPr>
            <a:r>
              <a:rPr lang="en-US" sz="950" b="1" dirty="0">
                <a:solidFill>
                  <a:schemeClr val="accent2"/>
                </a:solidFill>
              </a:rPr>
              <a:t>Origen: SURA</a:t>
            </a:r>
            <a:pPr indent="0" marL="0">
              <a:buNone/>
            </a:pPr>
            <a:r>
              <a:rPr lang="en-US" sz="950" dirty="0">
                <a:solidFill>
                  <a:schemeClr val="tx1"/>
                </a:solidFill>
              </a:rPr>
              <a:t> · lleva 3 días · responsable: líder funcional</a:t>
            </a:r>
            <a:endParaRPr lang="en-US" sz="950" dirty="0"/>
          </a:p>
        </p:txBody>
      </p:sp>
      <p:sp>
        <p:nvSpPr>
          <p:cNvPr id="78" name="Shape 75"/>
          <p:cNvSpPr/>
          <p:nvPr/>
        </p:nvSpPr>
        <p:spPr>
          <a:xfrm>
            <a:off x="5532120" y="4206240"/>
            <a:ext cx="6080760" cy="2011680"/>
          </a:xfrm>
          <a:prstGeom prst="roundRect">
            <a:avLst>
              <a:gd name="adj" fmla="val 3636"/>
            </a:avLst>
          </a:prstGeom>
          <a:solidFill>
            <a:schemeClr val="accent4"/>
          </a:solidFill>
          <a:ln w="12700">
            <a:solidFill>
              <a:srgbClr val="DCD8EC"/>
            </a:solidFill>
            <a:prstDash val="solid"/>
          </a:ln>
        </p:spPr>
      </p:sp>
      <p:sp>
        <p:nvSpPr>
          <p:cNvPr id="79" name="Text 76"/>
          <p:cNvSpPr txBox="1"/>
          <p:nvPr/>
        </p:nvSpPr>
        <p:spPr>
          <a:xfrm>
            <a:off x="5733288" y="4279392"/>
            <a:ext cx="5678424" cy="310896"/>
          </a:xfrm>
          <a:prstGeom prst="rect">
            <a:avLst/>
          </a:prstGeom>
          <a:noFill/>
          <a:ln/>
        </p:spPr>
        <p:txBody>
          <a:bodyPr wrap="square" lIns="0" tIns="0" rIns="0" bIns="0" rtlCol="0" anchor="t"/>
          <a:lstStyle/>
          <a:p>
            <a:pPr indent="0" marL="0">
              <a:buNone/>
            </a:pPr>
            <a:r>
              <a:rPr lang="en-US" sz="1350" b="1" dirty="0">
                <a:solidFill>
                  <a:schemeClr val="tx2"/>
                </a:solidFill>
              </a:rPr>
              <a:t>Indicadores</a:t>
            </a:r>
            <a:endParaRPr lang="en-US" sz="1350" dirty="0"/>
          </a:p>
        </p:txBody>
      </p:sp>
      <p:sp>
        <p:nvSpPr>
          <p:cNvPr id="80" name="Shape 77"/>
          <p:cNvSpPr/>
          <p:nvPr/>
        </p:nvSpPr>
        <p:spPr>
          <a:xfrm>
            <a:off x="5733288" y="4663440"/>
            <a:ext cx="2784348" cy="457200"/>
          </a:xfrm>
          <a:prstGeom prst="roundRect">
            <a:avLst>
              <a:gd name="adj" fmla="val 12000"/>
            </a:avLst>
          </a:prstGeom>
          <a:solidFill>
            <a:schemeClr val="bg2"/>
          </a:solidFill>
          <a:ln w="12700">
            <a:solidFill>
              <a:schemeClr val="bg2"/>
            </a:solidFill>
            <a:prstDash val="solid"/>
          </a:ln>
        </p:spPr>
      </p:sp>
      <p:sp>
        <p:nvSpPr>
          <p:cNvPr id="81" name="Shape 78"/>
          <p:cNvSpPr/>
          <p:nvPr/>
        </p:nvSpPr>
        <p:spPr>
          <a:xfrm>
            <a:off x="5806440" y="4764024"/>
            <a:ext cx="256032" cy="256032"/>
          </a:xfrm>
          <a:prstGeom prst="ellipse">
            <a:avLst/>
          </a:prstGeom>
          <a:solidFill>
            <a:schemeClr val="accent1"/>
          </a:solidFill>
          <a:ln w="12700">
            <a:solidFill>
              <a:schemeClr val="accent1"/>
            </a:solidFill>
            <a:prstDash val="solid"/>
          </a:ln>
        </p:spPr>
      </p:sp>
      <p:sp>
        <p:nvSpPr>
          <p:cNvPr id="82" name="Text 79"/>
          <p:cNvSpPr txBox="1"/>
          <p:nvPr/>
        </p:nvSpPr>
        <p:spPr>
          <a:xfrm>
            <a:off x="5806440" y="4764024"/>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83" name="Text 80"/>
          <p:cNvSpPr txBox="1"/>
          <p:nvPr/>
        </p:nvSpPr>
        <p:spPr>
          <a:xfrm>
            <a:off x="6117336" y="4663440"/>
            <a:ext cx="2327148" cy="457200"/>
          </a:xfrm>
          <a:prstGeom prst="rect">
            <a:avLst/>
          </a:prstGeom>
          <a:noFill/>
          <a:ln/>
        </p:spPr>
        <p:txBody>
          <a:bodyPr wrap="square" lIns="0" tIns="0" rIns="0" bIns="0" rtlCol="0" anchor="ctr"/>
          <a:lstStyle/>
          <a:p>
            <a:pPr indent="0" marL="0">
              <a:buNone/>
            </a:pPr>
            <a:r>
              <a:rPr lang="en-US" sz="950" dirty="0">
                <a:solidFill>
                  <a:schemeClr val="tx1"/>
                </a:solidFill>
              </a:rPr>
              <a:t>Trabajo en curso por etapa y su antigüedad en días</a:t>
            </a:r>
            <a:endParaRPr lang="en-US" sz="950" dirty="0"/>
          </a:p>
        </p:txBody>
      </p:sp>
      <p:sp>
        <p:nvSpPr>
          <p:cNvPr id="84" name="Shape 81"/>
          <p:cNvSpPr/>
          <p:nvPr/>
        </p:nvSpPr>
        <p:spPr>
          <a:xfrm>
            <a:off x="8627364" y="4663440"/>
            <a:ext cx="2784348" cy="457200"/>
          </a:xfrm>
          <a:prstGeom prst="roundRect">
            <a:avLst>
              <a:gd name="adj" fmla="val 12000"/>
            </a:avLst>
          </a:prstGeom>
          <a:solidFill>
            <a:schemeClr val="bg2"/>
          </a:solidFill>
          <a:ln w="12700">
            <a:solidFill>
              <a:schemeClr val="bg2"/>
            </a:solidFill>
            <a:prstDash val="solid"/>
          </a:ln>
        </p:spPr>
      </p:sp>
      <p:sp>
        <p:nvSpPr>
          <p:cNvPr id="85" name="Shape 82"/>
          <p:cNvSpPr/>
          <p:nvPr/>
        </p:nvSpPr>
        <p:spPr>
          <a:xfrm>
            <a:off x="8700516" y="4764024"/>
            <a:ext cx="256032" cy="256032"/>
          </a:xfrm>
          <a:prstGeom prst="ellipse">
            <a:avLst/>
          </a:prstGeom>
          <a:solidFill>
            <a:schemeClr val="accent1"/>
          </a:solidFill>
          <a:ln w="12700">
            <a:solidFill>
              <a:schemeClr val="accent1"/>
            </a:solidFill>
            <a:prstDash val="solid"/>
          </a:ln>
        </p:spPr>
      </p:sp>
      <p:sp>
        <p:nvSpPr>
          <p:cNvPr id="86" name="Text 83"/>
          <p:cNvSpPr txBox="1"/>
          <p:nvPr/>
        </p:nvSpPr>
        <p:spPr>
          <a:xfrm>
            <a:off x="8700516" y="4764024"/>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87" name="Text 84"/>
          <p:cNvSpPr txBox="1"/>
          <p:nvPr/>
        </p:nvSpPr>
        <p:spPr>
          <a:xfrm>
            <a:off x="9011412" y="4663440"/>
            <a:ext cx="2327148" cy="457200"/>
          </a:xfrm>
          <a:prstGeom prst="rect">
            <a:avLst/>
          </a:prstGeom>
          <a:noFill/>
          <a:ln/>
        </p:spPr>
        <p:txBody>
          <a:bodyPr wrap="square" lIns="0" tIns="0" rIns="0" bIns="0" rtlCol="0" anchor="ctr"/>
          <a:lstStyle/>
          <a:p>
            <a:pPr indent="0" marL="0">
              <a:buNone/>
            </a:pPr>
            <a:r>
              <a:rPr lang="en-US" sz="950" dirty="0">
                <a:solidFill>
                  <a:schemeClr val="tx1"/>
                </a:solidFill>
              </a:rPr>
              <a:t>Capacidades liberadas por semana</a:t>
            </a:r>
            <a:endParaRPr lang="en-US" sz="950" dirty="0"/>
          </a:p>
        </p:txBody>
      </p:sp>
      <p:sp>
        <p:nvSpPr>
          <p:cNvPr id="88" name="Shape 85"/>
          <p:cNvSpPr/>
          <p:nvPr/>
        </p:nvSpPr>
        <p:spPr>
          <a:xfrm>
            <a:off x="5733288" y="5193792"/>
            <a:ext cx="2784348" cy="457200"/>
          </a:xfrm>
          <a:prstGeom prst="roundRect">
            <a:avLst>
              <a:gd name="adj" fmla="val 12000"/>
            </a:avLst>
          </a:prstGeom>
          <a:solidFill>
            <a:schemeClr val="bg2"/>
          </a:solidFill>
          <a:ln w="12700">
            <a:solidFill>
              <a:schemeClr val="bg2"/>
            </a:solidFill>
            <a:prstDash val="solid"/>
          </a:ln>
        </p:spPr>
      </p:sp>
      <p:sp>
        <p:nvSpPr>
          <p:cNvPr id="89" name="Shape 86"/>
          <p:cNvSpPr/>
          <p:nvPr/>
        </p:nvSpPr>
        <p:spPr>
          <a:xfrm>
            <a:off x="5806440" y="5294376"/>
            <a:ext cx="256032" cy="256032"/>
          </a:xfrm>
          <a:prstGeom prst="ellipse">
            <a:avLst/>
          </a:prstGeom>
          <a:solidFill>
            <a:schemeClr val="accent1"/>
          </a:solidFill>
          <a:ln w="12700">
            <a:solidFill>
              <a:schemeClr val="accent1"/>
            </a:solidFill>
            <a:prstDash val="solid"/>
          </a:ln>
        </p:spPr>
      </p:sp>
      <p:sp>
        <p:nvSpPr>
          <p:cNvPr id="90" name="Text 87"/>
          <p:cNvSpPr txBox="1"/>
          <p:nvPr/>
        </p:nvSpPr>
        <p:spPr>
          <a:xfrm>
            <a:off x="5806440" y="5294376"/>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91" name="Text 88"/>
          <p:cNvSpPr txBox="1"/>
          <p:nvPr/>
        </p:nvSpPr>
        <p:spPr>
          <a:xfrm>
            <a:off x="6117336" y="5193792"/>
            <a:ext cx="2327148" cy="457200"/>
          </a:xfrm>
          <a:prstGeom prst="rect">
            <a:avLst/>
          </a:prstGeom>
          <a:noFill/>
          <a:ln/>
        </p:spPr>
        <p:txBody>
          <a:bodyPr wrap="square" lIns="0" tIns="0" rIns="0" bIns="0" rtlCol="0" anchor="ctr"/>
          <a:lstStyle/>
          <a:p>
            <a:pPr indent="0" marL="0">
              <a:buNone/>
            </a:pPr>
            <a:r>
              <a:rPr lang="en-US" sz="950" dirty="0">
                <a:solidFill>
                  <a:schemeClr val="tx1"/>
                </a:solidFill>
              </a:rPr>
              <a:t>Tiempo de ciclo, de «lista para construir» a «liberada»</a:t>
            </a:r>
            <a:endParaRPr lang="en-US" sz="950" dirty="0"/>
          </a:p>
        </p:txBody>
      </p:sp>
      <p:sp>
        <p:nvSpPr>
          <p:cNvPr id="92" name="Shape 89"/>
          <p:cNvSpPr/>
          <p:nvPr/>
        </p:nvSpPr>
        <p:spPr>
          <a:xfrm>
            <a:off x="8627364" y="5193792"/>
            <a:ext cx="2784348" cy="457200"/>
          </a:xfrm>
          <a:prstGeom prst="roundRect">
            <a:avLst>
              <a:gd name="adj" fmla="val 12000"/>
            </a:avLst>
          </a:prstGeom>
          <a:solidFill>
            <a:schemeClr val="bg2"/>
          </a:solidFill>
          <a:ln w="12700">
            <a:solidFill>
              <a:schemeClr val="bg2"/>
            </a:solidFill>
            <a:prstDash val="solid"/>
          </a:ln>
        </p:spPr>
      </p:sp>
      <p:sp>
        <p:nvSpPr>
          <p:cNvPr id="93" name="Shape 90"/>
          <p:cNvSpPr/>
          <p:nvPr/>
        </p:nvSpPr>
        <p:spPr>
          <a:xfrm>
            <a:off x="8700516" y="5294376"/>
            <a:ext cx="256032" cy="256032"/>
          </a:xfrm>
          <a:prstGeom prst="ellipse">
            <a:avLst/>
          </a:prstGeom>
          <a:solidFill>
            <a:schemeClr val="accent1"/>
          </a:solidFill>
          <a:ln w="12700">
            <a:solidFill>
              <a:schemeClr val="accent1"/>
            </a:solidFill>
            <a:prstDash val="solid"/>
          </a:ln>
        </p:spPr>
      </p:sp>
      <p:sp>
        <p:nvSpPr>
          <p:cNvPr id="94" name="Text 91"/>
          <p:cNvSpPr txBox="1"/>
          <p:nvPr/>
        </p:nvSpPr>
        <p:spPr>
          <a:xfrm>
            <a:off x="8700516" y="5294376"/>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4</a:t>
            </a:r>
            <a:endParaRPr lang="en-US" sz="900" dirty="0"/>
          </a:p>
        </p:txBody>
      </p:sp>
      <p:sp>
        <p:nvSpPr>
          <p:cNvPr id="95" name="Text 92"/>
          <p:cNvSpPr txBox="1"/>
          <p:nvPr/>
        </p:nvSpPr>
        <p:spPr>
          <a:xfrm>
            <a:off x="9011412" y="5193792"/>
            <a:ext cx="2327148" cy="457200"/>
          </a:xfrm>
          <a:prstGeom prst="rect">
            <a:avLst/>
          </a:prstGeom>
          <a:noFill/>
          <a:ln/>
        </p:spPr>
        <p:txBody>
          <a:bodyPr wrap="square" lIns="0" tIns="0" rIns="0" bIns="0" rtlCol="0" anchor="ctr"/>
          <a:lstStyle/>
          <a:p>
            <a:pPr indent="0" marL="0">
              <a:buNone/>
            </a:pPr>
            <a:r>
              <a:rPr lang="en-US" sz="950" dirty="0">
                <a:solidFill>
                  <a:schemeClr val="tx1"/>
                </a:solidFill>
              </a:rPr>
              <a:t>Tiempo bloqueado por origen</a:t>
            </a:r>
            <a:endParaRPr lang="en-US" sz="950" dirty="0"/>
          </a:p>
        </p:txBody>
      </p:sp>
      <p:sp>
        <p:nvSpPr>
          <p:cNvPr id="96" name="Shape 93"/>
          <p:cNvSpPr/>
          <p:nvPr/>
        </p:nvSpPr>
        <p:spPr>
          <a:xfrm>
            <a:off x="5733288" y="5724144"/>
            <a:ext cx="2784348" cy="457200"/>
          </a:xfrm>
          <a:prstGeom prst="roundRect">
            <a:avLst>
              <a:gd name="adj" fmla="val 12000"/>
            </a:avLst>
          </a:prstGeom>
          <a:solidFill>
            <a:schemeClr val="bg2"/>
          </a:solidFill>
          <a:ln w="12700">
            <a:solidFill>
              <a:schemeClr val="bg2"/>
            </a:solidFill>
            <a:prstDash val="solid"/>
          </a:ln>
        </p:spPr>
      </p:sp>
      <p:sp>
        <p:nvSpPr>
          <p:cNvPr id="97" name="Shape 94"/>
          <p:cNvSpPr/>
          <p:nvPr/>
        </p:nvSpPr>
        <p:spPr>
          <a:xfrm>
            <a:off x="5806440" y="5824728"/>
            <a:ext cx="256032" cy="256032"/>
          </a:xfrm>
          <a:prstGeom prst="ellipse">
            <a:avLst/>
          </a:prstGeom>
          <a:solidFill>
            <a:schemeClr val="accent1"/>
          </a:solidFill>
          <a:ln w="12700">
            <a:solidFill>
              <a:schemeClr val="accent1"/>
            </a:solidFill>
            <a:prstDash val="solid"/>
          </a:ln>
        </p:spPr>
      </p:sp>
      <p:sp>
        <p:nvSpPr>
          <p:cNvPr id="98" name="Text 95"/>
          <p:cNvSpPr txBox="1"/>
          <p:nvPr/>
        </p:nvSpPr>
        <p:spPr>
          <a:xfrm>
            <a:off x="5806440" y="5824728"/>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5</a:t>
            </a:r>
            <a:endParaRPr lang="en-US" sz="900" dirty="0"/>
          </a:p>
        </p:txBody>
      </p:sp>
      <p:sp>
        <p:nvSpPr>
          <p:cNvPr id="99" name="Text 96"/>
          <p:cNvSpPr txBox="1"/>
          <p:nvPr/>
        </p:nvSpPr>
        <p:spPr>
          <a:xfrm>
            <a:off x="6117336" y="5724144"/>
            <a:ext cx="2327148" cy="457200"/>
          </a:xfrm>
          <a:prstGeom prst="rect">
            <a:avLst/>
          </a:prstGeom>
          <a:noFill/>
          <a:ln/>
        </p:spPr>
        <p:txBody>
          <a:bodyPr wrap="square" lIns="0" tIns="0" rIns="0" bIns="0" rtlCol="0" anchor="ctr"/>
          <a:lstStyle/>
          <a:p>
            <a:pPr indent="0" marL="0">
              <a:buNone/>
            </a:pPr>
            <a:r>
              <a:rPr lang="en-US" sz="950" dirty="0">
                <a:solidFill>
                  <a:schemeClr val="tx1"/>
                </a:solidFill>
              </a:rPr>
              <a:t>Tasa de rechazo en certificación</a:t>
            </a:r>
            <a:endParaRPr lang="en-US" sz="9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Tablero de gestión, un ejemplo: qué lidera SURA, qué lidera Tech and Solve y qué hacemos en conjunto</a:t>
            </a:r>
            <a:endParaRPr lang="en-US" sz="2800" dirty="0"/>
          </a:p>
        </p:txBody>
      </p:sp>
      <p:sp>
        <p:nvSpPr>
          <p:cNvPr id="4" name="Shape 1"/>
          <p:cNvSpPr/>
          <p:nvPr/>
        </p:nvSpPr>
        <p:spPr>
          <a:xfrm>
            <a:off x="567393" y="1409106"/>
            <a:ext cx="206282" cy="140647"/>
          </a:xfrm>
          <a:prstGeom prst="roundRect">
            <a:avLst>
              <a:gd name="adj" fmla="val 13003"/>
            </a:avLst>
          </a:prstGeom>
          <a:solidFill>
            <a:srgbClr val="E8F1ED"/>
          </a:solidFill>
          <a:ln w="15875">
            <a:solidFill>
              <a:schemeClr val="accent3"/>
            </a:solidFill>
            <a:prstDash val="solid"/>
          </a:ln>
        </p:spPr>
      </p:sp>
      <p:sp>
        <p:nvSpPr>
          <p:cNvPr id="5" name="Text 2"/>
          <p:cNvSpPr txBox="1"/>
          <p:nvPr/>
        </p:nvSpPr>
        <p:spPr>
          <a:xfrm>
            <a:off x="848687"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Lidera SURA</a:t>
            </a:r>
            <a:endParaRPr lang="en-US" sz="950" dirty="0"/>
          </a:p>
        </p:txBody>
      </p:sp>
      <p:sp>
        <p:nvSpPr>
          <p:cNvPr id="6" name="Shape 3"/>
          <p:cNvSpPr/>
          <p:nvPr/>
        </p:nvSpPr>
        <p:spPr>
          <a:xfrm>
            <a:off x="1786335" y="1409106"/>
            <a:ext cx="206282" cy="140647"/>
          </a:xfrm>
          <a:prstGeom prst="roundRect">
            <a:avLst>
              <a:gd name="adj" fmla="val 13003"/>
            </a:avLst>
          </a:prstGeom>
          <a:solidFill>
            <a:schemeClr val="accent4"/>
          </a:solidFill>
          <a:ln w="12700">
            <a:solidFill>
              <a:schemeClr val="accent1"/>
            </a:solidFill>
            <a:prstDash val="solid"/>
          </a:ln>
        </p:spPr>
      </p:sp>
      <p:sp>
        <p:nvSpPr>
          <p:cNvPr id="7" name="Text 4"/>
          <p:cNvSpPr txBox="1"/>
          <p:nvPr/>
        </p:nvSpPr>
        <p:spPr>
          <a:xfrm>
            <a:off x="2067629"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Lidera Tech and Solve</a:t>
            </a:r>
            <a:endParaRPr lang="en-US" sz="950" dirty="0"/>
          </a:p>
        </p:txBody>
      </p:sp>
      <p:sp>
        <p:nvSpPr>
          <p:cNvPr id="8" name="Shape 5"/>
          <p:cNvSpPr/>
          <p:nvPr/>
        </p:nvSpPr>
        <p:spPr>
          <a:xfrm>
            <a:off x="3530359" y="1409106"/>
            <a:ext cx="206282" cy="140647"/>
          </a:xfrm>
          <a:prstGeom prst="roundRect">
            <a:avLst>
              <a:gd name="adj" fmla="val 13003"/>
            </a:avLst>
          </a:prstGeom>
          <a:solidFill>
            <a:srgbClr val="F7EEDF"/>
          </a:solidFill>
          <a:ln w="15875">
            <a:solidFill>
              <a:schemeClr val="accent2"/>
            </a:solidFill>
            <a:prstDash val="solid"/>
          </a:ln>
        </p:spPr>
      </p:sp>
      <p:sp>
        <p:nvSpPr>
          <p:cNvPr id="9" name="Text 6"/>
          <p:cNvSpPr txBox="1"/>
          <p:nvPr/>
        </p:nvSpPr>
        <p:spPr>
          <a:xfrm>
            <a:off x="3811653"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En conjunto</a:t>
            </a:r>
            <a:endParaRPr lang="en-US" sz="950" dirty="0"/>
          </a:p>
        </p:txBody>
      </p:sp>
      <p:sp>
        <p:nvSpPr>
          <p:cNvPr id="10" name="Shape 7"/>
          <p:cNvSpPr/>
          <p:nvPr/>
        </p:nvSpPr>
        <p:spPr>
          <a:xfrm>
            <a:off x="4936830" y="1409106"/>
            <a:ext cx="206282" cy="140647"/>
          </a:xfrm>
          <a:prstGeom prst="roundRect">
            <a:avLst>
              <a:gd name="adj" fmla="val 13003"/>
            </a:avLst>
          </a:prstGeom>
          <a:solidFill>
            <a:schemeClr val="bg1"/>
          </a:solidFill>
          <a:ln w="12700">
            <a:solidFill>
              <a:schemeClr val="accent6"/>
            </a:solidFill>
            <a:prstDash val="solid"/>
          </a:ln>
        </p:spPr>
      </p:sp>
      <p:sp>
        <p:nvSpPr>
          <p:cNvPr id="11" name="Text 8"/>
          <p:cNvSpPr txBox="1"/>
          <p:nvPr/>
        </p:nvSpPr>
        <p:spPr>
          <a:xfrm>
            <a:off x="5218124"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En curso</a:t>
            </a:r>
            <a:endParaRPr lang="en-US" sz="950" dirty="0"/>
          </a:p>
        </p:txBody>
      </p:sp>
      <p:sp>
        <p:nvSpPr>
          <p:cNvPr id="12" name="Shape 9"/>
          <p:cNvSpPr/>
          <p:nvPr/>
        </p:nvSpPr>
        <p:spPr>
          <a:xfrm>
            <a:off x="5986995" y="1409106"/>
            <a:ext cx="206282" cy="140647"/>
          </a:xfrm>
          <a:prstGeom prst="roundRect">
            <a:avLst>
              <a:gd name="adj" fmla="val 13003"/>
            </a:avLst>
          </a:prstGeom>
          <a:solidFill>
            <a:schemeClr val="bg1"/>
          </a:solidFill>
          <a:ln w="12700">
            <a:solidFill>
              <a:schemeClr val="accent6"/>
            </a:solidFill>
            <a:prstDash val="dash"/>
          </a:ln>
        </p:spPr>
      </p:sp>
      <p:sp>
        <p:nvSpPr>
          <p:cNvPr id="13" name="Text 10"/>
          <p:cNvSpPr txBox="1"/>
          <p:nvPr/>
        </p:nvSpPr>
        <p:spPr>
          <a:xfrm>
            <a:off x="6268289"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Terminado, esperando siguiente etapa</a:t>
            </a:r>
            <a:endParaRPr lang="en-US" sz="950" dirty="0"/>
          </a:p>
        </p:txBody>
      </p:sp>
      <p:sp>
        <p:nvSpPr>
          <p:cNvPr id="14" name="Shape 11"/>
          <p:cNvSpPr/>
          <p:nvPr/>
        </p:nvSpPr>
        <p:spPr>
          <a:xfrm>
            <a:off x="8912455" y="1409106"/>
            <a:ext cx="206282" cy="140647"/>
          </a:xfrm>
          <a:prstGeom prst="roundRect">
            <a:avLst>
              <a:gd name="adj" fmla="val 13003"/>
            </a:avLst>
          </a:prstGeom>
          <a:solidFill>
            <a:srgbClr val="F7EEDF"/>
          </a:solidFill>
          <a:ln w="12700">
            <a:solidFill>
              <a:schemeClr val="accent2"/>
            </a:solidFill>
            <a:prstDash val="solid"/>
          </a:ln>
        </p:spPr>
      </p:sp>
      <p:sp>
        <p:nvSpPr>
          <p:cNvPr id="15" name="Text 12"/>
          <p:cNvSpPr txBox="1"/>
          <p:nvPr/>
        </p:nvSpPr>
        <p:spPr>
          <a:xfrm>
            <a:off x="9193750" y="1380976"/>
            <a:ext cx="2812942" cy="196906"/>
          </a:xfrm>
          <a:prstGeom prst="rect">
            <a:avLst/>
          </a:prstGeom>
          <a:noFill/>
          <a:ln/>
        </p:spPr>
        <p:txBody>
          <a:bodyPr wrap="square" lIns="0" tIns="0" rIns="0" bIns="0" rtlCol="0" anchor="ctr"/>
          <a:lstStyle/>
          <a:p>
            <a:pPr indent="0" marL="0">
              <a:buNone/>
            </a:pPr>
            <a:r>
              <a:rPr lang="en-US" sz="950" dirty="0">
                <a:solidFill>
                  <a:schemeClr val="accent6"/>
                </a:solidFill>
              </a:rPr>
              <a:t>Bloqueada</a:t>
            </a:r>
            <a:endParaRPr lang="en-US" sz="950" dirty="0"/>
          </a:p>
        </p:txBody>
      </p:sp>
      <p:sp>
        <p:nvSpPr>
          <p:cNvPr id="16" name="Shape 13"/>
          <p:cNvSpPr/>
          <p:nvPr/>
        </p:nvSpPr>
        <p:spPr>
          <a:xfrm>
            <a:off x="567393" y="1690400"/>
            <a:ext cx="1350212" cy="3281766"/>
          </a:xfrm>
          <a:prstGeom prst="roundRect">
            <a:avLst>
              <a:gd name="adj" fmla="val 4063"/>
            </a:avLst>
          </a:prstGeom>
          <a:solidFill>
            <a:srgbClr val="E8F1ED"/>
          </a:solidFill>
          <a:ln w="15875">
            <a:solidFill>
              <a:schemeClr val="accent3"/>
            </a:solidFill>
            <a:prstDash val="solid"/>
          </a:ln>
        </p:spPr>
      </p:sp>
      <p:sp>
        <p:nvSpPr>
          <p:cNvPr id="17" name="Text 14"/>
          <p:cNvSpPr txBox="1"/>
          <p:nvPr/>
        </p:nvSpPr>
        <p:spPr>
          <a:xfrm>
            <a:off x="642405" y="1727906"/>
            <a:ext cx="1237695" cy="506330"/>
          </a:xfrm>
          <a:prstGeom prst="rect">
            <a:avLst/>
          </a:prstGeom>
          <a:noFill/>
          <a:ln/>
        </p:spPr>
        <p:txBody>
          <a:bodyPr wrap="square" lIns="0" tIns="0" rIns="0" bIns="0" rtlCol="0" anchor="ctr"/>
          <a:lstStyle/>
          <a:p>
            <a:pPr indent="0" marL="0">
              <a:buNone/>
            </a:pPr>
            <a:r>
              <a:rPr lang="en-US" sz="800" b="1" dirty="0">
                <a:solidFill>
                  <a:schemeClr val="accent3"/>
                </a:solidFill>
              </a:rPr>
              <a:t>Lidera SURA</a:t>
            </a:r>
            <a:endParaRPr lang="en-US" sz="950" dirty="0"/>
          </a:p>
          <a:p>
            <a:pPr indent="0" marL="0">
              <a:buNone/>
            </a:pPr>
            <a:r>
              <a:rPr lang="en-US" sz="950" b="1" dirty="0">
                <a:solidFill>
                  <a:schemeClr val="tx2"/>
                </a:solidFill>
              </a:rPr>
              <a:t>Propuesta</a:t>
            </a:r>
            <a:endParaRPr lang="en-US" sz="950" dirty="0"/>
          </a:p>
          <a:p>
            <a:pPr indent="0" marL="0">
              <a:buNone/>
            </a:pPr>
            <a:r>
              <a:rPr lang="en-US" sz="850" dirty="0">
                <a:solidFill>
                  <a:schemeClr val="accent6"/>
                </a:solidFill>
              </a:rPr>
              <a:t>2 capacidades</a:t>
            </a:r>
            <a:endParaRPr lang="en-US" sz="950" dirty="0"/>
          </a:p>
        </p:txBody>
      </p:sp>
      <p:sp>
        <p:nvSpPr>
          <p:cNvPr id="18" name="Shape 15"/>
          <p:cNvSpPr/>
          <p:nvPr/>
        </p:nvSpPr>
        <p:spPr>
          <a:xfrm>
            <a:off x="623652" y="2346753"/>
            <a:ext cx="1237695" cy="609471"/>
          </a:xfrm>
          <a:prstGeom prst="roundRect">
            <a:avLst>
              <a:gd name="adj" fmla="val 6001"/>
            </a:avLst>
          </a:prstGeom>
          <a:solidFill>
            <a:schemeClr val="bg1"/>
          </a:solidFill>
          <a:ln w="9525">
            <a:solidFill>
              <a:schemeClr val="accent6"/>
            </a:solidFill>
            <a:prstDash val="solid"/>
          </a:ln>
        </p:spPr>
      </p:sp>
      <p:sp>
        <p:nvSpPr>
          <p:cNvPr id="19" name="Text 16"/>
          <p:cNvSpPr txBox="1"/>
          <p:nvPr/>
        </p:nvSpPr>
        <p:spPr>
          <a:xfrm>
            <a:off x="679911"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Alerta de tutela</a:t>
            </a:r>
            <a:endParaRPr lang="en-US" sz="900" dirty="0"/>
          </a:p>
          <a:p>
            <a:pPr indent="0" marL="0">
              <a:buNone/>
            </a:pPr>
            <a:r>
              <a:rPr lang="en-US" sz="750" dirty="0">
                <a:solidFill>
                  <a:schemeClr val="accent6"/>
                </a:solidFill>
              </a:rPr>
              <a:t>C-21</a:t>
            </a:r>
            <a:endParaRPr lang="en-US" sz="900" dirty="0"/>
          </a:p>
        </p:txBody>
      </p:sp>
      <p:sp>
        <p:nvSpPr>
          <p:cNvPr id="20" name="Shape 17"/>
          <p:cNvSpPr/>
          <p:nvPr/>
        </p:nvSpPr>
        <p:spPr>
          <a:xfrm>
            <a:off x="623652" y="3031236"/>
            <a:ext cx="1237695" cy="609471"/>
          </a:xfrm>
          <a:prstGeom prst="roundRect">
            <a:avLst>
              <a:gd name="adj" fmla="val 6001"/>
            </a:avLst>
          </a:prstGeom>
          <a:solidFill>
            <a:schemeClr val="bg1"/>
          </a:solidFill>
          <a:ln w="9525">
            <a:solidFill>
              <a:schemeClr val="accent6"/>
            </a:solidFill>
            <a:prstDash val="solid"/>
          </a:ln>
        </p:spPr>
      </p:sp>
      <p:sp>
        <p:nvSpPr>
          <p:cNvPr id="21" name="Text 18"/>
          <p:cNvSpPr txBox="1"/>
          <p:nvPr/>
        </p:nvSpPr>
        <p:spPr>
          <a:xfrm>
            <a:off x="679911" y="3059365"/>
            <a:ext cx="1143930" cy="553212"/>
          </a:xfrm>
          <a:prstGeom prst="rect">
            <a:avLst/>
          </a:prstGeom>
          <a:noFill/>
          <a:ln/>
        </p:spPr>
        <p:txBody>
          <a:bodyPr wrap="square" lIns="0" tIns="0" rIns="0" bIns="0" rtlCol="0" anchor="ctr"/>
          <a:lstStyle/>
          <a:p>
            <a:pPr indent="0" marL="0">
              <a:buNone/>
            </a:pPr>
            <a:r>
              <a:rPr lang="en-US" sz="900" b="1" dirty="0">
                <a:solidFill>
                  <a:schemeClr val="tx2"/>
                </a:solidFill>
              </a:rPr>
              <a:t>Integralidad del caso</a:t>
            </a:r>
            <a:endParaRPr lang="en-US" sz="900" dirty="0"/>
          </a:p>
          <a:p>
            <a:pPr indent="0" marL="0">
              <a:buNone/>
            </a:pPr>
            <a:r>
              <a:rPr lang="en-US" sz="750" dirty="0">
                <a:solidFill>
                  <a:schemeClr val="accent6"/>
                </a:solidFill>
              </a:rPr>
              <a:t>C-22</a:t>
            </a:r>
            <a:endParaRPr lang="en-US" sz="900" dirty="0"/>
          </a:p>
        </p:txBody>
      </p:sp>
      <p:sp>
        <p:nvSpPr>
          <p:cNvPr id="22" name="Shape 19"/>
          <p:cNvSpPr/>
          <p:nvPr/>
        </p:nvSpPr>
        <p:spPr>
          <a:xfrm>
            <a:off x="1955111" y="1690400"/>
            <a:ext cx="1350212" cy="3281766"/>
          </a:xfrm>
          <a:prstGeom prst="roundRect">
            <a:avLst>
              <a:gd name="adj" fmla="val 4063"/>
            </a:avLst>
          </a:prstGeom>
          <a:solidFill>
            <a:srgbClr val="E8F1ED"/>
          </a:solidFill>
          <a:ln w="15875">
            <a:solidFill>
              <a:schemeClr val="accent3"/>
            </a:solidFill>
            <a:prstDash val="solid"/>
          </a:ln>
        </p:spPr>
      </p:sp>
      <p:sp>
        <p:nvSpPr>
          <p:cNvPr id="23" name="Text 20"/>
          <p:cNvSpPr txBox="1"/>
          <p:nvPr/>
        </p:nvSpPr>
        <p:spPr>
          <a:xfrm>
            <a:off x="2030123" y="1727906"/>
            <a:ext cx="1237695" cy="506330"/>
          </a:xfrm>
          <a:prstGeom prst="rect">
            <a:avLst/>
          </a:prstGeom>
          <a:noFill/>
          <a:ln/>
        </p:spPr>
        <p:txBody>
          <a:bodyPr wrap="square" lIns="0" tIns="0" rIns="0" bIns="0" rtlCol="0" anchor="ctr"/>
          <a:lstStyle/>
          <a:p>
            <a:pPr indent="0" marL="0">
              <a:buNone/>
            </a:pPr>
            <a:r>
              <a:rPr lang="en-US" sz="800" b="1" dirty="0">
                <a:solidFill>
                  <a:schemeClr val="accent3"/>
                </a:solidFill>
              </a:rPr>
              <a:t>Lidera SURA</a:t>
            </a:r>
            <a:endParaRPr lang="en-US" sz="950" dirty="0"/>
          </a:p>
          <a:p>
            <a:pPr indent="0" marL="0">
              <a:buNone/>
            </a:pPr>
            <a:r>
              <a:rPr lang="en-US" sz="950" b="1" dirty="0">
                <a:solidFill>
                  <a:schemeClr val="tx2"/>
                </a:solidFill>
              </a:rPr>
              <a:t>Definición</a:t>
            </a:r>
            <a:endParaRPr lang="en-US" sz="950" dirty="0"/>
          </a:p>
          <a:p>
            <a:pPr indent="0" marL="0">
              <a:buNone/>
            </a:pPr>
            <a:r>
              <a:rPr lang="en-US" sz="850" dirty="0">
                <a:solidFill>
                  <a:schemeClr val="accent6"/>
                </a:solidFill>
              </a:rPr>
              <a:t>3 de 6</a:t>
            </a:r>
            <a:endParaRPr lang="en-US" sz="950" dirty="0"/>
          </a:p>
        </p:txBody>
      </p:sp>
      <p:sp>
        <p:nvSpPr>
          <p:cNvPr id="24" name="Shape 21"/>
          <p:cNvSpPr/>
          <p:nvPr/>
        </p:nvSpPr>
        <p:spPr>
          <a:xfrm>
            <a:off x="2011370" y="2346753"/>
            <a:ext cx="1237695" cy="609471"/>
          </a:xfrm>
          <a:prstGeom prst="roundRect">
            <a:avLst>
              <a:gd name="adj" fmla="val 6001"/>
            </a:avLst>
          </a:prstGeom>
          <a:solidFill>
            <a:schemeClr val="bg1"/>
          </a:solidFill>
          <a:ln w="9525">
            <a:solidFill>
              <a:schemeClr val="accent6"/>
            </a:solidFill>
            <a:prstDash val="solid"/>
          </a:ln>
        </p:spPr>
      </p:sp>
      <p:sp>
        <p:nvSpPr>
          <p:cNvPr id="25" name="Text 22"/>
          <p:cNvSpPr txBox="1"/>
          <p:nvPr/>
        </p:nvSpPr>
        <p:spPr>
          <a:xfrm>
            <a:off x="2067629"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Homologación CUPS y CIE</a:t>
            </a:r>
            <a:endParaRPr lang="en-US" sz="900" dirty="0"/>
          </a:p>
          <a:p>
            <a:pPr indent="0" marL="0">
              <a:buNone/>
            </a:pPr>
            <a:r>
              <a:rPr lang="en-US" sz="750" dirty="0">
                <a:solidFill>
                  <a:schemeClr val="accent6"/>
                </a:solidFill>
              </a:rPr>
              <a:t>C-17, 2 días</a:t>
            </a:r>
            <a:endParaRPr lang="en-US" sz="900" dirty="0"/>
          </a:p>
        </p:txBody>
      </p:sp>
      <p:sp>
        <p:nvSpPr>
          <p:cNvPr id="26" name="Shape 23"/>
          <p:cNvSpPr/>
          <p:nvPr/>
        </p:nvSpPr>
        <p:spPr>
          <a:xfrm>
            <a:off x="2011370" y="3031236"/>
            <a:ext cx="1237695" cy="609471"/>
          </a:xfrm>
          <a:prstGeom prst="roundRect">
            <a:avLst>
              <a:gd name="adj" fmla="val 6001"/>
            </a:avLst>
          </a:prstGeom>
          <a:solidFill>
            <a:schemeClr val="bg1"/>
          </a:solidFill>
          <a:ln w="9525">
            <a:solidFill>
              <a:schemeClr val="accent6"/>
            </a:solidFill>
            <a:prstDash val="solid"/>
          </a:ln>
        </p:spPr>
      </p:sp>
      <p:sp>
        <p:nvSpPr>
          <p:cNvPr id="27" name="Text 24"/>
          <p:cNvSpPr txBox="1"/>
          <p:nvPr/>
        </p:nvSpPr>
        <p:spPr>
          <a:xfrm>
            <a:off x="2067629" y="3059365"/>
            <a:ext cx="1143930" cy="553212"/>
          </a:xfrm>
          <a:prstGeom prst="rect">
            <a:avLst/>
          </a:prstGeom>
          <a:noFill/>
          <a:ln/>
        </p:spPr>
        <p:txBody>
          <a:bodyPr wrap="square" lIns="0" tIns="0" rIns="0" bIns="0" rtlCol="0" anchor="ctr"/>
          <a:lstStyle/>
          <a:p>
            <a:pPr indent="0" marL="0">
              <a:buNone/>
            </a:pPr>
            <a:r>
              <a:rPr lang="en-US" sz="900" b="1" dirty="0">
                <a:solidFill>
                  <a:schemeClr val="tx2"/>
                </a:solidFill>
              </a:rPr>
              <a:t>Score de complejidad</a:t>
            </a:r>
            <a:endParaRPr lang="en-US" sz="900" dirty="0"/>
          </a:p>
          <a:p>
            <a:pPr indent="0" marL="0">
              <a:buNone/>
            </a:pPr>
            <a:r>
              <a:rPr lang="en-US" sz="750" dirty="0">
                <a:solidFill>
                  <a:schemeClr val="accent6"/>
                </a:solidFill>
              </a:rPr>
              <a:t>C-18, 1 día</a:t>
            </a:r>
            <a:endParaRPr lang="en-US" sz="900" dirty="0"/>
          </a:p>
        </p:txBody>
      </p:sp>
      <p:sp>
        <p:nvSpPr>
          <p:cNvPr id="28" name="Shape 25"/>
          <p:cNvSpPr/>
          <p:nvPr/>
        </p:nvSpPr>
        <p:spPr>
          <a:xfrm>
            <a:off x="2011370" y="3715719"/>
            <a:ext cx="1237695" cy="468824"/>
          </a:xfrm>
          <a:prstGeom prst="roundRect">
            <a:avLst>
              <a:gd name="adj" fmla="val 7802"/>
            </a:avLst>
          </a:prstGeom>
          <a:solidFill>
            <a:schemeClr val="bg1"/>
          </a:solidFill>
          <a:ln w="9525">
            <a:solidFill>
              <a:schemeClr val="accent6"/>
            </a:solidFill>
            <a:prstDash val="dash"/>
          </a:ln>
        </p:spPr>
      </p:sp>
      <p:sp>
        <p:nvSpPr>
          <p:cNvPr id="29" name="Text 26"/>
          <p:cNvSpPr txBox="1"/>
          <p:nvPr/>
        </p:nvSpPr>
        <p:spPr>
          <a:xfrm>
            <a:off x="2067629" y="3743848"/>
            <a:ext cx="1143930" cy="412565"/>
          </a:xfrm>
          <a:prstGeom prst="rect">
            <a:avLst/>
          </a:prstGeom>
          <a:noFill/>
          <a:ln/>
        </p:spPr>
        <p:txBody>
          <a:bodyPr wrap="square" lIns="0" tIns="0" rIns="0" bIns="0" rtlCol="0" anchor="ctr"/>
          <a:lstStyle/>
          <a:p>
            <a:pPr indent="0" marL="0">
              <a:buNone/>
            </a:pPr>
            <a:r>
              <a:rPr lang="en-US" sz="900" b="1" dirty="0">
                <a:solidFill>
                  <a:schemeClr val="tx2"/>
                </a:solidFill>
              </a:rPr>
              <a:t>Coberturas</a:t>
            </a:r>
            <a:endParaRPr lang="en-US" sz="900" dirty="0"/>
          </a:p>
          <a:p>
            <a:pPr indent="0" marL="0">
              <a:buNone/>
            </a:pPr>
            <a:r>
              <a:rPr lang="en-US" sz="750" dirty="0">
                <a:solidFill>
                  <a:schemeClr val="accent6"/>
                </a:solidFill>
              </a:rPr>
              <a:t>C-19, 3 días</a:t>
            </a:r>
            <a:endParaRPr lang="en-US" sz="900" dirty="0"/>
          </a:p>
        </p:txBody>
      </p:sp>
      <p:sp>
        <p:nvSpPr>
          <p:cNvPr id="30" name="Shape 27"/>
          <p:cNvSpPr/>
          <p:nvPr/>
        </p:nvSpPr>
        <p:spPr>
          <a:xfrm>
            <a:off x="3342829" y="1690400"/>
            <a:ext cx="1350212" cy="3281766"/>
          </a:xfrm>
          <a:prstGeom prst="roundRect">
            <a:avLst>
              <a:gd name="adj" fmla="val 4063"/>
            </a:avLst>
          </a:prstGeom>
          <a:solidFill>
            <a:schemeClr val="accent4"/>
          </a:solidFill>
          <a:ln w="12700">
            <a:solidFill>
              <a:schemeClr val="accent1"/>
            </a:solidFill>
            <a:prstDash val="solid"/>
          </a:ln>
        </p:spPr>
      </p:sp>
      <p:sp>
        <p:nvSpPr>
          <p:cNvPr id="31" name="Text 28"/>
          <p:cNvSpPr txBox="1"/>
          <p:nvPr/>
        </p:nvSpPr>
        <p:spPr>
          <a:xfrm>
            <a:off x="3417841" y="1727906"/>
            <a:ext cx="1237695" cy="506330"/>
          </a:xfrm>
          <a:prstGeom prst="rect">
            <a:avLst/>
          </a:prstGeom>
          <a:noFill/>
          <a:ln/>
        </p:spPr>
        <p:txBody>
          <a:bodyPr wrap="square" lIns="0" tIns="0" rIns="0" bIns="0" rtlCol="0" anchor="ctr"/>
          <a:lstStyle/>
          <a:p>
            <a:pPr indent="0" marL="0">
              <a:buNone/>
            </a:pPr>
            <a:r>
              <a:rPr lang="en-US" sz="800" b="1" dirty="0">
                <a:solidFill>
                  <a:schemeClr val="accent1"/>
                </a:solidFill>
              </a:rPr>
              <a:t>Lidera Tech</a:t>
            </a:r>
            <a:endParaRPr lang="en-US" sz="950" dirty="0"/>
          </a:p>
          <a:p>
            <a:pPr indent="0" marL="0">
              <a:buNone/>
            </a:pPr>
            <a:r>
              <a:rPr lang="en-US" sz="950" b="1" dirty="0">
                <a:solidFill>
                  <a:schemeClr val="tx2"/>
                </a:solidFill>
              </a:rPr>
              <a:t>Lista para construir</a:t>
            </a:r>
            <a:endParaRPr lang="en-US" sz="950" dirty="0"/>
          </a:p>
          <a:p>
            <a:pPr indent="0" marL="0">
              <a:buNone/>
            </a:pPr>
            <a:r>
              <a:rPr lang="en-US" sz="850" dirty="0">
                <a:solidFill>
                  <a:schemeClr val="accent6"/>
                </a:solidFill>
              </a:rPr>
              <a:t>2 de 6</a:t>
            </a:r>
            <a:endParaRPr lang="en-US" sz="950" dirty="0"/>
          </a:p>
        </p:txBody>
      </p:sp>
      <p:sp>
        <p:nvSpPr>
          <p:cNvPr id="32" name="Shape 29"/>
          <p:cNvSpPr/>
          <p:nvPr/>
        </p:nvSpPr>
        <p:spPr>
          <a:xfrm>
            <a:off x="3399088" y="2346753"/>
            <a:ext cx="1237695" cy="468824"/>
          </a:xfrm>
          <a:prstGeom prst="roundRect">
            <a:avLst>
              <a:gd name="adj" fmla="val 7802"/>
            </a:avLst>
          </a:prstGeom>
          <a:solidFill>
            <a:schemeClr val="bg1"/>
          </a:solidFill>
          <a:ln w="9525">
            <a:solidFill>
              <a:schemeClr val="accent6"/>
            </a:solidFill>
            <a:prstDash val="solid"/>
          </a:ln>
        </p:spPr>
      </p:sp>
      <p:sp>
        <p:nvSpPr>
          <p:cNvPr id="33" name="Text 30"/>
          <p:cNvSpPr txBox="1"/>
          <p:nvPr/>
        </p:nvSpPr>
        <p:spPr>
          <a:xfrm>
            <a:off x="3455347" y="2374883"/>
            <a:ext cx="1143930" cy="412565"/>
          </a:xfrm>
          <a:prstGeom prst="rect">
            <a:avLst/>
          </a:prstGeom>
          <a:noFill/>
          <a:ln/>
        </p:spPr>
        <p:txBody>
          <a:bodyPr wrap="square" lIns="0" tIns="0" rIns="0" bIns="0" rtlCol="0" anchor="ctr"/>
          <a:lstStyle/>
          <a:p>
            <a:pPr indent="0" marL="0">
              <a:buNone/>
            </a:pPr>
            <a:r>
              <a:rPr lang="en-US" sz="900" b="1" dirty="0">
                <a:solidFill>
                  <a:schemeClr val="tx2"/>
                </a:solidFill>
              </a:rPr>
              <a:t>Duplicidad</a:t>
            </a:r>
            <a:endParaRPr lang="en-US" sz="900" dirty="0"/>
          </a:p>
          <a:p>
            <a:pPr indent="0" marL="0">
              <a:buNone/>
            </a:pPr>
            <a:r>
              <a:rPr lang="en-US" sz="750" dirty="0">
                <a:solidFill>
                  <a:schemeClr val="accent6"/>
                </a:solidFill>
              </a:rPr>
              <a:t>C-15, 1 día</a:t>
            </a:r>
            <a:endParaRPr lang="en-US" sz="900" dirty="0"/>
          </a:p>
        </p:txBody>
      </p:sp>
      <p:sp>
        <p:nvSpPr>
          <p:cNvPr id="34" name="Shape 31"/>
          <p:cNvSpPr/>
          <p:nvPr/>
        </p:nvSpPr>
        <p:spPr>
          <a:xfrm>
            <a:off x="3399088" y="2890589"/>
            <a:ext cx="1237695" cy="609471"/>
          </a:xfrm>
          <a:prstGeom prst="roundRect">
            <a:avLst>
              <a:gd name="adj" fmla="val 6001"/>
            </a:avLst>
          </a:prstGeom>
          <a:solidFill>
            <a:schemeClr val="bg1"/>
          </a:solidFill>
          <a:ln w="9525">
            <a:solidFill>
              <a:schemeClr val="accent6"/>
            </a:solidFill>
            <a:prstDash val="solid"/>
          </a:ln>
        </p:spPr>
      </p:sp>
      <p:sp>
        <p:nvSpPr>
          <p:cNvPr id="35" name="Text 32"/>
          <p:cNvSpPr txBox="1"/>
          <p:nvPr/>
        </p:nvSpPr>
        <p:spPr>
          <a:xfrm>
            <a:off x="3455347" y="2918718"/>
            <a:ext cx="1143930" cy="553212"/>
          </a:xfrm>
          <a:prstGeom prst="rect">
            <a:avLst/>
          </a:prstGeom>
          <a:noFill/>
          <a:ln/>
        </p:spPr>
        <p:txBody>
          <a:bodyPr wrap="square" lIns="0" tIns="0" rIns="0" bIns="0" rtlCol="0" anchor="ctr"/>
          <a:lstStyle/>
          <a:p>
            <a:pPr indent="0" marL="0">
              <a:buNone/>
            </a:pPr>
            <a:r>
              <a:rPr lang="en-US" sz="900" b="1" dirty="0">
                <a:solidFill>
                  <a:schemeClr val="tx2"/>
                </a:solidFill>
              </a:rPr>
              <a:t>Concepto al escalar</a:t>
            </a:r>
            <a:endParaRPr lang="en-US" sz="900" dirty="0"/>
          </a:p>
          <a:p>
            <a:pPr indent="0" marL="0">
              <a:buNone/>
            </a:pPr>
            <a:r>
              <a:rPr lang="en-US" sz="750" dirty="0">
                <a:solidFill>
                  <a:schemeClr val="accent6"/>
                </a:solidFill>
              </a:rPr>
              <a:t>C-16, 3 días</a:t>
            </a:r>
            <a:endParaRPr lang="en-US" sz="900" dirty="0"/>
          </a:p>
        </p:txBody>
      </p:sp>
      <p:sp>
        <p:nvSpPr>
          <p:cNvPr id="36" name="Shape 33"/>
          <p:cNvSpPr/>
          <p:nvPr/>
        </p:nvSpPr>
        <p:spPr>
          <a:xfrm>
            <a:off x="4730548" y="1690400"/>
            <a:ext cx="1350212" cy="3281766"/>
          </a:xfrm>
          <a:prstGeom prst="roundRect">
            <a:avLst>
              <a:gd name="adj" fmla="val 4063"/>
            </a:avLst>
          </a:prstGeom>
          <a:solidFill>
            <a:schemeClr val="accent4"/>
          </a:solidFill>
          <a:ln w="12700">
            <a:solidFill>
              <a:schemeClr val="accent1"/>
            </a:solidFill>
            <a:prstDash val="solid"/>
          </a:ln>
        </p:spPr>
      </p:sp>
      <p:sp>
        <p:nvSpPr>
          <p:cNvPr id="37" name="Text 34"/>
          <p:cNvSpPr txBox="1"/>
          <p:nvPr/>
        </p:nvSpPr>
        <p:spPr>
          <a:xfrm>
            <a:off x="4805559" y="1727906"/>
            <a:ext cx="1237695" cy="506330"/>
          </a:xfrm>
          <a:prstGeom prst="rect">
            <a:avLst/>
          </a:prstGeom>
          <a:noFill/>
          <a:ln/>
        </p:spPr>
        <p:txBody>
          <a:bodyPr wrap="square" lIns="0" tIns="0" rIns="0" bIns="0" rtlCol="0" anchor="ctr"/>
          <a:lstStyle/>
          <a:p>
            <a:pPr indent="0" marL="0">
              <a:buNone/>
            </a:pPr>
            <a:r>
              <a:rPr lang="en-US" sz="800" b="1" dirty="0">
                <a:solidFill>
                  <a:schemeClr val="accent1"/>
                </a:solidFill>
              </a:rPr>
              <a:t>Lidera Tech</a:t>
            </a:r>
            <a:endParaRPr lang="en-US" sz="950" dirty="0"/>
          </a:p>
          <a:p>
            <a:pPr indent="0" marL="0">
              <a:buNone/>
            </a:pPr>
            <a:r>
              <a:rPr lang="en-US" sz="950" b="1" dirty="0">
                <a:solidFill>
                  <a:schemeClr val="tx2"/>
                </a:solidFill>
              </a:rPr>
              <a:t>Construcción</a:t>
            </a:r>
            <a:endParaRPr lang="en-US" sz="950" dirty="0"/>
          </a:p>
          <a:p>
            <a:pPr indent="0" marL="0">
              <a:buNone/>
            </a:pPr>
            <a:r>
              <a:rPr lang="en-US" sz="850" b="1" dirty="0">
                <a:solidFill>
                  <a:schemeClr val="accent2"/>
                </a:solidFill>
              </a:rPr>
              <a:t>4 de 4, al límite</a:t>
            </a:r>
            <a:endParaRPr lang="en-US" sz="950" dirty="0"/>
          </a:p>
        </p:txBody>
      </p:sp>
      <p:sp>
        <p:nvSpPr>
          <p:cNvPr id="38" name="Shape 35"/>
          <p:cNvSpPr/>
          <p:nvPr/>
        </p:nvSpPr>
        <p:spPr>
          <a:xfrm>
            <a:off x="4786807" y="2346753"/>
            <a:ext cx="1237695" cy="609471"/>
          </a:xfrm>
          <a:prstGeom prst="roundRect">
            <a:avLst>
              <a:gd name="adj" fmla="val 6001"/>
            </a:avLst>
          </a:prstGeom>
          <a:solidFill>
            <a:schemeClr val="bg1"/>
          </a:solidFill>
          <a:ln w="9525">
            <a:solidFill>
              <a:schemeClr val="accent6"/>
            </a:solidFill>
            <a:prstDash val="solid"/>
          </a:ln>
        </p:spPr>
      </p:sp>
      <p:sp>
        <p:nvSpPr>
          <p:cNvPr id="39" name="Text 36"/>
          <p:cNvSpPr txBox="1"/>
          <p:nvPr/>
        </p:nvSpPr>
        <p:spPr>
          <a:xfrm>
            <a:off x="4843065"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Extractor de la orden</a:t>
            </a:r>
            <a:endParaRPr lang="en-US" sz="900" dirty="0"/>
          </a:p>
          <a:p>
            <a:pPr indent="0" marL="0">
              <a:buNone/>
            </a:pPr>
            <a:r>
              <a:rPr lang="en-US" sz="750" dirty="0">
                <a:solidFill>
                  <a:schemeClr val="accent6"/>
                </a:solidFill>
              </a:rPr>
              <a:t>C-11 · Builder 1 · 3 días</a:t>
            </a:r>
            <a:endParaRPr lang="en-US" sz="900" dirty="0"/>
          </a:p>
        </p:txBody>
      </p:sp>
      <p:sp>
        <p:nvSpPr>
          <p:cNvPr id="40" name="Shape 37"/>
          <p:cNvSpPr/>
          <p:nvPr/>
        </p:nvSpPr>
        <p:spPr>
          <a:xfrm>
            <a:off x="4786807" y="3031236"/>
            <a:ext cx="1237695" cy="468824"/>
          </a:xfrm>
          <a:prstGeom prst="roundRect">
            <a:avLst>
              <a:gd name="adj" fmla="val 7802"/>
            </a:avLst>
          </a:prstGeom>
          <a:solidFill>
            <a:schemeClr val="bg1"/>
          </a:solidFill>
          <a:ln w="9525">
            <a:solidFill>
              <a:schemeClr val="accent6"/>
            </a:solidFill>
            <a:prstDash val="solid"/>
          </a:ln>
        </p:spPr>
      </p:sp>
      <p:sp>
        <p:nvSpPr>
          <p:cNvPr id="41" name="Text 38"/>
          <p:cNvSpPr txBox="1"/>
          <p:nvPr/>
        </p:nvSpPr>
        <p:spPr>
          <a:xfrm>
            <a:off x="4843065" y="3059365"/>
            <a:ext cx="1143930" cy="412565"/>
          </a:xfrm>
          <a:prstGeom prst="rect">
            <a:avLst/>
          </a:prstGeom>
          <a:noFill/>
          <a:ln/>
        </p:spPr>
        <p:txBody>
          <a:bodyPr wrap="square" lIns="0" tIns="0" rIns="0" bIns="0" rtlCol="0" anchor="ctr"/>
          <a:lstStyle/>
          <a:p>
            <a:pPr indent="0" marL="0">
              <a:buNone/>
            </a:pPr>
            <a:r>
              <a:rPr lang="en-US" sz="900" b="1" dirty="0">
                <a:solidFill>
                  <a:schemeClr val="tx2"/>
                </a:solidFill>
              </a:rPr>
              <a:t>Request builder</a:t>
            </a:r>
            <a:endParaRPr lang="en-US" sz="900" dirty="0"/>
          </a:p>
          <a:p>
            <a:pPr indent="0" marL="0">
              <a:buNone/>
            </a:pPr>
            <a:r>
              <a:rPr lang="en-US" sz="750" dirty="0">
                <a:solidFill>
                  <a:schemeClr val="accent6"/>
                </a:solidFill>
              </a:rPr>
              <a:t>C-12 · Builder 1 · 2 días</a:t>
            </a:r>
            <a:endParaRPr lang="en-US" sz="900" dirty="0"/>
          </a:p>
        </p:txBody>
      </p:sp>
      <p:sp>
        <p:nvSpPr>
          <p:cNvPr id="42" name="Shape 39"/>
          <p:cNvSpPr/>
          <p:nvPr/>
        </p:nvSpPr>
        <p:spPr>
          <a:xfrm>
            <a:off x="4786807" y="3575072"/>
            <a:ext cx="1237695" cy="618847"/>
          </a:xfrm>
          <a:prstGeom prst="roundRect">
            <a:avLst>
              <a:gd name="adj" fmla="val 5910"/>
            </a:avLst>
          </a:prstGeom>
          <a:solidFill>
            <a:srgbClr val="F7EEDF"/>
          </a:solidFill>
          <a:ln w="15875">
            <a:solidFill>
              <a:schemeClr val="accent2"/>
            </a:solidFill>
            <a:prstDash val="solid"/>
          </a:ln>
        </p:spPr>
      </p:sp>
      <p:sp>
        <p:nvSpPr>
          <p:cNvPr id="43" name="Text 40"/>
          <p:cNvSpPr txBox="1"/>
          <p:nvPr/>
        </p:nvSpPr>
        <p:spPr>
          <a:xfrm>
            <a:off x="4843065" y="3603201"/>
            <a:ext cx="1143930" cy="562588"/>
          </a:xfrm>
          <a:prstGeom prst="rect">
            <a:avLst/>
          </a:prstGeom>
          <a:noFill/>
          <a:ln/>
        </p:spPr>
        <p:txBody>
          <a:bodyPr wrap="square" lIns="0" tIns="0" rIns="0" bIns="0" rtlCol="0" anchor="ctr"/>
          <a:lstStyle/>
          <a:p>
            <a:pPr indent="0" marL="0">
              <a:buNone/>
            </a:pPr>
            <a:r>
              <a:rPr lang="en-US" sz="900" b="1" dirty="0">
                <a:solidFill>
                  <a:schemeClr val="tx2"/>
                </a:solidFill>
              </a:rPr>
              <a:t>Enrutador</a:t>
            </a:r>
            <a:endParaRPr lang="en-US" sz="900" dirty="0"/>
          </a:p>
          <a:p>
            <a:pPr indent="0" marL="0">
              <a:buNone/>
            </a:pPr>
            <a:r>
              <a:rPr lang="en-US" sz="750" dirty="0">
                <a:solidFill>
                  <a:schemeClr val="accent6"/>
                </a:solidFill>
              </a:rPr>
              <a:t>C-13 · Builder 2 · 4 días</a:t>
            </a:r>
            <a:endParaRPr lang="en-US" sz="900" dirty="0"/>
          </a:p>
          <a:p>
            <a:pPr indent="0" marL="0">
              <a:buNone/>
            </a:pPr>
            <a:r>
              <a:rPr lang="en-US" sz="750" b="1" dirty="0">
                <a:solidFill>
                  <a:schemeClr val="accent2"/>
                </a:solidFill>
              </a:rPr>
              <a:t>Bloqueo: tercero</a:t>
            </a:r>
            <a:endParaRPr lang="en-US" sz="900" dirty="0"/>
          </a:p>
        </p:txBody>
      </p:sp>
      <p:sp>
        <p:nvSpPr>
          <p:cNvPr id="44" name="Shape 41"/>
          <p:cNvSpPr/>
          <p:nvPr/>
        </p:nvSpPr>
        <p:spPr>
          <a:xfrm>
            <a:off x="4786807" y="4268931"/>
            <a:ext cx="1237695" cy="609471"/>
          </a:xfrm>
          <a:prstGeom prst="roundRect">
            <a:avLst>
              <a:gd name="adj" fmla="val 6001"/>
            </a:avLst>
          </a:prstGeom>
          <a:solidFill>
            <a:schemeClr val="bg1"/>
          </a:solidFill>
          <a:ln w="9525">
            <a:solidFill>
              <a:schemeClr val="accent6"/>
            </a:solidFill>
            <a:prstDash val="dash"/>
          </a:ln>
        </p:spPr>
      </p:sp>
      <p:sp>
        <p:nvSpPr>
          <p:cNvPr id="45" name="Text 42"/>
          <p:cNvSpPr txBox="1"/>
          <p:nvPr/>
        </p:nvSpPr>
        <p:spPr>
          <a:xfrm>
            <a:off x="4843065" y="4297060"/>
            <a:ext cx="1143930" cy="553212"/>
          </a:xfrm>
          <a:prstGeom prst="rect">
            <a:avLst/>
          </a:prstGeom>
          <a:noFill/>
          <a:ln/>
        </p:spPr>
        <p:txBody>
          <a:bodyPr wrap="square" lIns="0" tIns="0" rIns="0" bIns="0" rtlCol="0" anchor="ctr"/>
          <a:lstStyle/>
          <a:p>
            <a:pPr indent="0" marL="0">
              <a:buNone/>
            </a:pPr>
            <a:r>
              <a:rPr lang="en-US" sz="900" b="1" dirty="0">
                <a:solidFill>
                  <a:schemeClr val="tx2"/>
                </a:solidFill>
              </a:rPr>
              <a:t>Traza de la decisión</a:t>
            </a:r>
            <a:endParaRPr lang="en-US" sz="900" dirty="0"/>
          </a:p>
          <a:p>
            <a:pPr indent="0" marL="0">
              <a:buNone/>
            </a:pPr>
            <a:r>
              <a:rPr lang="en-US" sz="750" dirty="0">
                <a:solidFill>
                  <a:schemeClr val="accent6"/>
                </a:solidFill>
              </a:rPr>
              <a:t>C-14 · Builder 2 · 1 día</a:t>
            </a:r>
            <a:endParaRPr lang="en-US" sz="900" dirty="0"/>
          </a:p>
        </p:txBody>
      </p:sp>
      <p:sp>
        <p:nvSpPr>
          <p:cNvPr id="46" name="Shape 43"/>
          <p:cNvSpPr/>
          <p:nvPr/>
        </p:nvSpPr>
        <p:spPr>
          <a:xfrm>
            <a:off x="6118266" y="1690400"/>
            <a:ext cx="1350212" cy="3281766"/>
          </a:xfrm>
          <a:prstGeom prst="roundRect">
            <a:avLst>
              <a:gd name="adj" fmla="val 4063"/>
            </a:avLst>
          </a:prstGeom>
          <a:solidFill>
            <a:schemeClr val="accent4"/>
          </a:solidFill>
          <a:ln w="12700">
            <a:solidFill>
              <a:schemeClr val="accent1"/>
            </a:solidFill>
            <a:prstDash val="solid"/>
          </a:ln>
        </p:spPr>
      </p:sp>
      <p:sp>
        <p:nvSpPr>
          <p:cNvPr id="47" name="Text 44"/>
          <p:cNvSpPr txBox="1"/>
          <p:nvPr/>
        </p:nvSpPr>
        <p:spPr>
          <a:xfrm>
            <a:off x="6193278" y="1727906"/>
            <a:ext cx="1237695" cy="506330"/>
          </a:xfrm>
          <a:prstGeom prst="rect">
            <a:avLst/>
          </a:prstGeom>
          <a:noFill/>
          <a:ln/>
        </p:spPr>
        <p:txBody>
          <a:bodyPr wrap="square" lIns="0" tIns="0" rIns="0" bIns="0" rtlCol="0" anchor="ctr"/>
          <a:lstStyle/>
          <a:p>
            <a:pPr indent="0" marL="0">
              <a:buNone/>
            </a:pPr>
            <a:r>
              <a:rPr lang="en-US" sz="800" b="1" dirty="0">
                <a:solidFill>
                  <a:schemeClr val="accent1"/>
                </a:solidFill>
              </a:rPr>
              <a:t>Lidera Tech</a:t>
            </a:r>
            <a:endParaRPr lang="en-US" sz="950" dirty="0"/>
          </a:p>
          <a:p>
            <a:pPr indent="0" marL="0">
              <a:buNone/>
            </a:pPr>
            <a:r>
              <a:rPr lang="en-US" sz="950" b="1" dirty="0">
                <a:solidFill>
                  <a:schemeClr val="tx2"/>
                </a:solidFill>
              </a:rPr>
              <a:t>Verificación</a:t>
            </a:r>
            <a:endParaRPr lang="en-US" sz="950" dirty="0"/>
          </a:p>
          <a:p>
            <a:pPr indent="0" marL="0">
              <a:buNone/>
            </a:pPr>
            <a:r>
              <a:rPr lang="en-US" sz="850" dirty="0">
                <a:solidFill>
                  <a:schemeClr val="accent6"/>
                </a:solidFill>
              </a:rPr>
              <a:t>1 de 3</a:t>
            </a:r>
            <a:endParaRPr lang="en-US" sz="950" dirty="0"/>
          </a:p>
        </p:txBody>
      </p:sp>
      <p:sp>
        <p:nvSpPr>
          <p:cNvPr id="48" name="Shape 45"/>
          <p:cNvSpPr/>
          <p:nvPr/>
        </p:nvSpPr>
        <p:spPr>
          <a:xfrm>
            <a:off x="6174525" y="2346753"/>
            <a:ext cx="1237695" cy="468824"/>
          </a:xfrm>
          <a:prstGeom prst="roundRect">
            <a:avLst>
              <a:gd name="adj" fmla="val 7802"/>
            </a:avLst>
          </a:prstGeom>
          <a:solidFill>
            <a:schemeClr val="bg1"/>
          </a:solidFill>
          <a:ln w="9525">
            <a:solidFill>
              <a:schemeClr val="accent6"/>
            </a:solidFill>
            <a:prstDash val="solid"/>
          </a:ln>
        </p:spPr>
      </p:sp>
      <p:sp>
        <p:nvSpPr>
          <p:cNvPr id="49" name="Text 46"/>
          <p:cNvSpPr txBox="1"/>
          <p:nvPr/>
        </p:nvSpPr>
        <p:spPr>
          <a:xfrm>
            <a:off x="6230784" y="2374883"/>
            <a:ext cx="1143930" cy="412565"/>
          </a:xfrm>
          <a:prstGeom prst="rect">
            <a:avLst/>
          </a:prstGeom>
          <a:noFill/>
          <a:ln/>
        </p:spPr>
        <p:txBody>
          <a:bodyPr wrap="square" lIns="0" tIns="0" rIns="0" bIns="0" rtlCol="0" anchor="ctr"/>
          <a:lstStyle/>
          <a:p>
            <a:pPr indent="0" marL="0">
              <a:buNone/>
            </a:pPr>
            <a:r>
              <a:rPr lang="en-US" sz="900" b="1" dirty="0">
                <a:solidFill>
                  <a:schemeClr val="tx2"/>
                </a:solidFill>
              </a:rPr>
              <a:t>Clasificador</a:t>
            </a:r>
            <a:endParaRPr lang="en-US" sz="900" dirty="0"/>
          </a:p>
          <a:p>
            <a:pPr indent="0" marL="0">
              <a:buNone/>
            </a:pPr>
            <a:r>
              <a:rPr lang="en-US" sz="750" dirty="0">
                <a:solidFill>
                  <a:schemeClr val="accent6"/>
                </a:solidFill>
              </a:rPr>
              <a:t>C-10, 1 día</a:t>
            </a:r>
            <a:endParaRPr lang="en-US" sz="900" dirty="0"/>
          </a:p>
        </p:txBody>
      </p:sp>
      <p:sp>
        <p:nvSpPr>
          <p:cNvPr id="50" name="Shape 47"/>
          <p:cNvSpPr/>
          <p:nvPr/>
        </p:nvSpPr>
        <p:spPr>
          <a:xfrm>
            <a:off x="7505984" y="1690400"/>
            <a:ext cx="1350212" cy="3281766"/>
          </a:xfrm>
          <a:prstGeom prst="roundRect">
            <a:avLst>
              <a:gd name="adj" fmla="val 4063"/>
            </a:avLst>
          </a:prstGeom>
          <a:solidFill>
            <a:srgbClr val="E8F1ED"/>
          </a:solidFill>
          <a:ln w="15875">
            <a:solidFill>
              <a:schemeClr val="accent3"/>
            </a:solidFill>
            <a:prstDash val="solid"/>
          </a:ln>
        </p:spPr>
      </p:sp>
      <p:sp>
        <p:nvSpPr>
          <p:cNvPr id="51" name="Text 48"/>
          <p:cNvSpPr txBox="1"/>
          <p:nvPr/>
        </p:nvSpPr>
        <p:spPr>
          <a:xfrm>
            <a:off x="7580996" y="1727906"/>
            <a:ext cx="1237695" cy="506330"/>
          </a:xfrm>
          <a:prstGeom prst="rect">
            <a:avLst/>
          </a:prstGeom>
          <a:noFill/>
          <a:ln/>
        </p:spPr>
        <p:txBody>
          <a:bodyPr wrap="square" lIns="0" tIns="0" rIns="0" bIns="0" rtlCol="0" anchor="ctr"/>
          <a:lstStyle/>
          <a:p>
            <a:pPr indent="0" marL="0">
              <a:buNone/>
            </a:pPr>
            <a:r>
              <a:rPr lang="en-US" sz="800" b="1" dirty="0">
                <a:solidFill>
                  <a:schemeClr val="accent3"/>
                </a:solidFill>
              </a:rPr>
              <a:t>Lidera SURA</a:t>
            </a:r>
            <a:endParaRPr lang="en-US" sz="950" dirty="0"/>
          </a:p>
          <a:p>
            <a:pPr indent="0" marL="0">
              <a:buNone/>
            </a:pPr>
            <a:r>
              <a:rPr lang="en-US" sz="950" b="1" dirty="0">
                <a:solidFill>
                  <a:schemeClr val="tx2"/>
                </a:solidFill>
              </a:rPr>
              <a:t>Certificación</a:t>
            </a:r>
            <a:endParaRPr lang="en-US" sz="950" dirty="0"/>
          </a:p>
          <a:p>
            <a:pPr indent="0" marL="0">
              <a:buNone/>
            </a:pPr>
            <a:r>
              <a:rPr lang="en-US" sz="850" dirty="0">
                <a:solidFill>
                  <a:schemeClr val="accent6"/>
                </a:solidFill>
              </a:rPr>
              <a:t>2 de 4</a:t>
            </a:r>
            <a:endParaRPr lang="en-US" sz="950" dirty="0"/>
          </a:p>
        </p:txBody>
      </p:sp>
      <p:sp>
        <p:nvSpPr>
          <p:cNvPr id="52" name="Shape 49"/>
          <p:cNvSpPr/>
          <p:nvPr/>
        </p:nvSpPr>
        <p:spPr>
          <a:xfrm>
            <a:off x="7562243" y="2346753"/>
            <a:ext cx="1237695" cy="609471"/>
          </a:xfrm>
          <a:prstGeom prst="roundRect">
            <a:avLst>
              <a:gd name="adj" fmla="val 6001"/>
            </a:avLst>
          </a:prstGeom>
          <a:solidFill>
            <a:schemeClr val="bg1"/>
          </a:solidFill>
          <a:ln w="9525">
            <a:solidFill>
              <a:schemeClr val="accent6"/>
            </a:solidFill>
            <a:prstDash val="solid"/>
          </a:ln>
        </p:spPr>
      </p:sp>
      <p:sp>
        <p:nvSpPr>
          <p:cNvPr id="53" name="Text 50"/>
          <p:cNvSpPr txBox="1"/>
          <p:nvPr/>
        </p:nvSpPr>
        <p:spPr>
          <a:xfrm>
            <a:off x="7618502"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Escalar a preradicado</a:t>
            </a:r>
            <a:endParaRPr lang="en-US" sz="900" dirty="0"/>
          </a:p>
          <a:p>
            <a:pPr indent="0" marL="0">
              <a:buNone/>
            </a:pPr>
            <a:r>
              <a:rPr lang="en-US" sz="750" dirty="0">
                <a:solidFill>
                  <a:schemeClr val="accent6"/>
                </a:solidFill>
              </a:rPr>
              <a:t>C-08, 1 día</a:t>
            </a:r>
            <a:endParaRPr lang="en-US" sz="900" dirty="0"/>
          </a:p>
        </p:txBody>
      </p:sp>
      <p:sp>
        <p:nvSpPr>
          <p:cNvPr id="54" name="Shape 51"/>
          <p:cNvSpPr/>
          <p:nvPr/>
        </p:nvSpPr>
        <p:spPr>
          <a:xfrm>
            <a:off x="7562243" y="3031236"/>
            <a:ext cx="1237695" cy="618847"/>
          </a:xfrm>
          <a:prstGeom prst="roundRect">
            <a:avLst>
              <a:gd name="adj" fmla="val 5910"/>
            </a:avLst>
          </a:prstGeom>
          <a:solidFill>
            <a:srgbClr val="F7EEDF"/>
          </a:solidFill>
          <a:ln w="15875">
            <a:solidFill>
              <a:schemeClr val="accent2"/>
            </a:solidFill>
            <a:prstDash val="solid"/>
          </a:ln>
        </p:spPr>
      </p:sp>
      <p:sp>
        <p:nvSpPr>
          <p:cNvPr id="55" name="Text 52"/>
          <p:cNvSpPr txBox="1"/>
          <p:nvPr/>
        </p:nvSpPr>
        <p:spPr>
          <a:xfrm>
            <a:off x="7618502" y="3059365"/>
            <a:ext cx="1143930" cy="562588"/>
          </a:xfrm>
          <a:prstGeom prst="rect">
            <a:avLst/>
          </a:prstGeom>
          <a:noFill/>
          <a:ln/>
        </p:spPr>
        <p:txBody>
          <a:bodyPr wrap="square" lIns="0" tIns="0" rIns="0" bIns="0" rtlCol="0" anchor="ctr"/>
          <a:lstStyle/>
          <a:p>
            <a:pPr indent="0" marL="0">
              <a:buNone/>
            </a:pPr>
            <a:r>
              <a:rPr lang="en-US" sz="900" b="1" dirty="0">
                <a:solidFill>
                  <a:schemeClr val="tx2"/>
                </a:solidFill>
              </a:rPr>
              <a:t>LLM-as-a-judge</a:t>
            </a:r>
            <a:endParaRPr lang="en-US" sz="900" dirty="0"/>
          </a:p>
          <a:p>
            <a:pPr indent="0" marL="0">
              <a:buNone/>
            </a:pPr>
            <a:r>
              <a:rPr lang="en-US" sz="750" dirty="0">
                <a:solidFill>
                  <a:schemeClr val="accent6"/>
                </a:solidFill>
              </a:rPr>
              <a:t>C-09, 3 días</a:t>
            </a:r>
            <a:endParaRPr lang="en-US" sz="900" dirty="0"/>
          </a:p>
          <a:p>
            <a:pPr indent="0" marL="0">
              <a:buNone/>
            </a:pPr>
            <a:r>
              <a:rPr lang="en-US" sz="750" b="1" dirty="0">
                <a:solidFill>
                  <a:schemeClr val="accent2"/>
                </a:solidFill>
              </a:rPr>
              <a:t>Bloqueo: SURA</a:t>
            </a:r>
            <a:endParaRPr lang="en-US" sz="900" dirty="0"/>
          </a:p>
        </p:txBody>
      </p:sp>
      <p:sp>
        <p:nvSpPr>
          <p:cNvPr id="56" name="Shape 53"/>
          <p:cNvSpPr/>
          <p:nvPr/>
        </p:nvSpPr>
        <p:spPr>
          <a:xfrm>
            <a:off x="8893702" y="1690400"/>
            <a:ext cx="1350212" cy="3281766"/>
          </a:xfrm>
          <a:prstGeom prst="roundRect">
            <a:avLst>
              <a:gd name="adj" fmla="val 4063"/>
            </a:avLst>
          </a:prstGeom>
          <a:solidFill>
            <a:srgbClr val="F7EEDF"/>
          </a:solidFill>
          <a:ln w="15875">
            <a:solidFill>
              <a:schemeClr val="accent2"/>
            </a:solidFill>
            <a:prstDash val="solid"/>
          </a:ln>
        </p:spPr>
      </p:sp>
      <p:sp>
        <p:nvSpPr>
          <p:cNvPr id="57" name="Text 54"/>
          <p:cNvSpPr txBox="1"/>
          <p:nvPr/>
        </p:nvSpPr>
        <p:spPr>
          <a:xfrm>
            <a:off x="8968714" y="1727906"/>
            <a:ext cx="1237695" cy="506330"/>
          </a:xfrm>
          <a:prstGeom prst="rect">
            <a:avLst/>
          </a:prstGeom>
          <a:noFill/>
          <a:ln/>
        </p:spPr>
        <p:txBody>
          <a:bodyPr wrap="square" lIns="0" tIns="0" rIns="0" bIns="0" rtlCol="0" anchor="ctr"/>
          <a:lstStyle/>
          <a:p>
            <a:pPr indent="0" marL="0">
              <a:buNone/>
            </a:pPr>
            <a:r>
              <a:rPr lang="en-US" sz="800" b="1" dirty="0">
                <a:solidFill>
                  <a:schemeClr val="accent2"/>
                </a:solidFill>
              </a:rPr>
              <a:t>En conjunto</a:t>
            </a:r>
            <a:endParaRPr lang="en-US" sz="950" dirty="0"/>
          </a:p>
          <a:p>
            <a:pPr indent="0" marL="0">
              <a:buNone/>
            </a:pPr>
            <a:r>
              <a:rPr lang="en-US" sz="950" b="1" dirty="0">
                <a:solidFill>
                  <a:schemeClr val="tx2"/>
                </a:solidFill>
              </a:rPr>
              <a:t>Liberada</a:t>
            </a:r>
            <a:endParaRPr lang="en-US" sz="950" dirty="0"/>
          </a:p>
          <a:p>
            <a:pPr indent="0" marL="0">
              <a:buNone/>
            </a:pPr>
            <a:r>
              <a:rPr lang="en-US" sz="850" dirty="0">
                <a:solidFill>
                  <a:schemeClr val="accent6"/>
                </a:solidFill>
              </a:rPr>
              <a:t>2 esta semana</a:t>
            </a:r>
            <a:endParaRPr lang="en-US" sz="950" dirty="0"/>
          </a:p>
        </p:txBody>
      </p:sp>
      <p:sp>
        <p:nvSpPr>
          <p:cNvPr id="58" name="Shape 55"/>
          <p:cNvSpPr/>
          <p:nvPr/>
        </p:nvSpPr>
        <p:spPr>
          <a:xfrm>
            <a:off x="8949961" y="2346753"/>
            <a:ext cx="1237695" cy="609471"/>
          </a:xfrm>
          <a:prstGeom prst="roundRect">
            <a:avLst>
              <a:gd name="adj" fmla="val 6001"/>
            </a:avLst>
          </a:prstGeom>
          <a:solidFill>
            <a:schemeClr val="bg1"/>
          </a:solidFill>
          <a:ln w="9525">
            <a:solidFill>
              <a:schemeClr val="accent6"/>
            </a:solidFill>
            <a:prstDash val="solid"/>
          </a:ln>
        </p:spPr>
      </p:sp>
      <p:sp>
        <p:nvSpPr>
          <p:cNvPr id="59" name="Text 56"/>
          <p:cNvSpPr txBox="1"/>
          <p:nvPr/>
        </p:nvSpPr>
        <p:spPr>
          <a:xfrm>
            <a:off x="9006220"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Lectura de adjuntos</a:t>
            </a:r>
            <a:endParaRPr lang="en-US" sz="900" dirty="0"/>
          </a:p>
          <a:p>
            <a:pPr indent="0" marL="0">
              <a:buNone/>
            </a:pPr>
            <a:r>
              <a:rPr lang="en-US" sz="750" dirty="0">
                <a:solidFill>
                  <a:schemeClr val="accent6"/>
                </a:solidFill>
              </a:rPr>
              <a:t>C-06, activa</a:t>
            </a:r>
            <a:endParaRPr lang="en-US" sz="900" dirty="0"/>
          </a:p>
        </p:txBody>
      </p:sp>
      <p:sp>
        <p:nvSpPr>
          <p:cNvPr id="60" name="Shape 57"/>
          <p:cNvSpPr/>
          <p:nvPr/>
        </p:nvSpPr>
        <p:spPr>
          <a:xfrm>
            <a:off x="8949961" y="3031236"/>
            <a:ext cx="1237695" cy="609471"/>
          </a:xfrm>
          <a:prstGeom prst="roundRect">
            <a:avLst>
              <a:gd name="adj" fmla="val 6001"/>
            </a:avLst>
          </a:prstGeom>
          <a:solidFill>
            <a:schemeClr val="bg1"/>
          </a:solidFill>
          <a:ln w="9525">
            <a:solidFill>
              <a:schemeClr val="accent6"/>
            </a:solidFill>
            <a:prstDash val="solid"/>
          </a:ln>
        </p:spPr>
      </p:sp>
      <p:sp>
        <p:nvSpPr>
          <p:cNvPr id="61" name="Text 58"/>
          <p:cNvSpPr txBox="1"/>
          <p:nvPr/>
        </p:nvSpPr>
        <p:spPr>
          <a:xfrm>
            <a:off x="9006220" y="3059365"/>
            <a:ext cx="1143930" cy="553212"/>
          </a:xfrm>
          <a:prstGeom prst="rect">
            <a:avLst/>
          </a:prstGeom>
          <a:noFill/>
          <a:ln/>
        </p:spPr>
        <p:txBody>
          <a:bodyPr wrap="square" lIns="0" tIns="0" rIns="0" bIns="0" rtlCol="0" anchor="ctr"/>
          <a:lstStyle/>
          <a:p>
            <a:pPr indent="0" marL="0">
              <a:buNone/>
            </a:pPr>
            <a:r>
              <a:rPr lang="en-US" sz="900" b="1" dirty="0">
                <a:solidFill>
                  <a:schemeClr val="tx2"/>
                </a:solidFill>
              </a:rPr>
              <a:t>Contrato de eventos</a:t>
            </a:r>
            <a:endParaRPr lang="en-US" sz="900" dirty="0"/>
          </a:p>
          <a:p>
            <a:pPr indent="0" marL="0">
              <a:buNone/>
            </a:pPr>
            <a:r>
              <a:rPr lang="en-US" sz="750" dirty="0">
                <a:solidFill>
                  <a:schemeClr val="accent6"/>
                </a:solidFill>
              </a:rPr>
              <a:t>C-07, sin activar</a:t>
            </a:r>
            <a:endParaRPr lang="en-US" sz="900" dirty="0"/>
          </a:p>
        </p:txBody>
      </p:sp>
      <p:sp>
        <p:nvSpPr>
          <p:cNvPr id="62" name="Shape 59"/>
          <p:cNvSpPr/>
          <p:nvPr/>
        </p:nvSpPr>
        <p:spPr>
          <a:xfrm>
            <a:off x="10281421" y="1690400"/>
            <a:ext cx="1350212" cy="3281766"/>
          </a:xfrm>
          <a:prstGeom prst="roundRect">
            <a:avLst>
              <a:gd name="adj" fmla="val 4063"/>
            </a:avLst>
          </a:prstGeom>
          <a:solidFill>
            <a:srgbClr val="F7EEDF"/>
          </a:solidFill>
          <a:ln w="15875">
            <a:solidFill>
              <a:schemeClr val="accent2"/>
            </a:solidFill>
            <a:prstDash val="solid"/>
          </a:ln>
        </p:spPr>
      </p:sp>
      <p:sp>
        <p:nvSpPr>
          <p:cNvPr id="63" name="Text 60"/>
          <p:cNvSpPr txBox="1"/>
          <p:nvPr/>
        </p:nvSpPr>
        <p:spPr>
          <a:xfrm>
            <a:off x="10356432" y="1727906"/>
            <a:ext cx="1237695" cy="506330"/>
          </a:xfrm>
          <a:prstGeom prst="rect">
            <a:avLst/>
          </a:prstGeom>
          <a:noFill/>
          <a:ln/>
        </p:spPr>
        <p:txBody>
          <a:bodyPr wrap="square" lIns="0" tIns="0" rIns="0" bIns="0" rtlCol="0" anchor="ctr"/>
          <a:lstStyle/>
          <a:p>
            <a:pPr indent="0" marL="0">
              <a:buNone/>
            </a:pPr>
            <a:r>
              <a:rPr lang="en-US" sz="800" b="1" dirty="0">
                <a:solidFill>
                  <a:schemeClr val="accent2"/>
                </a:solidFill>
              </a:rPr>
              <a:t>En conjunto</a:t>
            </a:r>
            <a:endParaRPr lang="en-US" sz="950" dirty="0"/>
          </a:p>
          <a:p>
            <a:pPr indent="0" marL="0">
              <a:buNone/>
            </a:pPr>
            <a:r>
              <a:rPr lang="en-US" sz="950" b="1" dirty="0">
                <a:solidFill>
                  <a:schemeClr val="tx2"/>
                </a:solidFill>
              </a:rPr>
              <a:t>Estable</a:t>
            </a:r>
            <a:endParaRPr lang="en-US" sz="950" dirty="0"/>
          </a:p>
          <a:p>
            <a:pPr indent="0" marL="0">
              <a:buNone/>
            </a:pPr>
            <a:r>
              <a:rPr lang="en-US" sz="850" dirty="0">
                <a:solidFill>
                  <a:schemeClr val="accent6"/>
                </a:solidFill>
              </a:rPr>
              <a:t>5 en total</a:t>
            </a:r>
            <a:endParaRPr lang="en-US" sz="950" dirty="0"/>
          </a:p>
        </p:txBody>
      </p:sp>
      <p:sp>
        <p:nvSpPr>
          <p:cNvPr id="64" name="Shape 61"/>
          <p:cNvSpPr/>
          <p:nvPr/>
        </p:nvSpPr>
        <p:spPr>
          <a:xfrm>
            <a:off x="10337679" y="2346753"/>
            <a:ext cx="1237695" cy="609471"/>
          </a:xfrm>
          <a:prstGeom prst="roundRect">
            <a:avLst>
              <a:gd name="adj" fmla="val 6001"/>
            </a:avLst>
          </a:prstGeom>
          <a:solidFill>
            <a:schemeClr val="bg1"/>
          </a:solidFill>
          <a:ln w="9525">
            <a:solidFill>
              <a:schemeClr val="accent6"/>
            </a:solidFill>
            <a:prstDash val="solid"/>
          </a:ln>
        </p:spPr>
      </p:sp>
      <p:sp>
        <p:nvSpPr>
          <p:cNvPr id="65" name="Text 62"/>
          <p:cNvSpPr txBox="1"/>
          <p:nvPr/>
        </p:nvSpPr>
        <p:spPr>
          <a:xfrm>
            <a:off x="10393938" y="2374883"/>
            <a:ext cx="1143930" cy="553212"/>
          </a:xfrm>
          <a:prstGeom prst="rect">
            <a:avLst/>
          </a:prstGeom>
          <a:noFill/>
          <a:ln/>
        </p:spPr>
        <p:txBody>
          <a:bodyPr wrap="square" lIns="0" tIns="0" rIns="0" bIns="0" rtlCol="0" anchor="ctr"/>
          <a:lstStyle/>
          <a:p>
            <a:pPr indent="0" marL="0">
              <a:buNone/>
            </a:pPr>
            <a:r>
              <a:rPr lang="en-US" sz="900" b="1" dirty="0">
                <a:solidFill>
                  <a:schemeClr val="tx2"/>
                </a:solidFill>
              </a:rPr>
              <a:t>Golden set de Solicitud</a:t>
            </a:r>
            <a:endParaRPr lang="en-US" sz="900" dirty="0"/>
          </a:p>
          <a:p>
            <a:pPr indent="0" marL="0">
              <a:buNone/>
            </a:pPr>
            <a:r>
              <a:rPr lang="en-US" sz="750" dirty="0">
                <a:solidFill>
                  <a:schemeClr val="accent6"/>
                </a:solidFill>
              </a:rPr>
              <a:t>C-05</a:t>
            </a:r>
            <a:endParaRPr lang="en-US" sz="900" dirty="0"/>
          </a:p>
        </p:txBody>
      </p:sp>
      <p:sp>
        <p:nvSpPr>
          <p:cNvPr id="66" name="Shape 63"/>
          <p:cNvSpPr/>
          <p:nvPr/>
        </p:nvSpPr>
        <p:spPr>
          <a:xfrm>
            <a:off x="10337679" y="3031236"/>
            <a:ext cx="1237695" cy="609471"/>
          </a:xfrm>
          <a:prstGeom prst="roundRect">
            <a:avLst>
              <a:gd name="adj" fmla="val 6001"/>
            </a:avLst>
          </a:prstGeom>
          <a:solidFill>
            <a:schemeClr val="bg1"/>
          </a:solidFill>
          <a:ln w="9525">
            <a:solidFill>
              <a:schemeClr val="accent6"/>
            </a:solidFill>
            <a:prstDash val="solid"/>
          </a:ln>
        </p:spPr>
      </p:sp>
      <p:sp>
        <p:nvSpPr>
          <p:cNvPr id="67" name="Text 64"/>
          <p:cNvSpPr txBox="1"/>
          <p:nvPr/>
        </p:nvSpPr>
        <p:spPr>
          <a:xfrm>
            <a:off x="10393938" y="3059365"/>
            <a:ext cx="1143930" cy="553212"/>
          </a:xfrm>
          <a:prstGeom prst="rect">
            <a:avLst/>
          </a:prstGeom>
          <a:noFill/>
          <a:ln/>
        </p:spPr>
        <p:txBody>
          <a:bodyPr wrap="square" lIns="0" tIns="0" rIns="0" bIns="0" rtlCol="0" anchor="ctr"/>
          <a:lstStyle/>
          <a:p>
            <a:pPr indent="0" marL="0">
              <a:buNone/>
            </a:pPr>
            <a:r>
              <a:rPr lang="en-US" sz="900" b="1" dirty="0">
                <a:solidFill>
                  <a:schemeClr val="tx2"/>
                </a:solidFill>
              </a:rPr>
              <a:t>Arquetipo de agente</a:t>
            </a:r>
            <a:endParaRPr lang="en-US" sz="900" dirty="0"/>
          </a:p>
          <a:p>
            <a:pPr indent="0" marL="0">
              <a:buNone/>
            </a:pPr>
            <a:r>
              <a:rPr lang="en-US" sz="750" dirty="0">
                <a:solidFill>
                  <a:schemeClr val="accent6"/>
                </a:solidFill>
              </a:rPr>
              <a:t>C-04</a:t>
            </a:r>
            <a:endParaRPr lang="en-US" sz="900" dirty="0"/>
          </a:p>
        </p:txBody>
      </p:sp>
      <p:sp>
        <p:nvSpPr>
          <p:cNvPr id="68" name="Text 65"/>
          <p:cNvSpPr txBox="1"/>
          <p:nvPr/>
        </p:nvSpPr>
        <p:spPr>
          <a:xfrm>
            <a:off x="10393938" y="3715719"/>
            <a:ext cx="1162683" cy="187529"/>
          </a:xfrm>
          <a:prstGeom prst="rect">
            <a:avLst/>
          </a:prstGeom>
          <a:noFill/>
          <a:ln/>
        </p:spPr>
        <p:txBody>
          <a:bodyPr wrap="square" lIns="0" tIns="0" rIns="0" bIns="0" rtlCol="0" anchor="t"/>
          <a:lstStyle/>
          <a:p>
            <a:pPr indent="0" marL="0">
              <a:buNone/>
            </a:pPr>
            <a:r>
              <a:rPr lang="en-US" sz="850" dirty="0">
                <a:solidFill>
                  <a:schemeClr val="accent6"/>
                </a:solidFill>
              </a:rPr>
              <a:t>y 3 más</a:t>
            </a:r>
            <a:endParaRPr lang="en-US" sz="850" dirty="0"/>
          </a:p>
        </p:txBody>
      </p:sp>
      <p:sp>
        <p:nvSpPr>
          <p:cNvPr id="69" name="Shape 66"/>
          <p:cNvSpPr/>
          <p:nvPr/>
        </p:nvSpPr>
        <p:spPr>
          <a:xfrm>
            <a:off x="548640" y="5120640"/>
            <a:ext cx="45720" cy="1097280"/>
          </a:xfrm>
          <a:prstGeom prst="rect">
            <a:avLst/>
          </a:prstGeom>
          <a:solidFill>
            <a:schemeClr val="accent3"/>
          </a:solidFill>
          <a:ln w="12700">
            <a:solidFill>
              <a:schemeClr val="accent3"/>
            </a:solidFill>
            <a:prstDash val="solid"/>
          </a:ln>
        </p:spPr>
      </p:sp>
      <p:sp>
        <p:nvSpPr>
          <p:cNvPr id="70" name="Text 67"/>
          <p:cNvSpPr txBox="1"/>
          <p:nvPr/>
        </p:nvSpPr>
        <p:spPr>
          <a:xfrm>
            <a:off x="685800" y="5120640"/>
            <a:ext cx="3398520" cy="1097280"/>
          </a:xfrm>
          <a:prstGeom prst="rect">
            <a:avLst/>
          </a:prstGeom>
          <a:noFill/>
          <a:ln/>
        </p:spPr>
        <p:txBody>
          <a:bodyPr wrap="square" lIns="0" tIns="0" rIns="0" bIns="0" rtlCol="0" anchor="ctr"/>
          <a:lstStyle/>
          <a:p>
            <a:pPr indent="0" marL="0">
              <a:buNone/>
            </a:pPr>
            <a:r>
              <a:rPr lang="en-US" sz="900" b="1" dirty="0">
                <a:solidFill>
                  <a:schemeClr val="accent3"/>
                </a:solidFill>
              </a:rPr>
              <a:t>SURA: </a:t>
            </a:r>
            <a:pPr indent="0" marL="0">
              <a:buNone/>
            </a:pPr>
            <a:r>
              <a:rPr lang="en-US" sz="900" dirty="0">
                <a:solidFill>
                  <a:schemeClr val="tx1"/>
                </a:solidFill>
              </a:rPr>
              <a:t>el líder funcional registra y prioriza (C-21, C-22), define las fichas con el arquitecto líder (C-17 a C-19) y certifica (C-08). C-09 supera el compromiso de 48 horas: es un bloqueo de SURA.</a:t>
            </a:r>
            <a:endParaRPr lang="en-US" sz="900" dirty="0"/>
          </a:p>
        </p:txBody>
      </p:sp>
      <p:sp>
        <p:nvSpPr>
          <p:cNvPr id="71" name="Shape 68"/>
          <p:cNvSpPr/>
          <p:nvPr/>
        </p:nvSpPr>
        <p:spPr>
          <a:xfrm>
            <a:off x="4312920" y="5120640"/>
            <a:ext cx="45720" cy="1097280"/>
          </a:xfrm>
          <a:prstGeom prst="rect">
            <a:avLst/>
          </a:prstGeom>
          <a:solidFill>
            <a:schemeClr val="accent1"/>
          </a:solidFill>
          <a:ln w="12700">
            <a:solidFill>
              <a:schemeClr val="accent1"/>
            </a:solidFill>
            <a:prstDash val="solid"/>
          </a:ln>
        </p:spPr>
      </p:sp>
      <p:sp>
        <p:nvSpPr>
          <p:cNvPr id="72" name="Text 69"/>
          <p:cNvSpPr txBox="1"/>
          <p:nvPr/>
        </p:nvSpPr>
        <p:spPr>
          <a:xfrm>
            <a:off x="4450080" y="5120640"/>
            <a:ext cx="3398520" cy="1097280"/>
          </a:xfrm>
          <a:prstGeom prst="rect">
            <a:avLst/>
          </a:prstGeom>
          <a:noFill/>
          <a:ln/>
        </p:spPr>
        <p:txBody>
          <a:bodyPr wrap="square" lIns="0" tIns="0" rIns="0" bIns="0" rtlCol="0" anchor="ctr"/>
          <a:lstStyle/>
          <a:p>
            <a:pPr indent="0" marL="0">
              <a:buNone/>
            </a:pPr>
            <a:r>
              <a:rPr lang="en-US" sz="900" b="1" dirty="0">
                <a:solidFill>
                  <a:schemeClr val="accent1"/>
                </a:solidFill>
              </a:rPr>
              <a:t>Tech and Solve: </a:t>
            </a:r>
            <a:pPr indent="0" marL="0">
              <a:buNone/>
            </a:pPr>
            <a:r>
              <a:rPr lang="en-US" sz="900" dirty="0">
                <a:solidFill>
                  <a:schemeClr val="tx1"/>
                </a:solidFill>
              </a:rPr>
              <a:t>los builders construyen (C-11 a C-14) y Construcción está en su límite, así que nadie toma C-15 hasta que salga una. C-13 lleva 4 días bloqueada por un tercero. Los builders verifican C-10 con IA.</a:t>
            </a:r>
            <a:endParaRPr lang="en-US" sz="900" dirty="0"/>
          </a:p>
        </p:txBody>
      </p:sp>
      <p:sp>
        <p:nvSpPr>
          <p:cNvPr id="73" name="Shape 70"/>
          <p:cNvSpPr/>
          <p:nvPr/>
        </p:nvSpPr>
        <p:spPr>
          <a:xfrm>
            <a:off x="8077200" y="5120640"/>
            <a:ext cx="45720" cy="1097280"/>
          </a:xfrm>
          <a:prstGeom prst="rect">
            <a:avLst/>
          </a:prstGeom>
          <a:solidFill>
            <a:schemeClr val="accent2"/>
          </a:solidFill>
          <a:ln w="12700">
            <a:solidFill>
              <a:schemeClr val="accent2"/>
            </a:solidFill>
            <a:prstDash val="solid"/>
          </a:ln>
        </p:spPr>
      </p:sp>
      <p:sp>
        <p:nvSpPr>
          <p:cNvPr id="74" name="Text 71"/>
          <p:cNvSpPr txBox="1"/>
          <p:nvPr/>
        </p:nvSpPr>
        <p:spPr>
          <a:xfrm>
            <a:off x="8214360" y="5120640"/>
            <a:ext cx="3398520" cy="1097280"/>
          </a:xfrm>
          <a:prstGeom prst="rect">
            <a:avLst/>
          </a:prstGeom>
          <a:noFill/>
          <a:ln/>
        </p:spPr>
        <p:txBody>
          <a:bodyPr wrap="square" lIns="0" tIns="0" rIns="0" bIns="0" rtlCol="0" anchor="ctr"/>
          <a:lstStyle/>
          <a:p>
            <a:pPr indent="0" marL="0">
              <a:buNone/>
            </a:pPr>
            <a:r>
              <a:rPr lang="en-US" sz="900" b="1" dirty="0">
                <a:solidFill>
                  <a:schemeClr val="accent2"/>
                </a:solidFill>
              </a:rPr>
              <a:t>En conjunto: </a:t>
            </a:r>
            <a:pPr indent="0" marL="0">
              <a:buNone/>
            </a:pPr>
            <a:r>
              <a:rPr lang="en-US" sz="900" dirty="0">
                <a:solidFill>
                  <a:schemeClr val="tx1"/>
                </a:solidFill>
              </a:rPr>
              <a:t>el arquitecto líder y el arquitecto de negocio de SURA aprobaron el paso de C-06 y C-07, y el pipeline las desplegó; SURA decide cuándo activarlas. Las capacidades estables (C-04, C-05) las observan los dos.</a:t>
            </a:r>
            <a:endParaRPr lang="en-US" sz="9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Compromisos de SURA y dependencias, cada una con su dueño</a:t>
            </a:r>
            <a:endParaRPr lang="en-US" sz="2800" dirty="0"/>
          </a:p>
        </p:txBody>
      </p:sp>
      <p:sp>
        <p:nvSpPr>
          <p:cNvPr id="4" name="Text 1"/>
          <p:cNvSpPr txBox="1"/>
          <p:nvPr/>
        </p:nvSpPr>
        <p:spPr>
          <a:xfrm>
            <a:off x="548640" y="1325880"/>
            <a:ext cx="11064240" cy="411480"/>
          </a:xfrm>
          <a:prstGeom prst="rect">
            <a:avLst/>
          </a:prstGeom>
          <a:noFill/>
          <a:ln/>
        </p:spPr>
        <p:txBody>
          <a:bodyPr wrap="square" lIns="0" tIns="0" rIns="0" bIns="0" rtlCol="0" anchor="t"/>
          <a:lstStyle/>
          <a:p>
            <a:pPr indent="0" marL="0">
              <a:buNone/>
            </a:pPr>
            <a:r>
              <a:rPr lang="en-US" sz="1100" dirty="0">
                <a:solidFill>
                  <a:schemeClr val="tx1"/>
                </a:solidFill>
              </a:rPr>
              <a:t>Conviene dejar los compromisos por escrito en el acuerdo de trabajo. Se pactan en el arranque y se revisan en la revisión de flujo: el tiempo de SURA se mide igual que el del equipo.</a:t>
            </a:r>
            <a:endParaRPr lang="en-US" sz="1100" dirty="0"/>
          </a:p>
        </p:txBody>
      </p:sp>
      <p:sp>
        <p:nvSpPr>
          <p:cNvPr id="5" name="Shape 2"/>
          <p:cNvSpPr/>
          <p:nvPr/>
        </p:nvSpPr>
        <p:spPr>
          <a:xfrm>
            <a:off x="548640" y="1810512"/>
            <a:ext cx="2628900" cy="749808"/>
          </a:xfrm>
          <a:prstGeom prst="roundRect">
            <a:avLst>
              <a:gd name="adj" fmla="val 9756"/>
            </a:avLst>
          </a:prstGeom>
          <a:solidFill>
            <a:schemeClr val="accent4"/>
          </a:solidFill>
          <a:ln w="12700">
            <a:solidFill>
              <a:srgbClr val="DCD8EC"/>
            </a:solidFill>
            <a:prstDash val="solid"/>
          </a:ln>
        </p:spPr>
      </p:sp>
      <p:sp>
        <p:nvSpPr>
          <p:cNvPr id="6" name="Shape 3"/>
          <p:cNvSpPr/>
          <p:nvPr/>
        </p:nvSpPr>
        <p:spPr>
          <a:xfrm>
            <a:off x="685800" y="1984248"/>
            <a:ext cx="384048" cy="384048"/>
          </a:xfrm>
          <a:prstGeom prst="ellipse">
            <a:avLst/>
          </a:prstGeom>
          <a:solidFill>
            <a:schemeClr val="accent3"/>
          </a:solidFill>
          <a:ln w="12700">
            <a:solidFill>
              <a:schemeClr val="accent3"/>
            </a:solidFill>
            <a:prstDash val="solid"/>
          </a:ln>
        </p:spPr>
      </p:sp>
      <p:sp>
        <p:nvSpPr>
          <p:cNvPr id="7" name="Text 4"/>
          <p:cNvSpPr txBox="1"/>
          <p:nvPr/>
        </p:nvSpPr>
        <p:spPr>
          <a:xfrm>
            <a:off x="68580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1143000" y="1828800"/>
            <a:ext cx="1943100" cy="713232"/>
          </a:xfrm>
          <a:prstGeom prst="rect">
            <a:avLst/>
          </a:prstGeom>
          <a:noFill/>
          <a:ln/>
        </p:spPr>
        <p:txBody>
          <a:bodyPr wrap="square" lIns="0" tIns="0" rIns="0" bIns="0" rtlCol="0" anchor="ctr"/>
          <a:lstStyle/>
          <a:p>
            <a:pPr indent="0" marL="0">
              <a:buNone/>
            </a:pPr>
            <a:r>
              <a:rPr lang="en-US" sz="1000" b="1" dirty="0">
                <a:solidFill>
                  <a:schemeClr val="tx2"/>
                </a:solidFill>
              </a:rPr>
              <a:t>Dedicación del líder funcional</a:t>
            </a:r>
            <a:endParaRPr lang="en-US" sz="1000" dirty="0"/>
          </a:p>
          <a:p>
            <a:pPr indent="0" marL="0">
              <a:buNone/>
            </a:pPr>
            <a:r>
              <a:rPr lang="en-US" sz="1000" dirty="0">
                <a:solidFill>
                  <a:schemeClr val="tx1"/>
                </a:solidFill>
              </a:rPr>
              <a:t>Entre el 30 y el 40 % de su tiempo</a:t>
            </a:r>
            <a:endParaRPr lang="en-US" sz="1000" dirty="0"/>
          </a:p>
        </p:txBody>
      </p:sp>
      <p:sp>
        <p:nvSpPr>
          <p:cNvPr id="9" name="Shape 6"/>
          <p:cNvSpPr/>
          <p:nvPr/>
        </p:nvSpPr>
        <p:spPr>
          <a:xfrm>
            <a:off x="3360420" y="1810512"/>
            <a:ext cx="2628900" cy="749808"/>
          </a:xfrm>
          <a:prstGeom prst="roundRect">
            <a:avLst>
              <a:gd name="adj" fmla="val 9756"/>
            </a:avLst>
          </a:prstGeom>
          <a:solidFill>
            <a:schemeClr val="accent4"/>
          </a:solidFill>
          <a:ln w="12700">
            <a:solidFill>
              <a:srgbClr val="DCD8EC"/>
            </a:solidFill>
            <a:prstDash val="solid"/>
          </a:ln>
        </p:spPr>
      </p:sp>
      <p:sp>
        <p:nvSpPr>
          <p:cNvPr id="10" name="Shape 7"/>
          <p:cNvSpPr/>
          <p:nvPr/>
        </p:nvSpPr>
        <p:spPr>
          <a:xfrm>
            <a:off x="3497580" y="1984248"/>
            <a:ext cx="384048" cy="384048"/>
          </a:xfrm>
          <a:prstGeom prst="ellipse">
            <a:avLst/>
          </a:prstGeom>
          <a:solidFill>
            <a:schemeClr val="accent3"/>
          </a:solidFill>
          <a:ln w="12700">
            <a:solidFill>
              <a:schemeClr val="accent3"/>
            </a:solidFill>
            <a:prstDash val="solid"/>
          </a:ln>
        </p:spPr>
      </p:sp>
      <p:sp>
        <p:nvSpPr>
          <p:cNvPr id="11" name="Text 8"/>
          <p:cNvSpPr txBox="1"/>
          <p:nvPr/>
        </p:nvSpPr>
        <p:spPr>
          <a:xfrm>
            <a:off x="349758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9"/>
          <p:cNvSpPr txBox="1"/>
          <p:nvPr/>
        </p:nvSpPr>
        <p:spPr>
          <a:xfrm>
            <a:off x="3954780" y="1828800"/>
            <a:ext cx="1943100" cy="713232"/>
          </a:xfrm>
          <a:prstGeom prst="rect">
            <a:avLst/>
          </a:prstGeom>
          <a:noFill/>
          <a:ln/>
        </p:spPr>
        <p:txBody>
          <a:bodyPr wrap="square" lIns="0" tIns="0" rIns="0" bIns="0" rtlCol="0" anchor="ctr"/>
          <a:lstStyle/>
          <a:p>
            <a:pPr indent="0" marL="0">
              <a:buNone/>
            </a:pPr>
            <a:r>
              <a:rPr lang="en-US" sz="1000" b="1" dirty="0">
                <a:solidFill>
                  <a:schemeClr val="tx2"/>
                </a:solidFill>
              </a:rPr>
              <a:t>Respuesta a dudas</a:t>
            </a:r>
            <a:endParaRPr lang="en-US" sz="1000" dirty="0"/>
          </a:p>
          <a:p>
            <a:pPr indent="0" marL="0">
              <a:buNone/>
            </a:pPr>
            <a:r>
              <a:rPr lang="en-US" sz="1000" dirty="0">
                <a:solidFill>
                  <a:schemeClr val="tx1"/>
                </a:solidFill>
              </a:rPr>
              <a:t>En menos de 24 horas</a:t>
            </a:r>
            <a:endParaRPr lang="en-US" sz="1000" dirty="0"/>
          </a:p>
        </p:txBody>
      </p:sp>
      <p:sp>
        <p:nvSpPr>
          <p:cNvPr id="13" name="Shape 10"/>
          <p:cNvSpPr/>
          <p:nvPr/>
        </p:nvSpPr>
        <p:spPr>
          <a:xfrm>
            <a:off x="6172200" y="1810512"/>
            <a:ext cx="2628900" cy="749808"/>
          </a:xfrm>
          <a:prstGeom prst="roundRect">
            <a:avLst>
              <a:gd name="adj" fmla="val 9756"/>
            </a:avLst>
          </a:prstGeom>
          <a:solidFill>
            <a:schemeClr val="accent4"/>
          </a:solidFill>
          <a:ln w="12700">
            <a:solidFill>
              <a:srgbClr val="DCD8EC"/>
            </a:solidFill>
            <a:prstDash val="solid"/>
          </a:ln>
        </p:spPr>
      </p:sp>
      <p:sp>
        <p:nvSpPr>
          <p:cNvPr id="14" name="Shape 11"/>
          <p:cNvSpPr/>
          <p:nvPr/>
        </p:nvSpPr>
        <p:spPr>
          <a:xfrm>
            <a:off x="6309360" y="1984248"/>
            <a:ext cx="384048" cy="384048"/>
          </a:xfrm>
          <a:prstGeom prst="ellipse">
            <a:avLst/>
          </a:prstGeom>
          <a:solidFill>
            <a:schemeClr val="accent3"/>
          </a:solidFill>
          <a:ln w="12700">
            <a:solidFill>
              <a:schemeClr val="accent3"/>
            </a:solidFill>
            <a:prstDash val="solid"/>
          </a:ln>
        </p:spPr>
      </p:sp>
      <p:sp>
        <p:nvSpPr>
          <p:cNvPr id="15" name="Text 12"/>
          <p:cNvSpPr txBox="1"/>
          <p:nvPr/>
        </p:nvSpPr>
        <p:spPr>
          <a:xfrm>
            <a:off x="630936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3"/>
          <p:cNvSpPr txBox="1"/>
          <p:nvPr/>
        </p:nvSpPr>
        <p:spPr>
          <a:xfrm>
            <a:off x="6766560" y="1828800"/>
            <a:ext cx="1943100" cy="713232"/>
          </a:xfrm>
          <a:prstGeom prst="rect">
            <a:avLst/>
          </a:prstGeom>
          <a:noFill/>
          <a:ln/>
        </p:spPr>
        <p:txBody>
          <a:bodyPr wrap="square" lIns="0" tIns="0" rIns="0" bIns="0" rtlCol="0" anchor="ctr"/>
          <a:lstStyle/>
          <a:p>
            <a:pPr indent="0" marL="0">
              <a:buNone/>
            </a:pPr>
            <a:r>
              <a:rPr lang="en-US" sz="1000" b="1" dirty="0">
                <a:solidFill>
                  <a:schemeClr val="tx2"/>
                </a:solidFill>
              </a:rPr>
              <a:t>Certificación</a:t>
            </a:r>
            <a:endParaRPr lang="en-US" sz="1000" dirty="0"/>
          </a:p>
          <a:p>
            <a:pPr indent="0" marL="0">
              <a:buNone/>
            </a:pPr>
            <a:r>
              <a:rPr lang="en-US" sz="1000" dirty="0">
                <a:solidFill>
                  <a:schemeClr val="tx1"/>
                </a:solidFill>
              </a:rPr>
              <a:t>En menos de 48 horas</a:t>
            </a:r>
            <a:endParaRPr lang="en-US" sz="1000" dirty="0"/>
          </a:p>
        </p:txBody>
      </p:sp>
      <p:sp>
        <p:nvSpPr>
          <p:cNvPr id="17" name="Shape 14"/>
          <p:cNvSpPr/>
          <p:nvPr/>
        </p:nvSpPr>
        <p:spPr>
          <a:xfrm>
            <a:off x="8983980" y="1810512"/>
            <a:ext cx="2628900" cy="749808"/>
          </a:xfrm>
          <a:prstGeom prst="roundRect">
            <a:avLst>
              <a:gd name="adj" fmla="val 9756"/>
            </a:avLst>
          </a:prstGeom>
          <a:solidFill>
            <a:schemeClr val="accent4"/>
          </a:solidFill>
          <a:ln w="12700">
            <a:solidFill>
              <a:srgbClr val="DCD8EC"/>
            </a:solidFill>
            <a:prstDash val="solid"/>
          </a:ln>
        </p:spPr>
      </p:sp>
      <p:sp>
        <p:nvSpPr>
          <p:cNvPr id="18" name="Shape 15"/>
          <p:cNvSpPr/>
          <p:nvPr/>
        </p:nvSpPr>
        <p:spPr>
          <a:xfrm>
            <a:off x="9121140" y="1984248"/>
            <a:ext cx="384048" cy="384048"/>
          </a:xfrm>
          <a:prstGeom prst="ellipse">
            <a:avLst/>
          </a:prstGeom>
          <a:solidFill>
            <a:schemeClr val="accent3"/>
          </a:solidFill>
          <a:ln w="12700">
            <a:solidFill>
              <a:schemeClr val="accent3"/>
            </a:solidFill>
            <a:prstDash val="solid"/>
          </a:ln>
        </p:spPr>
      </p:sp>
      <p:sp>
        <p:nvSpPr>
          <p:cNvPr id="19" name="Text 16"/>
          <p:cNvSpPr txBox="1"/>
          <p:nvPr/>
        </p:nvSpPr>
        <p:spPr>
          <a:xfrm>
            <a:off x="9121140" y="19842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 17"/>
          <p:cNvSpPr txBox="1"/>
          <p:nvPr/>
        </p:nvSpPr>
        <p:spPr>
          <a:xfrm>
            <a:off x="9578340" y="1828800"/>
            <a:ext cx="1943100" cy="713232"/>
          </a:xfrm>
          <a:prstGeom prst="rect">
            <a:avLst/>
          </a:prstGeom>
          <a:noFill/>
          <a:ln/>
        </p:spPr>
        <p:txBody>
          <a:bodyPr wrap="square" lIns="0" tIns="0" rIns="0" bIns="0" rtlCol="0" anchor="ctr"/>
          <a:lstStyle/>
          <a:p>
            <a:pPr indent="0" marL="0">
              <a:buNone/>
            </a:pPr>
            <a:r>
              <a:rPr lang="en-US" sz="1000" b="1" dirty="0">
                <a:solidFill>
                  <a:schemeClr val="tx2"/>
                </a:solidFill>
              </a:rPr>
              <a:t>Ejemplos para construir</a:t>
            </a:r>
            <a:endParaRPr lang="en-US" sz="1000" dirty="0"/>
          </a:p>
          <a:p>
            <a:pPr indent="0" marL="0">
              <a:buNone/>
            </a:pPr>
            <a:r>
              <a:rPr lang="en-US" sz="1000" dirty="0">
                <a:solidFill>
                  <a:schemeClr val="tx1"/>
                </a:solidFill>
              </a:rPr>
              <a:t>Al menos tres con datos; el resto llega en la construcción</a:t>
            </a:r>
            <a:endParaRPr lang="en-US" sz="1000" dirty="0"/>
          </a:p>
        </p:txBody>
      </p:sp>
      <p:sp>
        <p:nvSpPr>
          <p:cNvPr id="21" name="Text 18"/>
          <p:cNvSpPr txBox="1"/>
          <p:nvPr/>
        </p:nvSpPr>
        <p:spPr>
          <a:xfrm>
            <a:off x="548640" y="2697480"/>
            <a:ext cx="11064240" cy="292608"/>
          </a:xfrm>
          <a:prstGeom prst="rect">
            <a:avLst/>
          </a:prstGeom>
          <a:noFill/>
          <a:ln/>
        </p:spPr>
        <p:txBody>
          <a:bodyPr wrap="square" lIns="0" tIns="0" rIns="0" bIns="0" rtlCol="0" anchor="t"/>
          <a:lstStyle/>
          <a:p>
            <a:pPr indent="0" marL="0">
              <a:buNone/>
            </a:pPr>
            <a:r>
              <a:rPr lang="en-US" sz="1250" b="1" dirty="0">
                <a:solidFill>
                  <a:schemeClr val="tx2"/>
                </a:solidFill>
              </a:rPr>
              <a:t>Dependencias y cómo evitamos que nos bloqueen</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651760"/>
                <a:gridCol w="2286000"/>
                <a:gridCol w="2286000"/>
                <a:gridCol w="3840480"/>
              </a:tblGrid>
              <a:tr h="292608">
                <a:tc>
                  <a:txBody>
                    <a:bodyPr/>
                    <a:lstStyle/>
                    <a:p>
                      <a:pPr indent="0" marL="0">
                        <a:buNone/>
                      </a:pPr>
                      <a:r>
                        <a:rPr lang="en-US" sz="950" b="1" dirty="0">
                          <a:solidFill>
                            <a:schemeClr val="bg1"/>
                          </a:solidFill>
                        </a:rPr>
                        <a:t>Dependencia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Dueño</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Riesgo si se demora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Cómo la cuidamos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457200">
                <a:tc>
                  <a:txBody>
                    <a:bodyPr/>
                    <a:lstStyle/>
                    <a:p>
                      <a:pPr indent="0" marL="0">
                        <a:buNone/>
                      </a:pPr>
                      <a:r>
                        <a:rPr lang="en-US" sz="950" b="1" dirty="0">
                          <a:solidFill>
                            <a:schemeClr val="tx2"/>
                          </a:solidFill>
                        </a:rPr>
                        <a:t>Certificación al ritmo de las entregas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Líder funcional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Capacidades represadas en QA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Acuerdo de 48 h, límite de 4 en certificación y bloqueos de SURA a la vista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950" b="1" dirty="0">
                          <a:solidFill>
                            <a:schemeClr val="tx2"/>
                          </a:solidFill>
                        </a:rPr>
                        <a:t>Front Angular y canales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Equipos de front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Lo construido no se ve de punta a punta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Contrato del arranque; construimos y verificamos contra el simulador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950" b="1" dirty="0">
                          <a:solidFill>
                            <a:schemeClr val="tx2"/>
                          </a:solidFill>
                        </a:rPr>
                        <a:t>API orquestadora de cada gestor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Equipos de integración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El agente no recibe ni entrega en el gestor real</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Simulador que mantiene Tech; se cambia por la API real sin tocar el agente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950" b="1" dirty="0">
                          <a:solidFill>
                            <a:schemeClr val="tx2"/>
                          </a:solidFill>
                        </a:rPr>
                        <a:t>Core SuraHis: reglas, histórico y gateways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Equipo del core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Reglas o datos distintos a los supuestos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Simulador con casos reales anonimizados; el golden set detecta diferencias al integrar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950" b="1" dirty="0">
                          <a:solidFill>
                            <a:schemeClr val="tx2"/>
                          </a:solidFill>
                        </a:rPr>
                        <a:t>Accesos, ambientes y plataforma agéntica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Arquitecto técnico de negocio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El arranque no cierra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Condición de salida del arranque; solo herramientas que SURA autorice</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950" b="1" dirty="0">
                          <a:solidFill>
                            <a:schemeClr val="tx2"/>
                          </a:solidFill>
                        </a:rPr>
                        <a:t>Muestra clínica anonimizada y expertos</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Negocio y equipo médico de SURA</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Juez sin calibrar y pertinencia sin validar</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950" dirty="0">
                          <a:solidFill>
                            <a:srgbClr val="000000"/>
                          </a:solidFill>
                        </a:rPr>
                        <a:t>Evaluación dentro de la infraestructura de SURA (lámina 11)</a:t>
                      </a:r>
                      <a:endParaRPr lang="en-US" sz="95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Tech and Solve: más que tecnología, resultados sostenibles para SURA</a:t>
            </a:r>
            <a:endParaRPr lang="en-US" sz="2800" dirty="0"/>
          </a:p>
        </p:txBody>
      </p:sp>
      <p:sp>
        <p:nvSpPr>
          <p:cNvPr id="4" name="Shape 1"/>
          <p:cNvSpPr/>
          <p:nvPr/>
        </p:nvSpPr>
        <p:spPr>
          <a:xfrm>
            <a:off x="548640" y="1600200"/>
            <a:ext cx="3383280" cy="4297680"/>
          </a:xfrm>
          <a:prstGeom prst="roundRect">
            <a:avLst>
              <a:gd name="adj" fmla="val 2703"/>
            </a:avLst>
          </a:prstGeom>
          <a:solidFill>
            <a:schemeClr val="tx2"/>
          </a:solidFill>
          <a:ln w="12700">
            <a:solidFill>
              <a:schemeClr val="tx2"/>
            </a:solidFill>
            <a:prstDash val="solid"/>
          </a:ln>
        </p:spPr>
      </p:sp>
      <p:sp>
        <p:nvSpPr>
          <p:cNvPr id="5" name="Text 2"/>
          <p:cNvSpPr txBox="1"/>
          <p:nvPr/>
        </p:nvSpPr>
        <p:spPr>
          <a:xfrm>
            <a:off x="822960" y="1828800"/>
            <a:ext cx="2834640" cy="210312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Un equipo que combina visión de negocio, excelencia técnica e IA generativa propia para acelerar resultados medibles y sostenibles.</a:t>
            </a:r>
            <a:endParaRPr lang="en-US" sz="1700" dirty="0"/>
          </a:p>
        </p:txBody>
      </p:sp>
      <p:sp>
        <p:nvSpPr>
          <p:cNvPr id="6" name="Text 3"/>
          <p:cNvSpPr txBox="1"/>
          <p:nvPr/>
        </p:nvSpPr>
        <p:spPr>
          <a:xfrm>
            <a:off x="822960" y="3977640"/>
            <a:ext cx="2834640" cy="1783080"/>
          </a:xfrm>
          <a:prstGeom prst="rect">
            <a:avLst/>
          </a:prstGeom>
          <a:noFill/>
          <a:ln/>
        </p:spPr>
        <p:txBody>
          <a:bodyPr wrap="square" lIns="0" tIns="0" rIns="0" bIns="0" rtlCol="0" anchor="t"/>
          <a:lstStyle/>
          <a:p>
            <a:pPr indent="0" marL="0">
              <a:buNone/>
            </a:pPr>
            <a:r>
              <a:rPr lang="en-US" sz="1300" dirty="0">
                <a:solidFill>
                  <a:schemeClr val="bg2"/>
                </a:solidFill>
              </a:rPr>
              <a:t>Conocemos la arquitectura de gestores, trabajamos en flujo continuo con SURA y construimos con una IA propia que acelera sin perder control.</a:t>
            </a:r>
            <a:endParaRPr lang="en-US" sz="1300" dirty="0"/>
          </a:p>
        </p:txBody>
      </p:sp>
      <p:sp>
        <p:nvSpPr>
          <p:cNvPr id="7" name="Shape 4"/>
          <p:cNvSpPr/>
          <p:nvPr/>
        </p:nvSpPr>
        <p:spPr>
          <a:xfrm>
            <a:off x="4114800" y="1600200"/>
            <a:ext cx="3657600" cy="1325880"/>
          </a:xfrm>
          <a:prstGeom prst="roundRect">
            <a:avLst>
              <a:gd name="adj" fmla="val 5517"/>
            </a:avLst>
          </a:prstGeom>
          <a:solidFill>
            <a:schemeClr val="accent4"/>
          </a:solidFill>
          <a:ln w="12700">
            <a:solidFill>
              <a:srgbClr val="DCD8EC"/>
            </a:solidFill>
            <a:prstDash val="solid"/>
          </a:ln>
        </p:spPr>
      </p:sp>
      <p:sp>
        <p:nvSpPr>
          <p:cNvPr id="8" name="Shape 5"/>
          <p:cNvSpPr/>
          <p:nvPr/>
        </p:nvSpPr>
        <p:spPr>
          <a:xfrm>
            <a:off x="4297680" y="1764792"/>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29768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7"/>
          <p:cNvSpPr txBox="1"/>
          <p:nvPr/>
        </p:nvSpPr>
        <p:spPr>
          <a:xfrm>
            <a:off x="480060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Capacidades distintivas</a:t>
            </a:r>
            <a:endParaRPr lang="en-US" sz="1400" dirty="0"/>
          </a:p>
        </p:txBody>
      </p:sp>
      <p:sp>
        <p:nvSpPr>
          <p:cNvPr id="11" name="Text 8"/>
          <p:cNvSpPr txBox="1"/>
          <p:nvPr/>
        </p:nvSpPr>
        <p:spPr>
          <a:xfrm>
            <a:off x="429768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Expertos en sistemas agénticos y arquitectura de gestores.</a:t>
            </a:r>
            <a:endParaRPr lang="en-US" sz="1200" dirty="0"/>
          </a:p>
        </p:txBody>
      </p:sp>
      <p:sp>
        <p:nvSpPr>
          <p:cNvPr id="12" name="Shape 9"/>
          <p:cNvSpPr/>
          <p:nvPr/>
        </p:nvSpPr>
        <p:spPr>
          <a:xfrm>
            <a:off x="7955280" y="1600200"/>
            <a:ext cx="3657600" cy="1325880"/>
          </a:xfrm>
          <a:prstGeom prst="roundRect">
            <a:avLst>
              <a:gd name="adj" fmla="val 5517"/>
            </a:avLst>
          </a:prstGeom>
          <a:solidFill>
            <a:schemeClr val="accent4"/>
          </a:solidFill>
          <a:ln w="12700">
            <a:solidFill>
              <a:srgbClr val="DCD8EC"/>
            </a:solidFill>
            <a:prstDash val="solid"/>
          </a:ln>
        </p:spPr>
      </p:sp>
      <p:sp>
        <p:nvSpPr>
          <p:cNvPr id="13" name="Shape 10"/>
          <p:cNvSpPr/>
          <p:nvPr/>
        </p:nvSpPr>
        <p:spPr>
          <a:xfrm>
            <a:off x="8138160" y="176479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813816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864108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IA: procesos medibles</a:t>
            </a:r>
            <a:endParaRPr lang="en-US" sz="1400" dirty="0"/>
          </a:p>
        </p:txBody>
      </p:sp>
      <p:sp>
        <p:nvSpPr>
          <p:cNvPr id="16" name="Text 13"/>
          <p:cNvSpPr txBox="1"/>
          <p:nvPr/>
        </p:nvSpPr>
        <p:spPr>
          <a:xfrm>
            <a:off x="813816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IA propia que acelera cada liberación con validación humana.</a:t>
            </a:r>
            <a:endParaRPr lang="en-US" sz="1200" dirty="0"/>
          </a:p>
        </p:txBody>
      </p:sp>
      <p:sp>
        <p:nvSpPr>
          <p:cNvPr id="17" name="Shape 14"/>
          <p:cNvSpPr/>
          <p:nvPr/>
        </p:nvSpPr>
        <p:spPr>
          <a:xfrm>
            <a:off x="4114800" y="3086100"/>
            <a:ext cx="3657600" cy="1325880"/>
          </a:xfrm>
          <a:prstGeom prst="roundRect">
            <a:avLst>
              <a:gd name="adj" fmla="val 5517"/>
            </a:avLst>
          </a:prstGeom>
          <a:solidFill>
            <a:schemeClr val="accent4"/>
          </a:solidFill>
          <a:ln w="12700">
            <a:solidFill>
              <a:srgbClr val="DCD8EC"/>
            </a:solidFill>
            <a:prstDash val="solid"/>
          </a:ln>
        </p:spPr>
      </p:sp>
      <p:sp>
        <p:nvSpPr>
          <p:cNvPr id="18" name="Shape 15"/>
          <p:cNvSpPr/>
          <p:nvPr/>
        </p:nvSpPr>
        <p:spPr>
          <a:xfrm>
            <a:off x="4297680" y="3250692"/>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429768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7"/>
          <p:cNvSpPr txBox="1"/>
          <p:nvPr/>
        </p:nvSpPr>
        <p:spPr>
          <a:xfrm>
            <a:off x="480060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Equipo: estructura flexible</a:t>
            </a:r>
            <a:endParaRPr lang="en-US" sz="1400" dirty="0"/>
          </a:p>
        </p:txBody>
      </p:sp>
      <p:sp>
        <p:nvSpPr>
          <p:cNvPr id="21" name="Text 18"/>
          <p:cNvSpPr txBox="1"/>
          <p:nvPr/>
        </p:nvSpPr>
        <p:spPr>
          <a:xfrm>
            <a:off x="429768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Equipo ágil con arquitecto y desarrolladores dedicados.</a:t>
            </a:r>
            <a:endParaRPr lang="en-US" sz="1200" dirty="0"/>
          </a:p>
        </p:txBody>
      </p:sp>
      <p:sp>
        <p:nvSpPr>
          <p:cNvPr id="22" name="Shape 19"/>
          <p:cNvSpPr/>
          <p:nvPr/>
        </p:nvSpPr>
        <p:spPr>
          <a:xfrm>
            <a:off x="7955280" y="3086100"/>
            <a:ext cx="3657600" cy="1325880"/>
          </a:xfrm>
          <a:prstGeom prst="roundRect">
            <a:avLst>
              <a:gd name="adj" fmla="val 5517"/>
            </a:avLst>
          </a:prstGeom>
          <a:solidFill>
            <a:schemeClr val="accent4"/>
          </a:solidFill>
          <a:ln w="12700">
            <a:solidFill>
              <a:srgbClr val="DCD8EC"/>
            </a:solidFill>
            <a:prstDash val="solid"/>
          </a:ln>
        </p:spPr>
      </p:sp>
      <p:sp>
        <p:nvSpPr>
          <p:cNvPr id="23" name="Shape 20"/>
          <p:cNvSpPr/>
          <p:nvPr/>
        </p:nvSpPr>
        <p:spPr>
          <a:xfrm>
            <a:off x="8138160" y="3250692"/>
            <a:ext cx="384048" cy="384048"/>
          </a:xfrm>
          <a:prstGeom prst="ellipse">
            <a:avLst/>
          </a:prstGeom>
          <a:solidFill>
            <a:schemeClr val="accent1"/>
          </a:solidFill>
          <a:ln w="12700">
            <a:solidFill>
              <a:schemeClr val="accent1"/>
            </a:solidFill>
            <a:prstDash val="solid"/>
          </a:ln>
        </p:spPr>
      </p:sp>
      <p:sp>
        <p:nvSpPr>
          <p:cNvPr id="24" name="Text 21"/>
          <p:cNvSpPr txBox="1"/>
          <p:nvPr/>
        </p:nvSpPr>
        <p:spPr>
          <a:xfrm>
            <a:off x="813816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22"/>
          <p:cNvSpPr txBox="1"/>
          <p:nvPr/>
        </p:nvSpPr>
        <p:spPr>
          <a:xfrm>
            <a:off x="864108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Talento consultivo</a:t>
            </a:r>
            <a:endParaRPr lang="en-US" sz="1400" dirty="0"/>
          </a:p>
        </p:txBody>
      </p:sp>
      <p:sp>
        <p:nvSpPr>
          <p:cNvPr id="26" name="Text 23"/>
          <p:cNvSpPr txBox="1"/>
          <p:nvPr/>
        </p:nvSpPr>
        <p:spPr>
          <a:xfrm>
            <a:off x="813816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Experiencia previa con SURA, mirada crítica de negocio y acompañamiento cercano.</a:t>
            </a:r>
            <a:endParaRPr lang="en-US" sz="1200" dirty="0"/>
          </a:p>
        </p:txBody>
      </p:sp>
      <p:sp>
        <p:nvSpPr>
          <p:cNvPr id="27" name="Shape 24"/>
          <p:cNvSpPr/>
          <p:nvPr/>
        </p:nvSpPr>
        <p:spPr>
          <a:xfrm>
            <a:off x="4114800" y="4572000"/>
            <a:ext cx="7498080" cy="1325880"/>
          </a:xfrm>
          <a:prstGeom prst="roundRect">
            <a:avLst>
              <a:gd name="adj" fmla="val 5517"/>
            </a:avLst>
          </a:prstGeom>
          <a:solidFill>
            <a:schemeClr val="accent4"/>
          </a:solidFill>
          <a:ln w="12700">
            <a:solidFill>
              <a:srgbClr val="DCD8EC"/>
            </a:solidFill>
            <a:prstDash val="solid"/>
          </a:ln>
        </p:spPr>
      </p:sp>
      <p:sp>
        <p:nvSpPr>
          <p:cNvPr id="28" name="Shape 25"/>
          <p:cNvSpPr/>
          <p:nvPr/>
        </p:nvSpPr>
        <p:spPr>
          <a:xfrm>
            <a:off x="4297680" y="4736592"/>
            <a:ext cx="384048" cy="384048"/>
          </a:xfrm>
          <a:prstGeom prst="ellipse">
            <a:avLst/>
          </a:prstGeom>
          <a:solidFill>
            <a:schemeClr val="accent1"/>
          </a:solidFill>
          <a:ln w="12700">
            <a:solidFill>
              <a:schemeClr val="accent1"/>
            </a:solidFill>
            <a:prstDash val="solid"/>
          </a:ln>
        </p:spPr>
      </p:sp>
      <p:sp>
        <p:nvSpPr>
          <p:cNvPr id="29" name="Text 26"/>
          <p:cNvSpPr txBox="1"/>
          <p:nvPr/>
        </p:nvSpPr>
        <p:spPr>
          <a:xfrm>
            <a:off x="4297680" y="47365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7"/>
          <p:cNvSpPr txBox="1"/>
          <p:nvPr/>
        </p:nvSpPr>
        <p:spPr>
          <a:xfrm>
            <a:off x="4800600" y="4709160"/>
            <a:ext cx="6675120" cy="438912"/>
          </a:xfrm>
          <a:prstGeom prst="rect">
            <a:avLst/>
          </a:prstGeom>
          <a:noFill/>
          <a:ln/>
        </p:spPr>
        <p:txBody>
          <a:bodyPr wrap="square" lIns="0" tIns="0" rIns="0" bIns="0" rtlCol="0" anchor="ctr"/>
          <a:lstStyle/>
          <a:p>
            <a:pPr indent="0" marL="0">
              <a:buNone/>
            </a:pPr>
            <a:r>
              <a:rPr lang="en-US" sz="1400" b="1" dirty="0">
                <a:solidFill>
                  <a:schemeClr val="tx2"/>
                </a:solidFill>
              </a:rPr>
              <a:t>Medición integral</a:t>
            </a:r>
            <a:endParaRPr lang="en-US" sz="1400" dirty="0"/>
          </a:p>
        </p:txBody>
      </p:sp>
      <p:sp>
        <p:nvSpPr>
          <p:cNvPr id="31" name="Text 28"/>
          <p:cNvSpPr txBox="1"/>
          <p:nvPr/>
        </p:nvSpPr>
        <p:spPr>
          <a:xfrm>
            <a:off x="4297680" y="5212080"/>
            <a:ext cx="7132320" cy="640080"/>
          </a:xfrm>
          <a:prstGeom prst="rect">
            <a:avLst/>
          </a:prstGeom>
          <a:noFill/>
          <a:ln/>
        </p:spPr>
        <p:txBody>
          <a:bodyPr wrap="square" lIns="0" tIns="0" rIns="0" bIns="0" rtlCol="0" anchor="t"/>
          <a:lstStyle/>
          <a:p>
            <a:pPr indent="0" marL="0">
              <a:buNone/>
            </a:pPr>
            <a:r>
              <a:rPr lang="en-US" sz="1200" dirty="0">
                <a:solidFill>
                  <a:schemeClr val="tx1"/>
                </a:solidFill>
              </a:rPr>
              <a:t>Garantías verificables en calidad, performance y seguridad.</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Tech and Solve">
      <a:dk1>
        <a:srgbClr val="1A1E27"/>
      </a:dk1>
      <a:lt1>
        <a:srgbClr val="FFFFFF"/>
      </a:lt1>
      <a:dk2>
        <a:srgbClr val="280265"/>
      </a:dk2>
      <a:lt2>
        <a:srgbClr val="EBEBFF"/>
      </a:lt2>
      <a:accent1>
        <a:srgbClr val="5300DF"/>
      </a:accent1>
      <a:accent2>
        <a:srgbClr val="B9720A"/>
      </a:accent2>
      <a:accent3>
        <a:srgbClr val="1B6B4F"/>
      </a:accent3>
      <a:accent4>
        <a:srgbClr val="FAF9FE"/>
      </a:accent4>
      <a:accent5>
        <a:srgbClr val="DCD8EC"/>
      </a:accent5>
      <a:accent6>
        <a:srgbClr val="5B5A66"/>
      </a:accent6>
      <a:hlink>
        <a:srgbClr val="5300DF"/>
      </a:hlink>
      <a:folHlink>
        <a:srgbClr val="280265"/>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Tech and Solve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Dinámica de trabajo del equipo</dc:title>
  <dc:subject>PptxGenJS Presentation</dc:subject>
  <dc:creator>Tech and Solve</dc:creator>
  <cp:lastModifiedBy>Tech and Solve</cp:lastModifiedBy>
  <cp:revision>1</cp:revision>
  <dcterms:created xsi:type="dcterms:W3CDTF">2026-10-20T16:14:05Z</dcterms:created>
  <dcterms:modified xsi:type="dcterms:W3CDTF">2026-10-20T16:14:05Z</dcterms:modified>
</cp:coreProperties>
</file>