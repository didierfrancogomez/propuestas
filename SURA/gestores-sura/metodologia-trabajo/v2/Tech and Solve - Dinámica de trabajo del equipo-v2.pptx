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362a461a-0b4b-1dbb-4b40-fa7ed23eb811}">
          <p14:sldIdLst>
            <p14:sldId id="256"/>
          </p14:sldIdLst>
        </p14:section>
        <p14:section name="Dinámica de trabajo" id="{c01510b9-1612-f194-b399-c9c6d826d51e}">
          <p14:sldIdLst>
            <p14:sldId id="257"/>
            <p14:sldId id="258"/>
            <p14:sldId id="259"/>
            <p14:sldId id="260"/>
            <p14:sldId id="261"/>
            <p14:sldId id="262"/>
            <p14:sldId id="263"/>
            <p14:sldId id="264"/>
            <p14:sldId id="265"/>
            <p14:sldId id="266"/>
            <p14:sldId id="267"/>
            <p14:sldId id="268"/>
            <p14:sldId id="269"/>
          </p14:sldIdLst>
        </p14:section>
        <p14:section name="IA de Tech and Solve" id="{a9ed493d-dffd-7b16-52bb-cde3c6eb2487}">
          <p14:sldIdLst>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de la propuesta: qué equipo proponemos, cómo trabajaría con SURA y qué lo diferencia.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equipo construye los sistemas agénticos; el front y la integración los lideran los equipos de SURA. Trabaja en flujo continuo: SURA define las características y certifica cada micro-liberación. Todo lo que sigue es una sugerencia de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liderazgo de Tech and Solve acompaña de forma puntual: Raúl en los hitos clave, con una mirada crítica de negocio y de solución; Alexandra, con la experiencia y los estándares de toda la compañía; y Jorge, como punto de contacto con SURA para que cada micro-liberación cumpla lo acordado. El arquitecto define el cómo, se alinea con el equipo de arquitectura de SURA y revisa. Los desarrolladores refinan, dimensionan y luego implementan. Trabajan sobre el mismo backlog y cada uno toma la siguiente característica priorizada; no hay frentes repartidos. El soporte es un rol más del equipo implementador: una persona a media jornada atiende lo que ya opera, para que el flujo de nuevas características no se interrumpa.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ocho etapas que recorre cada característica, una por una y a su ritmo, sin esperar a las demás. Las etapas 1 a 3 las define SURA con el equipo; la 4 y la 5 las hace el equipo con el negocio cerca; la 6 es la certificación, que hace SURA en QA; la 7 es la liberación, que SURA activa cuando decide, y la 8 confirma que superó la observación sin incidentes. La mejora continua es transversal.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equipo construye los agentes y lo que los gobierna.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arquitecto no implementa características: define con el equipo cómo se construye, lo alinea con el equipo de arquitectura de SURA y revisa que el equipo lo cumpla. Sus ajustes a los lineamientos ocurren de forma continua.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sesión de definición es el espacio de SURA dentro del flujo. Pedimos presencia constante del negocio junto al equipo, como cuando el usuario se sentaba con los programadores, porque con liberaciones frecuentes la característica es sobre todo una conversación. De ahí sale el criterio de aceptación; el equipo resuelve el detalle técnico en el refinamiento interno. El golden set sigue exigiendo rigor en las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tallas que existen hoy son de las metas funcionales y sirven para ordenar el backlog. De cada meta funcional se desprenden características, que son acotadas o amplias; las amplias se parten antes de construirse. El equipo mantiene pocas características a la vez para que cada una llegue pronto a certificación.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Incluye lo propio de los agentes, golden set y traza, y una especificación mínima antes de construir. Una característica se da por hecha cuando SURA la certifica.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Después de la primera liberación, el desarrollo deja de agruparse en lotes y pasa a ser un flujo continuo: cada característica se libera por separado al ambiente de certificación, con micro-liberaciones cada dos o tres días. Tech entrega cada característica en QA, el ambiente de certificación. SURA certifica en QA, con acuerdos de servicio de certificación que define SURA, y decide cuándo activar lo certificado en producción. Hay una actividad transversal de mejora continua, técnica y de alineación con el negocio de SURA, a cargo del arquitecto. Una persona a media jornada atiende el soporte para no interrumpir el flujo.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matriz sigue las etapas que recorre una característica. El negocio de SURA está presente junto al equipo durante la definición y la construcción, y SURA certifica antes de que algo pase a producción.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columnas son las etapas de la lámina 4, y cada una indica quién participa: SURA propone, certifica y decide cuándo activar; el equipo tech construye y verifica; en la definición, en la liberación y en lo estable trabajan los dos. Dos desarrolladores implican como máximo dos cosas en construcción: si aparece una tercera, se termina una antes. Los acuerdos son revisables en la mejora continua.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cada micro-liberación, SURA recibe tres cosas: las características trabajadas con su estado, lo entregado en QA (el ambiente de certificación) y las evidencias de cada implementación según la definición de hecho. Se prueba con datos sintéticos, nunca con datos reales de pacientes. SURA certifica y decide cuándo activar en producción.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un orden sugerido; el orden real lo decide SURA en el backlog, sesión a sesión. Los hitos de activación dependen también del front y la integración, que lideran los equipos de SURA. La trazabilidad para la torre de control es transversal.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Versión en capas. Abajo, los modelos de primer nivel de Anthropic, elegidos según la complejidad, siempre con autorización de SURA. En el medio, lo que construimos y nos hace distintos: base de conocimiento, proceso por fases, reglas desde revisiones reales, agentes especializados y controles con firma humana. Arriba, quién la usa: solo nuestro equipo tech; no se comercializa ni se abre a terceros.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IDE con IA depende de lo que el desarrollador le dé y de su disciplina. La IA de Tech and Solve trabaja con una base de conocimiento sincronizada con el código, reglas escritas desde revisiones reales, un proceso por fases que se detiene ante bloqueos, compuertas que no puede saltar y firma humana para publicar. Ya opera así en proyectos de clientes.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etapa de la lámina 4 usa la IA propia de Tech and Solve donde más rinde, y cada paso tiene una persona que valida. Esa combinación es la que acelera sin perder control. La mejora continua es transversal: la IA deja cada tarea versionada y retomable, y el proceso solo cambia por decisión del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columna de hoy describe lo que nuestra IA ya hace en cada cambio. La de SURA es cómo se aplican esas garantías a los agentes: golden set, juez calibrado, latencia y costo observados, y techos de autonomía.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 la propuesta. Resume las dos secciones: la dinámica de trabajo con SURA y la IA de Tech and Solve. El argumento más fuerte es que ya conocemos la arquitectura de gestores por el trabajo previo con SURA.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ULO">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6382512"/>
            <a:ext cx="603504" cy="316382"/>
          </a:xfrm>
          <a:prstGeom prst="rect">
            <a:avLst/>
          </a:prstGeom>
        </p:spPr>
      </p:pic>
      <p:sp>
        <p:nvSpPr>
          <p:cNvPr id="3" name="Text 0"/>
          <p:cNvSpPr/>
          <p:nvPr/>
        </p:nvSpPr>
        <p:spPr>
          <a:xfrm>
            <a:off x="1280160" y="6382512"/>
            <a:ext cx="7315200" cy="320040"/>
          </a:xfrm>
          <a:prstGeom prst="rect">
            <a:avLst/>
          </a:prstGeom>
          <a:noFill/>
          <a:ln/>
        </p:spPr>
        <p:txBody>
          <a:bodyPr wrap="square" lIns="0" tIns="0" rIns="0" bIns="0" rtlCol="0" anchor="ctr"/>
          <a:lstStyle/>
          <a:p>
            <a:pPr indent="0" marL="0">
              <a:buNone/>
            </a:pPr>
            <a:r>
              <a:rPr lang="en-US" sz="1100" dirty="0">
                <a:solidFill>
                  <a:schemeClr val="accent6"/>
                </a:solidFill>
              </a:rPr>
              <a:t>Dinámica de trabajo del equipo · MVP de gestores · SURA</a:t>
            </a:r>
            <a:endParaRPr lang="en-US" sz="1100" dirty="0"/>
          </a:p>
        </p:txBody>
      </p:sp>
      <p:sp>
        <p:nvSpPr>
          <p:cNvPr id="4" name="Text 1"/>
          <p:cNvSpPr/>
          <p:nvPr>
            <p:ph idx="102" type="title" hasCustomPrompt="1"/>
          </p:nvPr>
        </p:nvSpPr>
        <p:spPr>
          <a:xfrm>
            <a:off x="548640" y="411480"/>
            <a:ext cx="11064240" cy="96012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jpeg"/><Relationship Id="rId3" Type="http://schemas.openxmlformats.org/officeDocument/2006/relationships/image" Target="../media/image-2-3.jpeg"/><Relationship Id="rId4" Type="http://schemas.openxmlformats.org/officeDocument/2006/relationships/image" Target="../media/image-2-4.jpeg"/><Relationship Id="rId5" Type="http://schemas.openxmlformats.org/officeDocument/2006/relationships/image" Target="../media/image-2-5.jpeg"/><Relationship Id="rId6" Type="http://schemas.openxmlformats.org/officeDocument/2006/relationships/image" Target="../media/image-2-6.jpeg"/><Relationship Id="rId7" Type="http://schemas.openxmlformats.org/officeDocument/2006/relationships/image" Target="../media/image-2-7.jpeg"/><Relationship Id="rId8" Type="http://schemas.openxmlformats.org/officeDocument/2006/relationships/slideLayout" Target="../slideLayouts/slideLayout2.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jpeg"/><Relationship Id="rId3" Type="http://schemas.openxmlformats.org/officeDocument/2006/relationships/image" Target="../media/image-3-3.jpeg"/><Relationship Id="rId4" Type="http://schemas.openxmlformats.org/officeDocument/2006/relationships/image" Target="../media/image-3-4.jpeg"/><Relationship Id="rId5" Type="http://schemas.openxmlformats.org/officeDocument/2006/relationships/image" Target="../media/image-3-5.jpeg"/><Relationship Id="rId6" Type="http://schemas.openxmlformats.org/officeDocument/2006/relationships/image" Target="../media/image-3-6.jpe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gilemanifesto.org/iso/es/manifesto.html" TargetMode="Externa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w="12700">
            <a:solidFill>
              <a:schemeClr val="tx2"/>
            </a:solidFill>
            <a:prstDash val="solid"/>
          </a:ln>
        </p:spPr>
      </p:sp>
      <p:sp>
        <p:nvSpPr>
          <p:cNvPr id="3" name="Shape 1"/>
          <p:cNvSpPr/>
          <p:nvPr/>
        </p:nvSpPr>
        <p:spPr>
          <a:xfrm>
            <a:off x="731520" y="640080"/>
            <a:ext cx="1737360" cy="914400"/>
          </a:xfrm>
          <a:prstGeom prst="roundRect">
            <a:avLst>
              <a:gd name="adj" fmla="val 10000"/>
            </a:avLst>
          </a:prstGeom>
          <a:solidFill>
            <a:schemeClr val="bg1"/>
          </a:solidFill>
          <a:ln w="12700">
            <a:solidFill>
              <a:schemeClr val="bg1"/>
            </a:solidFill>
            <a:prstDash val="solid"/>
          </a:ln>
        </p:spPr>
      </p:sp>
      <p:pic>
        <p:nvPicPr>
          <p:cNvPr id="4" name="Image 0" descr="preencoded.png">    </p:cNvPr>
          <p:cNvPicPr>
            <a:picLocks noChangeAspect="1"/>
          </p:cNvPicPr>
          <p:nvPr/>
        </p:nvPicPr>
        <p:blipFill>
          <a:blip r:embed="rId1"/>
          <a:stretch>
            <a:fillRect/>
          </a:stretch>
        </p:blipFill>
        <p:spPr>
          <a:xfrm>
            <a:off x="841248" y="713232"/>
            <a:ext cx="1517904" cy="795528"/>
          </a:xfrm>
          <a:prstGeom prst="rect">
            <a:avLst/>
          </a:prstGeom>
        </p:spPr>
      </p:pic>
      <p:sp>
        <p:nvSpPr>
          <p:cNvPr id="5" name="Text 2"/>
          <p:cNvSpPr txBox="1"/>
          <p:nvPr/>
        </p:nvSpPr>
        <p:spPr>
          <a:xfrm>
            <a:off x="731520" y="2240280"/>
            <a:ext cx="7315200" cy="320040"/>
          </a:xfrm>
          <a:prstGeom prst="rect">
            <a:avLst/>
          </a:prstGeom>
          <a:noFill/>
          <a:ln/>
        </p:spPr>
        <p:txBody>
          <a:bodyPr wrap="square" lIns="0" tIns="0" rIns="0" bIns="0" rtlCol="0" anchor="t"/>
          <a:lstStyle/>
          <a:p>
            <a:pPr indent="0" marL="0">
              <a:buNone/>
            </a:pPr>
            <a:r>
              <a:rPr lang="en-US" sz="1300" b="1" spc="300" kern="0" dirty="0">
                <a:solidFill>
                  <a:schemeClr val="bg2"/>
                </a:solidFill>
              </a:rPr>
              <a:t>MÉTODO DE TRABAJO DE TECH AND SOLVE PARA SURA</a:t>
            </a:r>
            <a:endParaRPr lang="en-US" sz="1300" dirty="0"/>
          </a:p>
        </p:txBody>
      </p:sp>
      <p:sp>
        <p:nvSpPr>
          <p:cNvPr id="6" name="Text 3"/>
          <p:cNvSpPr txBox="1"/>
          <p:nvPr/>
        </p:nvSpPr>
        <p:spPr>
          <a:xfrm>
            <a:off x="731520" y="2606040"/>
            <a:ext cx="10515600" cy="1600200"/>
          </a:xfrm>
          <a:prstGeom prst="rect">
            <a:avLst/>
          </a:prstGeom>
          <a:noFill/>
          <a:ln/>
        </p:spPr>
        <p:txBody>
          <a:bodyPr wrap="square" lIns="0" tIns="0" rIns="0" bIns="0" rtlCol="0" anchor="t"/>
          <a:lstStyle/>
          <a:p>
            <a:pPr indent="0" marL="0">
              <a:buNone/>
            </a:pPr>
            <a:r>
              <a:rPr lang="en-US" sz="4400" b="1" dirty="0">
                <a:solidFill>
                  <a:schemeClr val="bg1"/>
                </a:solidFill>
                <a:latin typeface="+mj-lt" pitchFamily="34" charset="0"/>
                <a:ea typeface="+mj-lt" pitchFamily="34" charset="-122"/>
                <a:cs typeface="+mj-lt" pitchFamily="34" charset="-120"/>
              </a:rPr>
              <a:t>MVP de Gestores:</a:t>
            </a:r>
            <a:endParaRPr lang="en-US" sz="4400" dirty="0"/>
          </a:p>
          <a:p>
            <a:pPr indent="0" marL="0">
              <a:buNone/>
            </a:pPr>
            <a:r>
              <a:rPr lang="en-US" sz="4400" b="1" dirty="0">
                <a:solidFill>
                  <a:schemeClr val="bg1"/>
                </a:solidFill>
                <a:latin typeface="+mj-lt" pitchFamily="34" charset="0"/>
                <a:ea typeface="+mj-lt" pitchFamily="34" charset="-122"/>
                <a:cs typeface="+mj-lt" pitchFamily="34" charset="-120"/>
              </a:rPr>
              <a:t>innovación para SURA</a:t>
            </a:r>
            <a:endParaRPr lang="en-US" sz="4400" dirty="0"/>
          </a:p>
        </p:txBody>
      </p:sp>
      <p:sp>
        <p:nvSpPr>
          <p:cNvPr id="7" name="Text 4"/>
          <p:cNvSpPr txBox="1"/>
          <p:nvPr/>
        </p:nvSpPr>
        <p:spPr>
          <a:xfrm>
            <a:off x="731520" y="4434840"/>
            <a:ext cx="10515600" cy="822960"/>
          </a:xfrm>
          <a:prstGeom prst="rect">
            <a:avLst/>
          </a:prstGeom>
          <a:noFill/>
          <a:ln/>
        </p:spPr>
        <p:txBody>
          <a:bodyPr wrap="square" lIns="0" tIns="0" rIns="0" bIns="0" rtlCol="0" anchor="t"/>
          <a:lstStyle/>
          <a:p>
            <a:pPr indent="0" marL="0">
              <a:buNone/>
            </a:pPr>
            <a:r>
              <a:rPr lang="en-US" sz="2000" b="1" dirty="0">
                <a:solidFill>
                  <a:schemeClr val="bg1"/>
                </a:solidFill>
              </a:rPr>
              <a:t>Un equipo multidisciplinario dedicado al éxito de SURA,</a:t>
            </a:r>
            <a:endParaRPr lang="en-US" sz="2000" dirty="0"/>
          </a:p>
          <a:p>
            <a:pPr indent="0" marL="0">
              <a:buNone/>
            </a:pPr>
            <a:r>
              <a:rPr lang="en-US" sz="2000" b="1" dirty="0">
                <a:solidFill>
                  <a:schemeClr val="bg1"/>
                </a:solidFill>
              </a:rPr>
              <a:t>con IA generativa propia que acelera resultados medibles</a:t>
            </a:r>
            <a:endParaRPr lang="en-US" sz="2000" dirty="0"/>
          </a:p>
        </p:txBody>
      </p:sp>
      <p:sp>
        <p:nvSpPr>
          <p:cNvPr id="8" name="Shape 5"/>
          <p:cNvSpPr/>
          <p:nvPr/>
        </p:nvSpPr>
        <p:spPr>
          <a:xfrm>
            <a:off x="731520" y="5669280"/>
            <a:ext cx="10725912" cy="0"/>
          </a:xfrm>
          <a:prstGeom prst="line">
            <a:avLst/>
          </a:prstGeom>
          <a:noFill/>
          <a:ln w="9525">
            <a:solidFill>
              <a:schemeClr val="bg2">
                <a:alpha val="40000"/>
              </a:schemeClr>
            </a:solidFill>
            <a:prstDash val="solid"/>
          </a:ln>
        </p:spPr>
      </p:sp>
      <p:sp>
        <p:nvSpPr>
          <p:cNvPr id="9" name="Text 6"/>
          <p:cNvSpPr txBox="1"/>
          <p:nvPr/>
        </p:nvSpPr>
        <p:spPr>
          <a:xfrm>
            <a:off x="731520" y="5779008"/>
            <a:ext cx="5943600" cy="548640"/>
          </a:xfrm>
          <a:prstGeom prst="rect">
            <a:avLst/>
          </a:prstGeom>
          <a:noFill/>
          <a:ln/>
        </p:spPr>
        <p:txBody>
          <a:bodyPr wrap="square" lIns="0" tIns="0" rIns="0" bIns="0" rtlCol="0" anchor="t"/>
          <a:lstStyle/>
          <a:p>
            <a:pPr indent="0" marL="0">
              <a:buNone/>
            </a:pPr>
            <a:r>
              <a:rPr lang="en-US" sz="1100" dirty="0">
                <a:solidFill>
                  <a:schemeClr val="bg2"/>
                </a:solidFill>
              </a:rPr>
              <a:t>SURA Colombia · Transformación prestación y reclamaciones</a:t>
            </a:r>
            <a:endParaRPr lang="en-US" sz="1100" dirty="0"/>
          </a:p>
          <a:p>
            <a:pPr indent="0" marL="0">
              <a:buNone/>
            </a:pPr>
            <a:r>
              <a:rPr lang="en-US" sz="1100" dirty="0">
                <a:solidFill>
                  <a:schemeClr val="bg2"/>
                </a:solidFill>
              </a:rPr>
              <a:t>MVP de autorizaciones de salud</a:t>
            </a:r>
            <a:endParaRPr lang="en-US" sz="1100" dirty="0"/>
          </a:p>
        </p:txBody>
      </p:sp>
      <p:sp>
        <p:nvSpPr>
          <p:cNvPr id="10" name="Text 7"/>
          <p:cNvSpPr txBox="1"/>
          <p:nvPr/>
        </p:nvSpPr>
        <p:spPr>
          <a:xfrm>
            <a:off x="6675120" y="5779008"/>
            <a:ext cx="4782312" cy="548640"/>
          </a:xfrm>
          <a:prstGeom prst="rect">
            <a:avLst/>
          </a:prstGeom>
          <a:noFill/>
          <a:ln/>
        </p:spPr>
        <p:txBody>
          <a:bodyPr wrap="square" lIns="0" tIns="0" rIns="0" bIns="0" rtlCol="0" anchor="t"/>
          <a:lstStyle/>
          <a:p>
            <a:pPr algn="r" indent="0" marL="0">
              <a:buNone/>
            </a:pPr>
            <a:r>
              <a:rPr lang="en-US" sz="1100" dirty="0">
                <a:solidFill>
                  <a:schemeClr val="bg2"/>
                </a:solidFill>
              </a:rPr>
              <a:t>Tech and Solve · Octubre de 2026</a:t>
            </a:r>
            <a:endParaRPr lang="en-US" sz="1100" dirty="0"/>
          </a:p>
          <a:p>
            <a:pPr algn="r" indent="0" marL="0">
              <a:buNone/>
            </a:pPr>
            <a:r>
              <a:rPr lang="en-US" sz="1100" dirty="0">
                <a:solidFill>
                  <a:schemeClr val="bg2"/>
                </a:solidFill>
              </a:rPr>
              <a:t>Documento confidencial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name="Slide 2">
    <p:spTree>
      <p:nvGrpSpPr>
        <p:cNvPr id="1" name=""/>
        <p:cNvGrpSpPr/>
        <p:nvPr/>
      </p:nvGrpSpPr>
      <p:grpSpPr>
        <a:xfrm>
          <a:off x="0" y="0"/>
          <a:ext cx="0" cy="0"/>
          <a:chOff x="0" y="0"/>
          <a:chExt cx="0" cy="0"/>
        </a:xfrm>
      </p:grpSpPr>
      <p:sp>
        <p:nvSpPr>
          <p:cNvPr id="2" name="Shape 0"/>
          <p:cNvSpPr/>
          <p:nvPr/>
        </p:nvSpPr>
        <p:spPr>
          <a:xfrm>
            <a:off x="7863840" y="0"/>
            <a:ext cx="4327855" cy="6858000"/>
          </a:xfrm>
          <a:prstGeom prst="rect">
            <a:avLst/>
          </a:prstGeom>
          <a:solidFill>
            <a:schemeClr val="tx2"/>
          </a:solidFill>
          <a:ln w="12700">
            <a:solidFill>
              <a:schemeClr val="tx2"/>
            </a:solidFill>
            <a:prstDash val="solid"/>
          </a:ln>
        </p:spPr>
      </p:sp>
      <p:pic>
        <p:nvPicPr>
          <p:cNvPr id="3" name="Image 0" descr="preencoded.png">    </p:cNvPr>
          <p:cNvPicPr>
            <a:picLocks noChangeAspect="1"/>
          </p:cNvPicPr>
          <p:nvPr/>
        </p:nvPicPr>
        <p:blipFill>
          <a:blip r:embed="rId1"/>
          <a:stretch>
            <a:fillRect/>
          </a:stretch>
        </p:blipFill>
        <p:spPr>
          <a:xfrm>
            <a:off x="731520" y="640080"/>
            <a:ext cx="1737360" cy="909828"/>
          </a:xfrm>
          <a:prstGeom prst="rect">
            <a:avLst/>
          </a:prstGeom>
        </p:spPr>
      </p:pic>
      <p:sp>
        <p:nvSpPr>
          <p:cNvPr id="4" name="Text 1"/>
          <p:cNvSpPr txBox="1"/>
          <p:nvPr/>
        </p:nvSpPr>
        <p:spPr>
          <a:xfrm>
            <a:off x="731520" y="2148840"/>
            <a:ext cx="6766560" cy="1554480"/>
          </a:xfrm>
          <a:prstGeom prst="rect">
            <a:avLst/>
          </a:prstGeom>
          <a:noFill/>
          <a:ln/>
        </p:spPr>
        <p:txBody>
          <a:bodyPr wrap="square" lIns="0" tIns="0" rIns="0" bIns="0" rtlCol="0" anchor="t"/>
          <a:lstStyle/>
          <a:p>
            <a:pPr indent="0" marL="0">
              <a:buNone/>
            </a:pPr>
            <a:r>
              <a:rPr lang="en-US" sz="4000" b="1" dirty="0">
                <a:solidFill>
                  <a:schemeClr val="tx2"/>
                </a:solidFill>
                <a:latin typeface="+mj-lt" pitchFamily="34" charset="0"/>
                <a:ea typeface="+mj-lt" pitchFamily="34" charset="-122"/>
                <a:cs typeface="+mj-lt" pitchFamily="34" charset="-120"/>
              </a:rPr>
              <a:t>Equipo Tech and Solve</a:t>
            </a:r>
            <a:endParaRPr lang="en-US" sz="4000" dirty="0"/>
          </a:p>
        </p:txBody>
      </p:sp>
      <p:sp>
        <p:nvSpPr>
          <p:cNvPr id="5" name="Text 2"/>
          <p:cNvSpPr txBox="1"/>
          <p:nvPr/>
        </p:nvSpPr>
        <p:spPr>
          <a:xfrm>
            <a:off x="731520" y="3017520"/>
            <a:ext cx="6766560" cy="777240"/>
          </a:xfrm>
          <a:prstGeom prst="rect">
            <a:avLst/>
          </a:prstGeom>
          <a:noFill/>
          <a:ln/>
        </p:spPr>
        <p:txBody>
          <a:bodyPr wrap="square" lIns="0" tIns="0" rIns="0" bIns="0" rtlCol="0" anchor="t"/>
          <a:lstStyle/>
          <a:p>
            <a:pPr indent="0" marL="0">
              <a:buNone/>
            </a:pPr>
            <a:r>
              <a:rPr lang="en-US" sz="1700" b="1" dirty="0">
                <a:solidFill>
                  <a:schemeClr val="tx2"/>
                </a:solidFill>
              </a:rPr>
              <a:t>Un equipo ágil y experto que garantiza resultados medibles en el MVP:</a:t>
            </a:r>
            <a:endParaRPr lang="en-US" sz="1700" dirty="0"/>
          </a:p>
        </p:txBody>
      </p:sp>
      <p:sp>
        <p:nvSpPr>
          <p:cNvPr id="6" name="Text 3"/>
          <p:cNvSpPr txBox="1"/>
          <p:nvPr/>
        </p:nvSpPr>
        <p:spPr>
          <a:xfrm>
            <a:off x="731520" y="3840480"/>
            <a:ext cx="6766560" cy="1783080"/>
          </a:xfrm>
          <a:prstGeom prst="rect">
            <a:avLst/>
          </a:prstGeom>
          <a:noFill/>
          <a:ln/>
        </p:spPr>
        <p:txBody>
          <a:bodyPr wrap="square" lIns="0" tIns="0" rIns="0" bIns="0" rtlCol="0" anchor="t"/>
          <a:lstStyle/>
          <a:p>
            <a:pPr indent="0" marL="0">
              <a:buNone/>
            </a:pPr>
            <a:r>
              <a:rPr lang="en-US" sz="1600" dirty="0">
                <a:solidFill>
                  <a:schemeClr val="accent6"/>
                </a:solidFill>
              </a:rPr>
              <a:t>Dos desarrolladores construyen los sistemas agénticos del MVP de gestores, con un arquitecto que define el cómo y lo revisa, en flujo continuo, y con el respaldo de un equipo directivo que apoya de forma transversal el éxito de la implementación.</a:t>
            </a:r>
            <a:endParaRPr lang="en-US" sz="1600" dirty="0"/>
          </a:p>
        </p:txBody>
      </p:sp>
      <p:sp>
        <p:nvSpPr>
          <p:cNvPr id="7" name="Text 4"/>
          <p:cNvSpPr txBox="1"/>
          <p:nvPr/>
        </p:nvSpPr>
        <p:spPr>
          <a:xfrm>
            <a:off x="731520" y="5760720"/>
            <a:ext cx="6766560" cy="640080"/>
          </a:xfrm>
          <a:prstGeom prst="rect">
            <a:avLst/>
          </a:prstGeom>
          <a:noFill/>
          <a:ln/>
        </p:spPr>
        <p:txBody>
          <a:bodyPr wrap="square" lIns="0" tIns="0" rIns="0" bIns="0" rtlCol="0" anchor="t"/>
          <a:lstStyle/>
          <a:p>
            <a:pPr indent="0" marL="0">
              <a:buNone/>
            </a:pPr>
            <a:r>
              <a:rPr lang="en-US" sz="1300" dirty="0">
                <a:solidFill>
                  <a:schemeClr val="accent6"/>
                </a:solidFill>
              </a:rPr>
              <a:t>Tech and Solve · SURA, MVP de gestores de autorizaciones de salud</a:t>
            </a:r>
            <a:endParaRPr lang="en-US" sz="1300" dirty="0"/>
          </a:p>
          <a:p>
            <a:pPr indent="0" marL="0">
              <a:buNone/>
            </a:pPr>
            <a:r>
              <a:rPr lang="en-US" sz="1300" dirty="0">
                <a:solidFill>
                  <a:schemeClr val="accent6"/>
                </a:solidFill>
              </a:rPr>
              <a:t>Octubre de 2026 · Sugerencia de trabajo, debatible y ajustable</a:t>
            </a:r>
            <a:endParaRPr lang="en-US" sz="1300" dirty="0"/>
          </a:p>
        </p:txBody>
      </p:sp>
      <p:sp>
        <p:nvSpPr>
          <p:cNvPr id="8" name="Shape 5"/>
          <p:cNvSpPr/>
          <p:nvPr/>
        </p:nvSpPr>
        <p:spPr>
          <a:xfrm>
            <a:off x="8183880" y="502920"/>
            <a:ext cx="3611880" cy="786384"/>
          </a:xfrm>
          <a:prstGeom prst="roundRect">
            <a:avLst>
              <a:gd name="adj" fmla="val 13953"/>
            </a:avLst>
          </a:prstGeom>
          <a:solidFill>
            <a:srgbClr val="3A1878"/>
          </a:solidFill>
          <a:ln w="9525">
            <a:solidFill>
              <a:srgbClr val="5B3D96"/>
            </a:solidFill>
            <a:prstDash val="solid"/>
          </a:ln>
        </p:spPr>
      </p:sp>
      <p:sp>
        <p:nvSpPr>
          <p:cNvPr id="9" name="Shape 6"/>
          <p:cNvSpPr/>
          <p:nvPr/>
        </p:nvSpPr>
        <p:spPr>
          <a:xfrm>
            <a:off x="8348472" y="612648"/>
            <a:ext cx="566928" cy="566928"/>
          </a:xfrm>
          <a:prstGeom prst="ellipse">
            <a:avLst/>
          </a:prstGeom>
          <a:solidFill>
            <a:schemeClr val="bg1"/>
          </a:solidFill>
          <a:ln w="12700">
            <a:solidFill>
              <a:schemeClr val="bg1"/>
            </a:solidFill>
            <a:prstDash val="solid"/>
          </a:ln>
        </p:spPr>
      </p:sp>
      <p:pic>
        <p:nvPicPr>
          <p:cNvPr id="10" name="Image 1" descr="Raúl A. De Villa C.">    </p:cNvPr>
          <p:cNvPicPr>
            <a:picLocks noChangeAspect="1"/>
          </p:cNvPicPr>
          <p:nvPr/>
        </p:nvPicPr>
        <p:blipFill>
          <a:blip r:embed="rId2"/>
          <a:stretch>
            <a:fillRect/>
          </a:stretch>
        </p:blipFill>
        <p:spPr>
          <a:xfrm>
            <a:off x="8375904" y="640080"/>
            <a:ext cx="512064" cy="512064"/>
          </a:xfrm>
          <a:prstGeom prst="ellipse">
            <a:avLst/>
          </a:prstGeom>
        </p:spPr>
      </p:pic>
      <p:sp>
        <p:nvSpPr>
          <p:cNvPr id="11" name="Text 7"/>
          <p:cNvSpPr txBox="1"/>
          <p:nvPr/>
        </p:nvSpPr>
        <p:spPr>
          <a:xfrm>
            <a:off x="9052560" y="557784"/>
            <a:ext cx="2633472" cy="676656"/>
          </a:xfrm>
          <a:prstGeom prst="rect">
            <a:avLst/>
          </a:prstGeom>
          <a:noFill/>
          <a:ln/>
        </p:spPr>
        <p:txBody>
          <a:bodyPr wrap="square" lIns="0" tIns="0" rIns="0" bIns="0" rtlCol="0" anchor="ctr"/>
          <a:lstStyle/>
          <a:p>
            <a:pPr indent="0" marL="0">
              <a:buNone/>
            </a:pPr>
            <a:r>
              <a:rPr lang="en-US" sz="1150" b="1" dirty="0">
                <a:solidFill>
                  <a:schemeClr val="bg1"/>
                </a:solidFill>
              </a:rPr>
              <a:t>Raúl A. De Villa C.</a:t>
            </a:r>
            <a:endParaRPr lang="en-US" sz="1400" dirty="0"/>
          </a:p>
          <a:p>
            <a:pPr indent="0" marL="0">
              <a:buNone/>
            </a:pPr>
            <a:r>
              <a:rPr lang="en-US" sz="950" dirty="0">
                <a:solidFill>
                  <a:schemeClr val="bg2"/>
                </a:solidFill>
              </a:rPr>
              <a:t>Co-Founder · Acompaña los hitos clave con una mirada crítica de negocio y de solución.</a:t>
            </a:r>
            <a:endParaRPr lang="en-US" sz="1400" dirty="0"/>
          </a:p>
        </p:txBody>
      </p:sp>
      <p:sp>
        <p:nvSpPr>
          <p:cNvPr id="12" name="Shape 8"/>
          <p:cNvSpPr/>
          <p:nvPr/>
        </p:nvSpPr>
        <p:spPr>
          <a:xfrm>
            <a:off x="8183880" y="1380744"/>
            <a:ext cx="3611880" cy="786384"/>
          </a:xfrm>
          <a:prstGeom prst="roundRect">
            <a:avLst>
              <a:gd name="adj" fmla="val 13953"/>
            </a:avLst>
          </a:prstGeom>
          <a:solidFill>
            <a:srgbClr val="3A1878"/>
          </a:solidFill>
          <a:ln w="9525">
            <a:solidFill>
              <a:srgbClr val="5B3D96"/>
            </a:solidFill>
            <a:prstDash val="solid"/>
          </a:ln>
        </p:spPr>
      </p:sp>
      <p:sp>
        <p:nvSpPr>
          <p:cNvPr id="13" name="Shape 9"/>
          <p:cNvSpPr/>
          <p:nvPr/>
        </p:nvSpPr>
        <p:spPr>
          <a:xfrm>
            <a:off x="8348472" y="1490472"/>
            <a:ext cx="566928" cy="566928"/>
          </a:xfrm>
          <a:prstGeom prst="ellipse">
            <a:avLst/>
          </a:prstGeom>
          <a:solidFill>
            <a:schemeClr val="bg1"/>
          </a:solidFill>
          <a:ln w="12700">
            <a:solidFill>
              <a:schemeClr val="bg1"/>
            </a:solidFill>
            <a:prstDash val="solid"/>
          </a:ln>
        </p:spPr>
      </p:sp>
      <p:pic>
        <p:nvPicPr>
          <p:cNvPr id="14" name="Image 2" descr="Alexandra Acosta">    </p:cNvPr>
          <p:cNvPicPr>
            <a:picLocks noChangeAspect="1"/>
          </p:cNvPicPr>
          <p:nvPr/>
        </p:nvPicPr>
        <p:blipFill>
          <a:blip r:embed="rId3"/>
          <a:stretch>
            <a:fillRect/>
          </a:stretch>
        </p:blipFill>
        <p:spPr>
          <a:xfrm>
            <a:off x="8375904" y="1517904"/>
            <a:ext cx="512064" cy="512064"/>
          </a:xfrm>
          <a:prstGeom prst="ellipse">
            <a:avLst/>
          </a:prstGeom>
        </p:spPr>
      </p:pic>
      <p:sp>
        <p:nvSpPr>
          <p:cNvPr id="15" name="Text 10"/>
          <p:cNvSpPr txBox="1"/>
          <p:nvPr/>
        </p:nvSpPr>
        <p:spPr>
          <a:xfrm>
            <a:off x="9052560" y="1435608"/>
            <a:ext cx="2633472" cy="676656"/>
          </a:xfrm>
          <a:prstGeom prst="rect">
            <a:avLst/>
          </a:prstGeom>
          <a:noFill/>
          <a:ln/>
        </p:spPr>
        <p:txBody>
          <a:bodyPr wrap="square" lIns="0" tIns="0" rIns="0" bIns="0" rtlCol="0" anchor="ctr"/>
          <a:lstStyle/>
          <a:p>
            <a:pPr indent="0" marL="0">
              <a:buNone/>
            </a:pPr>
            <a:r>
              <a:rPr lang="en-US" sz="1150" b="1" dirty="0">
                <a:solidFill>
                  <a:schemeClr val="bg1"/>
                </a:solidFill>
              </a:rPr>
              <a:t>Alexandra Acosta</a:t>
            </a:r>
            <a:endParaRPr lang="en-US" sz="1400" dirty="0"/>
          </a:p>
          <a:p>
            <a:pPr indent="0" marL="0">
              <a:buNone/>
            </a:pPr>
            <a:r>
              <a:rPr lang="en-US" sz="950" dirty="0">
                <a:solidFill>
                  <a:schemeClr val="bg2"/>
                </a:solidFill>
              </a:rPr>
              <a:t>Gerente de Éxito del Cliente · Pone al servicio de SURA la experiencia y los estándares de toda la compañía.</a:t>
            </a:r>
            <a:endParaRPr lang="en-US" sz="1400" dirty="0"/>
          </a:p>
        </p:txBody>
      </p:sp>
      <p:sp>
        <p:nvSpPr>
          <p:cNvPr id="16" name="Shape 11"/>
          <p:cNvSpPr/>
          <p:nvPr/>
        </p:nvSpPr>
        <p:spPr>
          <a:xfrm>
            <a:off x="8183880" y="2258568"/>
            <a:ext cx="3611880" cy="786384"/>
          </a:xfrm>
          <a:prstGeom prst="roundRect">
            <a:avLst>
              <a:gd name="adj" fmla="val 13953"/>
            </a:avLst>
          </a:prstGeom>
          <a:solidFill>
            <a:srgbClr val="3A1878"/>
          </a:solidFill>
          <a:ln w="9525">
            <a:solidFill>
              <a:srgbClr val="5B3D96"/>
            </a:solidFill>
            <a:prstDash val="solid"/>
          </a:ln>
        </p:spPr>
      </p:sp>
      <p:sp>
        <p:nvSpPr>
          <p:cNvPr id="17" name="Shape 12"/>
          <p:cNvSpPr/>
          <p:nvPr/>
        </p:nvSpPr>
        <p:spPr>
          <a:xfrm>
            <a:off x="8348472" y="2368296"/>
            <a:ext cx="566928" cy="566928"/>
          </a:xfrm>
          <a:prstGeom prst="ellipse">
            <a:avLst/>
          </a:prstGeom>
          <a:solidFill>
            <a:schemeClr val="bg1"/>
          </a:solidFill>
          <a:ln w="12700">
            <a:solidFill>
              <a:schemeClr val="bg1"/>
            </a:solidFill>
            <a:prstDash val="solid"/>
          </a:ln>
        </p:spPr>
      </p:sp>
      <p:pic>
        <p:nvPicPr>
          <p:cNvPr id="18" name="Image 3" descr="Jorge Andrés Gómez Velásquez">    </p:cNvPr>
          <p:cNvPicPr>
            <a:picLocks noChangeAspect="1"/>
          </p:cNvPicPr>
          <p:nvPr/>
        </p:nvPicPr>
        <p:blipFill>
          <a:blip r:embed="rId4"/>
          <a:stretch>
            <a:fillRect/>
          </a:stretch>
        </p:blipFill>
        <p:spPr>
          <a:xfrm>
            <a:off x="8375904" y="2395728"/>
            <a:ext cx="512064" cy="512064"/>
          </a:xfrm>
          <a:prstGeom prst="ellipse">
            <a:avLst/>
          </a:prstGeom>
        </p:spPr>
      </p:pic>
      <p:sp>
        <p:nvSpPr>
          <p:cNvPr id="19" name="Text 13"/>
          <p:cNvSpPr txBox="1"/>
          <p:nvPr/>
        </p:nvSpPr>
        <p:spPr>
          <a:xfrm>
            <a:off x="9052560" y="2313432"/>
            <a:ext cx="2633472" cy="676656"/>
          </a:xfrm>
          <a:prstGeom prst="rect">
            <a:avLst/>
          </a:prstGeom>
          <a:noFill/>
          <a:ln/>
        </p:spPr>
        <p:txBody>
          <a:bodyPr wrap="square" lIns="0" tIns="0" rIns="0" bIns="0" rtlCol="0" anchor="ctr"/>
          <a:lstStyle/>
          <a:p>
            <a:pPr indent="0" marL="0">
              <a:buNone/>
            </a:pPr>
            <a:r>
              <a:rPr lang="en-US" sz="1150" b="1" dirty="0">
                <a:solidFill>
                  <a:schemeClr val="bg1"/>
                </a:solidFill>
              </a:rPr>
              <a:t>Jorge Andrés Gómez Velásquez</a:t>
            </a:r>
            <a:endParaRPr lang="en-US" sz="1400" dirty="0"/>
          </a:p>
          <a:p>
            <a:pPr indent="0" marL="0">
              <a:buNone/>
            </a:pPr>
            <a:r>
              <a:rPr lang="en-US" sz="950" dirty="0">
                <a:solidFill>
                  <a:schemeClr val="bg2"/>
                </a:solidFill>
              </a:rPr>
              <a:t>Líder del Éxito del Cliente · Punto de contacto con SURA: lo acordado, con calidad y a tiempo.</a:t>
            </a:r>
            <a:endParaRPr lang="en-US" sz="1400" dirty="0"/>
          </a:p>
        </p:txBody>
      </p:sp>
      <p:sp>
        <p:nvSpPr>
          <p:cNvPr id="20" name="Shape 14"/>
          <p:cNvSpPr/>
          <p:nvPr/>
        </p:nvSpPr>
        <p:spPr>
          <a:xfrm>
            <a:off x="8183880" y="3136392"/>
            <a:ext cx="3611880" cy="1005840"/>
          </a:xfrm>
          <a:prstGeom prst="roundRect">
            <a:avLst>
              <a:gd name="adj" fmla="val 10909"/>
            </a:avLst>
          </a:prstGeom>
          <a:solidFill>
            <a:srgbClr val="3A1878"/>
          </a:solidFill>
          <a:ln w="9525">
            <a:solidFill>
              <a:srgbClr val="5B3D96"/>
            </a:solidFill>
            <a:prstDash val="solid"/>
          </a:ln>
        </p:spPr>
      </p:sp>
      <p:sp>
        <p:nvSpPr>
          <p:cNvPr id="21" name="Shape 15"/>
          <p:cNvSpPr/>
          <p:nvPr/>
        </p:nvSpPr>
        <p:spPr>
          <a:xfrm>
            <a:off x="8348472" y="3355848"/>
            <a:ext cx="566928" cy="566928"/>
          </a:xfrm>
          <a:prstGeom prst="ellipse">
            <a:avLst/>
          </a:prstGeom>
          <a:solidFill>
            <a:schemeClr val="bg1"/>
          </a:solidFill>
          <a:ln w="12700">
            <a:solidFill>
              <a:schemeClr val="bg1"/>
            </a:solidFill>
            <a:prstDash val="solid"/>
          </a:ln>
        </p:spPr>
      </p:sp>
      <p:pic>
        <p:nvPicPr>
          <p:cNvPr id="22" name="Image 4" descr="Didier Fabián Franco Gómez">    </p:cNvPr>
          <p:cNvPicPr>
            <a:picLocks noChangeAspect="1"/>
          </p:cNvPicPr>
          <p:nvPr/>
        </p:nvPicPr>
        <p:blipFill>
          <a:blip r:embed="rId5"/>
          <a:stretch>
            <a:fillRect/>
          </a:stretch>
        </p:blipFill>
        <p:spPr>
          <a:xfrm>
            <a:off x="8375904" y="3383280"/>
            <a:ext cx="512064" cy="512064"/>
          </a:xfrm>
          <a:prstGeom prst="ellipse">
            <a:avLst/>
          </a:prstGeom>
        </p:spPr>
      </p:pic>
      <p:sp>
        <p:nvSpPr>
          <p:cNvPr id="23" name="Text 16"/>
          <p:cNvSpPr txBox="1"/>
          <p:nvPr/>
        </p:nvSpPr>
        <p:spPr>
          <a:xfrm>
            <a:off x="9052560" y="3191256"/>
            <a:ext cx="2633472" cy="896112"/>
          </a:xfrm>
          <a:prstGeom prst="rect">
            <a:avLst/>
          </a:prstGeom>
          <a:noFill/>
          <a:ln/>
        </p:spPr>
        <p:txBody>
          <a:bodyPr wrap="square" lIns="0" tIns="0" rIns="0" bIns="0" rtlCol="0" anchor="ctr"/>
          <a:lstStyle/>
          <a:p>
            <a:pPr indent="0" marL="0">
              <a:buNone/>
            </a:pPr>
            <a:r>
              <a:rPr lang="en-US" sz="1150" b="1" dirty="0">
                <a:solidFill>
                  <a:schemeClr val="bg1"/>
                </a:solidFill>
              </a:rPr>
              <a:t>Didier Fabián Franco Gómez</a:t>
            </a:r>
            <a:endParaRPr lang="en-US" sz="1400" dirty="0"/>
          </a:p>
          <a:p>
            <a:pPr indent="0" marL="0">
              <a:buNone/>
            </a:pPr>
            <a:r>
              <a:rPr lang="en-US" sz="950" dirty="0">
                <a:solidFill>
                  <a:schemeClr val="bg2"/>
                </a:solidFill>
              </a:rPr>
              <a:t>Arquitecto Líder. Marca el rumbo técnico con el equipo, lo alinea con la arquitectura de SURA y asegura que cada característica lo cumpla.</a:t>
            </a:r>
            <a:endParaRPr lang="en-US" sz="1400" dirty="0"/>
          </a:p>
        </p:txBody>
      </p:sp>
      <p:sp>
        <p:nvSpPr>
          <p:cNvPr id="24" name="Shape 17"/>
          <p:cNvSpPr/>
          <p:nvPr/>
        </p:nvSpPr>
        <p:spPr>
          <a:xfrm>
            <a:off x="8183880" y="4233672"/>
            <a:ext cx="3611880" cy="658368"/>
          </a:xfrm>
          <a:prstGeom prst="roundRect">
            <a:avLst>
              <a:gd name="adj" fmla="val 16667"/>
            </a:avLst>
          </a:prstGeom>
          <a:solidFill>
            <a:srgbClr val="3A1878"/>
          </a:solidFill>
          <a:ln w="9525">
            <a:solidFill>
              <a:srgbClr val="5B3D96"/>
            </a:solidFill>
            <a:prstDash val="solid"/>
          </a:ln>
        </p:spPr>
      </p:sp>
      <p:sp>
        <p:nvSpPr>
          <p:cNvPr id="25" name="Shape 18"/>
          <p:cNvSpPr/>
          <p:nvPr/>
        </p:nvSpPr>
        <p:spPr>
          <a:xfrm>
            <a:off x="8348472" y="4279392"/>
            <a:ext cx="566928" cy="566928"/>
          </a:xfrm>
          <a:prstGeom prst="ellipse">
            <a:avLst/>
          </a:prstGeom>
          <a:solidFill>
            <a:schemeClr val="bg1"/>
          </a:solidFill>
          <a:ln w="12700">
            <a:solidFill>
              <a:schemeClr val="bg1"/>
            </a:solidFill>
            <a:prstDash val="solid"/>
          </a:ln>
        </p:spPr>
      </p:sp>
      <p:pic>
        <p:nvPicPr>
          <p:cNvPr id="26" name="Image 5" descr="Juan Gabriel Colorado">    </p:cNvPr>
          <p:cNvPicPr>
            <a:picLocks noChangeAspect="1"/>
          </p:cNvPicPr>
          <p:nvPr/>
        </p:nvPicPr>
        <p:blipFill>
          <a:blip r:embed="rId6"/>
          <a:stretch>
            <a:fillRect/>
          </a:stretch>
        </p:blipFill>
        <p:spPr>
          <a:xfrm>
            <a:off x="8375904" y="4306824"/>
            <a:ext cx="512064" cy="512064"/>
          </a:xfrm>
          <a:prstGeom prst="ellipse">
            <a:avLst/>
          </a:prstGeom>
        </p:spPr>
      </p:pic>
      <p:sp>
        <p:nvSpPr>
          <p:cNvPr id="27" name="Text 19"/>
          <p:cNvSpPr txBox="1"/>
          <p:nvPr/>
        </p:nvSpPr>
        <p:spPr>
          <a:xfrm>
            <a:off x="9052560" y="4288536"/>
            <a:ext cx="2633472" cy="548640"/>
          </a:xfrm>
          <a:prstGeom prst="rect">
            <a:avLst/>
          </a:prstGeom>
          <a:noFill/>
          <a:ln/>
        </p:spPr>
        <p:txBody>
          <a:bodyPr wrap="square" lIns="0" tIns="0" rIns="0" bIns="0" rtlCol="0" anchor="ctr"/>
          <a:lstStyle/>
          <a:p>
            <a:pPr indent="0" marL="0">
              <a:buNone/>
            </a:pPr>
            <a:r>
              <a:rPr lang="en-US" sz="1150" b="1" dirty="0">
                <a:solidFill>
                  <a:schemeClr val="bg1"/>
                </a:solidFill>
              </a:rPr>
              <a:t>Juan Gabriel Colorado</a:t>
            </a:r>
            <a:endParaRPr lang="en-US" sz="1400" dirty="0"/>
          </a:p>
          <a:p>
            <a:pPr indent="0" marL="0">
              <a:buNone/>
            </a:pPr>
            <a:r>
              <a:rPr lang="en-US" sz="950" dirty="0">
                <a:solidFill>
                  <a:schemeClr val="bg2"/>
                </a:solidFill>
              </a:rPr>
              <a:t>Desarrollador IA · Construye los sistemas agénticos desde un backlog compartido</a:t>
            </a:r>
            <a:endParaRPr lang="en-US" sz="1400" dirty="0"/>
          </a:p>
        </p:txBody>
      </p:sp>
      <p:sp>
        <p:nvSpPr>
          <p:cNvPr id="28" name="Shape 20"/>
          <p:cNvSpPr/>
          <p:nvPr/>
        </p:nvSpPr>
        <p:spPr>
          <a:xfrm>
            <a:off x="8183880" y="4983480"/>
            <a:ext cx="3611880" cy="658368"/>
          </a:xfrm>
          <a:prstGeom prst="roundRect">
            <a:avLst>
              <a:gd name="adj" fmla="val 16667"/>
            </a:avLst>
          </a:prstGeom>
          <a:solidFill>
            <a:srgbClr val="3A1878"/>
          </a:solidFill>
          <a:ln w="9525">
            <a:solidFill>
              <a:srgbClr val="5B3D96"/>
            </a:solidFill>
            <a:prstDash val="solid"/>
          </a:ln>
        </p:spPr>
      </p:sp>
      <p:sp>
        <p:nvSpPr>
          <p:cNvPr id="29" name="Shape 21"/>
          <p:cNvSpPr/>
          <p:nvPr/>
        </p:nvSpPr>
        <p:spPr>
          <a:xfrm>
            <a:off x="8348472" y="5029200"/>
            <a:ext cx="566928" cy="566928"/>
          </a:xfrm>
          <a:prstGeom prst="ellipse">
            <a:avLst/>
          </a:prstGeom>
          <a:solidFill>
            <a:schemeClr val="bg1"/>
          </a:solidFill>
          <a:ln w="12700">
            <a:solidFill>
              <a:schemeClr val="bg1"/>
            </a:solidFill>
            <a:prstDash val="solid"/>
          </a:ln>
        </p:spPr>
      </p:sp>
      <p:pic>
        <p:nvPicPr>
          <p:cNvPr id="30" name="Image 6" descr="Gian Valdiris">    </p:cNvPr>
          <p:cNvPicPr>
            <a:picLocks noChangeAspect="1"/>
          </p:cNvPicPr>
          <p:nvPr/>
        </p:nvPicPr>
        <p:blipFill>
          <a:blip r:embed="rId7"/>
          <a:stretch>
            <a:fillRect/>
          </a:stretch>
        </p:blipFill>
        <p:spPr>
          <a:xfrm>
            <a:off x="8375904" y="5056632"/>
            <a:ext cx="512064" cy="512064"/>
          </a:xfrm>
          <a:prstGeom prst="ellipse">
            <a:avLst/>
          </a:prstGeom>
        </p:spPr>
      </p:pic>
      <p:sp>
        <p:nvSpPr>
          <p:cNvPr id="31" name="Text 22"/>
          <p:cNvSpPr txBox="1"/>
          <p:nvPr/>
        </p:nvSpPr>
        <p:spPr>
          <a:xfrm>
            <a:off x="9052560" y="5038344"/>
            <a:ext cx="2633472" cy="548640"/>
          </a:xfrm>
          <a:prstGeom prst="rect">
            <a:avLst/>
          </a:prstGeom>
          <a:noFill/>
          <a:ln/>
        </p:spPr>
        <p:txBody>
          <a:bodyPr wrap="square" lIns="0" tIns="0" rIns="0" bIns="0" rtlCol="0" anchor="ctr"/>
          <a:lstStyle/>
          <a:p>
            <a:pPr indent="0" marL="0">
              <a:buNone/>
            </a:pPr>
            <a:r>
              <a:rPr lang="en-US" sz="1150" b="1" dirty="0">
                <a:solidFill>
                  <a:schemeClr val="bg1"/>
                </a:solidFill>
              </a:rPr>
              <a:t>Gian Valdiris</a:t>
            </a:r>
            <a:endParaRPr lang="en-US" sz="1400" dirty="0"/>
          </a:p>
          <a:p>
            <a:pPr indent="0" marL="0">
              <a:buNone/>
            </a:pPr>
            <a:r>
              <a:rPr lang="en-US" sz="950" dirty="0">
                <a:solidFill>
                  <a:schemeClr val="bg2"/>
                </a:solidFill>
              </a:rPr>
              <a:t>Desarrollador IA · Construye los sistemas agénticos desde un backlog compartido</a:t>
            </a:r>
            <a:endParaRPr lang="en-US" sz="1400" dirty="0"/>
          </a:p>
        </p:txBody>
      </p:sp>
      <p:sp>
        <p:nvSpPr>
          <p:cNvPr id="32" name="Shape 23"/>
          <p:cNvSpPr/>
          <p:nvPr/>
        </p:nvSpPr>
        <p:spPr>
          <a:xfrm>
            <a:off x="8183880" y="5733288"/>
            <a:ext cx="3611880" cy="658368"/>
          </a:xfrm>
          <a:prstGeom prst="roundRect">
            <a:avLst>
              <a:gd name="adj" fmla="val 16667"/>
            </a:avLst>
          </a:prstGeom>
          <a:solidFill>
            <a:srgbClr val="3A1878"/>
          </a:solidFill>
          <a:ln w="9525">
            <a:solidFill>
              <a:srgbClr val="5B3D96"/>
            </a:solidFill>
            <a:prstDash val="solid"/>
          </a:ln>
        </p:spPr>
      </p:sp>
      <p:sp>
        <p:nvSpPr>
          <p:cNvPr id="33" name="Shape 24"/>
          <p:cNvSpPr/>
          <p:nvPr/>
        </p:nvSpPr>
        <p:spPr>
          <a:xfrm>
            <a:off x="8348472" y="5779008"/>
            <a:ext cx="566928" cy="566928"/>
          </a:xfrm>
          <a:prstGeom prst="ellipse">
            <a:avLst/>
          </a:prstGeom>
          <a:solidFill>
            <a:schemeClr val="bg1"/>
          </a:solidFill>
          <a:ln w="12700">
            <a:solidFill>
              <a:schemeClr val="bg1"/>
            </a:solidFill>
            <a:prstDash val="solid"/>
          </a:ln>
        </p:spPr>
      </p:sp>
      <p:sp>
        <p:nvSpPr>
          <p:cNvPr id="34" name="Text 25"/>
          <p:cNvSpPr txBox="1"/>
          <p:nvPr/>
        </p:nvSpPr>
        <p:spPr>
          <a:xfrm>
            <a:off x="8348472" y="5779008"/>
            <a:ext cx="566928" cy="566928"/>
          </a:xfrm>
          <a:prstGeom prst="rect">
            <a:avLst/>
          </a:prstGeom>
          <a:noFill/>
          <a:ln/>
        </p:spPr>
        <p:txBody>
          <a:bodyPr wrap="square" lIns="0" tIns="0" rIns="0" bIns="0" rtlCol="0" anchor="ctr"/>
          <a:lstStyle/>
          <a:p>
            <a:pPr algn="ctr" indent="0" marL="0">
              <a:buNone/>
            </a:pPr>
            <a:r>
              <a:rPr lang="en-US" sz="1600" b="1" dirty="0">
                <a:solidFill>
                  <a:schemeClr val="tx2"/>
                </a:solidFill>
              </a:rPr>
              <a:t>S</a:t>
            </a:r>
            <a:endParaRPr lang="en-US" sz="1600" dirty="0"/>
          </a:p>
        </p:txBody>
      </p:sp>
      <p:sp>
        <p:nvSpPr>
          <p:cNvPr id="35" name="Text 26"/>
          <p:cNvSpPr txBox="1"/>
          <p:nvPr/>
        </p:nvSpPr>
        <p:spPr>
          <a:xfrm>
            <a:off x="9052560" y="5788152"/>
            <a:ext cx="2633472" cy="548640"/>
          </a:xfrm>
          <a:prstGeom prst="rect">
            <a:avLst/>
          </a:prstGeom>
          <a:noFill/>
          <a:ln/>
        </p:spPr>
        <p:txBody>
          <a:bodyPr wrap="square" lIns="0" tIns="0" rIns="0" bIns="0" rtlCol="0" anchor="ctr"/>
          <a:lstStyle/>
          <a:p>
            <a:pPr indent="0" marL="0">
              <a:buNone/>
            </a:pPr>
            <a:r>
              <a:rPr lang="en-US" sz="1150" b="1" dirty="0">
                <a:solidFill>
                  <a:schemeClr val="bg1"/>
                </a:solidFill>
              </a:rPr>
              <a:t>Soporte</a:t>
            </a:r>
            <a:endParaRPr lang="en-US" sz="1400" dirty="0"/>
          </a:p>
          <a:p>
            <a:pPr indent="0" marL="0">
              <a:buNone/>
            </a:pPr>
            <a:r>
              <a:rPr lang="en-US" sz="950" dirty="0">
                <a:solidFill>
                  <a:schemeClr val="bg2"/>
                </a:solidFill>
              </a:rPr>
              <a:t>Media jornada · Atiende lo que ya opera, para no interrumpir el flujo de nuevas características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Equipo de trabajo propuesto: modelo Tech and Solve y SURA</a:t>
            </a:r>
            <a:endParaRPr lang="en-US" sz="2800" dirty="0"/>
          </a:p>
        </p:txBody>
      </p:sp>
      <p:sp>
        <p:nvSpPr>
          <p:cNvPr id="4" name="Shape 1"/>
          <p:cNvSpPr/>
          <p:nvPr/>
        </p:nvSpPr>
        <p:spPr>
          <a:xfrm>
            <a:off x="548640" y="1481328"/>
            <a:ext cx="7223760" cy="1371600"/>
          </a:xfrm>
          <a:prstGeom prst="roundRect">
            <a:avLst>
              <a:gd name="adj" fmla="val 5333"/>
            </a:avLst>
          </a:prstGeom>
          <a:solidFill>
            <a:schemeClr val="bg2"/>
          </a:solidFill>
          <a:ln w="12700">
            <a:solidFill>
              <a:schemeClr val="bg2"/>
            </a:solidFill>
            <a:prstDash val="solid"/>
          </a:ln>
        </p:spPr>
      </p:sp>
      <p:sp>
        <p:nvSpPr>
          <p:cNvPr id="5" name="Text 2"/>
          <p:cNvSpPr txBox="1"/>
          <p:nvPr/>
        </p:nvSpPr>
        <p:spPr>
          <a:xfrm>
            <a:off x="777240" y="1554480"/>
            <a:ext cx="6766560" cy="228600"/>
          </a:xfrm>
          <a:prstGeom prst="rect">
            <a:avLst/>
          </a:prstGeom>
          <a:noFill/>
          <a:ln/>
        </p:spPr>
        <p:txBody>
          <a:bodyPr wrap="square" lIns="0" tIns="0" rIns="0" bIns="0" rtlCol="0" anchor="t"/>
          <a:lstStyle/>
          <a:p>
            <a:pPr indent="0" marL="0">
              <a:buNone/>
            </a:pPr>
            <a:r>
              <a:rPr lang="en-US" sz="950" b="1" spc="100" kern="0" dirty="0">
                <a:solidFill>
                  <a:schemeClr val="tx2"/>
                </a:solidFill>
              </a:rPr>
              <a:t>LIDERAZGO QUE ACOMPAÑA</a:t>
            </a:r>
            <a:endParaRPr lang="en-US" sz="950" dirty="0"/>
          </a:p>
        </p:txBody>
      </p:sp>
      <p:sp>
        <p:nvSpPr>
          <p:cNvPr id="6" name="Shape 3"/>
          <p:cNvSpPr/>
          <p:nvPr/>
        </p:nvSpPr>
        <p:spPr>
          <a:xfrm>
            <a:off x="777240" y="1842516"/>
            <a:ext cx="475488" cy="475488"/>
          </a:xfrm>
          <a:prstGeom prst="ellipse">
            <a:avLst/>
          </a:prstGeom>
          <a:solidFill>
            <a:schemeClr val="bg1"/>
          </a:solidFill>
          <a:ln w="12700">
            <a:solidFill>
              <a:srgbClr val="DCD8EC"/>
            </a:solidFill>
            <a:prstDash val="solid"/>
          </a:ln>
        </p:spPr>
      </p:sp>
      <p:pic>
        <p:nvPicPr>
          <p:cNvPr id="7" name="Image 0" descr="preencoded.png">    </p:cNvPr>
          <p:cNvPicPr>
            <a:picLocks noChangeAspect="1"/>
          </p:cNvPicPr>
          <p:nvPr/>
        </p:nvPicPr>
        <p:blipFill>
          <a:blip r:embed="rId1"/>
          <a:stretch>
            <a:fillRect/>
          </a:stretch>
        </p:blipFill>
        <p:spPr>
          <a:xfrm>
            <a:off x="804672" y="1869948"/>
            <a:ext cx="420624" cy="420624"/>
          </a:xfrm>
          <a:prstGeom prst="ellipse">
            <a:avLst/>
          </a:prstGeom>
        </p:spPr>
      </p:pic>
      <p:sp>
        <p:nvSpPr>
          <p:cNvPr id="8" name="Text 4"/>
          <p:cNvSpPr txBox="1"/>
          <p:nvPr/>
        </p:nvSpPr>
        <p:spPr>
          <a:xfrm>
            <a:off x="1344168" y="1810512"/>
            <a:ext cx="1597152" cy="530352"/>
          </a:xfrm>
          <a:prstGeom prst="rect">
            <a:avLst/>
          </a:prstGeom>
          <a:noFill/>
          <a:ln/>
        </p:spPr>
        <p:txBody>
          <a:bodyPr wrap="square" lIns="0" tIns="0" rIns="0" bIns="0" rtlCol="0" anchor="ctr"/>
          <a:lstStyle/>
          <a:p>
            <a:pPr indent="0" marL="0">
              <a:buNone/>
            </a:pPr>
            <a:r>
              <a:rPr lang="en-US" sz="1000" b="1" dirty="0">
                <a:solidFill>
                  <a:schemeClr val="tx2"/>
                </a:solidFill>
              </a:rPr>
              <a:t>Raúl A. De Villa C.</a:t>
            </a:r>
            <a:endParaRPr lang="en-US" sz="1400" dirty="0"/>
          </a:p>
          <a:p>
            <a:pPr indent="0" marL="0">
              <a:buNone/>
            </a:pPr>
            <a:r>
              <a:rPr lang="en-US" sz="850" b="1" dirty="0">
                <a:solidFill>
                  <a:schemeClr val="accent2"/>
                </a:solidFill>
              </a:rPr>
              <a:t>Co-Founder</a:t>
            </a:r>
            <a:endParaRPr lang="en-US" sz="1400" dirty="0"/>
          </a:p>
        </p:txBody>
      </p:sp>
      <p:sp>
        <p:nvSpPr>
          <p:cNvPr id="9" name="Text 5"/>
          <p:cNvSpPr txBox="1"/>
          <p:nvPr/>
        </p:nvSpPr>
        <p:spPr>
          <a:xfrm>
            <a:off x="777240" y="2377440"/>
            <a:ext cx="2164080" cy="411480"/>
          </a:xfrm>
          <a:prstGeom prst="rect">
            <a:avLst/>
          </a:prstGeom>
          <a:noFill/>
          <a:ln/>
        </p:spPr>
        <p:txBody>
          <a:bodyPr wrap="square" lIns="0" tIns="0" rIns="0" bIns="0" rtlCol="0" anchor="t"/>
          <a:lstStyle/>
          <a:p>
            <a:pPr indent="0" marL="0">
              <a:buNone/>
            </a:pPr>
            <a:r>
              <a:rPr lang="en-US" sz="950" dirty="0">
                <a:solidFill>
                  <a:schemeClr val="tx1"/>
                </a:solidFill>
              </a:rPr>
              <a:t>Acompaña los hitos clave con una mirada crítica de negocio y de solución.</a:t>
            </a:r>
            <a:endParaRPr lang="en-US" sz="950" dirty="0"/>
          </a:p>
        </p:txBody>
      </p:sp>
      <p:sp>
        <p:nvSpPr>
          <p:cNvPr id="10" name="Shape 6"/>
          <p:cNvSpPr/>
          <p:nvPr/>
        </p:nvSpPr>
        <p:spPr>
          <a:xfrm>
            <a:off x="3078480" y="1842516"/>
            <a:ext cx="475488" cy="475488"/>
          </a:xfrm>
          <a:prstGeom prst="ellipse">
            <a:avLst/>
          </a:prstGeom>
          <a:solidFill>
            <a:schemeClr val="bg1"/>
          </a:solidFill>
          <a:ln w="12700">
            <a:solidFill>
              <a:srgbClr val="DCD8EC"/>
            </a:solidFill>
            <a:prstDash val="solid"/>
          </a:ln>
        </p:spPr>
      </p:sp>
      <p:pic>
        <p:nvPicPr>
          <p:cNvPr id="11" name="Image 1" descr="preencoded.png">    </p:cNvPr>
          <p:cNvPicPr>
            <a:picLocks noChangeAspect="1"/>
          </p:cNvPicPr>
          <p:nvPr/>
        </p:nvPicPr>
        <p:blipFill>
          <a:blip r:embed="rId2"/>
          <a:stretch>
            <a:fillRect/>
          </a:stretch>
        </p:blipFill>
        <p:spPr>
          <a:xfrm>
            <a:off x="3105912" y="1869948"/>
            <a:ext cx="420624" cy="420624"/>
          </a:xfrm>
          <a:prstGeom prst="ellipse">
            <a:avLst/>
          </a:prstGeom>
        </p:spPr>
      </p:pic>
      <p:sp>
        <p:nvSpPr>
          <p:cNvPr id="12" name="Text 7"/>
          <p:cNvSpPr txBox="1"/>
          <p:nvPr/>
        </p:nvSpPr>
        <p:spPr>
          <a:xfrm>
            <a:off x="3645408" y="1810512"/>
            <a:ext cx="1597152" cy="530352"/>
          </a:xfrm>
          <a:prstGeom prst="rect">
            <a:avLst/>
          </a:prstGeom>
          <a:noFill/>
          <a:ln/>
        </p:spPr>
        <p:txBody>
          <a:bodyPr wrap="square" lIns="0" tIns="0" rIns="0" bIns="0" rtlCol="0" anchor="ctr"/>
          <a:lstStyle/>
          <a:p>
            <a:pPr indent="0" marL="0">
              <a:buNone/>
            </a:pPr>
            <a:r>
              <a:rPr lang="en-US" sz="1000" b="1" dirty="0">
                <a:solidFill>
                  <a:schemeClr val="tx2"/>
                </a:solidFill>
              </a:rPr>
              <a:t>Alexandra Acosta</a:t>
            </a:r>
            <a:endParaRPr lang="en-US" sz="1400" dirty="0"/>
          </a:p>
          <a:p>
            <a:pPr indent="0" marL="0">
              <a:buNone/>
            </a:pPr>
            <a:r>
              <a:rPr lang="en-US" sz="850" b="1" dirty="0">
                <a:solidFill>
                  <a:schemeClr val="accent2"/>
                </a:solidFill>
              </a:rPr>
              <a:t>Gerente de Éxito del Cliente</a:t>
            </a:r>
            <a:endParaRPr lang="en-US" sz="1400" dirty="0"/>
          </a:p>
        </p:txBody>
      </p:sp>
      <p:sp>
        <p:nvSpPr>
          <p:cNvPr id="13" name="Text 8"/>
          <p:cNvSpPr txBox="1"/>
          <p:nvPr/>
        </p:nvSpPr>
        <p:spPr>
          <a:xfrm>
            <a:off x="3078480" y="2377440"/>
            <a:ext cx="2164080" cy="411480"/>
          </a:xfrm>
          <a:prstGeom prst="rect">
            <a:avLst/>
          </a:prstGeom>
          <a:noFill/>
          <a:ln/>
        </p:spPr>
        <p:txBody>
          <a:bodyPr wrap="square" lIns="0" tIns="0" rIns="0" bIns="0" rtlCol="0" anchor="t"/>
          <a:lstStyle/>
          <a:p>
            <a:pPr indent="0" marL="0">
              <a:buNone/>
            </a:pPr>
            <a:r>
              <a:rPr lang="en-US" sz="950" dirty="0">
                <a:solidFill>
                  <a:schemeClr val="tx1"/>
                </a:solidFill>
              </a:rPr>
              <a:t>Pone al servicio de SURA la experiencia y los estándares de toda la compañía.</a:t>
            </a:r>
            <a:endParaRPr lang="en-US" sz="950" dirty="0"/>
          </a:p>
        </p:txBody>
      </p:sp>
      <p:sp>
        <p:nvSpPr>
          <p:cNvPr id="14" name="Shape 9"/>
          <p:cNvSpPr/>
          <p:nvPr/>
        </p:nvSpPr>
        <p:spPr>
          <a:xfrm>
            <a:off x="5379720" y="1842516"/>
            <a:ext cx="475488" cy="475488"/>
          </a:xfrm>
          <a:prstGeom prst="ellipse">
            <a:avLst/>
          </a:prstGeom>
          <a:solidFill>
            <a:schemeClr val="bg1"/>
          </a:solidFill>
          <a:ln w="12700">
            <a:solidFill>
              <a:srgbClr val="DCD8EC"/>
            </a:solidFill>
            <a:prstDash val="solid"/>
          </a:ln>
        </p:spPr>
      </p:sp>
      <p:pic>
        <p:nvPicPr>
          <p:cNvPr id="15" name="Image 2" descr="preencoded.png">    </p:cNvPr>
          <p:cNvPicPr>
            <a:picLocks noChangeAspect="1"/>
          </p:cNvPicPr>
          <p:nvPr/>
        </p:nvPicPr>
        <p:blipFill>
          <a:blip r:embed="rId3"/>
          <a:stretch>
            <a:fillRect/>
          </a:stretch>
        </p:blipFill>
        <p:spPr>
          <a:xfrm>
            <a:off x="5407152" y="1869948"/>
            <a:ext cx="420624" cy="420624"/>
          </a:xfrm>
          <a:prstGeom prst="ellipse">
            <a:avLst/>
          </a:prstGeom>
        </p:spPr>
      </p:pic>
      <p:sp>
        <p:nvSpPr>
          <p:cNvPr id="16" name="Text 10"/>
          <p:cNvSpPr txBox="1"/>
          <p:nvPr/>
        </p:nvSpPr>
        <p:spPr>
          <a:xfrm>
            <a:off x="5946648" y="1810512"/>
            <a:ext cx="1597152" cy="530352"/>
          </a:xfrm>
          <a:prstGeom prst="rect">
            <a:avLst/>
          </a:prstGeom>
          <a:noFill/>
          <a:ln/>
        </p:spPr>
        <p:txBody>
          <a:bodyPr wrap="square" lIns="0" tIns="0" rIns="0" bIns="0" rtlCol="0" anchor="ctr"/>
          <a:lstStyle/>
          <a:p>
            <a:pPr indent="0" marL="0">
              <a:buNone/>
            </a:pPr>
            <a:r>
              <a:rPr lang="en-US" sz="1000" b="1" dirty="0">
                <a:solidFill>
                  <a:schemeClr val="tx2"/>
                </a:solidFill>
              </a:rPr>
              <a:t>Jorge Andrés Gómez Velásquez</a:t>
            </a:r>
            <a:endParaRPr lang="en-US" sz="1400" dirty="0"/>
          </a:p>
          <a:p>
            <a:pPr indent="0" marL="0">
              <a:buNone/>
            </a:pPr>
            <a:r>
              <a:rPr lang="en-US" sz="850" b="1" dirty="0">
                <a:solidFill>
                  <a:schemeClr val="accent2"/>
                </a:solidFill>
              </a:rPr>
              <a:t>Líder del Éxito del Cliente</a:t>
            </a:r>
            <a:endParaRPr lang="en-US" sz="1400" dirty="0"/>
          </a:p>
        </p:txBody>
      </p:sp>
      <p:sp>
        <p:nvSpPr>
          <p:cNvPr id="17" name="Text 11"/>
          <p:cNvSpPr txBox="1"/>
          <p:nvPr/>
        </p:nvSpPr>
        <p:spPr>
          <a:xfrm>
            <a:off x="5379720" y="2377440"/>
            <a:ext cx="2164080" cy="411480"/>
          </a:xfrm>
          <a:prstGeom prst="rect">
            <a:avLst/>
          </a:prstGeom>
          <a:noFill/>
          <a:ln/>
        </p:spPr>
        <p:txBody>
          <a:bodyPr wrap="square" lIns="0" tIns="0" rIns="0" bIns="0" rtlCol="0" anchor="t"/>
          <a:lstStyle/>
          <a:p>
            <a:pPr indent="0" marL="0">
              <a:buNone/>
            </a:pPr>
            <a:r>
              <a:rPr lang="en-US" sz="950" dirty="0">
                <a:solidFill>
                  <a:schemeClr val="tx1"/>
                </a:solidFill>
              </a:rPr>
              <a:t>Punto de contacto con SURA: lo acordado, con calidad y a tiempo.</a:t>
            </a:r>
            <a:endParaRPr lang="en-US" sz="950" dirty="0"/>
          </a:p>
        </p:txBody>
      </p:sp>
      <p:sp>
        <p:nvSpPr>
          <p:cNvPr id="18" name="Shape 12"/>
          <p:cNvSpPr/>
          <p:nvPr/>
        </p:nvSpPr>
        <p:spPr>
          <a:xfrm>
            <a:off x="548640" y="2944368"/>
            <a:ext cx="7223760" cy="868680"/>
          </a:xfrm>
          <a:prstGeom prst="roundRect">
            <a:avLst>
              <a:gd name="adj" fmla="val 8421"/>
            </a:avLst>
          </a:prstGeom>
          <a:solidFill>
            <a:schemeClr val="accent4"/>
          </a:solidFill>
          <a:ln w="12700">
            <a:solidFill>
              <a:srgbClr val="DCD8EC"/>
            </a:solidFill>
            <a:prstDash val="solid"/>
          </a:ln>
        </p:spPr>
      </p:sp>
      <p:sp>
        <p:nvSpPr>
          <p:cNvPr id="19" name="Shape 13"/>
          <p:cNvSpPr/>
          <p:nvPr/>
        </p:nvSpPr>
        <p:spPr>
          <a:xfrm>
            <a:off x="731520" y="3017520"/>
            <a:ext cx="658368" cy="658368"/>
          </a:xfrm>
          <a:prstGeom prst="ellipse">
            <a:avLst/>
          </a:prstGeom>
          <a:solidFill>
            <a:schemeClr val="bg1"/>
          </a:solidFill>
          <a:ln w="12700">
            <a:solidFill>
              <a:srgbClr val="DCD8EC"/>
            </a:solidFill>
            <a:prstDash val="solid"/>
          </a:ln>
        </p:spPr>
      </p:sp>
      <p:pic>
        <p:nvPicPr>
          <p:cNvPr id="20" name="Image 3" descr="preencoded.png">    </p:cNvPr>
          <p:cNvPicPr>
            <a:picLocks noChangeAspect="1"/>
          </p:cNvPicPr>
          <p:nvPr/>
        </p:nvPicPr>
        <p:blipFill>
          <a:blip r:embed="rId4"/>
          <a:stretch>
            <a:fillRect/>
          </a:stretch>
        </p:blipFill>
        <p:spPr>
          <a:xfrm>
            <a:off x="758952" y="3044952"/>
            <a:ext cx="603504" cy="603504"/>
          </a:xfrm>
          <a:prstGeom prst="ellipse">
            <a:avLst/>
          </a:prstGeom>
        </p:spPr>
      </p:pic>
      <p:sp>
        <p:nvSpPr>
          <p:cNvPr id="21" name="Text 14"/>
          <p:cNvSpPr txBox="1"/>
          <p:nvPr/>
        </p:nvSpPr>
        <p:spPr>
          <a:xfrm>
            <a:off x="1536192" y="2999232"/>
            <a:ext cx="6080760" cy="292608"/>
          </a:xfrm>
          <a:prstGeom prst="rect">
            <a:avLst/>
          </a:prstGeom>
          <a:noFill/>
          <a:ln/>
        </p:spPr>
        <p:txBody>
          <a:bodyPr wrap="square" lIns="0" tIns="0" rIns="0" bIns="0" rtlCol="0" anchor="t"/>
          <a:lstStyle/>
          <a:p>
            <a:pPr indent="0" marL="0">
              <a:buNone/>
            </a:pPr>
            <a:r>
              <a:rPr lang="en-US" sz="1300" b="1" dirty="0">
                <a:solidFill>
                  <a:schemeClr val="tx2"/>
                </a:solidFill>
              </a:rPr>
              <a:t>Didier Fabián Franco Gómez</a:t>
            </a:r>
            <a:pPr indent="0" marL="0">
              <a:buNone/>
            </a:pPr>
            <a:r>
              <a:rPr lang="en-US" sz="1100" b="1" dirty="0">
                <a:solidFill>
                  <a:schemeClr val="accent2"/>
                </a:solidFill>
              </a:rPr>
              <a:t>  · Arquitecto Líder</a:t>
            </a:r>
            <a:endParaRPr lang="en-US" sz="1400" dirty="0"/>
          </a:p>
        </p:txBody>
      </p:sp>
      <p:sp>
        <p:nvSpPr>
          <p:cNvPr id="22" name="Text 15"/>
          <p:cNvSpPr txBox="1"/>
          <p:nvPr/>
        </p:nvSpPr>
        <p:spPr>
          <a:xfrm>
            <a:off x="1536192" y="3291840"/>
            <a:ext cx="6080760" cy="475488"/>
          </a:xfrm>
          <a:prstGeom prst="rect">
            <a:avLst/>
          </a:prstGeom>
          <a:noFill/>
          <a:ln/>
        </p:spPr>
        <p:txBody>
          <a:bodyPr wrap="square" lIns="0" tIns="0" rIns="0" bIns="0" rtlCol="0" anchor="t"/>
          <a:lstStyle/>
          <a:p>
            <a:pPr indent="0" marL="0">
              <a:buNone/>
            </a:pPr>
            <a:r>
              <a:rPr lang="en-US" sz="1100" dirty="0">
                <a:solidFill>
                  <a:schemeClr val="tx1"/>
                </a:solidFill>
              </a:rPr>
              <a:t>Marca el rumbo técnico: define con el equipo prácticas, arquetipos y componentes, los alinea con la arquitectura de SURA y asegura que cada característica los cumpla.</a:t>
            </a:r>
            <a:endParaRPr lang="en-US" sz="1100" dirty="0"/>
          </a:p>
        </p:txBody>
      </p:sp>
      <p:sp>
        <p:nvSpPr>
          <p:cNvPr id="23" name="Shape 16"/>
          <p:cNvSpPr/>
          <p:nvPr/>
        </p:nvSpPr>
        <p:spPr>
          <a:xfrm>
            <a:off x="548640" y="3886200"/>
            <a:ext cx="7223760" cy="1691640"/>
          </a:xfrm>
          <a:prstGeom prst="roundRect">
            <a:avLst>
              <a:gd name="adj" fmla="val 4324"/>
            </a:avLst>
          </a:prstGeom>
          <a:solidFill>
            <a:schemeClr val="accent4"/>
          </a:solidFill>
          <a:ln w="12700">
            <a:solidFill>
              <a:srgbClr val="DCD8EC"/>
            </a:solidFill>
            <a:prstDash val="solid"/>
          </a:ln>
        </p:spPr>
      </p:sp>
      <p:sp>
        <p:nvSpPr>
          <p:cNvPr id="24" name="Text 17"/>
          <p:cNvSpPr txBox="1"/>
          <p:nvPr/>
        </p:nvSpPr>
        <p:spPr>
          <a:xfrm>
            <a:off x="749808" y="3959352"/>
            <a:ext cx="1828800" cy="502920"/>
          </a:xfrm>
          <a:prstGeom prst="rect">
            <a:avLst/>
          </a:prstGeom>
          <a:noFill/>
          <a:ln/>
        </p:spPr>
        <p:txBody>
          <a:bodyPr wrap="square" lIns="0" tIns="0" rIns="0" bIns="0" rtlCol="0" anchor="ctr"/>
          <a:lstStyle/>
          <a:p>
            <a:pPr indent="0" marL="0">
              <a:buNone/>
            </a:pPr>
            <a:r>
              <a:rPr lang="en-US" sz="1500" b="1" dirty="0">
                <a:solidFill>
                  <a:schemeClr val="tx2"/>
                </a:solidFill>
              </a:rPr>
              <a:t>Desarrolladores</a:t>
            </a:r>
            <a:endParaRPr lang="en-US" sz="1400" dirty="0"/>
          </a:p>
          <a:p>
            <a:pPr indent="0" marL="0">
              <a:buNone/>
            </a:pPr>
            <a:r>
              <a:rPr lang="en-US" sz="900" b="1" dirty="0">
                <a:solidFill>
                  <a:schemeClr val="accent2"/>
                </a:solidFill>
              </a:rPr>
              <a:t>Dedicación completa</a:t>
            </a:r>
            <a:endParaRPr lang="en-US" sz="1400" dirty="0"/>
          </a:p>
        </p:txBody>
      </p:sp>
      <p:sp>
        <p:nvSpPr>
          <p:cNvPr id="25" name="Shape 18"/>
          <p:cNvSpPr/>
          <p:nvPr/>
        </p:nvSpPr>
        <p:spPr>
          <a:xfrm>
            <a:off x="2788920" y="3968496"/>
            <a:ext cx="457200" cy="457200"/>
          </a:xfrm>
          <a:prstGeom prst="ellipse">
            <a:avLst/>
          </a:prstGeom>
          <a:solidFill>
            <a:schemeClr val="bg1"/>
          </a:solidFill>
          <a:ln w="12700">
            <a:solidFill>
              <a:srgbClr val="DCD8EC"/>
            </a:solidFill>
            <a:prstDash val="solid"/>
          </a:ln>
        </p:spPr>
      </p:sp>
      <p:pic>
        <p:nvPicPr>
          <p:cNvPr id="26" name="Image 4" descr="preencoded.png">    </p:cNvPr>
          <p:cNvPicPr>
            <a:picLocks noChangeAspect="1"/>
          </p:cNvPicPr>
          <p:nvPr/>
        </p:nvPicPr>
        <p:blipFill>
          <a:blip r:embed="rId5"/>
          <a:stretch>
            <a:fillRect/>
          </a:stretch>
        </p:blipFill>
        <p:spPr>
          <a:xfrm>
            <a:off x="2816352" y="3995928"/>
            <a:ext cx="402336" cy="402336"/>
          </a:xfrm>
          <a:prstGeom prst="ellipse">
            <a:avLst/>
          </a:prstGeom>
        </p:spPr>
      </p:pic>
      <p:sp>
        <p:nvSpPr>
          <p:cNvPr id="27" name="Text 19"/>
          <p:cNvSpPr txBox="1"/>
          <p:nvPr/>
        </p:nvSpPr>
        <p:spPr>
          <a:xfrm>
            <a:off x="3319272" y="3941064"/>
            <a:ext cx="1828800" cy="512064"/>
          </a:xfrm>
          <a:prstGeom prst="rect">
            <a:avLst/>
          </a:prstGeom>
          <a:noFill/>
          <a:ln/>
        </p:spPr>
        <p:txBody>
          <a:bodyPr wrap="square" lIns="0" tIns="0" rIns="0" bIns="0" rtlCol="0" anchor="ctr"/>
          <a:lstStyle/>
          <a:p>
            <a:pPr indent="0" marL="0">
              <a:buNone/>
            </a:pPr>
            <a:r>
              <a:rPr lang="en-US" sz="1000" b="1" dirty="0">
                <a:solidFill>
                  <a:schemeClr val="tx2"/>
                </a:solidFill>
              </a:rPr>
              <a:t>Juan Gabriel Colorado</a:t>
            </a:r>
            <a:endParaRPr lang="en-US" sz="1400" dirty="0"/>
          </a:p>
          <a:p>
            <a:pPr indent="0" marL="0">
              <a:buNone/>
            </a:pPr>
            <a:r>
              <a:rPr lang="en-US" sz="850" b="1" dirty="0">
                <a:solidFill>
                  <a:schemeClr val="accent2"/>
                </a:solidFill>
              </a:rPr>
              <a:t>Desarrollador IA</a:t>
            </a:r>
            <a:endParaRPr lang="en-US" sz="1400" dirty="0"/>
          </a:p>
        </p:txBody>
      </p:sp>
      <p:sp>
        <p:nvSpPr>
          <p:cNvPr id="28" name="Shape 20"/>
          <p:cNvSpPr/>
          <p:nvPr/>
        </p:nvSpPr>
        <p:spPr>
          <a:xfrm>
            <a:off x="5212080" y="3968496"/>
            <a:ext cx="457200" cy="457200"/>
          </a:xfrm>
          <a:prstGeom prst="ellipse">
            <a:avLst/>
          </a:prstGeom>
          <a:solidFill>
            <a:schemeClr val="bg1"/>
          </a:solidFill>
          <a:ln w="12700">
            <a:solidFill>
              <a:srgbClr val="DCD8EC"/>
            </a:solidFill>
            <a:prstDash val="solid"/>
          </a:ln>
        </p:spPr>
      </p:sp>
      <p:pic>
        <p:nvPicPr>
          <p:cNvPr id="29" name="Image 5" descr="preencoded.png">    </p:cNvPr>
          <p:cNvPicPr>
            <a:picLocks noChangeAspect="1"/>
          </p:cNvPicPr>
          <p:nvPr/>
        </p:nvPicPr>
        <p:blipFill>
          <a:blip r:embed="rId6"/>
          <a:stretch>
            <a:fillRect/>
          </a:stretch>
        </p:blipFill>
        <p:spPr>
          <a:xfrm>
            <a:off x="5239512" y="3995928"/>
            <a:ext cx="402336" cy="402336"/>
          </a:xfrm>
          <a:prstGeom prst="ellipse">
            <a:avLst/>
          </a:prstGeom>
        </p:spPr>
      </p:pic>
      <p:sp>
        <p:nvSpPr>
          <p:cNvPr id="30" name="Text 21"/>
          <p:cNvSpPr txBox="1"/>
          <p:nvPr/>
        </p:nvSpPr>
        <p:spPr>
          <a:xfrm>
            <a:off x="5742432" y="3941064"/>
            <a:ext cx="1828800" cy="512064"/>
          </a:xfrm>
          <a:prstGeom prst="rect">
            <a:avLst/>
          </a:prstGeom>
          <a:noFill/>
          <a:ln/>
        </p:spPr>
        <p:txBody>
          <a:bodyPr wrap="square" lIns="0" tIns="0" rIns="0" bIns="0" rtlCol="0" anchor="ctr"/>
          <a:lstStyle/>
          <a:p>
            <a:pPr indent="0" marL="0">
              <a:buNone/>
            </a:pPr>
            <a:r>
              <a:rPr lang="en-US" sz="1000" b="1" dirty="0">
                <a:solidFill>
                  <a:schemeClr val="tx2"/>
                </a:solidFill>
              </a:rPr>
              <a:t>Gian Valdiris</a:t>
            </a:r>
            <a:endParaRPr lang="en-US" sz="1400" dirty="0"/>
          </a:p>
          <a:p>
            <a:pPr indent="0" marL="0">
              <a:buNone/>
            </a:pPr>
            <a:r>
              <a:rPr lang="en-US" sz="850" b="1" dirty="0">
                <a:solidFill>
                  <a:schemeClr val="accent2"/>
                </a:solidFill>
              </a:rPr>
              <a:t>Desarrollador IA</a:t>
            </a:r>
            <a:endParaRPr lang="en-US" sz="1400" dirty="0"/>
          </a:p>
        </p:txBody>
      </p:sp>
      <p:sp>
        <p:nvSpPr>
          <p:cNvPr id="31" name="Shape 22"/>
          <p:cNvSpPr/>
          <p:nvPr/>
        </p:nvSpPr>
        <p:spPr>
          <a:xfrm>
            <a:off x="749808" y="4507992"/>
            <a:ext cx="2200656" cy="731520"/>
          </a:xfrm>
          <a:prstGeom prst="roundRect">
            <a:avLst>
              <a:gd name="adj" fmla="val 10000"/>
            </a:avLst>
          </a:prstGeom>
          <a:solidFill>
            <a:schemeClr val="bg1"/>
          </a:solidFill>
          <a:ln w="12700">
            <a:solidFill>
              <a:srgbClr val="DCD8EC"/>
            </a:solidFill>
            <a:prstDash val="solid"/>
          </a:ln>
        </p:spPr>
      </p:sp>
      <p:sp>
        <p:nvSpPr>
          <p:cNvPr id="32" name="Text 23"/>
          <p:cNvSpPr txBox="1"/>
          <p:nvPr/>
        </p:nvSpPr>
        <p:spPr>
          <a:xfrm>
            <a:off x="859536" y="4535424"/>
            <a:ext cx="1981200" cy="685800"/>
          </a:xfrm>
          <a:prstGeom prst="rect">
            <a:avLst/>
          </a:prstGeom>
          <a:noFill/>
          <a:ln/>
        </p:spPr>
        <p:txBody>
          <a:bodyPr wrap="square" lIns="0" tIns="0" rIns="0" bIns="0" rtlCol="0" anchor="t"/>
          <a:lstStyle/>
          <a:p>
            <a:pPr indent="0" marL="0">
              <a:buNone/>
            </a:pPr>
            <a:r>
              <a:rPr lang="en-US" sz="1000" b="1" dirty="0">
                <a:solidFill>
                  <a:schemeClr val="accent1"/>
                </a:solidFill>
              </a:rPr>
              <a:t>1 · Refinan</a:t>
            </a:r>
            <a:endParaRPr lang="en-US" sz="1000" dirty="0"/>
          </a:p>
          <a:p>
            <a:pPr indent="0" marL="0">
              <a:buNone/>
            </a:pPr>
            <a:r>
              <a:rPr lang="en-US" sz="1000" dirty="0">
                <a:solidFill>
                  <a:schemeClr val="tx1"/>
                </a:solidFill>
              </a:rPr>
              <a:t>Bajan cada característica a diseño técnico con el arquetipo, junto al arquitecto.</a:t>
            </a:r>
            <a:endParaRPr lang="en-US" sz="1000" dirty="0"/>
          </a:p>
        </p:txBody>
      </p:sp>
      <p:sp>
        <p:nvSpPr>
          <p:cNvPr id="33" name="Shape 24"/>
          <p:cNvSpPr/>
          <p:nvPr/>
        </p:nvSpPr>
        <p:spPr>
          <a:xfrm>
            <a:off x="3060192" y="4507992"/>
            <a:ext cx="2200656" cy="731520"/>
          </a:xfrm>
          <a:prstGeom prst="roundRect">
            <a:avLst>
              <a:gd name="adj" fmla="val 10000"/>
            </a:avLst>
          </a:prstGeom>
          <a:solidFill>
            <a:schemeClr val="bg1"/>
          </a:solidFill>
          <a:ln w="12700">
            <a:solidFill>
              <a:srgbClr val="DCD8EC"/>
            </a:solidFill>
            <a:prstDash val="solid"/>
          </a:ln>
        </p:spPr>
      </p:sp>
      <p:sp>
        <p:nvSpPr>
          <p:cNvPr id="34" name="Text 25"/>
          <p:cNvSpPr txBox="1"/>
          <p:nvPr/>
        </p:nvSpPr>
        <p:spPr>
          <a:xfrm>
            <a:off x="3169920" y="4535424"/>
            <a:ext cx="1981200" cy="685800"/>
          </a:xfrm>
          <a:prstGeom prst="rect">
            <a:avLst/>
          </a:prstGeom>
          <a:noFill/>
          <a:ln/>
        </p:spPr>
        <p:txBody>
          <a:bodyPr wrap="square" lIns="0" tIns="0" rIns="0" bIns="0" rtlCol="0" anchor="t"/>
          <a:lstStyle/>
          <a:p>
            <a:pPr indent="0" marL="0">
              <a:buNone/>
            </a:pPr>
            <a:r>
              <a:rPr lang="en-US" sz="1000" b="1" dirty="0">
                <a:solidFill>
                  <a:schemeClr val="accent1"/>
                </a:solidFill>
              </a:rPr>
              <a:t>2 · Dimensionan</a:t>
            </a:r>
            <a:endParaRPr lang="en-US" sz="1000" dirty="0"/>
          </a:p>
          <a:p>
            <a:pPr indent="0" marL="0">
              <a:buNone/>
            </a:pPr>
            <a:r>
              <a:rPr lang="en-US" sz="1000" dirty="0">
                <a:solidFill>
                  <a:schemeClr val="tx1"/>
                </a:solidFill>
              </a:rPr>
              <a:t>Definen si cada característica es acotada o amplia, y parten la amplia.</a:t>
            </a:r>
            <a:endParaRPr lang="en-US" sz="1000" dirty="0"/>
          </a:p>
        </p:txBody>
      </p:sp>
      <p:sp>
        <p:nvSpPr>
          <p:cNvPr id="35" name="Shape 26"/>
          <p:cNvSpPr/>
          <p:nvPr/>
        </p:nvSpPr>
        <p:spPr>
          <a:xfrm>
            <a:off x="5370576" y="4507992"/>
            <a:ext cx="2200656" cy="731520"/>
          </a:xfrm>
          <a:prstGeom prst="roundRect">
            <a:avLst>
              <a:gd name="adj" fmla="val 10000"/>
            </a:avLst>
          </a:prstGeom>
          <a:solidFill>
            <a:schemeClr val="bg1"/>
          </a:solidFill>
          <a:ln w="12700">
            <a:solidFill>
              <a:srgbClr val="DCD8EC"/>
            </a:solidFill>
            <a:prstDash val="solid"/>
          </a:ln>
        </p:spPr>
      </p:sp>
      <p:sp>
        <p:nvSpPr>
          <p:cNvPr id="36" name="Text 27"/>
          <p:cNvSpPr txBox="1"/>
          <p:nvPr/>
        </p:nvSpPr>
        <p:spPr>
          <a:xfrm>
            <a:off x="5480304" y="4535424"/>
            <a:ext cx="1981200" cy="685800"/>
          </a:xfrm>
          <a:prstGeom prst="rect">
            <a:avLst/>
          </a:prstGeom>
          <a:noFill/>
          <a:ln/>
        </p:spPr>
        <p:txBody>
          <a:bodyPr wrap="square" lIns="0" tIns="0" rIns="0" bIns="0" rtlCol="0" anchor="t"/>
          <a:lstStyle/>
          <a:p>
            <a:pPr indent="0" marL="0">
              <a:buNone/>
            </a:pPr>
            <a:r>
              <a:rPr lang="en-US" sz="1000" b="1" dirty="0">
                <a:solidFill>
                  <a:schemeClr val="accent1"/>
                </a:solidFill>
              </a:rPr>
              <a:t>3 · Implementan</a:t>
            </a:r>
            <a:endParaRPr lang="en-US" sz="1000" dirty="0"/>
          </a:p>
          <a:p>
            <a:pPr indent="0" marL="0">
              <a:buNone/>
            </a:pPr>
            <a:r>
              <a:rPr lang="en-US" sz="1000" dirty="0">
                <a:solidFill>
                  <a:schemeClr val="tx1"/>
                </a:solidFill>
              </a:rPr>
              <a:t>Construyen la solución con las prácticas del equipo y la liberan a certificación.</a:t>
            </a:r>
            <a:endParaRPr lang="en-US" sz="1000" dirty="0"/>
          </a:p>
        </p:txBody>
      </p:sp>
      <p:sp>
        <p:nvSpPr>
          <p:cNvPr id="37" name="Text 28"/>
          <p:cNvSpPr txBox="1"/>
          <p:nvPr/>
        </p:nvSpPr>
        <p:spPr>
          <a:xfrm>
            <a:off x="749808" y="5266944"/>
            <a:ext cx="6821424" cy="274320"/>
          </a:xfrm>
          <a:prstGeom prst="rect">
            <a:avLst/>
          </a:prstGeom>
          <a:noFill/>
          <a:ln/>
        </p:spPr>
        <p:txBody>
          <a:bodyPr wrap="square" lIns="0" tIns="0" rIns="0" bIns="0" rtlCol="0" anchor="ctr"/>
          <a:lstStyle/>
          <a:p>
            <a:pPr indent="0" marL="0">
              <a:buNone/>
            </a:pPr>
            <a:r>
              <a:rPr lang="en-US" sz="1000" b="1" dirty="0">
                <a:solidFill>
                  <a:schemeClr val="tx2"/>
                </a:solidFill>
              </a:rPr>
              <a:t>Un equipo, un backlog: </a:t>
            </a:r>
            <a:pPr indent="0" marL="0">
              <a:buNone/>
            </a:pPr>
            <a:r>
              <a:rPr lang="en-US" sz="1000" dirty="0">
                <a:solidFill>
                  <a:schemeClr val="accent6"/>
                </a:solidFill>
              </a:rPr>
              <a:t>siempre se trabaja en la prioridad más alta de SURA, y el conocimiento queda en el equipo.</a:t>
            </a:r>
            <a:endParaRPr lang="en-US" sz="1000" dirty="0"/>
          </a:p>
        </p:txBody>
      </p:sp>
      <p:sp>
        <p:nvSpPr>
          <p:cNvPr id="38" name="Shape 29"/>
          <p:cNvSpPr/>
          <p:nvPr/>
        </p:nvSpPr>
        <p:spPr>
          <a:xfrm>
            <a:off x="548640" y="5669280"/>
            <a:ext cx="7223760" cy="548640"/>
          </a:xfrm>
          <a:prstGeom prst="roundRect">
            <a:avLst>
              <a:gd name="adj" fmla="val 13333"/>
            </a:avLst>
          </a:prstGeom>
          <a:solidFill>
            <a:schemeClr val="accent4"/>
          </a:solidFill>
          <a:ln w="12700">
            <a:solidFill>
              <a:srgbClr val="DCD8EC"/>
            </a:solidFill>
            <a:prstDash val="solid"/>
          </a:ln>
        </p:spPr>
      </p:sp>
      <p:sp>
        <p:nvSpPr>
          <p:cNvPr id="39" name="Shape 30"/>
          <p:cNvSpPr/>
          <p:nvPr/>
        </p:nvSpPr>
        <p:spPr>
          <a:xfrm>
            <a:off x="731520" y="5760720"/>
            <a:ext cx="365760" cy="365760"/>
          </a:xfrm>
          <a:prstGeom prst="ellipse">
            <a:avLst/>
          </a:prstGeom>
          <a:solidFill>
            <a:schemeClr val="accent2"/>
          </a:solidFill>
          <a:ln w="12700">
            <a:solidFill>
              <a:schemeClr val="accent2"/>
            </a:solidFill>
            <a:prstDash val="solid"/>
          </a:ln>
        </p:spPr>
      </p:sp>
      <p:sp>
        <p:nvSpPr>
          <p:cNvPr id="40" name="Text 31"/>
          <p:cNvSpPr txBox="1"/>
          <p:nvPr/>
        </p:nvSpPr>
        <p:spPr>
          <a:xfrm>
            <a:off x="731520" y="576072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S</a:t>
            </a:r>
            <a:endParaRPr lang="en-US" sz="1200" dirty="0"/>
          </a:p>
        </p:txBody>
      </p:sp>
      <p:sp>
        <p:nvSpPr>
          <p:cNvPr id="41" name="Text 32"/>
          <p:cNvSpPr txBox="1"/>
          <p:nvPr/>
        </p:nvSpPr>
        <p:spPr>
          <a:xfrm>
            <a:off x="1234440" y="5669280"/>
            <a:ext cx="6355080" cy="548640"/>
          </a:xfrm>
          <a:prstGeom prst="rect">
            <a:avLst/>
          </a:prstGeom>
          <a:noFill/>
          <a:ln/>
        </p:spPr>
        <p:txBody>
          <a:bodyPr wrap="square" lIns="0" tIns="0" rIns="0" bIns="0" rtlCol="0" anchor="ctr"/>
          <a:lstStyle/>
          <a:p>
            <a:pPr indent="0" marL="0">
              <a:buNone/>
            </a:pPr>
            <a:r>
              <a:rPr lang="en-US" sz="1200" b="1" dirty="0">
                <a:solidFill>
                  <a:schemeClr val="tx2"/>
                </a:solidFill>
              </a:rPr>
              <a:t>Soporte</a:t>
            </a:r>
            <a:pPr indent="0" marL="0">
              <a:buNone/>
            </a:pPr>
            <a:r>
              <a:rPr lang="en-US" sz="1000" b="1" dirty="0">
                <a:solidFill>
                  <a:schemeClr val="accent2"/>
                </a:solidFill>
              </a:rPr>
              <a:t>  · media jornada</a:t>
            </a:r>
            <a:endParaRPr lang="en-US" sz="1400" dirty="0"/>
          </a:p>
          <a:p>
            <a:pPr indent="0" marL="0">
              <a:buNone/>
            </a:pPr>
            <a:r>
              <a:rPr lang="en-US" sz="1000" dirty="0">
                <a:solidFill>
                  <a:schemeClr val="tx1"/>
                </a:solidFill>
              </a:rPr>
              <a:t>Atiende lo que ya opera, para que el flujo de nuevas características no se interrumpa.</a:t>
            </a:r>
            <a:endParaRPr lang="en-US" sz="1400" dirty="0"/>
          </a:p>
        </p:txBody>
      </p:sp>
      <p:sp>
        <p:nvSpPr>
          <p:cNvPr id="42" name="Text 33"/>
          <p:cNvSpPr txBox="1"/>
          <p:nvPr/>
        </p:nvSpPr>
        <p:spPr>
          <a:xfrm>
            <a:off x="8138160" y="1600200"/>
            <a:ext cx="3502152" cy="365760"/>
          </a:xfrm>
          <a:prstGeom prst="rect">
            <a:avLst/>
          </a:prstGeom>
          <a:noFill/>
          <a:ln/>
        </p:spPr>
        <p:txBody>
          <a:bodyPr wrap="square" lIns="0" tIns="0" rIns="0" bIns="0" rtlCol="0" anchor="t"/>
          <a:lstStyle/>
          <a:p>
            <a:pPr indent="0" marL="0">
              <a:buNone/>
            </a:pPr>
            <a:r>
              <a:rPr lang="en-US" sz="1700" b="1" dirty="0">
                <a:solidFill>
                  <a:schemeClr val="tx2"/>
                </a:solidFill>
              </a:rPr>
              <a:t>Equipo SURA</a:t>
            </a:r>
            <a:endParaRPr lang="en-US" sz="1700" dirty="0"/>
          </a:p>
        </p:txBody>
      </p:sp>
      <p:sp>
        <p:nvSpPr>
          <p:cNvPr id="43" name="Shape 34"/>
          <p:cNvSpPr/>
          <p:nvPr/>
        </p:nvSpPr>
        <p:spPr>
          <a:xfrm>
            <a:off x="8138160" y="2057400"/>
            <a:ext cx="3502152" cy="676656"/>
          </a:xfrm>
          <a:prstGeom prst="roundRect">
            <a:avLst>
              <a:gd name="adj" fmla="val 10811"/>
            </a:avLst>
          </a:prstGeom>
          <a:solidFill>
            <a:schemeClr val="bg1"/>
          </a:solidFill>
          <a:ln w="12700">
            <a:solidFill>
              <a:srgbClr val="DCD8EC"/>
            </a:solidFill>
            <a:prstDash val="solid"/>
          </a:ln>
        </p:spPr>
      </p:sp>
      <p:sp>
        <p:nvSpPr>
          <p:cNvPr id="44" name="Text 35"/>
          <p:cNvSpPr txBox="1"/>
          <p:nvPr/>
        </p:nvSpPr>
        <p:spPr>
          <a:xfrm>
            <a:off x="8275320" y="2057400"/>
            <a:ext cx="3227832" cy="676656"/>
          </a:xfrm>
          <a:prstGeom prst="rect">
            <a:avLst/>
          </a:prstGeom>
          <a:noFill/>
          <a:ln/>
        </p:spPr>
        <p:txBody>
          <a:bodyPr wrap="square" lIns="0" tIns="0" rIns="0" bIns="0" rtlCol="0" anchor="ctr"/>
          <a:lstStyle/>
          <a:p>
            <a:pPr indent="0" marL="0">
              <a:buNone/>
            </a:pPr>
            <a:r>
              <a:rPr lang="en-US" sz="1200" b="1" dirty="0">
                <a:solidFill>
                  <a:schemeClr val="tx2"/>
                </a:solidFill>
              </a:rPr>
              <a:t>Product Owner de SURA</a:t>
            </a:r>
            <a:endParaRPr lang="en-US" sz="1200" dirty="0"/>
          </a:p>
          <a:p>
            <a:pPr indent="0" marL="0">
              <a:buNone/>
            </a:pPr>
            <a:r>
              <a:rPr lang="en-US" sz="1200" dirty="0">
                <a:solidFill>
                  <a:schemeClr val="accent6"/>
                </a:solidFill>
              </a:rPr>
              <a:t>define y prioriza las características, y certifica cada micro-liberación</a:t>
            </a:r>
            <a:endParaRPr lang="en-US" sz="1200" dirty="0"/>
          </a:p>
        </p:txBody>
      </p:sp>
      <p:sp>
        <p:nvSpPr>
          <p:cNvPr id="45" name="Shape 36"/>
          <p:cNvSpPr/>
          <p:nvPr/>
        </p:nvSpPr>
        <p:spPr>
          <a:xfrm>
            <a:off x="8138160" y="2825496"/>
            <a:ext cx="3502152" cy="676656"/>
          </a:xfrm>
          <a:prstGeom prst="roundRect">
            <a:avLst>
              <a:gd name="adj" fmla="val 10811"/>
            </a:avLst>
          </a:prstGeom>
          <a:solidFill>
            <a:schemeClr val="bg1"/>
          </a:solidFill>
          <a:ln w="12700">
            <a:solidFill>
              <a:srgbClr val="DCD8EC"/>
            </a:solidFill>
            <a:prstDash val="solid"/>
          </a:ln>
        </p:spPr>
      </p:sp>
      <p:sp>
        <p:nvSpPr>
          <p:cNvPr id="46" name="Text 37"/>
          <p:cNvSpPr txBox="1"/>
          <p:nvPr/>
        </p:nvSpPr>
        <p:spPr>
          <a:xfrm>
            <a:off x="8275320" y="2825496"/>
            <a:ext cx="3227832" cy="676656"/>
          </a:xfrm>
          <a:prstGeom prst="rect">
            <a:avLst/>
          </a:prstGeom>
          <a:noFill/>
          <a:ln/>
        </p:spPr>
        <p:txBody>
          <a:bodyPr wrap="square" lIns="0" tIns="0" rIns="0" bIns="0" rtlCol="0" anchor="ctr"/>
          <a:lstStyle/>
          <a:p>
            <a:pPr indent="0" marL="0">
              <a:buNone/>
            </a:pPr>
            <a:r>
              <a:rPr lang="en-US" sz="1200" b="1" dirty="0">
                <a:solidFill>
                  <a:schemeClr val="tx2"/>
                </a:solidFill>
              </a:rPr>
              <a:t>Arquitectura de SURA</a:t>
            </a:r>
            <a:endParaRPr lang="en-US" sz="1200" dirty="0"/>
          </a:p>
          <a:p>
            <a:pPr indent="0" marL="0">
              <a:buNone/>
            </a:pPr>
            <a:r>
              <a:rPr lang="en-US" sz="1200" dirty="0">
                <a:solidFill>
                  <a:schemeClr val="accent6"/>
                </a:solidFill>
              </a:rPr>
              <a:t>acuerda lineamientos y decisiones con nuestro arquitecto</a:t>
            </a:r>
            <a:endParaRPr lang="en-US" sz="1200" dirty="0"/>
          </a:p>
        </p:txBody>
      </p:sp>
      <p:sp>
        <p:nvSpPr>
          <p:cNvPr id="47" name="Shape 38"/>
          <p:cNvSpPr/>
          <p:nvPr/>
        </p:nvSpPr>
        <p:spPr>
          <a:xfrm>
            <a:off x="8138160" y="3593592"/>
            <a:ext cx="3502152" cy="676656"/>
          </a:xfrm>
          <a:prstGeom prst="roundRect">
            <a:avLst>
              <a:gd name="adj" fmla="val 10811"/>
            </a:avLst>
          </a:prstGeom>
          <a:solidFill>
            <a:schemeClr val="bg1"/>
          </a:solidFill>
          <a:ln w="12700">
            <a:solidFill>
              <a:srgbClr val="DCD8EC"/>
            </a:solidFill>
            <a:prstDash val="solid"/>
          </a:ln>
        </p:spPr>
      </p:sp>
      <p:sp>
        <p:nvSpPr>
          <p:cNvPr id="48" name="Text 39"/>
          <p:cNvSpPr txBox="1"/>
          <p:nvPr/>
        </p:nvSpPr>
        <p:spPr>
          <a:xfrm>
            <a:off x="8275320" y="3593592"/>
            <a:ext cx="3227832" cy="676656"/>
          </a:xfrm>
          <a:prstGeom prst="rect">
            <a:avLst/>
          </a:prstGeom>
          <a:noFill/>
          <a:ln/>
        </p:spPr>
        <p:txBody>
          <a:bodyPr wrap="square" lIns="0" tIns="0" rIns="0" bIns="0" rtlCol="0" anchor="ctr"/>
          <a:lstStyle/>
          <a:p>
            <a:pPr indent="0" marL="0">
              <a:buNone/>
            </a:pPr>
            <a:r>
              <a:rPr lang="en-US" sz="1200" b="1" dirty="0">
                <a:solidFill>
                  <a:schemeClr val="tx2"/>
                </a:solidFill>
              </a:rPr>
              <a:t>Equipos de front e integración</a:t>
            </a:r>
            <a:endParaRPr lang="en-US" sz="1200" dirty="0"/>
          </a:p>
          <a:p>
            <a:pPr indent="0" marL="0">
              <a:buNone/>
            </a:pPr>
            <a:r>
              <a:rPr lang="en-US" sz="1200" dirty="0">
                <a:solidFill>
                  <a:schemeClr val="accent6"/>
                </a:solidFill>
              </a:rPr>
              <a:t>construyen la base donde se integran los agentes</a:t>
            </a:r>
            <a:endParaRPr lang="en-US" sz="1200" dirty="0"/>
          </a:p>
        </p:txBody>
      </p:sp>
      <p:sp>
        <p:nvSpPr>
          <p:cNvPr id="49" name="Shape 40"/>
          <p:cNvSpPr/>
          <p:nvPr/>
        </p:nvSpPr>
        <p:spPr>
          <a:xfrm>
            <a:off x="8138160" y="4361688"/>
            <a:ext cx="3502152" cy="676656"/>
          </a:xfrm>
          <a:prstGeom prst="roundRect">
            <a:avLst>
              <a:gd name="adj" fmla="val 10811"/>
            </a:avLst>
          </a:prstGeom>
          <a:solidFill>
            <a:schemeClr val="bg1"/>
          </a:solidFill>
          <a:ln w="12700">
            <a:solidFill>
              <a:srgbClr val="DCD8EC"/>
            </a:solidFill>
            <a:prstDash val="solid"/>
          </a:ln>
        </p:spPr>
      </p:sp>
      <p:sp>
        <p:nvSpPr>
          <p:cNvPr id="50" name="Text 41"/>
          <p:cNvSpPr txBox="1"/>
          <p:nvPr/>
        </p:nvSpPr>
        <p:spPr>
          <a:xfrm>
            <a:off x="8275320" y="4361688"/>
            <a:ext cx="3227832" cy="676656"/>
          </a:xfrm>
          <a:prstGeom prst="rect">
            <a:avLst/>
          </a:prstGeom>
          <a:noFill/>
          <a:ln/>
        </p:spPr>
        <p:txBody>
          <a:bodyPr wrap="square" lIns="0" tIns="0" rIns="0" bIns="0" rtlCol="0" anchor="ctr"/>
          <a:lstStyle/>
          <a:p>
            <a:pPr indent="0" marL="0">
              <a:buNone/>
            </a:pPr>
            <a:r>
              <a:rPr lang="en-US" sz="1200" b="1" dirty="0">
                <a:solidFill>
                  <a:schemeClr val="tx2"/>
                </a:solidFill>
              </a:rPr>
              <a:t>Core SuraHis y plataforma agéntica</a:t>
            </a:r>
            <a:endParaRPr lang="en-US" sz="1200" dirty="0"/>
          </a:p>
          <a:p>
            <a:pPr indent="0" marL="0">
              <a:buNone/>
            </a:pPr>
            <a:r>
              <a:rPr lang="en-US" sz="1200" dirty="0">
                <a:solidFill>
                  <a:schemeClr val="accent6"/>
                </a:solidFill>
              </a:rPr>
              <a:t>exponen reglas, histórico, gateways y modelos</a:t>
            </a:r>
            <a:endParaRPr lang="en-US" sz="1200" dirty="0"/>
          </a:p>
        </p:txBody>
      </p:sp>
      <p:sp>
        <p:nvSpPr>
          <p:cNvPr id="51" name="Shape 42"/>
          <p:cNvSpPr/>
          <p:nvPr/>
        </p:nvSpPr>
        <p:spPr>
          <a:xfrm>
            <a:off x="8138160" y="5129784"/>
            <a:ext cx="3502152" cy="676656"/>
          </a:xfrm>
          <a:prstGeom prst="roundRect">
            <a:avLst>
              <a:gd name="adj" fmla="val 10811"/>
            </a:avLst>
          </a:prstGeom>
          <a:solidFill>
            <a:schemeClr val="bg1"/>
          </a:solidFill>
          <a:ln w="12700">
            <a:solidFill>
              <a:srgbClr val="DCD8EC"/>
            </a:solidFill>
            <a:prstDash val="solid"/>
          </a:ln>
        </p:spPr>
      </p:sp>
      <p:sp>
        <p:nvSpPr>
          <p:cNvPr id="52" name="Text 43"/>
          <p:cNvSpPr txBox="1"/>
          <p:nvPr/>
        </p:nvSpPr>
        <p:spPr>
          <a:xfrm>
            <a:off x="8275320" y="5129784"/>
            <a:ext cx="3227832" cy="676656"/>
          </a:xfrm>
          <a:prstGeom prst="rect">
            <a:avLst/>
          </a:prstGeom>
          <a:noFill/>
          <a:ln/>
        </p:spPr>
        <p:txBody>
          <a:bodyPr wrap="square" lIns="0" tIns="0" rIns="0" bIns="0" rtlCol="0" anchor="ctr"/>
          <a:lstStyle/>
          <a:p>
            <a:pPr indent="0" marL="0">
              <a:buNone/>
            </a:pPr>
            <a:r>
              <a:rPr lang="en-US" sz="1200" b="1" dirty="0">
                <a:solidFill>
                  <a:schemeClr val="tx2"/>
                </a:solidFill>
              </a:rPr>
              <a:t>Negocio y equipo médico</a:t>
            </a:r>
            <a:endParaRPr lang="en-US" sz="1200" dirty="0"/>
          </a:p>
          <a:p>
            <a:pPr indent="0" marL="0">
              <a:buNone/>
            </a:pPr>
            <a:r>
              <a:rPr lang="en-US" sz="1200" dirty="0">
                <a:solidFill>
                  <a:schemeClr val="accent6"/>
                </a:solidFill>
              </a:rPr>
              <a:t>acompañan al equipo, definen el error tolerable y validan la muestra clínica</a:t>
            </a:r>
            <a:endParaRPr lang="en-US" sz="12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Cada característica recorre las etapas: SURA define, certifica y decide cuándo activar</a:t>
            </a:r>
            <a:endParaRPr lang="en-US" sz="2800" dirty="0"/>
          </a:p>
        </p:txBody>
      </p:sp>
      <p:sp>
        <p:nvSpPr>
          <p:cNvPr id="4" name="Shape 1"/>
          <p:cNvSpPr/>
          <p:nvPr/>
        </p:nvSpPr>
        <p:spPr>
          <a:xfrm>
            <a:off x="548640" y="1600200"/>
            <a:ext cx="3017520" cy="3611880"/>
          </a:xfrm>
          <a:prstGeom prst="roundRect">
            <a:avLst>
              <a:gd name="adj" fmla="val 2424"/>
            </a:avLst>
          </a:prstGeom>
          <a:solidFill>
            <a:schemeClr val="bg2"/>
          </a:solidFill>
          <a:ln w="12700">
            <a:solidFill>
              <a:srgbClr val="DCD8EC"/>
            </a:solidFill>
            <a:prstDash val="solid"/>
          </a:ln>
        </p:spPr>
      </p:sp>
      <p:sp>
        <p:nvSpPr>
          <p:cNvPr id="5" name="Text 2"/>
          <p:cNvSpPr txBox="1"/>
          <p:nvPr/>
        </p:nvSpPr>
        <p:spPr>
          <a:xfrm>
            <a:off x="731520" y="1719072"/>
            <a:ext cx="2651760" cy="320040"/>
          </a:xfrm>
          <a:prstGeom prst="rect">
            <a:avLst/>
          </a:prstGeom>
          <a:noFill/>
          <a:ln/>
        </p:spPr>
        <p:txBody>
          <a:bodyPr wrap="square" lIns="0" tIns="0" rIns="0" bIns="0" rtlCol="0" anchor="t"/>
          <a:lstStyle/>
          <a:p>
            <a:pPr indent="0" marL="0">
              <a:buNone/>
            </a:pPr>
            <a:r>
              <a:rPr lang="en-US" sz="1300" b="1" dirty="0">
                <a:solidFill>
                  <a:schemeClr val="tx2"/>
                </a:solidFill>
              </a:rPr>
              <a:t>Definir</a:t>
            </a:r>
            <a:endParaRPr lang="en-US" sz="1300" dirty="0"/>
          </a:p>
        </p:txBody>
      </p:sp>
      <p:sp>
        <p:nvSpPr>
          <p:cNvPr id="6" name="Shape 3"/>
          <p:cNvSpPr/>
          <p:nvPr/>
        </p:nvSpPr>
        <p:spPr>
          <a:xfrm>
            <a:off x="731520" y="2148840"/>
            <a:ext cx="2651760" cy="868680"/>
          </a:xfrm>
          <a:prstGeom prst="roundRect">
            <a:avLst>
              <a:gd name="adj" fmla="val 8421"/>
            </a:avLst>
          </a:prstGeom>
          <a:solidFill>
            <a:schemeClr val="bg1"/>
          </a:solidFill>
          <a:ln w="12700">
            <a:solidFill>
              <a:srgbClr val="DCD8EC"/>
            </a:solidFill>
            <a:prstDash val="solid"/>
          </a:ln>
        </p:spPr>
      </p:sp>
      <p:sp>
        <p:nvSpPr>
          <p:cNvPr id="7" name="Shape 4"/>
          <p:cNvSpPr/>
          <p:nvPr/>
        </p:nvSpPr>
        <p:spPr>
          <a:xfrm>
            <a:off x="868680" y="2350008"/>
            <a:ext cx="457200" cy="457200"/>
          </a:xfrm>
          <a:prstGeom prst="ellipse">
            <a:avLst/>
          </a:prstGeom>
          <a:solidFill>
            <a:schemeClr val="accent3"/>
          </a:solidFill>
          <a:ln w="12700">
            <a:solidFill>
              <a:schemeClr val="accent3"/>
            </a:solidFill>
            <a:prstDash val="solid"/>
          </a:ln>
        </p:spPr>
      </p:sp>
      <p:sp>
        <p:nvSpPr>
          <p:cNvPr id="8" name="Text 5"/>
          <p:cNvSpPr txBox="1"/>
          <p:nvPr/>
        </p:nvSpPr>
        <p:spPr>
          <a:xfrm>
            <a:off x="868680" y="2350008"/>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Text 6"/>
          <p:cNvSpPr txBox="1"/>
          <p:nvPr/>
        </p:nvSpPr>
        <p:spPr>
          <a:xfrm>
            <a:off x="1444752" y="2240280"/>
            <a:ext cx="1828800" cy="320040"/>
          </a:xfrm>
          <a:prstGeom prst="rect">
            <a:avLst/>
          </a:prstGeom>
          <a:noFill/>
          <a:ln/>
        </p:spPr>
        <p:txBody>
          <a:bodyPr wrap="square" lIns="0" tIns="0" rIns="0" bIns="0" rtlCol="0" anchor="t"/>
          <a:lstStyle/>
          <a:p>
            <a:pPr indent="0" marL="0">
              <a:buNone/>
            </a:pPr>
            <a:r>
              <a:rPr lang="en-US" sz="1400" b="1" dirty="0">
                <a:solidFill>
                  <a:schemeClr val="tx2"/>
                </a:solidFill>
              </a:rPr>
              <a:t>Propuesta</a:t>
            </a:r>
            <a:endParaRPr lang="en-US" sz="1400" dirty="0"/>
          </a:p>
        </p:txBody>
      </p:sp>
      <p:sp>
        <p:nvSpPr>
          <p:cNvPr id="10" name="Text 7"/>
          <p:cNvSpPr txBox="1"/>
          <p:nvPr/>
        </p:nvSpPr>
        <p:spPr>
          <a:xfrm>
            <a:off x="1444752" y="2569464"/>
            <a:ext cx="1828800" cy="384048"/>
          </a:xfrm>
          <a:prstGeom prst="rect">
            <a:avLst/>
          </a:prstGeom>
          <a:noFill/>
          <a:ln/>
        </p:spPr>
        <p:txBody>
          <a:bodyPr wrap="square" lIns="0" tIns="0" rIns="0" bIns="0" rtlCol="0" anchor="t"/>
          <a:lstStyle/>
          <a:p>
            <a:pPr indent="0" marL="0">
              <a:buNone/>
            </a:pPr>
            <a:r>
              <a:rPr lang="en-US" sz="1200" dirty="0">
                <a:solidFill>
                  <a:schemeClr val="accent6"/>
                </a:solidFill>
              </a:rPr>
              <a:t>SURA la registra con su valor de negocio</a:t>
            </a:r>
            <a:endParaRPr lang="en-US" sz="1200" dirty="0"/>
          </a:p>
        </p:txBody>
      </p:sp>
      <p:sp>
        <p:nvSpPr>
          <p:cNvPr id="11" name="Shape 8"/>
          <p:cNvSpPr/>
          <p:nvPr/>
        </p:nvSpPr>
        <p:spPr>
          <a:xfrm>
            <a:off x="731520" y="3154680"/>
            <a:ext cx="2651760" cy="868680"/>
          </a:xfrm>
          <a:prstGeom prst="roundRect">
            <a:avLst>
              <a:gd name="adj" fmla="val 8421"/>
            </a:avLst>
          </a:prstGeom>
          <a:solidFill>
            <a:schemeClr val="bg1"/>
          </a:solidFill>
          <a:ln w="12700">
            <a:solidFill>
              <a:srgbClr val="DCD8EC"/>
            </a:solidFill>
            <a:prstDash val="solid"/>
          </a:ln>
        </p:spPr>
      </p:sp>
      <p:sp>
        <p:nvSpPr>
          <p:cNvPr id="12" name="Shape 9"/>
          <p:cNvSpPr/>
          <p:nvPr/>
        </p:nvSpPr>
        <p:spPr>
          <a:xfrm>
            <a:off x="868680" y="3355848"/>
            <a:ext cx="457200" cy="457200"/>
          </a:xfrm>
          <a:prstGeom prst="ellipse">
            <a:avLst/>
          </a:prstGeom>
          <a:solidFill>
            <a:schemeClr val="accent2"/>
          </a:solidFill>
          <a:ln w="12700">
            <a:solidFill>
              <a:schemeClr val="accent2"/>
            </a:solidFill>
            <a:prstDash val="solid"/>
          </a:ln>
        </p:spPr>
      </p:sp>
      <p:sp>
        <p:nvSpPr>
          <p:cNvPr id="13" name="Text 10"/>
          <p:cNvSpPr txBox="1"/>
          <p:nvPr/>
        </p:nvSpPr>
        <p:spPr>
          <a:xfrm>
            <a:off x="868680" y="3355848"/>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4" name="Text 11"/>
          <p:cNvSpPr txBox="1"/>
          <p:nvPr/>
        </p:nvSpPr>
        <p:spPr>
          <a:xfrm>
            <a:off x="1444752" y="3246120"/>
            <a:ext cx="1828800" cy="320040"/>
          </a:xfrm>
          <a:prstGeom prst="rect">
            <a:avLst/>
          </a:prstGeom>
          <a:noFill/>
          <a:ln/>
        </p:spPr>
        <p:txBody>
          <a:bodyPr wrap="square" lIns="0" tIns="0" rIns="0" bIns="0" rtlCol="0" anchor="t"/>
          <a:lstStyle/>
          <a:p>
            <a:pPr indent="0" marL="0">
              <a:buNone/>
            </a:pPr>
            <a:r>
              <a:rPr lang="en-US" sz="1400" b="1" dirty="0">
                <a:solidFill>
                  <a:schemeClr val="tx2"/>
                </a:solidFill>
              </a:rPr>
              <a:t>Definición</a:t>
            </a:r>
            <a:endParaRPr lang="en-US" sz="1400" dirty="0"/>
          </a:p>
        </p:txBody>
      </p:sp>
      <p:sp>
        <p:nvSpPr>
          <p:cNvPr id="15" name="Text 12"/>
          <p:cNvSpPr txBox="1"/>
          <p:nvPr/>
        </p:nvSpPr>
        <p:spPr>
          <a:xfrm>
            <a:off x="1444752" y="3575304"/>
            <a:ext cx="1828800" cy="384048"/>
          </a:xfrm>
          <a:prstGeom prst="rect">
            <a:avLst/>
          </a:prstGeom>
          <a:noFill/>
          <a:ln/>
        </p:spPr>
        <p:txBody>
          <a:bodyPr wrap="square" lIns="0" tIns="0" rIns="0" bIns="0" rtlCol="0" anchor="t"/>
          <a:lstStyle/>
          <a:p>
            <a:pPr indent="0" marL="0">
              <a:buNone/>
            </a:pPr>
            <a:r>
              <a:rPr lang="en-US" sz="1200" dirty="0">
                <a:solidFill>
                  <a:schemeClr val="accent6"/>
                </a:solidFill>
              </a:rPr>
              <a:t>Se define y se le da tamaño</a:t>
            </a:r>
            <a:endParaRPr lang="en-US" sz="1200" dirty="0"/>
          </a:p>
        </p:txBody>
      </p:sp>
      <p:sp>
        <p:nvSpPr>
          <p:cNvPr id="16" name="Shape 13"/>
          <p:cNvSpPr/>
          <p:nvPr/>
        </p:nvSpPr>
        <p:spPr>
          <a:xfrm>
            <a:off x="731520" y="4160520"/>
            <a:ext cx="2651760" cy="868680"/>
          </a:xfrm>
          <a:prstGeom prst="roundRect">
            <a:avLst>
              <a:gd name="adj" fmla="val 8421"/>
            </a:avLst>
          </a:prstGeom>
          <a:solidFill>
            <a:schemeClr val="bg1"/>
          </a:solidFill>
          <a:ln w="12700">
            <a:solidFill>
              <a:srgbClr val="DCD8EC"/>
            </a:solidFill>
            <a:prstDash val="solid"/>
          </a:ln>
        </p:spPr>
      </p:sp>
      <p:sp>
        <p:nvSpPr>
          <p:cNvPr id="17" name="Shape 14"/>
          <p:cNvSpPr/>
          <p:nvPr/>
        </p:nvSpPr>
        <p:spPr>
          <a:xfrm>
            <a:off x="868680" y="4361688"/>
            <a:ext cx="457200" cy="457200"/>
          </a:xfrm>
          <a:prstGeom prst="ellipse">
            <a:avLst/>
          </a:prstGeom>
          <a:solidFill>
            <a:schemeClr val="accent2"/>
          </a:solidFill>
          <a:ln w="12700">
            <a:solidFill>
              <a:schemeClr val="accent2"/>
            </a:solidFill>
            <a:prstDash val="solid"/>
          </a:ln>
        </p:spPr>
      </p:sp>
      <p:sp>
        <p:nvSpPr>
          <p:cNvPr id="18" name="Text 15"/>
          <p:cNvSpPr txBox="1"/>
          <p:nvPr/>
        </p:nvSpPr>
        <p:spPr>
          <a:xfrm>
            <a:off x="868680" y="4361688"/>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9" name="Text 16"/>
          <p:cNvSpPr txBox="1"/>
          <p:nvPr/>
        </p:nvSpPr>
        <p:spPr>
          <a:xfrm>
            <a:off x="1444752" y="4251960"/>
            <a:ext cx="1828800" cy="320040"/>
          </a:xfrm>
          <a:prstGeom prst="rect">
            <a:avLst/>
          </a:prstGeom>
          <a:noFill/>
          <a:ln/>
        </p:spPr>
        <p:txBody>
          <a:bodyPr wrap="square" lIns="0" tIns="0" rIns="0" bIns="0" rtlCol="0" anchor="t"/>
          <a:lstStyle/>
          <a:p>
            <a:pPr indent="0" marL="0">
              <a:buNone/>
            </a:pPr>
            <a:r>
              <a:rPr lang="en-US" sz="1400" b="1" dirty="0">
                <a:solidFill>
                  <a:schemeClr val="tx2"/>
                </a:solidFill>
              </a:rPr>
              <a:t>Lista para construir</a:t>
            </a:r>
            <a:endParaRPr lang="en-US" sz="1400" dirty="0"/>
          </a:p>
        </p:txBody>
      </p:sp>
      <p:sp>
        <p:nvSpPr>
          <p:cNvPr id="20" name="Text 17"/>
          <p:cNvSpPr txBox="1"/>
          <p:nvPr/>
        </p:nvSpPr>
        <p:spPr>
          <a:xfrm>
            <a:off x="1444752" y="4581144"/>
            <a:ext cx="1828800" cy="384048"/>
          </a:xfrm>
          <a:prstGeom prst="rect">
            <a:avLst/>
          </a:prstGeom>
          <a:noFill/>
          <a:ln/>
        </p:spPr>
        <p:txBody>
          <a:bodyPr wrap="square" lIns="0" tIns="0" rIns="0" bIns="0" rtlCol="0" anchor="t"/>
          <a:lstStyle/>
          <a:p>
            <a:pPr indent="0" marL="0">
              <a:buNone/>
            </a:pPr>
            <a:r>
              <a:rPr lang="en-US" sz="1200" dirty="0">
                <a:solidFill>
                  <a:schemeClr val="accent6"/>
                </a:solidFill>
              </a:rPr>
              <a:t>Criterio y ejemplos con datos</a:t>
            </a:r>
            <a:endParaRPr lang="en-US" sz="1200" dirty="0"/>
          </a:p>
        </p:txBody>
      </p:sp>
      <p:sp>
        <p:nvSpPr>
          <p:cNvPr id="21" name="Shape 18"/>
          <p:cNvSpPr/>
          <p:nvPr/>
        </p:nvSpPr>
        <p:spPr>
          <a:xfrm>
            <a:off x="3703320" y="1600200"/>
            <a:ext cx="4846320" cy="3611880"/>
          </a:xfrm>
          <a:prstGeom prst="roundRect">
            <a:avLst>
              <a:gd name="adj" fmla="val 2025"/>
            </a:avLst>
          </a:prstGeom>
          <a:solidFill>
            <a:schemeClr val="accent4"/>
          </a:solidFill>
          <a:ln w="12700">
            <a:solidFill>
              <a:srgbClr val="DCD8EC"/>
            </a:solidFill>
            <a:prstDash val="solid"/>
          </a:ln>
        </p:spPr>
      </p:sp>
      <p:sp>
        <p:nvSpPr>
          <p:cNvPr id="22" name="Text 19"/>
          <p:cNvSpPr txBox="1"/>
          <p:nvPr/>
        </p:nvSpPr>
        <p:spPr>
          <a:xfrm>
            <a:off x="3886200" y="1719072"/>
            <a:ext cx="4480560" cy="320040"/>
          </a:xfrm>
          <a:prstGeom prst="rect">
            <a:avLst/>
          </a:prstGeom>
          <a:noFill/>
          <a:ln/>
        </p:spPr>
        <p:txBody>
          <a:bodyPr wrap="square" lIns="0" tIns="0" rIns="0" bIns="0" rtlCol="0" anchor="t"/>
          <a:lstStyle/>
          <a:p>
            <a:pPr indent="0" marL="0">
              <a:buNone/>
            </a:pPr>
            <a:r>
              <a:rPr lang="en-US" sz="1300" b="1" dirty="0">
                <a:solidFill>
                  <a:schemeClr val="accent1"/>
                </a:solidFill>
              </a:rPr>
              <a:t>El flujo continuo · del equipo, con el negocio cerca</a:t>
            </a:r>
            <a:endParaRPr lang="en-US" sz="1300" dirty="0"/>
          </a:p>
        </p:txBody>
      </p:sp>
      <p:sp>
        <p:nvSpPr>
          <p:cNvPr id="23" name="Shape 20"/>
          <p:cNvSpPr/>
          <p:nvPr/>
        </p:nvSpPr>
        <p:spPr>
          <a:xfrm>
            <a:off x="3840480" y="2148840"/>
            <a:ext cx="2217420" cy="868680"/>
          </a:xfrm>
          <a:prstGeom prst="roundRect">
            <a:avLst>
              <a:gd name="adj" fmla="val 8421"/>
            </a:avLst>
          </a:prstGeom>
          <a:solidFill>
            <a:schemeClr val="bg1"/>
          </a:solidFill>
          <a:ln w="12700">
            <a:solidFill>
              <a:srgbClr val="DCD8EC"/>
            </a:solidFill>
            <a:prstDash val="solid"/>
          </a:ln>
        </p:spPr>
      </p:sp>
      <p:sp>
        <p:nvSpPr>
          <p:cNvPr id="24" name="Shape 21"/>
          <p:cNvSpPr/>
          <p:nvPr/>
        </p:nvSpPr>
        <p:spPr>
          <a:xfrm>
            <a:off x="3977640" y="2350008"/>
            <a:ext cx="457200" cy="457200"/>
          </a:xfrm>
          <a:prstGeom prst="ellipse">
            <a:avLst/>
          </a:prstGeom>
          <a:solidFill>
            <a:schemeClr val="accent1"/>
          </a:solidFill>
          <a:ln w="12700">
            <a:solidFill>
              <a:schemeClr val="accent1"/>
            </a:solidFill>
            <a:prstDash val="solid"/>
          </a:ln>
        </p:spPr>
      </p:sp>
      <p:sp>
        <p:nvSpPr>
          <p:cNvPr id="25" name="Text 22"/>
          <p:cNvSpPr txBox="1"/>
          <p:nvPr/>
        </p:nvSpPr>
        <p:spPr>
          <a:xfrm>
            <a:off x="3977640" y="2350008"/>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3"/>
          <p:cNvSpPr txBox="1"/>
          <p:nvPr/>
        </p:nvSpPr>
        <p:spPr>
          <a:xfrm>
            <a:off x="4553712" y="2240280"/>
            <a:ext cx="1394460" cy="320040"/>
          </a:xfrm>
          <a:prstGeom prst="rect">
            <a:avLst/>
          </a:prstGeom>
          <a:noFill/>
          <a:ln/>
        </p:spPr>
        <p:txBody>
          <a:bodyPr wrap="square" lIns="0" tIns="0" rIns="0" bIns="0" rtlCol="0" anchor="t"/>
          <a:lstStyle/>
          <a:p>
            <a:pPr indent="0" marL="0">
              <a:buNone/>
            </a:pPr>
            <a:r>
              <a:rPr lang="en-US" sz="1400" b="1" dirty="0">
                <a:solidFill>
                  <a:schemeClr val="tx2"/>
                </a:solidFill>
              </a:rPr>
              <a:t>Construcción</a:t>
            </a:r>
            <a:endParaRPr lang="en-US" sz="1400" dirty="0"/>
          </a:p>
        </p:txBody>
      </p:sp>
      <p:sp>
        <p:nvSpPr>
          <p:cNvPr id="27" name="Text 24"/>
          <p:cNvSpPr txBox="1"/>
          <p:nvPr/>
        </p:nvSpPr>
        <p:spPr>
          <a:xfrm>
            <a:off x="4553712" y="2569464"/>
            <a:ext cx="1394460" cy="384048"/>
          </a:xfrm>
          <a:prstGeom prst="rect">
            <a:avLst/>
          </a:prstGeom>
          <a:noFill/>
          <a:ln/>
        </p:spPr>
        <p:txBody>
          <a:bodyPr wrap="square" lIns="0" tIns="0" rIns="0" bIns="0" rtlCol="0" anchor="t"/>
          <a:lstStyle/>
          <a:p>
            <a:pPr indent="0" marL="0">
              <a:buNone/>
            </a:pPr>
            <a:r>
              <a:rPr lang="en-US" sz="1200" dirty="0">
                <a:solidFill>
                  <a:schemeClr val="accent6"/>
                </a:solidFill>
              </a:rPr>
              <a:t>Se implementa la característica</a:t>
            </a:r>
            <a:endParaRPr lang="en-US" sz="1200" dirty="0"/>
          </a:p>
        </p:txBody>
      </p:sp>
      <p:sp>
        <p:nvSpPr>
          <p:cNvPr id="28" name="Shape 25"/>
          <p:cNvSpPr/>
          <p:nvPr/>
        </p:nvSpPr>
        <p:spPr>
          <a:xfrm>
            <a:off x="6195060" y="2148840"/>
            <a:ext cx="2217420" cy="868680"/>
          </a:xfrm>
          <a:prstGeom prst="roundRect">
            <a:avLst>
              <a:gd name="adj" fmla="val 8421"/>
            </a:avLst>
          </a:prstGeom>
          <a:solidFill>
            <a:schemeClr val="bg1"/>
          </a:solidFill>
          <a:ln w="12700">
            <a:solidFill>
              <a:srgbClr val="DCD8EC"/>
            </a:solidFill>
            <a:prstDash val="solid"/>
          </a:ln>
        </p:spPr>
      </p:sp>
      <p:sp>
        <p:nvSpPr>
          <p:cNvPr id="29" name="Shape 26"/>
          <p:cNvSpPr/>
          <p:nvPr/>
        </p:nvSpPr>
        <p:spPr>
          <a:xfrm>
            <a:off x="6332220" y="2350008"/>
            <a:ext cx="457200" cy="457200"/>
          </a:xfrm>
          <a:prstGeom prst="ellipse">
            <a:avLst/>
          </a:prstGeom>
          <a:solidFill>
            <a:schemeClr val="accent1"/>
          </a:solidFill>
          <a:ln w="12700">
            <a:solidFill>
              <a:schemeClr val="accent1"/>
            </a:solidFill>
            <a:prstDash val="solid"/>
          </a:ln>
        </p:spPr>
      </p:sp>
      <p:sp>
        <p:nvSpPr>
          <p:cNvPr id="30" name="Text 27"/>
          <p:cNvSpPr txBox="1"/>
          <p:nvPr/>
        </p:nvSpPr>
        <p:spPr>
          <a:xfrm>
            <a:off x="6332220" y="2350008"/>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1" name="Text 28"/>
          <p:cNvSpPr txBox="1"/>
          <p:nvPr/>
        </p:nvSpPr>
        <p:spPr>
          <a:xfrm>
            <a:off x="6908292" y="2240280"/>
            <a:ext cx="1394460" cy="320040"/>
          </a:xfrm>
          <a:prstGeom prst="rect">
            <a:avLst/>
          </a:prstGeom>
          <a:noFill/>
          <a:ln/>
        </p:spPr>
        <p:txBody>
          <a:bodyPr wrap="square" lIns="0" tIns="0" rIns="0" bIns="0" rtlCol="0" anchor="t"/>
          <a:lstStyle/>
          <a:p>
            <a:pPr indent="0" marL="0">
              <a:buNone/>
            </a:pPr>
            <a:r>
              <a:rPr lang="en-US" sz="1400" b="1" dirty="0">
                <a:solidFill>
                  <a:schemeClr val="tx2"/>
                </a:solidFill>
              </a:rPr>
              <a:t>Verificación</a:t>
            </a:r>
            <a:endParaRPr lang="en-US" sz="1400" dirty="0"/>
          </a:p>
        </p:txBody>
      </p:sp>
      <p:sp>
        <p:nvSpPr>
          <p:cNvPr id="32" name="Text 29"/>
          <p:cNvSpPr txBox="1"/>
          <p:nvPr/>
        </p:nvSpPr>
        <p:spPr>
          <a:xfrm>
            <a:off x="6908292" y="2569464"/>
            <a:ext cx="1394460" cy="384048"/>
          </a:xfrm>
          <a:prstGeom prst="rect">
            <a:avLst/>
          </a:prstGeom>
          <a:noFill/>
          <a:ln/>
        </p:spPr>
        <p:txBody>
          <a:bodyPr wrap="square" lIns="0" tIns="0" rIns="0" bIns="0" rtlCol="0" anchor="t"/>
          <a:lstStyle/>
          <a:p>
            <a:pPr indent="0" marL="0">
              <a:buNone/>
            </a:pPr>
            <a:r>
              <a:rPr lang="en-US" sz="1200" dirty="0">
                <a:solidFill>
                  <a:schemeClr val="accent6"/>
                </a:solidFill>
              </a:rPr>
              <a:t>Pruebas, regresión y seguridad</a:t>
            </a:r>
            <a:endParaRPr lang="en-US" sz="1200" dirty="0"/>
          </a:p>
        </p:txBody>
      </p:sp>
      <p:sp>
        <p:nvSpPr>
          <p:cNvPr id="33" name="Text 30"/>
          <p:cNvSpPr txBox="1"/>
          <p:nvPr/>
        </p:nvSpPr>
        <p:spPr>
          <a:xfrm>
            <a:off x="3886200" y="3291840"/>
            <a:ext cx="4480560" cy="822960"/>
          </a:xfrm>
          <a:prstGeom prst="rect">
            <a:avLst/>
          </a:prstGeom>
          <a:noFill/>
          <a:ln/>
        </p:spPr>
        <p:txBody>
          <a:bodyPr wrap="square" lIns="0" tIns="0" rIns="0" bIns="0" rtlCol="0" anchor="ctr"/>
          <a:lstStyle/>
          <a:p>
            <a:pPr indent="0" marL="0">
              <a:buNone/>
            </a:pPr>
            <a:r>
              <a:rPr lang="en-US" sz="1300" b="1" dirty="0">
                <a:solidFill>
                  <a:schemeClr val="tx2"/>
                </a:solidFill>
              </a:rPr>
              <a:t>Mejora continua, transversal. </a:t>
            </a:r>
            <a:pPr indent="0" marL="0">
              <a:buNone/>
            </a:pPr>
            <a:r>
              <a:rPr lang="en-US" sz="1300" dirty="0">
                <a:solidFill>
                  <a:schemeClr val="accent6"/>
                </a:solidFill>
              </a:rPr>
              <a:t>La lleva el arquitecto, técnica y con el negocio. La sincronía diaria acompaña todo el flujo.</a:t>
            </a:r>
            <a:endParaRPr lang="en-US" sz="1300" dirty="0"/>
          </a:p>
        </p:txBody>
      </p:sp>
      <p:sp>
        <p:nvSpPr>
          <p:cNvPr id="34" name="Shape 31"/>
          <p:cNvSpPr/>
          <p:nvPr/>
        </p:nvSpPr>
        <p:spPr>
          <a:xfrm>
            <a:off x="8686800" y="1600200"/>
            <a:ext cx="2953512" cy="3611880"/>
          </a:xfrm>
          <a:prstGeom prst="roundRect">
            <a:avLst>
              <a:gd name="adj" fmla="val 2477"/>
            </a:avLst>
          </a:prstGeom>
          <a:solidFill>
            <a:schemeClr val="bg2"/>
          </a:solidFill>
          <a:ln w="12700">
            <a:solidFill>
              <a:srgbClr val="DCD8EC"/>
            </a:solidFill>
            <a:prstDash val="solid"/>
          </a:ln>
        </p:spPr>
      </p:sp>
      <p:sp>
        <p:nvSpPr>
          <p:cNvPr id="35" name="Text 32"/>
          <p:cNvSpPr txBox="1"/>
          <p:nvPr/>
        </p:nvSpPr>
        <p:spPr>
          <a:xfrm>
            <a:off x="8869680" y="1719072"/>
            <a:ext cx="2587752" cy="320040"/>
          </a:xfrm>
          <a:prstGeom prst="rect">
            <a:avLst/>
          </a:prstGeom>
          <a:noFill/>
          <a:ln/>
        </p:spPr>
        <p:txBody>
          <a:bodyPr wrap="square" lIns="0" tIns="0" rIns="0" bIns="0" rtlCol="0" anchor="t"/>
          <a:lstStyle/>
          <a:p>
            <a:pPr indent="0" marL="0">
              <a:buNone/>
            </a:pPr>
            <a:r>
              <a:rPr lang="en-US" sz="1300" b="1" dirty="0">
                <a:solidFill>
                  <a:schemeClr val="tx2"/>
                </a:solidFill>
              </a:rPr>
              <a:t>Certificar y activar</a:t>
            </a:r>
            <a:endParaRPr lang="en-US" sz="1300" dirty="0"/>
          </a:p>
        </p:txBody>
      </p:sp>
      <p:sp>
        <p:nvSpPr>
          <p:cNvPr id="36" name="Shape 33"/>
          <p:cNvSpPr/>
          <p:nvPr/>
        </p:nvSpPr>
        <p:spPr>
          <a:xfrm>
            <a:off x="8869680" y="2148840"/>
            <a:ext cx="2587752" cy="868680"/>
          </a:xfrm>
          <a:prstGeom prst="roundRect">
            <a:avLst>
              <a:gd name="adj" fmla="val 8421"/>
            </a:avLst>
          </a:prstGeom>
          <a:solidFill>
            <a:schemeClr val="bg1"/>
          </a:solidFill>
          <a:ln w="12700">
            <a:solidFill>
              <a:srgbClr val="DCD8EC"/>
            </a:solidFill>
            <a:prstDash val="solid"/>
          </a:ln>
        </p:spPr>
      </p:sp>
      <p:sp>
        <p:nvSpPr>
          <p:cNvPr id="37" name="Shape 34"/>
          <p:cNvSpPr/>
          <p:nvPr/>
        </p:nvSpPr>
        <p:spPr>
          <a:xfrm>
            <a:off x="9006840" y="2350008"/>
            <a:ext cx="457200" cy="457200"/>
          </a:xfrm>
          <a:prstGeom prst="ellipse">
            <a:avLst/>
          </a:prstGeom>
          <a:solidFill>
            <a:schemeClr val="accent3"/>
          </a:solidFill>
          <a:ln w="12700">
            <a:solidFill>
              <a:schemeClr val="accent3"/>
            </a:solidFill>
            <a:prstDash val="solid"/>
          </a:ln>
        </p:spPr>
      </p:sp>
      <p:sp>
        <p:nvSpPr>
          <p:cNvPr id="38" name="Text 35"/>
          <p:cNvSpPr txBox="1"/>
          <p:nvPr/>
        </p:nvSpPr>
        <p:spPr>
          <a:xfrm>
            <a:off x="9006840" y="2350008"/>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9" name="Text 36"/>
          <p:cNvSpPr txBox="1"/>
          <p:nvPr/>
        </p:nvSpPr>
        <p:spPr>
          <a:xfrm>
            <a:off x="9582912" y="2240280"/>
            <a:ext cx="1764792" cy="320040"/>
          </a:xfrm>
          <a:prstGeom prst="rect">
            <a:avLst/>
          </a:prstGeom>
          <a:noFill/>
          <a:ln/>
        </p:spPr>
        <p:txBody>
          <a:bodyPr wrap="square" lIns="0" tIns="0" rIns="0" bIns="0" rtlCol="0" anchor="t"/>
          <a:lstStyle/>
          <a:p>
            <a:pPr indent="0" marL="0">
              <a:buNone/>
            </a:pPr>
            <a:r>
              <a:rPr lang="en-US" sz="1400" b="1" dirty="0">
                <a:solidFill>
                  <a:schemeClr val="tx2"/>
                </a:solidFill>
              </a:rPr>
              <a:t>Certificación</a:t>
            </a:r>
            <a:endParaRPr lang="en-US" sz="1400" dirty="0"/>
          </a:p>
        </p:txBody>
      </p:sp>
      <p:sp>
        <p:nvSpPr>
          <p:cNvPr id="40" name="Text 37"/>
          <p:cNvSpPr txBox="1"/>
          <p:nvPr/>
        </p:nvSpPr>
        <p:spPr>
          <a:xfrm>
            <a:off x="9582912" y="2569464"/>
            <a:ext cx="1764792" cy="384048"/>
          </a:xfrm>
          <a:prstGeom prst="rect">
            <a:avLst/>
          </a:prstGeom>
          <a:noFill/>
          <a:ln/>
        </p:spPr>
        <p:txBody>
          <a:bodyPr wrap="square" lIns="0" tIns="0" rIns="0" bIns="0" rtlCol="0" anchor="t"/>
          <a:lstStyle/>
          <a:p>
            <a:pPr indent="0" marL="0">
              <a:buNone/>
            </a:pPr>
            <a:r>
              <a:rPr lang="en-US" sz="1200" dirty="0">
                <a:solidFill>
                  <a:schemeClr val="accent6"/>
                </a:solidFill>
              </a:rPr>
              <a:t>SURA prueba en QA y aprueba o devuelve</a:t>
            </a:r>
            <a:endParaRPr lang="en-US" sz="1200" dirty="0"/>
          </a:p>
        </p:txBody>
      </p:sp>
      <p:sp>
        <p:nvSpPr>
          <p:cNvPr id="41" name="Shape 38"/>
          <p:cNvSpPr/>
          <p:nvPr/>
        </p:nvSpPr>
        <p:spPr>
          <a:xfrm>
            <a:off x="8869680" y="3154680"/>
            <a:ext cx="2587752" cy="868680"/>
          </a:xfrm>
          <a:prstGeom prst="roundRect">
            <a:avLst>
              <a:gd name="adj" fmla="val 8421"/>
            </a:avLst>
          </a:prstGeom>
          <a:solidFill>
            <a:schemeClr val="bg1"/>
          </a:solidFill>
          <a:ln w="12700">
            <a:solidFill>
              <a:srgbClr val="DCD8EC"/>
            </a:solidFill>
            <a:prstDash val="solid"/>
          </a:ln>
        </p:spPr>
      </p:sp>
      <p:sp>
        <p:nvSpPr>
          <p:cNvPr id="42" name="Shape 39"/>
          <p:cNvSpPr/>
          <p:nvPr/>
        </p:nvSpPr>
        <p:spPr>
          <a:xfrm>
            <a:off x="9006840" y="3355848"/>
            <a:ext cx="457200" cy="457200"/>
          </a:xfrm>
          <a:prstGeom prst="ellipse">
            <a:avLst/>
          </a:prstGeom>
          <a:solidFill>
            <a:schemeClr val="accent2"/>
          </a:solidFill>
          <a:ln w="12700">
            <a:solidFill>
              <a:schemeClr val="accent2"/>
            </a:solidFill>
            <a:prstDash val="solid"/>
          </a:ln>
        </p:spPr>
      </p:sp>
      <p:sp>
        <p:nvSpPr>
          <p:cNvPr id="43" name="Text 40"/>
          <p:cNvSpPr txBox="1"/>
          <p:nvPr/>
        </p:nvSpPr>
        <p:spPr>
          <a:xfrm>
            <a:off x="9006840" y="3355848"/>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44" name="Text 41"/>
          <p:cNvSpPr txBox="1"/>
          <p:nvPr/>
        </p:nvSpPr>
        <p:spPr>
          <a:xfrm>
            <a:off x="9582912" y="3246120"/>
            <a:ext cx="1764792" cy="320040"/>
          </a:xfrm>
          <a:prstGeom prst="rect">
            <a:avLst/>
          </a:prstGeom>
          <a:noFill/>
          <a:ln/>
        </p:spPr>
        <p:txBody>
          <a:bodyPr wrap="square" lIns="0" tIns="0" rIns="0" bIns="0" rtlCol="0" anchor="t"/>
          <a:lstStyle/>
          <a:p>
            <a:pPr indent="0" marL="0">
              <a:buNone/>
            </a:pPr>
            <a:r>
              <a:rPr lang="en-US" sz="1400" b="1" dirty="0">
                <a:solidFill>
                  <a:schemeClr val="tx2"/>
                </a:solidFill>
              </a:rPr>
              <a:t>Liberada</a:t>
            </a:r>
            <a:endParaRPr lang="en-US" sz="1400" dirty="0"/>
          </a:p>
        </p:txBody>
      </p:sp>
      <p:sp>
        <p:nvSpPr>
          <p:cNvPr id="45" name="Text 42"/>
          <p:cNvSpPr txBox="1"/>
          <p:nvPr/>
        </p:nvSpPr>
        <p:spPr>
          <a:xfrm>
            <a:off x="9582912" y="3575304"/>
            <a:ext cx="1764792" cy="384048"/>
          </a:xfrm>
          <a:prstGeom prst="rect">
            <a:avLst/>
          </a:prstGeom>
          <a:noFill/>
          <a:ln/>
        </p:spPr>
        <p:txBody>
          <a:bodyPr wrap="square" lIns="0" tIns="0" rIns="0" bIns="0" rtlCol="0" anchor="t"/>
          <a:lstStyle/>
          <a:p>
            <a:pPr indent="0" marL="0">
              <a:buNone/>
            </a:pPr>
            <a:r>
              <a:rPr lang="en-US" sz="1200" dirty="0">
                <a:solidFill>
                  <a:schemeClr val="accent6"/>
                </a:solidFill>
              </a:rPr>
              <a:t>En producción, cuando SURA decide</a:t>
            </a:r>
            <a:endParaRPr lang="en-US" sz="1200" dirty="0"/>
          </a:p>
        </p:txBody>
      </p:sp>
      <p:sp>
        <p:nvSpPr>
          <p:cNvPr id="46" name="Shape 43"/>
          <p:cNvSpPr/>
          <p:nvPr/>
        </p:nvSpPr>
        <p:spPr>
          <a:xfrm>
            <a:off x="8869680" y="4160520"/>
            <a:ext cx="2587752" cy="868680"/>
          </a:xfrm>
          <a:prstGeom prst="roundRect">
            <a:avLst>
              <a:gd name="adj" fmla="val 8421"/>
            </a:avLst>
          </a:prstGeom>
          <a:solidFill>
            <a:schemeClr val="bg1"/>
          </a:solidFill>
          <a:ln w="12700">
            <a:solidFill>
              <a:srgbClr val="DCD8EC"/>
            </a:solidFill>
            <a:prstDash val="solid"/>
          </a:ln>
        </p:spPr>
      </p:sp>
      <p:sp>
        <p:nvSpPr>
          <p:cNvPr id="47" name="Shape 44"/>
          <p:cNvSpPr/>
          <p:nvPr/>
        </p:nvSpPr>
        <p:spPr>
          <a:xfrm>
            <a:off x="9006840" y="4361688"/>
            <a:ext cx="457200" cy="457200"/>
          </a:xfrm>
          <a:prstGeom prst="ellipse">
            <a:avLst/>
          </a:prstGeom>
          <a:solidFill>
            <a:schemeClr val="accent2"/>
          </a:solidFill>
          <a:ln w="12700">
            <a:solidFill>
              <a:schemeClr val="accent2"/>
            </a:solidFill>
            <a:prstDash val="solid"/>
          </a:ln>
        </p:spPr>
      </p:sp>
      <p:sp>
        <p:nvSpPr>
          <p:cNvPr id="48" name="Text 45"/>
          <p:cNvSpPr txBox="1"/>
          <p:nvPr/>
        </p:nvSpPr>
        <p:spPr>
          <a:xfrm>
            <a:off x="9006840" y="4361688"/>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49" name="Text 46"/>
          <p:cNvSpPr txBox="1"/>
          <p:nvPr/>
        </p:nvSpPr>
        <p:spPr>
          <a:xfrm>
            <a:off x="9582912" y="4251960"/>
            <a:ext cx="1764792" cy="320040"/>
          </a:xfrm>
          <a:prstGeom prst="rect">
            <a:avLst/>
          </a:prstGeom>
          <a:noFill/>
          <a:ln/>
        </p:spPr>
        <p:txBody>
          <a:bodyPr wrap="square" lIns="0" tIns="0" rIns="0" bIns="0" rtlCol="0" anchor="t"/>
          <a:lstStyle/>
          <a:p>
            <a:pPr indent="0" marL="0">
              <a:buNone/>
            </a:pPr>
            <a:r>
              <a:rPr lang="en-US" sz="1400" b="1" dirty="0">
                <a:solidFill>
                  <a:schemeClr val="tx2"/>
                </a:solidFill>
              </a:rPr>
              <a:t>Estable</a:t>
            </a:r>
            <a:endParaRPr lang="en-US" sz="1400" dirty="0"/>
          </a:p>
        </p:txBody>
      </p:sp>
      <p:sp>
        <p:nvSpPr>
          <p:cNvPr id="50" name="Text 47"/>
          <p:cNvSpPr txBox="1"/>
          <p:nvPr/>
        </p:nvSpPr>
        <p:spPr>
          <a:xfrm>
            <a:off x="9582912" y="4581144"/>
            <a:ext cx="1764792" cy="384048"/>
          </a:xfrm>
          <a:prstGeom prst="rect">
            <a:avLst/>
          </a:prstGeom>
          <a:noFill/>
          <a:ln/>
        </p:spPr>
        <p:txBody>
          <a:bodyPr wrap="square" lIns="0" tIns="0" rIns="0" bIns="0" rtlCol="0" anchor="t"/>
          <a:lstStyle/>
          <a:p>
            <a:pPr indent="0" marL="0">
              <a:buNone/>
            </a:pPr>
            <a:r>
              <a:rPr lang="en-US" sz="1200" dirty="0">
                <a:solidFill>
                  <a:schemeClr val="accent6"/>
                </a:solidFill>
              </a:rPr>
              <a:t>Superó el periodo de observación</a:t>
            </a:r>
            <a:endParaRPr lang="en-US" sz="1200" dirty="0"/>
          </a:p>
        </p:txBody>
      </p:sp>
      <p:sp>
        <p:nvSpPr>
          <p:cNvPr id="51" name="Shape 48"/>
          <p:cNvSpPr/>
          <p:nvPr/>
        </p:nvSpPr>
        <p:spPr>
          <a:xfrm>
            <a:off x="548640" y="5376672"/>
            <a:ext cx="11064240" cy="548640"/>
          </a:xfrm>
          <a:prstGeom prst="leftArrow">
            <a:avLst/>
          </a:prstGeom>
          <a:solidFill>
            <a:schemeClr val="bg2"/>
          </a:solidFill>
          <a:ln w="12700">
            <a:solidFill>
              <a:schemeClr val="bg2"/>
            </a:solidFill>
            <a:prstDash val="solid"/>
          </a:ln>
        </p:spPr>
      </p:sp>
      <p:sp>
        <p:nvSpPr>
          <p:cNvPr id="52" name="Text 49"/>
          <p:cNvSpPr txBox="1"/>
          <p:nvPr/>
        </p:nvSpPr>
        <p:spPr>
          <a:xfrm>
            <a:off x="1280160" y="5376672"/>
            <a:ext cx="10058400" cy="548640"/>
          </a:xfrm>
          <a:prstGeom prst="rect">
            <a:avLst/>
          </a:prstGeom>
          <a:noFill/>
          <a:ln/>
        </p:spPr>
        <p:txBody>
          <a:bodyPr wrap="square" lIns="0" tIns="0" rIns="0" bIns="0" rtlCol="0" anchor="ctr"/>
          <a:lstStyle/>
          <a:p>
            <a:pPr algn="ctr" indent="0" marL="0">
              <a:buNone/>
            </a:pPr>
            <a:r>
              <a:rPr lang="en-US" sz="1400" b="1" dirty="0">
                <a:solidFill>
                  <a:schemeClr val="tx2"/>
                </a:solidFill>
              </a:rPr>
              <a:t>Lo que se aprende en la certificación y en lo que ya opera vuelve al backlog, y se prioriza con SURA</a:t>
            </a:r>
            <a:endParaRPr lang="en-US" sz="1400" dirty="0"/>
          </a:p>
        </p:txBody>
      </p:sp>
      <p:sp>
        <p:nvSpPr>
          <p:cNvPr id="53" name="Text 50"/>
          <p:cNvSpPr txBox="1"/>
          <p:nvPr/>
        </p:nvSpPr>
        <p:spPr>
          <a:xfrm>
            <a:off x="6400800" y="6382512"/>
            <a:ext cx="1371600" cy="320040"/>
          </a:xfrm>
          <a:prstGeom prst="rect">
            <a:avLst/>
          </a:prstGeom>
          <a:noFill/>
          <a:ln/>
        </p:spPr>
        <p:txBody>
          <a:bodyPr wrap="square" lIns="0" tIns="0" rIns="0" bIns="0" rtlCol="0" anchor="ctr"/>
          <a:lstStyle/>
          <a:p>
            <a:pPr indent="0" marL="0">
              <a:buNone/>
            </a:pPr>
            <a:r>
              <a:rPr lang="en-US" sz="1000" b="1" dirty="0">
                <a:solidFill>
                  <a:schemeClr val="tx2"/>
                </a:solidFill>
              </a:rPr>
              <a:t>Quién participa:</a:t>
            </a:r>
            <a:endParaRPr lang="en-US" sz="1000" dirty="0"/>
          </a:p>
        </p:txBody>
      </p:sp>
      <p:sp>
        <p:nvSpPr>
          <p:cNvPr id="54" name="Shape 51"/>
          <p:cNvSpPr/>
          <p:nvPr/>
        </p:nvSpPr>
        <p:spPr>
          <a:xfrm>
            <a:off x="7818120" y="6473952"/>
            <a:ext cx="274320" cy="137160"/>
          </a:xfrm>
          <a:prstGeom prst="roundRect">
            <a:avLst>
              <a:gd name="adj" fmla="val 26667"/>
            </a:avLst>
          </a:prstGeom>
          <a:solidFill>
            <a:schemeClr val="accent3"/>
          </a:solidFill>
          <a:ln w="12700">
            <a:solidFill>
              <a:schemeClr val="accent3"/>
            </a:solidFill>
            <a:prstDash val="solid"/>
          </a:ln>
        </p:spPr>
      </p:sp>
      <p:sp>
        <p:nvSpPr>
          <p:cNvPr id="55" name="Text 52"/>
          <p:cNvSpPr txBox="1"/>
          <p:nvPr/>
        </p:nvSpPr>
        <p:spPr>
          <a:xfrm>
            <a:off x="8165592" y="6382512"/>
            <a:ext cx="822960" cy="320040"/>
          </a:xfrm>
          <a:prstGeom prst="rect">
            <a:avLst/>
          </a:prstGeom>
          <a:noFill/>
          <a:ln/>
        </p:spPr>
        <p:txBody>
          <a:bodyPr wrap="square" lIns="0" tIns="0" rIns="0" bIns="0" rtlCol="0" anchor="ctr"/>
          <a:lstStyle/>
          <a:p>
            <a:pPr indent="0" marL="0">
              <a:buNone/>
            </a:pPr>
            <a:r>
              <a:rPr lang="en-US" sz="1000" dirty="0">
                <a:solidFill>
                  <a:schemeClr val="accent6"/>
                </a:solidFill>
              </a:rPr>
              <a:t>SURA</a:t>
            </a:r>
            <a:endParaRPr lang="en-US" sz="1000" dirty="0"/>
          </a:p>
        </p:txBody>
      </p:sp>
      <p:sp>
        <p:nvSpPr>
          <p:cNvPr id="56" name="Shape 53"/>
          <p:cNvSpPr/>
          <p:nvPr/>
        </p:nvSpPr>
        <p:spPr>
          <a:xfrm>
            <a:off x="8732520" y="6473952"/>
            <a:ext cx="274320" cy="137160"/>
          </a:xfrm>
          <a:prstGeom prst="roundRect">
            <a:avLst>
              <a:gd name="adj" fmla="val 26667"/>
            </a:avLst>
          </a:prstGeom>
          <a:solidFill>
            <a:schemeClr val="accent1"/>
          </a:solidFill>
          <a:ln w="12700">
            <a:solidFill>
              <a:schemeClr val="accent1"/>
            </a:solidFill>
            <a:prstDash val="solid"/>
          </a:ln>
        </p:spPr>
      </p:sp>
      <p:sp>
        <p:nvSpPr>
          <p:cNvPr id="57" name="Text 54"/>
          <p:cNvSpPr txBox="1"/>
          <p:nvPr/>
        </p:nvSpPr>
        <p:spPr>
          <a:xfrm>
            <a:off x="9079992" y="6382512"/>
            <a:ext cx="822960" cy="320040"/>
          </a:xfrm>
          <a:prstGeom prst="rect">
            <a:avLst/>
          </a:prstGeom>
          <a:noFill/>
          <a:ln/>
        </p:spPr>
        <p:txBody>
          <a:bodyPr wrap="square" lIns="0" tIns="0" rIns="0" bIns="0" rtlCol="0" anchor="ctr"/>
          <a:lstStyle/>
          <a:p>
            <a:pPr indent="0" marL="0">
              <a:buNone/>
            </a:pPr>
            <a:r>
              <a:rPr lang="en-US" sz="1000" dirty="0">
                <a:solidFill>
                  <a:schemeClr val="accent6"/>
                </a:solidFill>
              </a:rPr>
              <a:t>Tech</a:t>
            </a:r>
            <a:endParaRPr lang="en-US" sz="1000" dirty="0"/>
          </a:p>
        </p:txBody>
      </p:sp>
      <p:sp>
        <p:nvSpPr>
          <p:cNvPr id="58" name="Shape 55"/>
          <p:cNvSpPr/>
          <p:nvPr/>
        </p:nvSpPr>
        <p:spPr>
          <a:xfrm>
            <a:off x="9555480" y="6473952"/>
            <a:ext cx="274320" cy="137160"/>
          </a:xfrm>
          <a:prstGeom prst="roundRect">
            <a:avLst>
              <a:gd name="adj" fmla="val 26667"/>
            </a:avLst>
          </a:prstGeom>
          <a:solidFill>
            <a:schemeClr val="accent2"/>
          </a:solidFill>
          <a:ln w="12700">
            <a:solidFill>
              <a:schemeClr val="accent2"/>
            </a:solidFill>
            <a:prstDash val="solid"/>
          </a:ln>
        </p:spPr>
      </p:sp>
      <p:sp>
        <p:nvSpPr>
          <p:cNvPr id="59" name="Text 56"/>
          <p:cNvSpPr txBox="1"/>
          <p:nvPr/>
        </p:nvSpPr>
        <p:spPr>
          <a:xfrm>
            <a:off x="9902952" y="6382512"/>
            <a:ext cx="1188720" cy="320040"/>
          </a:xfrm>
          <a:prstGeom prst="rect">
            <a:avLst/>
          </a:prstGeom>
          <a:noFill/>
          <a:ln/>
        </p:spPr>
        <p:txBody>
          <a:bodyPr wrap="square" lIns="0" tIns="0" rIns="0" bIns="0" rtlCol="0" anchor="ctr"/>
          <a:lstStyle/>
          <a:p>
            <a:pPr indent="0" marL="0">
              <a:buNone/>
            </a:pPr>
            <a:r>
              <a:rPr lang="en-US" sz="1000" dirty="0">
                <a:solidFill>
                  <a:schemeClr val="accent6"/>
                </a:solidFill>
              </a:rPr>
              <a:t>Los dos</a:t>
            </a:r>
            <a:endParaRPr lang="en-US" sz="1000" dirty="0"/>
          </a:p>
        </p:txBody>
      </p:sp>
      <p:sp>
        <p:nvSpPr>
          <p:cNvPr id="60" name="Text 57"/>
          <p:cNvSpPr txBox="1"/>
          <p:nvPr/>
        </p:nvSpPr>
        <p:spPr>
          <a:xfrm>
            <a:off x="548640" y="5943600"/>
            <a:ext cx="11064240" cy="365760"/>
          </a:xfrm>
          <a:prstGeom prst="rect">
            <a:avLst/>
          </a:prstGeom>
          <a:noFill/>
          <a:ln/>
        </p:spPr>
        <p:txBody>
          <a:bodyPr wrap="square" lIns="0" tIns="0" rIns="0" bIns="0" rtlCol="0" anchor="b"/>
          <a:lstStyle/>
          <a:p>
            <a:pPr indent="0" marL="0">
              <a:buNone/>
            </a:pPr>
            <a:r>
              <a:rPr lang="en-US" sz="1100" dirty="0">
                <a:solidFill>
                  <a:schemeClr val="accent6"/>
                </a:solidFill>
              </a:rPr>
              <a:t>Práctica de industria, no norma ni requisito: los cuatro valores del </a:t>
            </a:r>
            <a:pPr indent="0" marL="0">
              <a:buNone/>
            </a:pPr>
            <a:r>
              <a:rPr lang="en-US" sz="1100"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Manifiesto por el Desarrollo Ágil de Software</a:t>
            </a:r>
            <a:pPr indent="0" marL="0">
              <a:buNone/>
            </a:pPr>
            <a:r>
              <a:rPr lang="en-US" sz="1100" dirty="0">
                <a:solidFill>
                  <a:schemeClr val="accent6"/>
                </a:solidFill>
              </a:rPr>
              <a:t> (agilemanifesto.org), que son individuos e interacciones, software funcionando, colaboración con el cliente y respuesta ante el cambio.</a:t>
            </a:r>
            <a:endParaRPr lang="en-US" sz="11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Construimos los sistemas agénticos; el front y la integración los lideran los equipos de SURA</a:t>
            </a:r>
            <a:endParaRPr lang="en-US" sz="2800" dirty="0"/>
          </a:p>
        </p:txBody>
      </p:sp>
      <p:sp>
        <p:nvSpPr>
          <p:cNvPr id="4" name="Shape 1"/>
          <p:cNvSpPr/>
          <p:nvPr/>
        </p:nvSpPr>
        <p:spPr>
          <a:xfrm>
            <a:off x="548640" y="1600200"/>
            <a:ext cx="5440680" cy="4206240"/>
          </a:xfrm>
          <a:prstGeom prst="roundRect">
            <a:avLst>
              <a:gd name="adj" fmla="val 1739"/>
            </a:avLst>
          </a:prstGeom>
          <a:solidFill>
            <a:schemeClr val="bg2"/>
          </a:solidFill>
          <a:ln w="12700">
            <a:solidFill>
              <a:schemeClr val="bg2"/>
            </a:solidFill>
            <a:prstDash val="solid"/>
          </a:ln>
        </p:spPr>
      </p:sp>
      <p:sp>
        <p:nvSpPr>
          <p:cNvPr id="5" name="Text 2"/>
          <p:cNvSpPr txBox="1"/>
          <p:nvPr/>
        </p:nvSpPr>
        <p:spPr>
          <a:xfrm>
            <a:off x="822960" y="1783080"/>
            <a:ext cx="4892040" cy="365760"/>
          </a:xfrm>
          <a:prstGeom prst="rect">
            <a:avLst/>
          </a:prstGeom>
          <a:noFill/>
          <a:ln/>
        </p:spPr>
        <p:txBody>
          <a:bodyPr wrap="square" lIns="0" tIns="0" rIns="0" bIns="0" rtlCol="0" anchor="t"/>
          <a:lstStyle/>
          <a:p>
            <a:pPr indent="0" marL="0">
              <a:buNone/>
            </a:pPr>
            <a:r>
              <a:rPr lang="en-US" sz="1700" b="1" dirty="0">
                <a:solidFill>
                  <a:schemeClr val="tx2"/>
                </a:solidFill>
              </a:rPr>
              <a:t>Lo construye este equipo</a:t>
            </a:r>
            <a:endParaRPr lang="en-US" sz="1700" dirty="0"/>
          </a:p>
        </p:txBody>
      </p:sp>
      <p:sp>
        <p:nvSpPr>
          <p:cNvPr id="6" name="Shape 3"/>
          <p:cNvSpPr/>
          <p:nvPr/>
        </p:nvSpPr>
        <p:spPr>
          <a:xfrm>
            <a:off x="4800600" y="1865376"/>
            <a:ext cx="822960" cy="201168"/>
          </a:xfrm>
          <a:prstGeom prst="roundRect">
            <a:avLst>
              <a:gd name="adj" fmla="val 50000"/>
            </a:avLst>
          </a:prstGeom>
          <a:solidFill>
            <a:schemeClr val="accent1"/>
          </a:solidFill>
          <a:ln w="12700">
            <a:solidFill>
              <a:schemeClr val="accent1"/>
            </a:solidFill>
            <a:prstDash val="solid"/>
          </a:ln>
        </p:spPr>
      </p:sp>
      <p:sp>
        <p:nvSpPr>
          <p:cNvPr id="7" name="Text 4"/>
          <p:cNvSpPr txBox="1"/>
          <p:nvPr/>
        </p:nvSpPr>
        <p:spPr>
          <a:xfrm>
            <a:off x="4800600" y="1865376"/>
            <a:ext cx="822960" cy="201168"/>
          </a:xfrm>
          <a:prstGeom prst="rect">
            <a:avLst/>
          </a:prstGeom>
          <a:noFill/>
          <a:ln/>
        </p:spPr>
        <p:txBody>
          <a:bodyPr wrap="square" lIns="0" tIns="0" rIns="0" bIns="0" rtlCol="0" anchor="ctr"/>
          <a:lstStyle/>
          <a:p>
            <a:pPr algn="ctr" indent="0" marL="0">
              <a:buNone/>
            </a:pPr>
            <a:r>
              <a:rPr lang="en-US" sz="850" b="1" dirty="0">
                <a:solidFill>
                  <a:schemeClr val="bg1"/>
                </a:solidFill>
              </a:rPr>
              <a:t>Tech</a:t>
            </a:r>
            <a:endParaRPr lang="en-US" sz="850" dirty="0"/>
          </a:p>
        </p:txBody>
      </p:sp>
      <p:sp>
        <p:nvSpPr>
          <p:cNvPr id="8" name="Text 5"/>
          <p:cNvSpPr txBox="1"/>
          <p:nvPr/>
        </p:nvSpPr>
        <p:spPr>
          <a:xfrm>
            <a:off x="822960" y="2286000"/>
            <a:ext cx="4892040" cy="3383280"/>
          </a:xfrm>
          <a:prstGeom prst="rect">
            <a:avLst/>
          </a:prstGeom>
          <a:noFill/>
          <a:ln/>
        </p:spPr>
        <p:txBody>
          <a:bodyPr wrap="square" lIns="0" tIns="0" rIns="0" bIns="0" rtlCol="0" anchor="t"/>
          <a:lstStyle/>
          <a:p>
            <a:pPr indent="0" marL="0">
              <a:buNone/>
            </a:pPr>
            <a:r>
              <a:rPr lang="en-US" sz="1400" b="1" dirty="0">
                <a:solidFill>
                  <a:schemeClr val="accent1"/>
                </a:solidFill>
              </a:rPr>
              <a:t>Los agentes</a:t>
            </a:r>
            <a:endParaRPr lang="en-US" sz="1400" dirty="0"/>
          </a:p>
          <a:p>
            <a:pPr indent="0" marL="0">
              <a:buNone/>
            </a:pPr>
            <a:r>
              <a:rPr lang="en-US" sz="1400" dirty="0">
                <a:solidFill>
                  <a:schemeClr val="tx1"/>
                </a:solidFill>
              </a:rPr>
              <a:t>Clasificador, enrutador, extractores, request builder, LLM-as-a-judge, pertinencia médica, duplicidad, concepto al escalar y auditor.</a:t>
            </a:r>
            <a:endParaRPr lang="en-US" sz="1400" dirty="0"/>
          </a:p>
          <a:p>
            <a:pPr indent="0" marL="0">
              <a:buNone/>
            </a:pPr>
            <a:r>
              <a:rPr lang="en-US" sz="700" dirty="0">
                <a:solidFill>
                  <a:schemeClr val="tx1"/>
                </a:solidFill>
              </a:rPr>
              <a:t> </a:t>
            </a:r>
            <a:endParaRPr lang="en-US" sz="1400" dirty="0"/>
          </a:p>
          <a:p>
            <a:pPr indent="0" marL="0">
              <a:buNone/>
            </a:pPr>
            <a:r>
              <a:rPr lang="en-US" sz="1400" b="1" dirty="0">
                <a:solidFill>
                  <a:schemeClr val="accent1"/>
                </a:solidFill>
              </a:rPr>
              <a:t>Lo que los gobierna</a:t>
            </a:r>
            <a:endParaRPr lang="en-US" sz="1400" dirty="0"/>
          </a:p>
          <a:p>
            <a:pPr indent="0" marL="0">
              <a:buNone/>
            </a:pPr>
            <a:r>
              <a:rPr lang="en-US" sz="1400" dirty="0">
                <a:solidFill>
                  <a:schemeClr val="tx1"/>
                </a:solidFill>
              </a:rPr>
              <a:t>Golden set, compuerta, traza de la decisión, umbrales, calibración del juez y techos de autonomía.</a:t>
            </a:r>
            <a:endParaRPr lang="en-US" sz="1400" dirty="0"/>
          </a:p>
          <a:p>
            <a:pPr indent="0" marL="0">
              <a:buNone/>
            </a:pPr>
            <a:r>
              <a:rPr lang="en-US" sz="700" dirty="0">
                <a:solidFill>
                  <a:schemeClr val="tx1"/>
                </a:solidFill>
              </a:rPr>
              <a:t> </a:t>
            </a:r>
            <a:endParaRPr lang="en-US" sz="1400" dirty="0"/>
          </a:p>
          <a:p>
            <a:pPr indent="0" marL="0">
              <a:buNone/>
            </a:pPr>
            <a:r>
              <a:rPr lang="en-US" sz="1400" b="1" dirty="0">
                <a:solidFill>
                  <a:schemeClr val="accent1"/>
                </a:solidFill>
              </a:rPr>
              <a:t>La base de la torre de control</a:t>
            </a:r>
            <a:endParaRPr lang="en-US" sz="1400" dirty="0"/>
          </a:p>
          <a:p>
            <a:pPr indent="0" marL="0">
              <a:buNone/>
            </a:pPr>
            <a:r>
              <a:rPr lang="en-US" sz="1400" dirty="0">
                <a:solidFill>
                  <a:schemeClr val="tx1"/>
                </a:solidFill>
              </a:rPr>
              <a:t>Contrato de eventos y torre de control, capas 1 y 2.</a:t>
            </a:r>
            <a:endParaRPr lang="en-US" sz="1400" dirty="0"/>
          </a:p>
        </p:txBody>
      </p:sp>
      <p:sp>
        <p:nvSpPr>
          <p:cNvPr id="9" name="Shape 6"/>
          <p:cNvSpPr/>
          <p:nvPr/>
        </p:nvSpPr>
        <p:spPr>
          <a:xfrm>
            <a:off x="6172200" y="1600200"/>
            <a:ext cx="5440680" cy="4206240"/>
          </a:xfrm>
          <a:prstGeom prst="roundRect">
            <a:avLst>
              <a:gd name="adj" fmla="val 1739"/>
            </a:avLst>
          </a:prstGeom>
          <a:solidFill>
            <a:schemeClr val="accent4"/>
          </a:solidFill>
          <a:ln w="12700">
            <a:solidFill>
              <a:srgbClr val="DCD8EC"/>
            </a:solidFill>
            <a:prstDash val="solid"/>
          </a:ln>
        </p:spPr>
      </p:sp>
      <p:sp>
        <p:nvSpPr>
          <p:cNvPr id="10" name="Text 7"/>
          <p:cNvSpPr txBox="1"/>
          <p:nvPr/>
        </p:nvSpPr>
        <p:spPr>
          <a:xfrm>
            <a:off x="6446520" y="1783080"/>
            <a:ext cx="4892040" cy="365760"/>
          </a:xfrm>
          <a:prstGeom prst="rect">
            <a:avLst/>
          </a:prstGeom>
          <a:noFill/>
          <a:ln/>
        </p:spPr>
        <p:txBody>
          <a:bodyPr wrap="square" lIns="0" tIns="0" rIns="0" bIns="0" rtlCol="0" anchor="t"/>
          <a:lstStyle/>
          <a:p>
            <a:pPr indent="0" marL="0">
              <a:buNone/>
            </a:pPr>
            <a:r>
              <a:rPr lang="en-US" sz="1700" b="1" dirty="0">
                <a:solidFill>
                  <a:schemeClr val="accent6"/>
                </a:solidFill>
              </a:rPr>
              <a:t>Lo lideran los equipos de SURA</a:t>
            </a:r>
            <a:endParaRPr lang="en-US" sz="1700" dirty="0"/>
          </a:p>
        </p:txBody>
      </p:sp>
      <p:sp>
        <p:nvSpPr>
          <p:cNvPr id="11" name="Shape 8"/>
          <p:cNvSpPr/>
          <p:nvPr/>
        </p:nvSpPr>
        <p:spPr>
          <a:xfrm>
            <a:off x="10424160" y="1865376"/>
            <a:ext cx="822960" cy="201168"/>
          </a:xfrm>
          <a:prstGeom prst="roundRect">
            <a:avLst>
              <a:gd name="adj" fmla="val 50000"/>
            </a:avLst>
          </a:prstGeom>
          <a:solidFill>
            <a:schemeClr val="accent3"/>
          </a:solidFill>
          <a:ln w="12700">
            <a:solidFill>
              <a:schemeClr val="accent3"/>
            </a:solidFill>
            <a:prstDash val="solid"/>
          </a:ln>
        </p:spPr>
      </p:sp>
      <p:sp>
        <p:nvSpPr>
          <p:cNvPr id="12" name="Text 9"/>
          <p:cNvSpPr txBox="1"/>
          <p:nvPr/>
        </p:nvSpPr>
        <p:spPr>
          <a:xfrm>
            <a:off x="10424160" y="1865376"/>
            <a:ext cx="822960" cy="201168"/>
          </a:xfrm>
          <a:prstGeom prst="rect">
            <a:avLst/>
          </a:prstGeom>
          <a:noFill/>
          <a:ln/>
        </p:spPr>
        <p:txBody>
          <a:bodyPr wrap="square" lIns="0" tIns="0" rIns="0" bIns="0" rtlCol="0" anchor="ctr"/>
          <a:lstStyle/>
          <a:p>
            <a:pPr algn="ctr" indent="0" marL="0">
              <a:buNone/>
            </a:pPr>
            <a:r>
              <a:rPr lang="en-US" sz="850" b="1" dirty="0">
                <a:solidFill>
                  <a:schemeClr val="bg1"/>
                </a:solidFill>
              </a:rPr>
              <a:t>SURA</a:t>
            </a:r>
            <a:endParaRPr lang="en-US" sz="850" dirty="0"/>
          </a:p>
        </p:txBody>
      </p:sp>
      <p:sp>
        <p:nvSpPr>
          <p:cNvPr id="13" name="Text 10"/>
          <p:cNvSpPr txBox="1"/>
          <p:nvPr/>
        </p:nvSpPr>
        <p:spPr>
          <a:xfrm>
            <a:off x="6446520" y="2331720"/>
            <a:ext cx="4892040" cy="32918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Front Angular y canales</a:t>
            </a:r>
            <a:endParaRPr lang="en-US" sz="1500" dirty="0"/>
          </a:p>
          <a:p>
            <a:pPr marL="342900" indent="-342900">
              <a:spcAft>
                <a:spcPts val="1000"/>
              </a:spcAft>
              <a:buSzPct val="100000"/>
              <a:buChar char="•"/>
            </a:pPr>
            <a:r>
              <a:rPr lang="en-US" sz="1500" dirty="0">
                <a:solidFill>
                  <a:schemeClr val="tx1"/>
                </a:solidFill>
              </a:rPr>
              <a:t>API orquestadora de cada gestor e integración con el core</a:t>
            </a:r>
            <a:endParaRPr lang="en-US" sz="1500" dirty="0"/>
          </a:p>
          <a:p>
            <a:pPr marL="342900" indent="-342900">
              <a:spcAft>
                <a:spcPts val="1000"/>
              </a:spcAft>
              <a:buSzPct val="100000"/>
              <a:buChar char="•"/>
            </a:pPr>
            <a:r>
              <a:rPr lang="en-US" sz="1500" dirty="0">
                <a:solidFill>
                  <a:schemeClr val="tx1"/>
                </a:solidFill>
              </a:rPr>
              <a:t>Plataforma habilitadora y plataforma agéntica</a:t>
            </a:r>
            <a:endParaRPr lang="en-US" sz="1500" dirty="0"/>
          </a:p>
        </p:txBody>
      </p:sp>
      <p:sp>
        <p:nvSpPr>
          <p:cNvPr id="14" name="Text 11"/>
          <p:cNvSpPr txBox="1"/>
          <p:nvPr/>
        </p:nvSpPr>
        <p:spPr>
          <a:xfrm>
            <a:off x="6400800" y="6382512"/>
            <a:ext cx="1371600" cy="320040"/>
          </a:xfrm>
          <a:prstGeom prst="rect">
            <a:avLst/>
          </a:prstGeom>
          <a:noFill/>
          <a:ln/>
        </p:spPr>
        <p:txBody>
          <a:bodyPr wrap="square" lIns="0" tIns="0" rIns="0" bIns="0" rtlCol="0" anchor="ctr"/>
          <a:lstStyle/>
          <a:p>
            <a:pPr indent="0" marL="0">
              <a:buNone/>
            </a:pPr>
            <a:r>
              <a:rPr lang="en-US" sz="1000" b="1" dirty="0">
                <a:solidFill>
                  <a:schemeClr val="tx2"/>
                </a:solidFill>
              </a:rPr>
              <a:t>Quién participa:</a:t>
            </a:r>
            <a:endParaRPr lang="en-US" sz="1000" dirty="0"/>
          </a:p>
        </p:txBody>
      </p:sp>
      <p:sp>
        <p:nvSpPr>
          <p:cNvPr id="15" name="Shape 12"/>
          <p:cNvSpPr/>
          <p:nvPr/>
        </p:nvSpPr>
        <p:spPr>
          <a:xfrm>
            <a:off x="7818120" y="6473952"/>
            <a:ext cx="274320" cy="137160"/>
          </a:xfrm>
          <a:prstGeom prst="roundRect">
            <a:avLst>
              <a:gd name="adj" fmla="val 26667"/>
            </a:avLst>
          </a:prstGeom>
          <a:solidFill>
            <a:schemeClr val="accent3"/>
          </a:solidFill>
          <a:ln w="12700">
            <a:solidFill>
              <a:schemeClr val="accent3"/>
            </a:solidFill>
            <a:prstDash val="solid"/>
          </a:ln>
        </p:spPr>
      </p:sp>
      <p:sp>
        <p:nvSpPr>
          <p:cNvPr id="16" name="Text 13"/>
          <p:cNvSpPr txBox="1"/>
          <p:nvPr/>
        </p:nvSpPr>
        <p:spPr>
          <a:xfrm>
            <a:off x="8165592" y="6382512"/>
            <a:ext cx="822960" cy="320040"/>
          </a:xfrm>
          <a:prstGeom prst="rect">
            <a:avLst/>
          </a:prstGeom>
          <a:noFill/>
          <a:ln/>
        </p:spPr>
        <p:txBody>
          <a:bodyPr wrap="square" lIns="0" tIns="0" rIns="0" bIns="0" rtlCol="0" anchor="ctr"/>
          <a:lstStyle/>
          <a:p>
            <a:pPr indent="0" marL="0">
              <a:buNone/>
            </a:pPr>
            <a:r>
              <a:rPr lang="en-US" sz="1000" dirty="0">
                <a:solidFill>
                  <a:schemeClr val="accent6"/>
                </a:solidFill>
              </a:rPr>
              <a:t>SURA</a:t>
            </a:r>
            <a:endParaRPr lang="en-US" sz="1000" dirty="0"/>
          </a:p>
        </p:txBody>
      </p:sp>
      <p:sp>
        <p:nvSpPr>
          <p:cNvPr id="17" name="Shape 14"/>
          <p:cNvSpPr/>
          <p:nvPr/>
        </p:nvSpPr>
        <p:spPr>
          <a:xfrm>
            <a:off x="8732520" y="6473952"/>
            <a:ext cx="274320" cy="137160"/>
          </a:xfrm>
          <a:prstGeom prst="roundRect">
            <a:avLst>
              <a:gd name="adj" fmla="val 26667"/>
            </a:avLst>
          </a:prstGeom>
          <a:solidFill>
            <a:schemeClr val="accent1"/>
          </a:solidFill>
          <a:ln w="12700">
            <a:solidFill>
              <a:schemeClr val="accent1"/>
            </a:solidFill>
            <a:prstDash val="solid"/>
          </a:ln>
        </p:spPr>
      </p:sp>
      <p:sp>
        <p:nvSpPr>
          <p:cNvPr id="18" name="Text 15"/>
          <p:cNvSpPr txBox="1"/>
          <p:nvPr/>
        </p:nvSpPr>
        <p:spPr>
          <a:xfrm>
            <a:off x="9079992" y="6382512"/>
            <a:ext cx="822960" cy="320040"/>
          </a:xfrm>
          <a:prstGeom prst="rect">
            <a:avLst/>
          </a:prstGeom>
          <a:noFill/>
          <a:ln/>
        </p:spPr>
        <p:txBody>
          <a:bodyPr wrap="square" lIns="0" tIns="0" rIns="0" bIns="0" rtlCol="0" anchor="ctr"/>
          <a:lstStyle/>
          <a:p>
            <a:pPr indent="0" marL="0">
              <a:buNone/>
            </a:pPr>
            <a:r>
              <a:rPr lang="en-US" sz="1000" dirty="0">
                <a:solidFill>
                  <a:schemeClr val="accent6"/>
                </a:solidFill>
              </a:rPr>
              <a:t>Tech</a:t>
            </a:r>
            <a:endParaRPr lang="en-US" sz="1000" dirty="0"/>
          </a:p>
        </p:txBody>
      </p:sp>
      <p:sp>
        <p:nvSpPr>
          <p:cNvPr id="19" name="Shape 16"/>
          <p:cNvSpPr/>
          <p:nvPr/>
        </p:nvSpPr>
        <p:spPr>
          <a:xfrm>
            <a:off x="9555480" y="6473952"/>
            <a:ext cx="274320" cy="137160"/>
          </a:xfrm>
          <a:prstGeom prst="roundRect">
            <a:avLst>
              <a:gd name="adj" fmla="val 26667"/>
            </a:avLst>
          </a:prstGeom>
          <a:solidFill>
            <a:schemeClr val="accent2"/>
          </a:solidFill>
          <a:ln w="12700">
            <a:solidFill>
              <a:schemeClr val="accent2"/>
            </a:solidFill>
            <a:prstDash val="solid"/>
          </a:ln>
        </p:spPr>
      </p:sp>
      <p:sp>
        <p:nvSpPr>
          <p:cNvPr id="20" name="Text 17"/>
          <p:cNvSpPr txBox="1"/>
          <p:nvPr/>
        </p:nvSpPr>
        <p:spPr>
          <a:xfrm>
            <a:off x="9902952" y="6382512"/>
            <a:ext cx="1188720" cy="320040"/>
          </a:xfrm>
          <a:prstGeom prst="rect">
            <a:avLst/>
          </a:prstGeom>
          <a:noFill/>
          <a:ln/>
        </p:spPr>
        <p:txBody>
          <a:bodyPr wrap="square" lIns="0" tIns="0" rIns="0" bIns="0" rtlCol="0" anchor="ctr"/>
          <a:lstStyle/>
          <a:p>
            <a:pPr indent="0" marL="0">
              <a:buNone/>
            </a:pPr>
            <a:r>
              <a:rPr lang="en-US" sz="1000" dirty="0">
                <a:solidFill>
                  <a:schemeClr val="accent6"/>
                </a:solidFill>
              </a:rPr>
              <a:t>Los dos</a:t>
            </a:r>
            <a:endParaRPr lang="en-US" sz="1000" dirty="0"/>
          </a:p>
        </p:txBody>
      </p:sp>
      <p:sp>
        <p:nvSpPr>
          <p:cNvPr id="21" name="Text 18"/>
          <p:cNvSpPr txBox="1"/>
          <p:nvPr/>
        </p:nvSpPr>
        <p:spPr>
          <a:xfrm>
            <a:off x="548640" y="5943600"/>
            <a:ext cx="11064240" cy="365760"/>
          </a:xfrm>
          <a:prstGeom prst="rect">
            <a:avLst/>
          </a:prstGeom>
          <a:noFill/>
          <a:ln/>
        </p:spPr>
        <p:txBody>
          <a:bodyPr wrap="square" lIns="0" tIns="0" rIns="0" bIns="0" rtlCol="0" anchor="b"/>
          <a:lstStyle/>
          <a:p>
            <a:pPr indent="0" marL="0">
              <a:buNone/>
            </a:pPr>
            <a:r>
              <a:rPr lang="en-US" sz="1100" dirty="0">
                <a:solidFill>
                  <a:schemeClr val="accent6"/>
                </a:solidFill>
              </a:rPr>
              <a:t>Los agentes se integran sobre lo que construyen los equipos de SURA; el contrato entre ambos se acuerda en el arranque.</a:t>
            </a:r>
            <a:endParaRPr lang="en-US" sz="11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El arquitecto define el cómo, se alinea con SURA y revisa que se cumpla</a:t>
            </a:r>
            <a:endParaRPr lang="en-US" sz="2800" dirty="0"/>
          </a:p>
        </p:txBody>
      </p:sp>
      <p:sp>
        <p:nvSpPr>
          <p:cNvPr id="4" name="Shape 1"/>
          <p:cNvSpPr/>
          <p:nvPr/>
        </p:nvSpPr>
        <p:spPr>
          <a:xfrm>
            <a:off x="548640" y="1554480"/>
            <a:ext cx="3520440" cy="3703320"/>
          </a:xfrm>
          <a:prstGeom prst="roundRect">
            <a:avLst>
              <a:gd name="adj" fmla="val 2078"/>
            </a:avLst>
          </a:prstGeom>
          <a:solidFill>
            <a:schemeClr val="accent4"/>
          </a:solidFill>
          <a:ln w="12700">
            <a:solidFill>
              <a:srgbClr val="DCD8EC"/>
            </a:solidFill>
            <a:prstDash val="solid"/>
          </a:ln>
        </p:spPr>
      </p:sp>
      <p:sp>
        <p:nvSpPr>
          <p:cNvPr id="5" name="Shape 2"/>
          <p:cNvSpPr/>
          <p:nvPr/>
        </p:nvSpPr>
        <p:spPr>
          <a:xfrm>
            <a:off x="822960" y="1737360"/>
            <a:ext cx="457200" cy="457200"/>
          </a:xfrm>
          <a:prstGeom prst="ellipse">
            <a:avLst/>
          </a:prstGeom>
          <a:solidFill>
            <a:schemeClr val="accent1"/>
          </a:solidFill>
          <a:ln w="12700">
            <a:solidFill>
              <a:schemeClr val="accent1"/>
            </a:solidFill>
            <a:prstDash val="solid"/>
          </a:ln>
        </p:spPr>
      </p:sp>
      <p:sp>
        <p:nvSpPr>
          <p:cNvPr id="6" name="Text 3"/>
          <p:cNvSpPr txBox="1"/>
          <p:nvPr/>
        </p:nvSpPr>
        <p:spPr>
          <a:xfrm>
            <a:off x="82296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417320" y="1691640"/>
            <a:ext cx="2468880" cy="594360"/>
          </a:xfrm>
          <a:prstGeom prst="rect">
            <a:avLst/>
          </a:prstGeom>
          <a:noFill/>
          <a:ln/>
        </p:spPr>
        <p:txBody>
          <a:bodyPr wrap="square" lIns="0" tIns="0" rIns="0" bIns="0" rtlCol="0" anchor="ctr"/>
          <a:lstStyle/>
          <a:p>
            <a:pPr indent="0" marL="0">
              <a:buNone/>
            </a:pPr>
            <a:r>
              <a:rPr lang="en-US" sz="1400" b="1" dirty="0">
                <a:solidFill>
                  <a:schemeClr val="tx2"/>
                </a:solidFill>
              </a:rPr>
              <a:t>Define con el equipo</a:t>
            </a:r>
            <a:endParaRPr lang="en-US" sz="1400" dirty="0"/>
          </a:p>
        </p:txBody>
      </p:sp>
      <p:sp>
        <p:nvSpPr>
          <p:cNvPr id="8" name="Text 5"/>
          <p:cNvSpPr txBox="1"/>
          <p:nvPr/>
        </p:nvSpPr>
        <p:spPr>
          <a:xfrm>
            <a:off x="822960" y="2423160"/>
            <a:ext cx="297180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Arquitectura evolutiva: la de cada sistema agéntico se define al empezar su implementación.</a:t>
            </a:r>
            <a:endParaRPr lang="en-US" sz="1300" dirty="0"/>
          </a:p>
          <a:p>
            <a:pPr marL="342900" indent="-342900">
              <a:spcAft>
                <a:spcPts val="600"/>
              </a:spcAft>
              <a:buSzPct val="100000"/>
              <a:buChar char="•"/>
            </a:pPr>
            <a:r>
              <a:rPr lang="en-US" sz="1300" dirty="0">
                <a:solidFill>
                  <a:schemeClr val="tx1"/>
                </a:solidFill>
              </a:rPr>
              <a:t>Buenas prácticas de construcción y de prompts.</a:t>
            </a:r>
            <a:endParaRPr lang="en-US" sz="1300" dirty="0"/>
          </a:p>
          <a:p>
            <a:pPr marL="342900" indent="-342900">
              <a:spcAft>
                <a:spcPts val="600"/>
              </a:spcAft>
              <a:buSzPct val="100000"/>
              <a:buChar char="•"/>
            </a:pPr>
            <a:r>
              <a:rPr lang="en-US" sz="1300" dirty="0">
                <a:solidFill>
                  <a:schemeClr val="tx1"/>
                </a:solidFill>
              </a:rPr>
              <a:t>Arquetipo de agente: grafo, golden set, compuerta y traza.</a:t>
            </a:r>
            <a:endParaRPr lang="en-US" sz="1300" dirty="0"/>
          </a:p>
          <a:p>
            <a:pPr marL="342900" indent="-342900">
              <a:spcAft>
                <a:spcPts val="600"/>
              </a:spcAft>
              <a:buSzPct val="100000"/>
              <a:buChar char="•"/>
            </a:pPr>
            <a:r>
              <a:rPr lang="en-US" sz="1300" dirty="0">
                <a:solidFill>
                  <a:schemeClr val="tx1"/>
                </a:solidFill>
              </a:rPr>
              <a:t>Componentes reutilizables entre gestores.</a:t>
            </a:r>
            <a:endParaRPr lang="en-US" sz="1300" dirty="0"/>
          </a:p>
          <a:p>
            <a:pPr marL="342900" indent="-342900">
              <a:spcAft>
                <a:spcPts val="600"/>
              </a:spcAft>
              <a:buSzPct val="100000"/>
              <a:buChar char="•"/>
            </a:pPr>
            <a:r>
              <a:rPr lang="en-US" sz="1300" dirty="0">
                <a:solidFill>
                  <a:schemeClr val="tx1"/>
                </a:solidFill>
              </a:rPr>
              <a:t>Lineamientos y un estándar técnico verificable.</a:t>
            </a:r>
            <a:endParaRPr lang="en-US" sz="1300" dirty="0"/>
          </a:p>
        </p:txBody>
      </p:sp>
      <p:sp>
        <p:nvSpPr>
          <p:cNvPr id="9" name="Shape 6"/>
          <p:cNvSpPr/>
          <p:nvPr/>
        </p:nvSpPr>
        <p:spPr>
          <a:xfrm>
            <a:off x="4320540" y="1554480"/>
            <a:ext cx="3520440" cy="3703320"/>
          </a:xfrm>
          <a:prstGeom prst="roundRect">
            <a:avLst>
              <a:gd name="adj" fmla="val 2078"/>
            </a:avLst>
          </a:prstGeom>
          <a:solidFill>
            <a:schemeClr val="accent4"/>
          </a:solidFill>
          <a:ln w="12700">
            <a:solidFill>
              <a:srgbClr val="DCD8EC"/>
            </a:solidFill>
            <a:prstDash val="solid"/>
          </a:ln>
        </p:spPr>
      </p:sp>
      <p:sp>
        <p:nvSpPr>
          <p:cNvPr id="10" name="Shape 7"/>
          <p:cNvSpPr/>
          <p:nvPr/>
        </p:nvSpPr>
        <p:spPr>
          <a:xfrm>
            <a:off x="4594860" y="1737360"/>
            <a:ext cx="457200" cy="457200"/>
          </a:xfrm>
          <a:prstGeom prst="ellipse">
            <a:avLst/>
          </a:prstGeom>
          <a:solidFill>
            <a:schemeClr val="accent2"/>
          </a:solidFill>
          <a:ln w="12700">
            <a:solidFill>
              <a:schemeClr val="accent2"/>
            </a:solidFill>
            <a:prstDash val="solid"/>
          </a:ln>
        </p:spPr>
      </p:sp>
      <p:sp>
        <p:nvSpPr>
          <p:cNvPr id="11" name="Text 8"/>
          <p:cNvSpPr txBox="1"/>
          <p:nvPr/>
        </p:nvSpPr>
        <p:spPr>
          <a:xfrm>
            <a:off x="459486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5189220" y="1691640"/>
            <a:ext cx="2468880" cy="594360"/>
          </a:xfrm>
          <a:prstGeom prst="rect">
            <a:avLst/>
          </a:prstGeom>
          <a:noFill/>
          <a:ln/>
        </p:spPr>
        <p:txBody>
          <a:bodyPr wrap="square" lIns="0" tIns="0" rIns="0" bIns="0" rtlCol="0" anchor="ctr"/>
          <a:lstStyle/>
          <a:p>
            <a:pPr indent="0" marL="0">
              <a:buNone/>
            </a:pPr>
            <a:r>
              <a:rPr lang="en-US" sz="1400" b="1" dirty="0">
                <a:solidFill>
                  <a:schemeClr val="tx2"/>
                </a:solidFill>
              </a:rPr>
              <a:t>Se alinea con el equipo de arquitectura de SURA</a:t>
            </a:r>
            <a:endParaRPr lang="en-US" sz="1400" dirty="0"/>
          </a:p>
        </p:txBody>
      </p:sp>
      <p:sp>
        <p:nvSpPr>
          <p:cNvPr id="13" name="Text 10"/>
          <p:cNvSpPr txBox="1"/>
          <p:nvPr/>
        </p:nvSpPr>
        <p:spPr>
          <a:xfrm>
            <a:off x="4594860" y="2423160"/>
            <a:ext cx="297180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Lineamientos AI First de la organización.</a:t>
            </a:r>
            <a:endParaRPr lang="en-US" sz="1300" dirty="0"/>
          </a:p>
          <a:p>
            <a:pPr marL="342900" indent="-342900">
              <a:spcAft>
                <a:spcPts val="600"/>
              </a:spcAft>
              <a:buSzPct val="100000"/>
              <a:buChar char="•"/>
            </a:pPr>
            <a:r>
              <a:rPr lang="en-US" sz="1300" dirty="0">
                <a:solidFill>
                  <a:schemeClr val="tx1"/>
                </a:solidFill>
              </a:rPr>
              <a:t>Contrato del agente con cada gestor.</a:t>
            </a:r>
            <a:endParaRPr lang="en-US" sz="1300" dirty="0"/>
          </a:p>
          <a:p>
            <a:pPr marL="342900" indent="-342900">
              <a:spcAft>
                <a:spcPts val="600"/>
              </a:spcAft>
              <a:buSzPct val="100000"/>
              <a:buChar char="•"/>
            </a:pPr>
            <a:r>
              <a:rPr lang="en-US" sz="1300" dirty="0">
                <a:solidFill>
                  <a:schemeClr val="tx1"/>
                </a:solidFill>
              </a:rPr>
              <a:t>Autonomía y techos de cada agente: ninguno niega.</a:t>
            </a:r>
            <a:endParaRPr lang="en-US" sz="1300" dirty="0"/>
          </a:p>
          <a:p>
            <a:pPr marL="342900" indent="-342900">
              <a:spcAft>
                <a:spcPts val="600"/>
              </a:spcAft>
              <a:buSzPct val="100000"/>
              <a:buChar char="•"/>
            </a:pPr>
            <a:r>
              <a:rPr lang="en-US" sz="1300" dirty="0">
                <a:solidFill>
                  <a:schemeClr val="tx1"/>
                </a:solidFill>
              </a:rPr>
              <a:t>Criterio de acierto y umbral del error caro.</a:t>
            </a:r>
            <a:endParaRPr lang="en-US" sz="1300" dirty="0"/>
          </a:p>
        </p:txBody>
      </p:sp>
      <p:sp>
        <p:nvSpPr>
          <p:cNvPr id="14" name="Shape 11"/>
          <p:cNvSpPr/>
          <p:nvPr/>
        </p:nvSpPr>
        <p:spPr>
          <a:xfrm>
            <a:off x="8092440" y="1554480"/>
            <a:ext cx="3520440" cy="3703320"/>
          </a:xfrm>
          <a:prstGeom prst="roundRect">
            <a:avLst>
              <a:gd name="adj" fmla="val 2078"/>
            </a:avLst>
          </a:prstGeom>
          <a:solidFill>
            <a:schemeClr val="accent4"/>
          </a:solidFill>
          <a:ln w="12700">
            <a:solidFill>
              <a:srgbClr val="DCD8EC"/>
            </a:solidFill>
            <a:prstDash val="solid"/>
          </a:ln>
        </p:spPr>
      </p:sp>
      <p:sp>
        <p:nvSpPr>
          <p:cNvPr id="15" name="Shape 12"/>
          <p:cNvSpPr/>
          <p:nvPr/>
        </p:nvSpPr>
        <p:spPr>
          <a:xfrm>
            <a:off x="8366760" y="1737360"/>
            <a:ext cx="457200" cy="457200"/>
          </a:xfrm>
          <a:prstGeom prst="ellipse">
            <a:avLst/>
          </a:prstGeom>
          <a:solidFill>
            <a:schemeClr val="accent1"/>
          </a:solidFill>
          <a:ln w="12700">
            <a:solidFill>
              <a:schemeClr val="accent1"/>
            </a:solidFill>
            <a:prstDash val="solid"/>
          </a:ln>
        </p:spPr>
      </p:sp>
      <p:sp>
        <p:nvSpPr>
          <p:cNvPr id="16" name="Text 13"/>
          <p:cNvSpPr txBox="1"/>
          <p:nvPr/>
        </p:nvSpPr>
        <p:spPr>
          <a:xfrm>
            <a:off x="836676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8961120" y="1691640"/>
            <a:ext cx="2468880" cy="594360"/>
          </a:xfrm>
          <a:prstGeom prst="rect">
            <a:avLst/>
          </a:prstGeom>
          <a:noFill/>
          <a:ln/>
        </p:spPr>
        <p:txBody>
          <a:bodyPr wrap="square" lIns="0" tIns="0" rIns="0" bIns="0" rtlCol="0" anchor="ctr"/>
          <a:lstStyle/>
          <a:p>
            <a:pPr indent="0" marL="0">
              <a:buNone/>
            </a:pPr>
            <a:r>
              <a:rPr lang="en-US" sz="1400" b="1" dirty="0">
                <a:solidFill>
                  <a:schemeClr val="tx2"/>
                </a:solidFill>
              </a:rPr>
              <a:t>Revisa que se cumpla</a:t>
            </a:r>
            <a:endParaRPr lang="en-US" sz="1400" dirty="0"/>
          </a:p>
        </p:txBody>
      </p:sp>
      <p:sp>
        <p:nvSpPr>
          <p:cNvPr id="18" name="Text 15"/>
          <p:cNvSpPr txBox="1"/>
          <p:nvPr/>
        </p:nvSpPr>
        <p:spPr>
          <a:xfrm>
            <a:off x="8366760" y="2423160"/>
            <a:ext cx="297180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Diseño de cada característica, en el refinamiento.</a:t>
            </a:r>
            <a:endParaRPr lang="en-US" sz="1300" dirty="0"/>
          </a:p>
          <a:p>
            <a:pPr marL="342900" indent="-342900">
              <a:spcAft>
                <a:spcPts val="600"/>
              </a:spcAft>
              <a:buSzPct val="100000"/>
              <a:buChar char="•"/>
            </a:pPr>
            <a:r>
              <a:rPr lang="en-US" sz="1300" dirty="0">
                <a:solidFill>
                  <a:schemeClr val="tx1"/>
                </a:solidFill>
              </a:rPr>
              <a:t>Código que toca contratos, traza y medición.</a:t>
            </a:r>
            <a:endParaRPr lang="en-US" sz="1300" dirty="0"/>
          </a:p>
          <a:p>
            <a:pPr marL="342900" indent="-342900">
              <a:spcAft>
                <a:spcPts val="600"/>
              </a:spcAft>
              <a:buSzPct val="100000"/>
              <a:buChar char="•"/>
            </a:pPr>
            <a:r>
              <a:rPr lang="en-US" sz="1300" dirty="0">
                <a:solidFill>
                  <a:schemeClr val="tx1"/>
                </a:solidFill>
              </a:rPr>
              <a:t>Lo que no falla de forma ruidosa: acierto y deriva.</a:t>
            </a:r>
            <a:endParaRPr lang="en-US" sz="1300" dirty="0"/>
          </a:p>
          <a:p>
            <a:pPr marL="342900" indent="-342900">
              <a:spcAft>
                <a:spcPts val="600"/>
              </a:spcAft>
              <a:buSzPct val="100000"/>
              <a:buChar char="•"/>
            </a:pPr>
            <a:r>
              <a:rPr lang="en-US" sz="1300" dirty="0">
                <a:solidFill>
                  <a:schemeClr val="tx1"/>
                </a:solidFill>
              </a:rPr>
              <a:t>Ajusta los lineamientos en la mejora continua.</a:t>
            </a:r>
            <a:endParaRPr lang="en-US" sz="1300" dirty="0"/>
          </a:p>
        </p:txBody>
      </p:sp>
      <p:sp>
        <p:nvSpPr>
          <p:cNvPr id="19" name="Shape 16"/>
          <p:cNvSpPr/>
          <p:nvPr/>
        </p:nvSpPr>
        <p:spPr>
          <a:xfrm>
            <a:off x="548640" y="5394960"/>
            <a:ext cx="11064240" cy="566928"/>
          </a:xfrm>
          <a:prstGeom prst="roundRect">
            <a:avLst>
              <a:gd name="adj" fmla="val 12903"/>
            </a:avLst>
          </a:prstGeom>
          <a:solidFill>
            <a:schemeClr val="bg2"/>
          </a:solidFill>
          <a:ln w="12700">
            <a:solidFill>
              <a:schemeClr val="bg2"/>
            </a:solidFill>
            <a:prstDash val="solid"/>
          </a:ln>
        </p:spPr>
      </p:sp>
      <p:sp>
        <p:nvSpPr>
          <p:cNvPr id="20" name="Text 17"/>
          <p:cNvSpPr txBox="1"/>
          <p:nvPr/>
        </p:nvSpPr>
        <p:spPr>
          <a:xfrm>
            <a:off x="822960" y="5394960"/>
            <a:ext cx="10515600" cy="566928"/>
          </a:xfrm>
          <a:prstGeom prst="rect">
            <a:avLst/>
          </a:prstGeom>
          <a:noFill/>
          <a:ln/>
        </p:spPr>
        <p:txBody>
          <a:bodyPr wrap="square" lIns="0" tIns="0" rIns="0" bIns="0" rtlCol="0" anchor="ctr"/>
          <a:lstStyle/>
          <a:p>
            <a:pPr indent="0" marL="0">
              <a:buNone/>
            </a:pPr>
            <a:r>
              <a:rPr lang="en-US" sz="1300" b="1" dirty="0">
                <a:solidFill>
                  <a:schemeClr val="tx2"/>
                </a:solidFill>
              </a:rPr>
              <a:t>El equipo implementa las características con esas prácticas </a:t>
            </a:r>
            <a:pPr indent="0" marL="0">
              <a:buNone/>
            </a:pPr>
            <a:r>
              <a:rPr lang="en-US" sz="1300" dirty="0">
                <a:solidFill>
                  <a:schemeClr val="tx1"/>
                </a:solidFill>
              </a:rPr>
              <a:t>y decide durante la construcción lo fácil de cambiar: la estructura interna del grafo, la redacción del prompt y el orden de las tareas.</a:t>
            </a:r>
            <a:endParaRPr lang="en-US" sz="1300" dirty="0"/>
          </a:p>
        </p:txBody>
      </p:sp>
      <p:sp>
        <p:nvSpPr>
          <p:cNvPr id="21" name="Text 18"/>
          <p:cNvSpPr txBox="1"/>
          <p:nvPr/>
        </p:nvSpPr>
        <p:spPr>
          <a:xfrm>
            <a:off x="6400800" y="6382512"/>
            <a:ext cx="1371600" cy="320040"/>
          </a:xfrm>
          <a:prstGeom prst="rect">
            <a:avLst/>
          </a:prstGeom>
          <a:noFill/>
          <a:ln/>
        </p:spPr>
        <p:txBody>
          <a:bodyPr wrap="square" lIns="0" tIns="0" rIns="0" bIns="0" rtlCol="0" anchor="ctr"/>
          <a:lstStyle/>
          <a:p>
            <a:pPr indent="0" marL="0">
              <a:buNone/>
            </a:pPr>
            <a:r>
              <a:rPr lang="en-US" sz="1000" b="1" dirty="0">
                <a:solidFill>
                  <a:schemeClr val="tx2"/>
                </a:solidFill>
              </a:rPr>
              <a:t>Quién participa:</a:t>
            </a:r>
            <a:endParaRPr lang="en-US" sz="1000" dirty="0"/>
          </a:p>
        </p:txBody>
      </p:sp>
      <p:sp>
        <p:nvSpPr>
          <p:cNvPr id="22" name="Shape 19"/>
          <p:cNvSpPr/>
          <p:nvPr/>
        </p:nvSpPr>
        <p:spPr>
          <a:xfrm>
            <a:off x="7818120" y="6473952"/>
            <a:ext cx="274320" cy="137160"/>
          </a:xfrm>
          <a:prstGeom prst="roundRect">
            <a:avLst>
              <a:gd name="adj" fmla="val 26667"/>
            </a:avLst>
          </a:prstGeom>
          <a:solidFill>
            <a:schemeClr val="accent3"/>
          </a:solidFill>
          <a:ln w="12700">
            <a:solidFill>
              <a:schemeClr val="accent3"/>
            </a:solidFill>
            <a:prstDash val="solid"/>
          </a:ln>
        </p:spPr>
      </p:sp>
      <p:sp>
        <p:nvSpPr>
          <p:cNvPr id="23" name="Text 20"/>
          <p:cNvSpPr txBox="1"/>
          <p:nvPr/>
        </p:nvSpPr>
        <p:spPr>
          <a:xfrm>
            <a:off x="8165592" y="6382512"/>
            <a:ext cx="822960" cy="320040"/>
          </a:xfrm>
          <a:prstGeom prst="rect">
            <a:avLst/>
          </a:prstGeom>
          <a:noFill/>
          <a:ln/>
        </p:spPr>
        <p:txBody>
          <a:bodyPr wrap="square" lIns="0" tIns="0" rIns="0" bIns="0" rtlCol="0" anchor="ctr"/>
          <a:lstStyle/>
          <a:p>
            <a:pPr indent="0" marL="0">
              <a:buNone/>
            </a:pPr>
            <a:r>
              <a:rPr lang="en-US" sz="1000" dirty="0">
                <a:solidFill>
                  <a:schemeClr val="accent6"/>
                </a:solidFill>
              </a:rPr>
              <a:t>SURA</a:t>
            </a:r>
            <a:endParaRPr lang="en-US" sz="1000" dirty="0"/>
          </a:p>
        </p:txBody>
      </p:sp>
      <p:sp>
        <p:nvSpPr>
          <p:cNvPr id="24" name="Shape 21"/>
          <p:cNvSpPr/>
          <p:nvPr/>
        </p:nvSpPr>
        <p:spPr>
          <a:xfrm>
            <a:off x="8732520" y="6473952"/>
            <a:ext cx="274320" cy="137160"/>
          </a:xfrm>
          <a:prstGeom prst="roundRect">
            <a:avLst>
              <a:gd name="adj" fmla="val 26667"/>
            </a:avLst>
          </a:prstGeom>
          <a:solidFill>
            <a:schemeClr val="accent1"/>
          </a:solidFill>
          <a:ln w="12700">
            <a:solidFill>
              <a:schemeClr val="accent1"/>
            </a:solidFill>
            <a:prstDash val="solid"/>
          </a:ln>
        </p:spPr>
      </p:sp>
      <p:sp>
        <p:nvSpPr>
          <p:cNvPr id="25" name="Text 22"/>
          <p:cNvSpPr txBox="1"/>
          <p:nvPr/>
        </p:nvSpPr>
        <p:spPr>
          <a:xfrm>
            <a:off x="9079992" y="6382512"/>
            <a:ext cx="822960" cy="320040"/>
          </a:xfrm>
          <a:prstGeom prst="rect">
            <a:avLst/>
          </a:prstGeom>
          <a:noFill/>
          <a:ln/>
        </p:spPr>
        <p:txBody>
          <a:bodyPr wrap="square" lIns="0" tIns="0" rIns="0" bIns="0" rtlCol="0" anchor="ctr"/>
          <a:lstStyle/>
          <a:p>
            <a:pPr indent="0" marL="0">
              <a:buNone/>
            </a:pPr>
            <a:r>
              <a:rPr lang="en-US" sz="1000" dirty="0">
                <a:solidFill>
                  <a:schemeClr val="accent6"/>
                </a:solidFill>
              </a:rPr>
              <a:t>Tech</a:t>
            </a:r>
            <a:endParaRPr lang="en-US" sz="1000" dirty="0"/>
          </a:p>
        </p:txBody>
      </p:sp>
      <p:sp>
        <p:nvSpPr>
          <p:cNvPr id="26" name="Shape 23"/>
          <p:cNvSpPr/>
          <p:nvPr/>
        </p:nvSpPr>
        <p:spPr>
          <a:xfrm>
            <a:off x="9555480" y="6473952"/>
            <a:ext cx="274320" cy="137160"/>
          </a:xfrm>
          <a:prstGeom prst="roundRect">
            <a:avLst>
              <a:gd name="adj" fmla="val 26667"/>
            </a:avLst>
          </a:prstGeom>
          <a:solidFill>
            <a:schemeClr val="accent2"/>
          </a:solidFill>
          <a:ln w="12700">
            <a:solidFill>
              <a:schemeClr val="accent2"/>
            </a:solidFill>
            <a:prstDash val="solid"/>
          </a:ln>
        </p:spPr>
      </p:sp>
      <p:sp>
        <p:nvSpPr>
          <p:cNvPr id="27" name="Text 24"/>
          <p:cNvSpPr txBox="1"/>
          <p:nvPr/>
        </p:nvSpPr>
        <p:spPr>
          <a:xfrm>
            <a:off x="9902952" y="6382512"/>
            <a:ext cx="1188720" cy="320040"/>
          </a:xfrm>
          <a:prstGeom prst="rect">
            <a:avLst/>
          </a:prstGeom>
          <a:noFill/>
          <a:ln/>
        </p:spPr>
        <p:txBody>
          <a:bodyPr wrap="square" lIns="0" tIns="0" rIns="0" bIns="0" rtlCol="0" anchor="ctr"/>
          <a:lstStyle/>
          <a:p>
            <a:pPr indent="0" marL="0">
              <a:buNone/>
            </a:pPr>
            <a:r>
              <a:rPr lang="en-US" sz="1000" dirty="0">
                <a:solidFill>
                  <a:schemeClr val="accent6"/>
                </a:solidFill>
              </a:rPr>
              <a:t>Los dos</a:t>
            </a:r>
            <a:endParaRPr lang="en-US" sz="10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Las características se definen con SURA, con el negocio junto al equipo</a:t>
            </a:r>
            <a:endParaRPr lang="en-US" sz="2800" dirty="0"/>
          </a:p>
        </p:txBody>
      </p:sp>
      <p:sp>
        <p:nvSpPr>
          <p:cNvPr id="4" name="Shape 1"/>
          <p:cNvSpPr/>
          <p:nvPr/>
        </p:nvSpPr>
        <p:spPr>
          <a:xfrm>
            <a:off x="548640" y="1600200"/>
            <a:ext cx="4754880" cy="3611880"/>
          </a:xfrm>
          <a:prstGeom prst="roundRect">
            <a:avLst>
              <a:gd name="adj" fmla="val 2025"/>
            </a:avLst>
          </a:prstGeom>
          <a:solidFill>
            <a:schemeClr val="bg2"/>
          </a:solidFill>
          <a:ln w="12700">
            <a:solidFill>
              <a:schemeClr val="bg2"/>
            </a:solidFill>
            <a:prstDash val="solid"/>
          </a:ln>
        </p:spPr>
      </p:sp>
      <p:sp>
        <p:nvSpPr>
          <p:cNvPr id="5" name="Text 2"/>
          <p:cNvSpPr txBox="1"/>
          <p:nvPr/>
        </p:nvSpPr>
        <p:spPr>
          <a:xfrm>
            <a:off x="822960" y="1783080"/>
            <a:ext cx="4206240" cy="365760"/>
          </a:xfrm>
          <a:prstGeom prst="rect">
            <a:avLst/>
          </a:prstGeom>
          <a:noFill/>
          <a:ln/>
        </p:spPr>
        <p:txBody>
          <a:bodyPr wrap="square" lIns="0" tIns="0" rIns="0" bIns="0" rtlCol="0" anchor="t"/>
          <a:lstStyle/>
          <a:p>
            <a:pPr indent="0" marL="0">
              <a:buNone/>
            </a:pPr>
            <a:r>
              <a:rPr lang="en-US" sz="1700" b="1" dirty="0">
                <a:solidFill>
                  <a:schemeClr val="tx2"/>
                </a:solidFill>
              </a:rPr>
              <a:t>Qué trae cada característica</a:t>
            </a:r>
            <a:endParaRPr lang="en-US" sz="1700" dirty="0"/>
          </a:p>
        </p:txBody>
      </p:sp>
      <p:sp>
        <p:nvSpPr>
          <p:cNvPr id="6" name="Text 3"/>
          <p:cNvSpPr txBox="1"/>
          <p:nvPr/>
        </p:nvSpPr>
        <p:spPr>
          <a:xfrm>
            <a:off x="822960" y="2194560"/>
            <a:ext cx="4206240" cy="566928"/>
          </a:xfrm>
          <a:prstGeom prst="rect">
            <a:avLst/>
          </a:prstGeom>
          <a:noFill/>
          <a:ln/>
        </p:spPr>
        <p:txBody>
          <a:bodyPr wrap="square" lIns="0" tIns="0" rIns="0" bIns="0" rtlCol="0" anchor="t"/>
          <a:lstStyle/>
          <a:p>
            <a:pPr indent="0" marL="0">
              <a:buNone/>
            </a:pPr>
            <a:r>
              <a:rPr lang="en-US" sz="1200" b="1" dirty="0">
                <a:solidFill>
                  <a:schemeClr val="accent1"/>
                </a:solidFill>
              </a:rPr>
              <a:t>Quién</a:t>
            </a:r>
            <a:endParaRPr lang="en-US" sz="1200" dirty="0"/>
          </a:p>
          <a:p>
            <a:pPr indent="0" marL="0">
              <a:buNone/>
            </a:pPr>
            <a:r>
              <a:rPr lang="en-US" sz="1200" dirty="0">
                <a:solidFill>
                  <a:schemeClr val="tx1"/>
                </a:solidFill>
              </a:rPr>
              <a:t>el rol que usa lo que el agente produce</a:t>
            </a:r>
            <a:endParaRPr lang="en-US" sz="1200" dirty="0"/>
          </a:p>
        </p:txBody>
      </p:sp>
      <p:sp>
        <p:nvSpPr>
          <p:cNvPr id="7" name="Text 4"/>
          <p:cNvSpPr txBox="1"/>
          <p:nvPr/>
        </p:nvSpPr>
        <p:spPr>
          <a:xfrm>
            <a:off x="822960" y="2779776"/>
            <a:ext cx="4206240" cy="566928"/>
          </a:xfrm>
          <a:prstGeom prst="rect">
            <a:avLst/>
          </a:prstGeom>
          <a:noFill/>
          <a:ln/>
        </p:spPr>
        <p:txBody>
          <a:bodyPr wrap="square" lIns="0" tIns="0" rIns="0" bIns="0" rtlCol="0" anchor="t"/>
          <a:lstStyle/>
          <a:p>
            <a:pPr indent="0" marL="0">
              <a:buNone/>
            </a:pPr>
            <a:r>
              <a:rPr lang="en-US" sz="1200" b="1" dirty="0">
                <a:solidFill>
                  <a:schemeClr val="accent1"/>
                </a:solidFill>
              </a:rPr>
              <a:t>Qué y para qué</a:t>
            </a:r>
            <a:endParaRPr lang="en-US" sz="1200" dirty="0"/>
          </a:p>
          <a:p>
            <a:pPr indent="0" marL="0">
              <a:buNone/>
            </a:pPr>
            <a:r>
              <a:rPr lang="en-US" sz="1200" dirty="0">
                <a:solidFill>
                  <a:schemeClr val="tx1"/>
                </a:solidFill>
              </a:rPr>
              <a:t>lo que necesita y el valor que gana, en palabras del negocio</a:t>
            </a:r>
            <a:endParaRPr lang="en-US" sz="1200" dirty="0"/>
          </a:p>
        </p:txBody>
      </p:sp>
      <p:sp>
        <p:nvSpPr>
          <p:cNvPr id="8" name="Text 5"/>
          <p:cNvSpPr txBox="1"/>
          <p:nvPr/>
        </p:nvSpPr>
        <p:spPr>
          <a:xfrm>
            <a:off x="822960" y="3364992"/>
            <a:ext cx="4206240" cy="566928"/>
          </a:xfrm>
          <a:prstGeom prst="rect">
            <a:avLst/>
          </a:prstGeom>
          <a:noFill/>
          <a:ln/>
        </p:spPr>
        <p:txBody>
          <a:bodyPr wrap="square" lIns="0" tIns="0" rIns="0" bIns="0" rtlCol="0" anchor="t"/>
          <a:lstStyle/>
          <a:p>
            <a:pPr indent="0" marL="0">
              <a:buNone/>
            </a:pPr>
            <a:r>
              <a:rPr lang="en-US" sz="1200" b="1" dirty="0">
                <a:solidFill>
                  <a:schemeClr val="accent1"/>
                </a:solidFill>
              </a:rPr>
              <a:t>Criterios de aceptación</a:t>
            </a:r>
            <a:endParaRPr lang="en-US" sz="1200" dirty="0"/>
          </a:p>
          <a:p>
            <a:pPr indent="0" marL="0">
              <a:buNone/>
            </a:pPr>
            <a:r>
              <a:rPr lang="en-US" sz="1200" dirty="0">
                <a:solidFill>
                  <a:schemeClr val="tx1"/>
                </a:solidFill>
              </a:rPr>
              <a:t>cómo se sabe, al certificar, que está bien</a:t>
            </a:r>
            <a:endParaRPr lang="en-US" sz="1200" dirty="0"/>
          </a:p>
        </p:txBody>
      </p:sp>
      <p:sp>
        <p:nvSpPr>
          <p:cNvPr id="9" name="Text 6"/>
          <p:cNvSpPr txBox="1"/>
          <p:nvPr/>
        </p:nvSpPr>
        <p:spPr>
          <a:xfrm>
            <a:off x="822960" y="3950208"/>
            <a:ext cx="4206240" cy="566928"/>
          </a:xfrm>
          <a:prstGeom prst="rect">
            <a:avLst/>
          </a:prstGeom>
          <a:noFill/>
          <a:ln/>
        </p:spPr>
        <p:txBody>
          <a:bodyPr wrap="square" lIns="0" tIns="0" rIns="0" bIns="0" rtlCol="0" anchor="t"/>
          <a:lstStyle/>
          <a:p>
            <a:pPr indent="0" marL="0">
              <a:buNone/>
            </a:pPr>
            <a:r>
              <a:rPr lang="en-US" sz="1200" b="1" dirty="0">
                <a:solidFill>
                  <a:schemeClr val="accent1"/>
                </a:solidFill>
              </a:rPr>
              <a:t>Casos del golden set</a:t>
            </a:r>
            <a:endParaRPr lang="en-US" sz="1200" dirty="0"/>
          </a:p>
          <a:p>
            <a:pPr indent="0" marL="0">
              <a:buNone/>
            </a:pPr>
            <a:r>
              <a:rPr lang="en-US" sz="1200" dirty="0">
                <a:solidFill>
                  <a:schemeClr val="tx1"/>
                </a:solidFill>
              </a:rPr>
              <a:t>los ejemplos con respuesta conocida que la prueban</a:t>
            </a:r>
            <a:endParaRPr lang="en-US" sz="1200" dirty="0"/>
          </a:p>
        </p:txBody>
      </p:sp>
      <p:sp>
        <p:nvSpPr>
          <p:cNvPr id="10" name="Text 7"/>
          <p:cNvSpPr txBox="1"/>
          <p:nvPr/>
        </p:nvSpPr>
        <p:spPr>
          <a:xfrm>
            <a:off x="822960" y="4535424"/>
            <a:ext cx="4206240" cy="566928"/>
          </a:xfrm>
          <a:prstGeom prst="rect">
            <a:avLst/>
          </a:prstGeom>
          <a:noFill/>
          <a:ln/>
        </p:spPr>
        <p:txBody>
          <a:bodyPr wrap="square" lIns="0" tIns="0" rIns="0" bIns="0" rtlCol="0" anchor="t"/>
          <a:lstStyle/>
          <a:p>
            <a:pPr indent="0" marL="0">
              <a:buNone/>
            </a:pPr>
            <a:r>
              <a:rPr lang="en-US" sz="1200" b="1" dirty="0">
                <a:solidFill>
                  <a:schemeClr val="accent1"/>
                </a:solidFill>
              </a:rPr>
              <a:t>Tamaño</a:t>
            </a:r>
            <a:endParaRPr lang="en-US" sz="1200" dirty="0"/>
          </a:p>
          <a:p>
            <a:pPr indent="0" marL="0">
              <a:buNone/>
            </a:pPr>
            <a:r>
              <a:rPr lang="en-US" sz="1200" dirty="0">
                <a:solidFill>
                  <a:schemeClr val="tx1"/>
                </a:solidFill>
              </a:rPr>
              <a:t>acotada, se construye tal cual; amplia, se parte antes</a:t>
            </a:r>
            <a:endParaRPr lang="en-US" sz="1200" dirty="0"/>
          </a:p>
        </p:txBody>
      </p:sp>
      <p:sp>
        <p:nvSpPr>
          <p:cNvPr id="11" name="Shape 8"/>
          <p:cNvSpPr/>
          <p:nvPr/>
        </p:nvSpPr>
        <p:spPr>
          <a:xfrm>
            <a:off x="5577840" y="1600200"/>
            <a:ext cx="6062472" cy="3611880"/>
          </a:xfrm>
          <a:prstGeom prst="roundRect">
            <a:avLst>
              <a:gd name="adj" fmla="val 2025"/>
            </a:avLst>
          </a:prstGeom>
          <a:solidFill>
            <a:schemeClr val="accent4"/>
          </a:solidFill>
          <a:ln w="12700">
            <a:solidFill>
              <a:srgbClr val="DCD8EC"/>
            </a:solidFill>
            <a:prstDash val="solid"/>
          </a:ln>
        </p:spPr>
      </p:sp>
      <p:sp>
        <p:nvSpPr>
          <p:cNvPr id="12" name="Shape 9"/>
          <p:cNvSpPr/>
          <p:nvPr/>
        </p:nvSpPr>
        <p:spPr>
          <a:xfrm>
            <a:off x="5852160" y="1810512"/>
            <a:ext cx="3291840" cy="384048"/>
          </a:xfrm>
          <a:prstGeom prst="roundRect">
            <a:avLst>
              <a:gd name="adj" fmla="val 50000"/>
            </a:avLst>
          </a:prstGeom>
          <a:solidFill>
            <a:schemeClr val="accent1"/>
          </a:solidFill>
          <a:ln w="12700">
            <a:solidFill>
              <a:schemeClr val="accent1"/>
            </a:solidFill>
            <a:prstDash val="solid"/>
          </a:ln>
        </p:spPr>
      </p:sp>
      <p:sp>
        <p:nvSpPr>
          <p:cNvPr id="13" name="Text 10"/>
          <p:cNvSpPr txBox="1"/>
          <p:nvPr/>
        </p:nvSpPr>
        <p:spPr>
          <a:xfrm>
            <a:off x="5852160" y="1810512"/>
            <a:ext cx="3291840" cy="384048"/>
          </a:xfrm>
          <a:prstGeom prst="rect">
            <a:avLst/>
          </a:prstGeom>
          <a:noFill/>
          <a:ln/>
        </p:spPr>
        <p:txBody>
          <a:bodyPr wrap="square" lIns="0" tIns="0" rIns="0" bIns="0" rtlCol="0" anchor="ctr"/>
          <a:lstStyle/>
          <a:p>
            <a:pPr algn="ctr" indent="0" marL="0">
              <a:buNone/>
            </a:pPr>
            <a:r>
              <a:rPr lang="en-US" sz="1300" b="1" dirty="0">
                <a:solidFill>
                  <a:schemeClr val="bg1"/>
                </a:solidFill>
              </a:rPr>
              <a:t>Ejemplo · Gestor de Evaluación</a:t>
            </a:r>
            <a:endParaRPr lang="en-US" sz="1300" dirty="0"/>
          </a:p>
        </p:txBody>
      </p:sp>
      <p:sp>
        <p:nvSpPr>
          <p:cNvPr id="14" name="Text 11"/>
          <p:cNvSpPr txBox="1"/>
          <p:nvPr/>
        </p:nvSpPr>
        <p:spPr>
          <a:xfrm>
            <a:off x="5852160" y="2331720"/>
            <a:ext cx="5513832" cy="777240"/>
          </a:xfrm>
          <a:prstGeom prst="rect">
            <a:avLst/>
          </a:prstGeom>
          <a:noFill/>
          <a:ln/>
        </p:spPr>
        <p:txBody>
          <a:bodyPr wrap="square" lIns="0" tIns="0" rIns="0" bIns="0" rtlCol="0" anchor="t"/>
          <a:lstStyle/>
          <a:p>
            <a:pPr indent="0" marL="0">
              <a:buNone/>
            </a:pPr>
            <a:r>
              <a:rPr lang="en-US" sz="1500" b="1" dirty="0">
                <a:solidFill>
                  <a:schemeClr val="tx2"/>
                </a:solidFill>
              </a:rPr>
              <a:t>El evaluador de la bandeja recibe la solicitud escalada con el concepto del agente</a:t>
            </a:r>
            <a:pPr indent="0" marL="0">
              <a:buNone/>
            </a:pPr>
            <a:r>
              <a:rPr lang="en-US" sz="1500" dirty="0">
                <a:solidFill>
                  <a:schemeClr val="accent6"/>
                </a:solidFill>
              </a:rPr>
              <a:t>, para </a:t>
            </a:r>
            <a:pPr indent="0" marL="0">
              <a:buNone/>
            </a:pPr>
            <a:r>
              <a:rPr lang="en-US" sz="1500" b="1" dirty="0">
                <a:solidFill>
                  <a:schemeClr val="tx2"/>
                </a:solidFill>
              </a:rPr>
              <a:t>no empezar la revisión de cero.</a:t>
            </a:r>
            <a:endParaRPr lang="en-US" sz="1500" dirty="0"/>
          </a:p>
        </p:txBody>
      </p:sp>
      <p:sp>
        <p:nvSpPr>
          <p:cNvPr id="15" name="Text 12"/>
          <p:cNvSpPr txBox="1"/>
          <p:nvPr/>
        </p:nvSpPr>
        <p:spPr>
          <a:xfrm>
            <a:off x="5852160" y="3154680"/>
            <a:ext cx="5513832" cy="320040"/>
          </a:xfrm>
          <a:prstGeom prst="rect">
            <a:avLst/>
          </a:prstGeom>
          <a:noFill/>
          <a:ln/>
        </p:spPr>
        <p:txBody>
          <a:bodyPr wrap="square" lIns="0" tIns="0" rIns="0" bIns="0" rtlCol="0" anchor="t"/>
          <a:lstStyle/>
          <a:p>
            <a:pPr indent="0" marL="0">
              <a:buNone/>
            </a:pPr>
            <a:r>
              <a:rPr lang="en-US" sz="1400" b="1" dirty="0">
                <a:solidFill>
                  <a:schemeClr val="accent2"/>
                </a:solidFill>
              </a:rPr>
              <a:t>Criterios de aceptación</a:t>
            </a:r>
            <a:endParaRPr lang="en-US" sz="1400" dirty="0"/>
          </a:p>
        </p:txBody>
      </p:sp>
      <p:sp>
        <p:nvSpPr>
          <p:cNvPr id="16" name="Text 13"/>
          <p:cNvSpPr txBox="1"/>
          <p:nvPr/>
        </p:nvSpPr>
        <p:spPr>
          <a:xfrm>
            <a:off x="5852160" y="3474720"/>
            <a:ext cx="5513832" cy="16916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El concepto dice qué se evaluó, contra qué regla y con qué confianza.</a:t>
            </a:r>
            <a:endParaRPr lang="en-US" sz="1300" dirty="0"/>
          </a:p>
          <a:p>
            <a:pPr marL="342900" indent="-342900">
              <a:spcAft>
                <a:spcPts val="400"/>
              </a:spcAft>
              <a:buSzPct val="100000"/>
              <a:buChar char="•"/>
            </a:pPr>
            <a:r>
              <a:rPr lang="en-US" sz="1300" dirty="0">
                <a:solidFill>
                  <a:schemeClr val="tx1"/>
                </a:solidFill>
              </a:rPr>
              <a:t>Dice por qué escala; ningún caso se niega de forma automática.</a:t>
            </a:r>
            <a:endParaRPr lang="en-US" sz="1300" dirty="0"/>
          </a:p>
          <a:p>
            <a:pPr marL="342900" indent="-342900">
              <a:spcAft>
                <a:spcPts val="400"/>
              </a:spcAft>
              <a:buSzPct val="100000"/>
              <a:buChar char="•"/>
            </a:pPr>
            <a:r>
              <a:rPr lang="en-US" sz="1300" dirty="0">
                <a:solidFill>
                  <a:schemeClr val="tx1"/>
                </a:solidFill>
              </a:rPr>
              <a:t>La decisión queda en la traza con agente, versión y umbral.</a:t>
            </a:r>
            <a:endParaRPr lang="en-US" sz="1300" dirty="0"/>
          </a:p>
          <a:p>
            <a:pPr marL="342900" indent="-342900">
              <a:spcAft>
                <a:spcPts val="400"/>
              </a:spcAft>
              <a:buSzPct val="100000"/>
              <a:buChar char="•"/>
            </a:pPr>
            <a:r>
              <a:rPr lang="en-US" sz="1300" dirty="0">
                <a:solidFill>
                  <a:schemeClr val="tx1"/>
                </a:solidFill>
              </a:rPr>
              <a:t>Los casos de escalamiento del golden set pasan sin regresión.</a:t>
            </a:r>
            <a:endParaRPr lang="en-US" sz="1300" dirty="0"/>
          </a:p>
        </p:txBody>
      </p:sp>
      <p:sp>
        <p:nvSpPr>
          <p:cNvPr id="17" name="Shape 14"/>
          <p:cNvSpPr/>
          <p:nvPr/>
        </p:nvSpPr>
        <p:spPr>
          <a:xfrm>
            <a:off x="548640" y="5349240"/>
            <a:ext cx="11064240" cy="640080"/>
          </a:xfrm>
          <a:prstGeom prst="roundRect">
            <a:avLst>
              <a:gd name="adj" fmla="val 11429"/>
            </a:avLst>
          </a:prstGeom>
          <a:solidFill>
            <a:schemeClr val="bg2"/>
          </a:solidFill>
          <a:ln w="12700">
            <a:solidFill>
              <a:schemeClr val="bg2"/>
            </a:solidFill>
            <a:prstDash val="solid"/>
          </a:ln>
        </p:spPr>
      </p:sp>
      <p:sp>
        <p:nvSpPr>
          <p:cNvPr id="18" name="Text 15"/>
          <p:cNvSpPr txBox="1"/>
          <p:nvPr/>
        </p:nvSpPr>
        <p:spPr>
          <a:xfrm>
            <a:off x="822960" y="5349240"/>
            <a:ext cx="10515600" cy="640080"/>
          </a:xfrm>
          <a:prstGeom prst="rect">
            <a:avLst/>
          </a:prstGeom>
          <a:noFill/>
          <a:ln/>
        </p:spPr>
        <p:txBody>
          <a:bodyPr wrap="square" lIns="0" tIns="0" rIns="0" bIns="0" rtlCol="0" anchor="ctr"/>
          <a:lstStyle/>
          <a:p>
            <a:pPr indent="0" marL="0">
              <a:buNone/>
            </a:pPr>
            <a:r>
              <a:rPr lang="en-US" sz="1300" b="1" dirty="0">
                <a:solidFill>
                  <a:schemeClr val="tx2"/>
                </a:solidFill>
              </a:rPr>
              <a:t>El negocio trabaja hombro a hombro con el equipo. </a:t>
            </a:r>
            <a:pPr indent="0" marL="0">
              <a:buNone/>
            </a:pPr>
            <a:r>
              <a:rPr lang="en-US" sz="1300" dirty="0">
                <a:solidFill>
                  <a:schemeClr val="tx1"/>
                </a:solidFill>
              </a:rPr>
              <a:t>Como se libera con frecuencia, la característica es sobre todo una conversación constante, y el golden set mantiene la exigencia de las pruebas.</a:t>
            </a:r>
            <a:endParaRPr lang="en-US" sz="13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Las metas funcionales ordenan el backlog; las características se parten si son amplias</a:t>
            </a:r>
            <a:endParaRPr lang="en-US" sz="2800" dirty="0"/>
          </a:p>
        </p:txBody>
      </p:sp>
      <p:sp>
        <p:nvSpPr>
          <p:cNvPr id="4" name="Shape 1"/>
          <p:cNvSpPr/>
          <p:nvPr/>
        </p:nvSpPr>
        <p:spPr>
          <a:xfrm>
            <a:off x="548640" y="1600200"/>
            <a:ext cx="3383280" cy="2240280"/>
          </a:xfrm>
          <a:prstGeom prst="roundRect">
            <a:avLst>
              <a:gd name="adj" fmla="val 3265"/>
            </a:avLst>
          </a:prstGeom>
          <a:solidFill>
            <a:schemeClr val="accent4"/>
          </a:solidFill>
          <a:ln w="12700">
            <a:solidFill>
              <a:srgbClr val="DCD8EC"/>
            </a:solidFill>
            <a:prstDash val="solid"/>
          </a:ln>
        </p:spPr>
      </p:sp>
      <p:sp>
        <p:nvSpPr>
          <p:cNvPr id="5" name="Shape 2"/>
          <p:cNvSpPr/>
          <p:nvPr/>
        </p:nvSpPr>
        <p:spPr>
          <a:xfrm>
            <a:off x="777240" y="1783080"/>
            <a:ext cx="2926080" cy="457200"/>
          </a:xfrm>
          <a:prstGeom prst="roundRect">
            <a:avLst>
              <a:gd name="adj" fmla="val 12000"/>
            </a:avLst>
          </a:prstGeom>
          <a:solidFill>
            <a:schemeClr val="tx2"/>
          </a:solidFill>
          <a:ln w="12700">
            <a:solidFill>
              <a:schemeClr val="tx2"/>
            </a:solidFill>
            <a:prstDash val="solid"/>
          </a:ln>
        </p:spPr>
      </p:sp>
      <p:sp>
        <p:nvSpPr>
          <p:cNvPr id="6" name="Text 3"/>
          <p:cNvSpPr txBox="1"/>
          <p:nvPr/>
        </p:nvSpPr>
        <p:spPr>
          <a:xfrm>
            <a:off x="777240" y="1783080"/>
            <a:ext cx="2926080" cy="457200"/>
          </a:xfrm>
          <a:prstGeom prst="rect">
            <a:avLst/>
          </a:prstGeom>
          <a:noFill/>
          <a:ln/>
        </p:spPr>
        <p:txBody>
          <a:bodyPr wrap="square" lIns="0" tIns="0" rIns="0" bIns="0" rtlCol="0" anchor="ctr"/>
          <a:lstStyle/>
          <a:p>
            <a:pPr algn="ctr" indent="0" marL="0">
              <a:buNone/>
            </a:pPr>
            <a:r>
              <a:rPr lang="en-US" sz="1400" b="1" dirty="0">
                <a:solidFill>
                  <a:schemeClr val="bg1"/>
                </a:solidFill>
              </a:rPr>
              <a:t>Meta funcional</a:t>
            </a:r>
            <a:pPr algn="ctr" indent="0" marL="0">
              <a:buNone/>
            </a:pPr>
            <a:r>
              <a:rPr lang="en-US" sz="1400" dirty="0">
                <a:solidFill>
                  <a:schemeClr val="bg1"/>
                </a:solidFill>
              </a:rPr>
              <a:t>  ·  talla</a:t>
            </a:r>
            <a:endParaRPr lang="en-US" sz="1400" dirty="0"/>
          </a:p>
        </p:txBody>
      </p:sp>
      <p:sp>
        <p:nvSpPr>
          <p:cNvPr id="7" name="Text 4"/>
          <p:cNvSpPr txBox="1"/>
          <p:nvPr/>
        </p:nvSpPr>
        <p:spPr>
          <a:xfrm>
            <a:off x="777240" y="2377440"/>
            <a:ext cx="2926080" cy="1371600"/>
          </a:xfrm>
          <a:prstGeom prst="rect">
            <a:avLst/>
          </a:prstGeom>
          <a:noFill/>
          <a:ln/>
        </p:spPr>
        <p:txBody>
          <a:bodyPr wrap="square" lIns="0" tIns="0" rIns="0" bIns="0" rtlCol="0" anchor="t"/>
          <a:lstStyle/>
          <a:p>
            <a:pPr indent="0" marL="0">
              <a:buNone/>
            </a:pPr>
            <a:r>
              <a:rPr lang="en-US" sz="1400" dirty="0">
                <a:solidFill>
                  <a:schemeClr val="tx1"/>
                </a:solidFill>
              </a:rPr>
              <a:t>La talla S, M, L o XL que ya tiene cada meta funcional. Sirve para ordenar el backlog, no para planear el trabajo.</a:t>
            </a:r>
            <a:endParaRPr lang="en-US" sz="1400" dirty="0"/>
          </a:p>
        </p:txBody>
      </p:sp>
      <p:sp>
        <p:nvSpPr>
          <p:cNvPr id="8" name="Shape 5"/>
          <p:cNvSpPr/>
          <p:nvPr/>
        </p:nvSpPr>
        <p:spPr>
          <a:xfrm>
            <a:off x="4005072" y="2514600"/>
            <a:ext cx="310896" cy="411480"/>
          </a:xfrm>
          <a:prstGeom prst="rightArrow">
            <a:avLst/>
          </a:prstGeom>
          <a:solidFill>
            <a:schemeClr val="accent5"/>
          </a:solidFill>
          <a:ln w="12700">
            <a:solidFill>
              <a:schemeClr val="accent5"/>
            </a:solidFill>
            <a:prstDash val="solid"/>
          </a:ln>
        </p:spPr>
      </p:sp>
      <p:sp>
        <p:nvSpPr>
          <p:cNvPr id="9" name="Shape 6"/>
          <p:cNvSpPr/>
          <p:nvPr/>
        </p:nvSpPr>
        <p:spPr>
          <a:xfrm>
            <a:off x="4389120" y="1600200"/>
            <a:ext cx="3383280" cy="2240280"/>
          </a:xfrm>
          <a:prstGeom prst="roundRect">
            <a:avLst>
              <a:gd name="adj" fmla="val 3265"/>
            </a:avLst>
          </a:prstGeom>
          <a:solidFill>
            <a:schemeClr val="accent4"/>
          </a:solidFill>
          <a:ln w="12700">
            <a:solidFill>
              <a:srgbClr val="DCD8EC"/>
            </a:solidFill>
            <a:prstDash val="solid"/>
          </a:ln>
        </p:spPr>
      </p:sp>
      <p:sp>
        <p:nvSpPr>
          <p:cNvPr id="10" name="Shape 7"/>
          <p:cNvSpPr/>
          <p:nvPr/>
        </p:nvSpPr>
        <p:spPr>
          <a:xfrm>
            <a:off x="4617720" y="1783080"/>
            <a:ext cx="2926080" cy="457200"/>
          </a:xfrm>
          <a:prstGeom prst="roundRect">
            <a:avLst>
              <a:gd name="adj" fmla="val 12000"/>
            </a:avLst>
          </a:prstGeom>
          <a:solidFill>
            <a:schemeClr val="accent1"/>
          </a:solidFill>
          <a:ln w="12700">
            <a:solidFill>
              <a:schemeClr val="accent1"/>
            </a:solidFill>
            <a:prstDash val="solid"/>
          </a:ln>
        </p:spPr>
      </p:sp>
      <p:sp>
        <p:nvSpPr>
          <p:cNvPr id="11" name="Text 8"/>
          <p:cNvSpPr txBox="1"/>
          <p:nvPr/>
        </p:nvSpPr>
        <p:spPr>
          <a:xfrm>
            <a:off x="4617720" y="1783080"/>
            <a:ext cx="2926080" cy="457200"/>
          </a:xfrm>
          <a:prstGeom prst="rect">
            <a:avLst/>
          </a:prstGeom>
          <a:noFill/>
          <a:ln/>
        </p:spPr>
        <p:txBody>
          <a:bodyPr wrap="square" lIns="0" tIns="0" rIns="0" bIns="0" rtlCol="0" anchor="ctr"/>
          <a:lstStyle/>
          <a:p>
            <a:pPr algn="ctr" indent="0" marL="0">
              <a:buNone/>
            </a:pPr>
            <a:r>
              <a:rPr lang="en-US" sz="1400" b="1" dirty="0">
                <a:solidFill>
                  <a:schemeClr val="bg1"/>
                </a:solidFill>
              </a:rPr>
              <a:t>Características</a:t>
            </a:r>
            <a:pPr algn="ctr" indent="0" marL="0">
              <a:buNone/>
            </a:pPr>
            <a:r>
              <a:rPr lang="en-US" sz="1400" dirty="0">
                <a:solidFill>
                  <a:schemeClr val="bg1"/>
                </a:solidFill>
              </a:rPr>
              <a:t>  ·  acotadas o amplias</a:t>
            </a:r>
            <a:endParaRPr lang="en-US" sz="1400" dirty="0"/>
          </a:p>
        </p:txBody>
      </p:sp>
      <p:sp>
        <p:nvSpPr>
          <p:cNvPr id="12" name="Text 9"/>
          <p:cNvSpPr txBox="1"/>
          <p:nvPr/>
        </p:nvSpPr>
        <p:spPr>
          <a:xfrm>
            <a:off x="4617720" y="2377440"/>
            <a:ext cx="2926080" cy="1371600"/>
          </a:xfrm>
          <a:prstGeom prst="rect">
            <a:avLst/>
          </a:prstGeom>
          <a:noFill/>
          <a:ln/>
        </p:spPr>
        <p:txBody>
          <a:bodyPr wrap="square" lIns="0" tIns="0" rIns="0" bIns="0" rtlCol="0" anchor="t"/>
          <a:lstStyle/>
          <a:p>
            <a:pPr indent="0" marL="0">
              <a:buNone/>
            </a:pPr>
            <a:r>
              <a:rPr lang="en-US" sz="1400" dirty="0">
                <a:solidFill>
                  <a:schemeClr val="tx1"/>
                </a:solidFill>
              </a:rPr>
              <a:t>Se desprenden de la meta funcional con SURA. Una acotada, de no más de tres días, se construye tal cual; una amplia se parte antes de construirse.</a:t>
            </a:r>
            <a:endParaRPr lang="en-US" sz="1400" dirty="0"/>
          </a:p>
        </p:txBody>
      </p:sp>
      <p:sp>
        <p:nvSpPr>
          <p:cNvPr id="13" name="Shape 10"/>
          <p:cNvSpPr/>
          <p:nvPr/>
        </p:nvSpPr>
        <p:spPr>
          <a:xfrm>
            <a:off x="7845552" y="2514600"/>
            <a:ext cx="310896" cy="411480"/>
          </a:xfrm>
          <a:prstGeom prst="rightArrow">
            <a:avLst/>
          </a:prstGeom>
          <a:solidFill>
            <a:schemeClr val="accent5"/>
          </a:solidFill>
          <a:ln w="12700">
            <a:solidFill>
              <a:schemeClr val="accent5"/>
            </a:solidFill>
            <a:prstDash val="solid"/>
          </a:ln>
        </p:spPr>
      </p:sp>
      <p:sp>
        <p:nvSpPr>
          <p:cNvPr id="14" name="Shape 11"/>
          <p:cNvSpPr/>
          <p:nvPr/>
        </p:nvSpPr>
        <p:spPr>
          <a:xfrm>
            <a:off x="8229600" y="1600200"/>
            <a:ext cx="3383280" cy="2240280"/>
          </a:xfrm>
          <a:prstGeom prst="roundRect">
            <a:avLst>
              <a:gd name="adj" fmla="val 3265"/>
            </a:avLst>
          </a:prstGeom>
          <a:solidFill>
            <a:schemeClr val="accent4"/>
          </a:solidFill>
          <a:ln w="12700">
            <a:solidFill>
              <a:srgbClr val="DCD8EC"/>
            </a:solidFill>
            <a:prstDash val="solid"/>
          </a:ln>
        </p:spPr>
      </p:sp>
      <p:sp>
        <p:nvSpPr>
          <p:cNvPr id="15" name="Shape 12"/>
          <p:cNvSpPr/>
          <p:nvPr/>
        </p:nvSpPr>
        <p:spPr>
          <a:xfrm>
            <a:off x="8458200" y="1783080"/>
            <a:ext cx="2926080" cy="457200"/>
          </a:xfrm>
          <a:prstGeom prst="roundRect">
            <a:avLst>
              <a:gd name="adj" fmla="val 12000"/>
            </a:avLst>
          </a:prstGeom>
          <a:solidFill>
            <a:schemeClr val="accent3"/>
          </a:solidFill>
          <a:ln w="12700">
            <a:solidFill>
              <a:schemeClr val="accent3"/>
            </a:solidFill>
            <a:prstDash val="solid"/>
          </a:ln>
        </p:spPr>
      </p:sp>
      <p:sp>
        <p:nvSpPr>
          <p:cNvPr id="16" name="Text 13"/>
          <p:cNvSpPr txBox="1"/>
          <p:nvPr/>
        </p:nvSpPr>
        <p:spPr>
          <a:xfrm>
            <a:off x="8458200" y="1783080"/>
            <a:ext cx="2926080" cy="457200"/>
          </a:xfrm>
          <a:prstGeom prst="rect">
            <a:avLst/>
          </a:prstGeom>
          <a:noFill/>
          <a:ln/>
        </p:spPr>
        <p:txBody>
          <a:bodyPr wrap="square" lIns="0" tIns="0" rIns="0" bIns="0" rtlCol="0" anchor="ctr"/>
          <a:lstStyle/>
          <a:p>
            <a:pPr algn="ctr" indent="0" marL="0">
              <a:buNone/>
            </a:pPr>
            <a:r>
              <a:rPr lang="en-US" sz="1400" b="1" dirty="0">
                <a:solidFill>
                  <a:schemeClr val="bg1"/>
                </a:solidFill>
              </a:rPr>
              <a:t>Flujo</a:t>
            </a:r>
            <a:pPr algn="ctr" indent="0" marL="0">
              <a:buNone/>
            </a:pPr>
            <a:r>
              <a:rPr lang="en-US" sz="1400" dirty="0">
                <a:solidFill>
                  <a:schemeClr val="bg1"/>
                </a:solidFill>
              </a:rPr>
              <a:t>  ·  pocas a la vez</a:t>
            </a:r>
            <a:endParaRPr lang="en-US" sz="1400" dirty="0"/>
          </a:p>
        </p:txBody>
      </p:sp>
      <p:sp>
        <p:nvSpPr>
          <p:cNvPr id="17" name="Text 14"/>
          <p:cNvSpPr txBox="1"/>
          <p:nvPr/>
        </p:nvSpPr>
        <p:spPr>
          <a:xfrm>
            <a:off x="8458200" y="2377440"/>
            <a:ext cx="2926080" cy="1371600"/>
          </a:xfrm>
          <a:prstGeom prst="rect">
            <a:avLst/>
          </a:prstGeom>
          <a:noFill/>
          <a:ln/>
        </p:spPr>
        <p:txBody>
          <a:bodyPr wrap="square" lIns="0" tIns="0" rIns="0" bIns="0" rtlCol="0" anchor="t"/>
          <a:lstStyle/>
          <a:p>
            <a:pPr indent="0" marL="0">
              <a:buNone/>
            </a:pPr>
            <a:r>
              <a:rPr lang="en-US" sz="1400" dirty="0">
                <a:solidFill>
                  <a:schemeClr val="tx1"/>
                </a:solidFill>
              </a:rPr>
              <a:t>El equipo trabaja pocas características a la vez, para que cada una llegue pronto a certificación y se libere.</a:t>
            </a:r>
            <a:endParaRPr lang="en-US" sz="1400" dirty="0"/>
          </a:p>
        </p:txBody>
      </p:sp>
      <p:sp>
        <p:nvSpPr>
          <p:cNvPr id="18" name="Shape 15"/>
          <p:cNvSpPr/>
          <p:nvPr/>
        </p:nvSpPr>
        <p:spPr>
          <a:xfrm>
            <a:off x="548640" y="4069080"/>
            <a:ext cx="11064240" cy="1600200"/>
          </a:xfrm>
          <a:prstGeom prst="roundRect">
            <a:avLst>
              <a:gd name="adj" fmla="val 4571"/>
            </a:avLst>
          </a:prstGeom>
          <a:solidFill>
            <a:schemeClr val="bg2"/>
          </a:solidFill>
          <a:ln w="12700">
            <a:solidFill>
              <a:schemeClr val="bg2"/>
            </a:solidFill>
            <a:prstDash val="solid"/>
          </a:ln>
        </p:spPr>
      </p:sp>
      <p:sp>
        <p:nvSpPr>
          <p:cNvPr id="19" name="Text 16"/>
          <p:cNvSpPr txBox="1"/>
          <p:nvPr/>
        </p:nvSpPr>
        <p:spPr>
          <a:xfrm>
            <a:off x="822960" y="4206240"/>
            <a:ext cx="10515600" cy="365760"/>
          </a:xfrm>
          <a:prstGeom prst="rect">
            <a:avLst/>
          </a:prstGeom>
          <a:noFill/>
          <a:ln/>
        </p:spPr>
        <p:txBody>
          <a:bodyPr wrap="square" lIns="0" tIns="0" rIns="0" bIns="0" rtlCol="0" anchor="t"/>
          <a:lstStyle/>
          <a:p>
            <a:pPr indent="0" marL="0">
              <a:buNone/>
            </a:pPr>
            <a:r>
              <a:rPr lang="en-US" sz="1500" b="1" dirty="0">
                <a:solidFill>
                  <a:schemeClr val="accent1"/>
                </a:solidFill>
              </a:rPr>
              <a:t>Ejemplo · </a:t>
            </a:r>
            <a:pPr indent="0" marL="0">
              <a:buNone/>
            </a:pPr>
            <a:r>
              <a:rPr lang="en-US" sz="1500" b="1" dirty="0">
                <a:solidFill>
                  <a:schemeClr val="tx2"/>
                </a:solidFill>
              </a:rPr>
              <a:t>meta funcional de pertinencia médica, talla XL, en el Gestor de Evaluación</a:t>
            </a:r>
            <a:endParaRPr lang="en-US" sz="1500" dirty="0"/>
          </a:p>
        </p:txBody>
      </p:sp>
      <p:sp>
        <p:nvSpPr>
          <p:cNvPr id="20" name="Shape 17"/>
          <p:cNvSpPr/>
          <p:nvPr/>
        </p:nvSpPr>
        <p:spPr>
          <a:xfrm>
            <a:off x="822960" y="4572000"/>
            <a:ext cx="2560320" cy="1005840"/>
          </a:xfrm>
          <a:prstGeom prst="roundRect">
            <a:avLst>
              <a:gd name="adj" fmla="val 7273"/>
            </a:avLst>
          </a:prstGeom>
          <a:solidFill>
            <a:schemeClr val="bg1"/>
          </a:solidFill>
          <a:ln w="12700">
            <a:solidFill>
              <a:srgbClr val="DCD8EC"/>
            </a:solidFill>
            <a:prstDash val="solid"/>
          </a:ln>
        </p:spPr>
      </p:sp>
      <p:sp>
        <p:nvSpPr>
          <p:cNvPr id="21" name="Text 18"/>
          <p:cNvSpPr txBox="1"/>
          <p:nvPr/>
        </p:nvSpPr>
        <p:spPr>
          <a:xfrm>
            <a:off x="960120" y="4626864"/>
            <a:ext cx="2286000" cy="548640"/>
          </a:xfrm>
          <a:prstGeom prst="rect">
            <a:avLst/>
          </a:prstGeom>
          <a:noFill/>
          <a:ln/>
        </p:spPr>
        <p:txBody>
          <a:bodyPr wrap="square" lIns="0" tIns="0" rIns="0" bIns="0" rtlCol="0" anchor="ctr"/>
          <a:lstStyle/>
          <a:p>
            <a:pPr indent="0" marL="0">
              <a:buNone/>
            </a:pPr>
            <a:r>
              <a:rPr lang="en-US" sz="1300" dirty="0">
                <a:solidFill>
                  <a:schemeClr val="tx1"/>
                </a:solidFill>
              </a:rPr>
              <a:t>Coherencia entre orden e historia clínica</a:t>
            </a:r>
            <a:endParaRPr lang="en-US" sz="1300" dirty="0"/>
          </a:p>
        </p:txBody>
      </p:sp>
      <p:sp>
        <p:nvSpPr>
          <p:cNvPr id="22" name="Shape 19"/>
          <p:cNvSpPr/>
          <p:nvPr/>
        </p:nvSpPr>
        <p:spPr>
          <a:xfrm>
            <a:off x="960120" y="5212080"/>
            <a:ext cx="868680" cy="274320"/>
          </a:xfrm>
          <a:prstGeom prst="roundRect">
            <a:avLst>
              <a:gd name="adj" fmla="val 50000"/>
            </a:avLst>
          </a:prstGeom>
          <a:solidFill>
            <a:schemeClr val="tx2"/>
          </a:solidFill>
          <a:ln w="12700">
            <a:solidFill>
              <a:schemeClr val="tx2"/>
            </a:solidFill>
            <a:prstDash val="solid"/>
          </a:ln>
        </p:spPr>
      </p:sp>
      <p:sp>
        <p:nvSpPr>
          <p:cNvPr id="23" name="Text 20"/>
          <p:cNvSpPr txBox="1"/>
          <p:nvPr/>
        </p:nvSpPr>
        <p:spPr>
          <a:xfrm>
            <a:off x="960120" y="5212080"/>
            <a:ext cx="868680" cy="274320"/>
          </a:xfrm>
          <a:prstGeom prst="rect">
            <a:avLst/>
          </a:prstGeom>
          <a:noFill/>
          <a:ln/>
        </p:spPr>
        <p:txBody>
          <a:bodyPr wrap="square" lIns="0" tIns="0" rIns="0" bIns="0" rtlCol="0" anchor="ctr"/>
          <a:lstStyle/>
          <a:p>
            <a:pPr algn="ctr" indent="0" marL="0">
              <a:buNone/>
            </a:pPr>
            <a:r>
              <a:rPr lang="en-US" sz="1050" b="1" dirty="0">
                <a:solidFill>
                  <a:schemeClr val="bg1"/>
                </a:solidFill>
              </a:rPr>
              <a:t>amplia</a:t>
            </a:r>
            <a:endParaRPr lang="en-US" sz="1050" dirty="0"/>
          </a:p>
        </p:txBody>
      </p:sp>
      <p:sp>
        <p:nvSpPr>
          <p:cNvPr id="24" name="Shape 21"/>
          <p:cNvSpPr/>
          <p:nvPr/>
        </p:nvSpPr>
        <p:spPr>
          <a:xfrm>
            <a:off x="3538728" y="4572000"/>
            <a:ext cx="2560320" cy="1005840"/>
          </a:xfrm>
          <a:prstGeom prst="roundRect">
            <a:avLst>
              <a:gd name="adj" fmla="val 7273"/>
            </a:avLst>
          </a:prstGeom>
          <a:solidFill>
            <a:schemeClr val="bg1"/>
          </a:solidFill>
          <a:ln w="12700">
            <a:solidFill>
              <a:srgbClr val="DCD8EC"/>
            </a:solidFill>
            <a:prstDash val="solid"/>
          </a:ln>
        </p:spPr>
      </p:sp>
      <p:sp>
        <p:nvSpPr>
          <p:cNvPr id="25" name="Text 22"/>
          <p:cNvSpPr txBox="1"/>
          <p:nvPr/>
        </p:nvSpPr>
        <p:spPr>
          <a:xfrm>
            <a:off x="3675888" y="4626864"/>
            <a:ext cx="2286000" cy="548640"/>
          </a:xfrm>
          <a:prstGeom prst="rect">
            <a:avLst/>
          </a:prstGeom>
          <a:noFill/>
          <a:ln/>
        </p:spPr>
        <p:txBody>
          <a:bodyPr wrap="square" lIns="0" tIns="0" rIns="0" bIns="0" rtlCol="0" anchor="ctr"/>
          <a:lstStyle/>
          <a:p>
            <a:pPr indent="0" marL="0">
              <a:buNone/>
            </a:pPr>
            <a:r>
              <a:rPr lang="en-US" sz="1300" dirty="0">
                <a:solidFill>
                  <a:schemeClr val="tx1"/>
                </a:solidFill>
              </a:rPr>
              <a:t>Homologación de CUPS y CIE-10</a:t>
            </a:r>
            <a:endParaRPr lang="en-US" sz="1300" dirty="0"/>
          </a:p>
        </p:txBody>
      </p:sp>
      <p:sp>
        <p:nvSpPr>
          <p:cNvPr id="26" name="Shape 23"/>
          <p:cNvSpPr/>
          <p:nvPr/>
        </p:nvSpPr>
        <p:spPr>
          <a:xfrm>
            <a:off x="3675888" y="5212080"/>
            <a:ext cx="868680" cy="274320"/>
          </a:xfrm>
          <a:prstGeom prst="roundRect">
            <a:avLst>
              <a:gd name="adj" fmla="val 50000"/>
            </a:avLst>
          </a:prstGeom>
          <a:solidFill>
            <a:schemeClr val="accent1"/>
          </a:solidFill>
          <a:ln w="12700">
            <a:solidFill>
              <a:schemeClr val="accent1"/>
            </a:solidFill>
            <a:prstDash val="solid"/>
          </a:ln>
        </p:spPr>
      </p:sp>
      <p:sp>
        <p:nvSpPr>
          <p:cNvPr id="27" name="Text 24"/>
          <p:cNvSpPr txBox="1"/>
          <p:nvPr/>
        </p:nvSpPr>
        <p:spPr>
          <a:xfrm>
            <a:off x="3675888" y="5212080"/>
            <a:ext cx="868680" cy="274320"/>
          </a:xfrm>
          <a:prstGeom prst="rect">
            <a:avLst/>
          </a:prstGeom>
          <a:noFill/>
          <a:ln/>
        </p:spPr>
        <p:txBody>
          <a:bodyPr wrap="square" lIns="0" tIns="0" rIns="0" bIns="0" rtlCol="0" anchor="ctr"/>
          <a:lstStyle/>
          <a:p>
            <a:pPr algn="ctr" indent="0" marL="0">
              <a:buNone/>
            </a:pPr>
            <a:r>
              <a:rPr lang="en-US" sz="1050" b="1" dirty="0">
                <a:solidFill>
                  <a:schemeClr val="bg1"/>
                </a:solidFill>
              </a:rPr>
              <a:t>acotada</a:t>
            </a:r>
            <a:endParaRPr lang="en-US" sz="1050" dirty="0"/>
          </a:p>
        </p:txBody>
      </p:sp>
      <p:sp>
        <p:nvSpPr>
          <p:cNvPr id="28" name="Shape 25"/>
          <p:cNvSpPr/>
          <p:nvPr/>
        </p:nvSpPr>
        <p:spPr>
          <a:xfrm>
            <a:off x="6254496" y="4572000"/>
            <a:ext cx="2560320" cy="1005840"/>
          </a:xfrm>
          <a:prstGeom prst="roundRect">
            <a:avLst>
              <a:gd name="adj" fmla="val 7273"/>
            </a:avLst>
          </a:prstGeom>
          <a:solidFill>
            <a:schemeClr val="bg1"/>
          </a:solidFill>
          <a:ln w="12700">
            <a:solidFill>
              <a:srgbClr val="DCD8EC"/>
            </a:solidFill>
            <a:prstDash val="solid"/>
          </a:ln>
        </p:spPr>
      </p:sp>
      <p:sp>
        <p:nvSpPr>
          <p:cNvPr id="29" name="Text 26"/>
          <p:cNvSpPr txBox="1"/>
          <p:nvPr/>
        </p:nvSpPr>
        <p:spPr>
          <a:xfrm>
            <a:off x="6391656" y="4626864"/>
            <a:ext cx="2286000" cy="548640"/>
          </a:xfrm>
          <a:prstGeom prst="rect">
            <a:avLst/>
          </a:prstGeom>
          <a:noFill/>
          <a:ln/>
        </p:spPr>
        <p:txBody>
          <a:bodyPr wrap="square" lIns="0" tIns="0" rIns="0" bIns="0" rtlCol="0" anchor="ctr"/>
          <a:lstStyle/>
          <a:p>
            <a:pPr indent="0" marL="0">
              <a:buNone/>
            </a:pPr>
            <a:r>
              <a:rPr lang="en-US" sz="1300" dirty="0">
                <a:solidFill>
                  <a:schemeClr val="tx1"/>
                </a:solidFill>
              </a:rPr>
              <a:t>Score de complejidad del caso</a:t>
            </a:r>
            <a:endParaRPr lang="en-US" sz="1300" dirty="0"/>
          </a:p>
        </p:txBody>
      </p:sp>
      <p:sp>
        <p:nvSpPr>
          <p:cNvPr id="30" name="Shape 27"/>
          <p:cNvSpPr/>
          <p:nvPr/>
        </p:nvSpPr>
        <p:spPr>
          <a:xfrm>
            <a:off x="6391656" y="5212080"/>
            <a:ext cx="868680" cy="274320"/>
          </a:xfrm>
          <a:prstGeom prst="roundRect">
            <a:avLst>
              <a:gd name="adj" fmla="val 50000"/>
            </a:avLst>
          </a:prstGeom>
          <a:solidFill>
            <a:schemeClr val="accent1"/>
          </a:solidFill>
          <a:ln w="12700">
            <a:solidFill>
              <a:schemeClr val="accent1"/>
            </a:solidFill>
            <a:prstDash val="solid"/>
          </a:ln>
        </p:spPr>
      </p:sp>
      <p:sp>
        <p:nvSpPr>
          <p:cNvPr id="31" name="Text 28"/>
          <p:cNvSpPr txBox="1"/>
          <p:nvPr/>
        </p:nvSpPr>
        <p:spPr>
          <a:xfrm>
            <a:off x="6391656" y="5212080"/>
            <a:ext cx="868680" cy="274320"/>
          </a:xfrm>
          <a:prstGeom prst="rect">
            <a:avLst/>
          </a:prstGeom>
          <a:noFill/>
          <a:ln/>
        </p:spPr>
        <p:txBody>
          <a:bodyPr wrap="square" lIns="0" tIns="0" rIns="0" bIns="0" rtlCol="0" anchor="ctr"/>
          <a:lstStyle/>
          <a:p>
            <a:pPr algn="ctr" indent="0" marL="0">
              <a:buNone/>
            </a:pPr>
            <a:r>
              <a:rPr lang="en-US" sz="1050" b="1" dirty="0">
                <a:solidFill>
                  <a:schemeClr val="bg1"/>
                </a:solidFill>
              </a:rPr>
              <a:t>acotada</a:t>
            </a:r>
            <a:endParaRPr lang="en-US" sz="1050" dirty="0"/>
          </a:p>
        </p:txBody>
      </p:sp>
      <p:sp>
        <p:nvSpPr>
          <p:cNvPr id="32" name="Shape 29"/>
          <p:cNvSpPr/>
          <p:nvPr/>
        </p:nvSpPr>
        <p:spPr>
          <a:xfrm>
            <a:off x="8970264" y="4572000"/>
            <a:ext cx="2560320" cy="1005840"/>
          </a:xfrm>
          <a:prstGeom prst="roundRect">
            <a:avLst>
              <a:gd name="adj" fmla="val 7273"/>
            </a:avLst>
          </a:prstGeom>
          <a:solidFill>
            <a:schemeClr val="bg1"/>
          </a:solidFill>
          <a:ln w="12700">
            <a:solidFill>
              <a:srgbClr val="DCD8EC"/>
            </a:solidFill>
            <a:prstDash val="solid"/>
          </a:ln>
        </p:spPr>
      </p:sp>
      <p:sp>
        <p:nvSpPr>
          <p:cNvPr id="33" name="Text 30"/>
          <p:cNvSpPr txBox="1"/>
          <p:nvPr/>
        </p:nvSpPr>
        <p:spPr>
          <a:xfrm>
            <a:off x="9107424" y="4626864"/>
            <a:ext cx="2286000" cy="548640"/>
          </a:xfrm>
          <a:prstGeom prst="rect">
            <a:avLst/>
          </a:prstGeom>
          <a:noFill/>
          <a:ln/>
        </p:spPr>
        <p:txBody>
          <a:bodyPr wrap="square" lIns="0" tIns="0" rIns="0" bIns="0" rtlCol="0" anchor="ctr"/>
          <a:lstStyle/>
          <a:p>
            <a:pPr indent="0" marL="0">
              <a:buNone/>
            </a:pPr>
            <a:r>
              <a:rPr lang="en-US" sz="1300" dirty="0">
                <a:solidFill>
                  <a:schemeClr val="tx1"/>
                </a:solidFill>
              </a:rPr>
              <a:t>Concepto del agente al escalar</a:t>
            </a:r>
            <a:endParaRPr lang="en-US" sz="1300" dirty="0"/>
          </a:p>
        </p:txBody>
      </p:sp>
      <p:sp>
        <p:nvSpPr>
          <p:cNvPr id="34" name="Shape 31"/>
          <p:cNvSpPr/>
          <p:nvPr/>
        </p:nvSpPr>
        <p:spPr>
          <a:xfrm>
            <a:off x="9107424" y="5212080"/>
            <a:ext cx="868680" cy="274320"/>
          </a:xfrm>
          <a:prstGeom prst="roundRect">
            <a:avLst>
              <a:gd name="adj" fmla="val 50000"/>
            </a:avLst>
          </a:prstGeom>
          <a:solidFill>
            <a:schemeClr val="accent1"/>
          </a:solidFill>
          <a:ln w="12700">
            <a:solidFill>
              <a:schemeClr val="accent1"/>
            </a:solidFill>
            <a:prstDash val="solid"/>
          </a:ln>
        </p:spPr>
      </p:sp>
      <p:sp>
        <p:nvSpPr>
          <p:cNvPr id="35" name="Text 32"/>
          <p:cNvSpPr txBox="1"/>
          <p:nvPr/>
        </p:nvSpPr>
        <p:spPr>
          <a:xfrm>
            <a:off x="9107424" y="5212080"/>
            <a:ext cx="868680" cy="274320"/>
          </a:xfrm>
          <a:prstGeom prst="rect">
            <a:avLst/>
          </a:prstGeom>
          <a:noFill/>
          <a:ln/>
        </p:spPr>
        <p:txBody>
          <a:bodyPr wrap="square" lIns="0" tIns="0" rIns="0" bIns="0" rtlCol="0" anchor="ctr"/>
          <a:lstStyle/>
          <a:p>
            <a:pPr algn="ctr" indent="0" marL="0">
              <a:buNone/>
            </a:pPr>
            <a:r>
              <a:rPr lang="en-US" sz="1050" b="1" dirty="0">
                <a:solidFill>
                  <a:schemeClr val="bg1"/>
                </a:solidFill>
              </a:rPr>
              <a:t>acotada</a:t>
            </a:r>
            <a:endParaRPr lang="en-US" sz="1050" dirty="0"/>
          </a:p>
        </p:txBody>
      </p:sp>
      <p:sp>
        <p:nvSpPr>
          <p:cNvPr id="36" name="Text 33"/>
          <p:cNvSpPr txBox="1"/>
          <p:nvPr/>
        </p:nvSpPr>
        <p:spPr>
          <a:xfrm>
            <a:off x="548640" y="5760720"/>
            <a:ext cx="11064240" cy="548640"/>
          </a:xfrm>
          <a:prstGeom prst="rect">
            <a:avLst/>
          </a:prstGeom>
          <a:noFill/>
          <a:ln/>
        </p:spPr>
        <p:txBody>
          <a:bodyPr wrap="square" lIns="0" tIns="0" rIns="0" bIns="0" rtlCol="0" anchor="b"/>
          <a:lstStyle/>
          <a:p>
            <a:pPr indent="0" marL="0">
              <a:buNone/>
            </a:pPr>
            <a:r>
              <a:rPr lang="en-US" sz="1050" dirty="0">
                <a:solidFill>
                  <a:schemeClr val="accent6"/>
                </a:solidFill>
              </a:rPr>
              <a:t>Ilustrativo: el equipo define el tamaño de cada característica al refinarla.</a:t>
            </a:r>
            <a:endParaRPr lang="en-US" sz="1050" dirty="0"/>
          </a:p>
          <a:p>
            <a:pPr indent="0" marL="0">
              <a:buNone/>
            </a:pPr>
            <a:r>
              <a:rPr lang="en-US" sz="1050" b="1" dirty="0">
                <a:solidFill>
                  <a:schemeClr val="accent6"/>
                </a:solidFill>
              </a:rPr>
              <a:t>CIE-10: </a:t>
            </a:r>
            <a:pPr indent="0" marL="0">
              <a:buNone/>
            </a:pPr>
            <a:r>
              <a:rPr lang="en-US" sz="1050" dirty="0">
                <a:solidFill>
                  <a:schemeClr val="accent6"/>
                </a:solidFill>
              </a:rPr>
              <a:t>la clasificación internacional de diagnósticos (enfermedades). </a:t>
            </a:r>
            <a:pPr indent="0" marL="0">
              <a:buNone/>
            </a:pPr>
            <a:r>
              <a:rPr lang="en-US" sz="1050" b="1" dirty="0">
                <a:solidFill>
                  <a:schemeClr val="accent6"/>
                </a:solidFill>
              </a:rPr>
              <a:t>CUPS: </a:t>
            </a:r>
            <a:pPr indent="0" marL="0">
              <a:buNone/>
            </a:pPr>
            <a:r>
              <a:rPr lang="en-US" sz="1050" dirty="0">
                <a:solidFill>
                  <a:schemeClr val="accent6"/>
                </a:solidFill>
              </a:rPr>
              <a:t>la clasificación colombiana de procedimientos en salud.</a:t>
            </a:r>
            <a:endParaRPr lang="en-US" sz="1050" dirty="0"/>
          </a:p>
          <a:p>
            <a:pPr indent="0" marL="0">
              <a:buNone/>
            </a:pPr>
            <a:r>
              <a:rPr lang="en-US" sz="1050" b="1" dirty="0">
                <a:solidFill>
                  <a:schemeClr val="accent6"/>
                </a:solidFill>
              </a:rPr>
              <a:t>Qué hace el agente: </a:t>
            </a:r>
            <a:pPr indent="0" marL="0">
              <a:buNone/>
            </a:pPr>
            <a:r>
              <a:rPr lang="en-US" sz="1050" dirty="0">
                <a:solidFill>
                  <a:schemeClr val="accent6"/>
                </a:solidFill>
              </a:rPr>
              <a:t>revisa que los códigos de diagnóstico y de procedimiento de la orden sean coherentes entre sí.</a:t>
            </a:r>
            <a:endParaRPr lang="en-US" sz="105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Cuándo entra una característica a construcción y cuándo se da por hecha</a:t>
            </a:r>
            <a:endParaRPr lang="en-US" sz="2800" dirty="0"/>
          </a:p>
        </p:txBody>
      </p:sp>
      <p:sp>
        <p:nvSpPr>
          <p:cNvPr id="4" name="Shape 1"/>
          <p:cNvSpPr/>
          <p:nvPr/>
        </p:nvSpPr>
        <p:spPr>
          <a:xfrm>
            <a:off x="548640" y="1600200"/>
            <a:ext cx="5440680" cy="4297680"/>
          </a:xfrm>
          <a:prstGeom prst="roundRect">
            <a:avLst>
              <a:gd name="adj" fmla="val 1702"/>
            </a:avLst>
          </a:prstGeom>
          <a:solidFill>
            <a:schemeClr val="accent4"/>
          </a:solidFill>
          <a:ln w="12700">
            <a:solidFill>
              <a:srgbClr val="DCD8EC"/>
            </a:solidFill>
            <a:prstDash val="solid"/>
          </a:ln>
        </p:spPr>
      </p:sp>
      <p:sp>
        <p:nvSpPr>
          <p:cNvPr id="5" name="Shape 2"/>
          <p:cNvSpPr/>
          <p:nvPr/>
        </p:nvSpPr>
        <p:spPr>
          <a:xfrm>
            <a:off x="822960" y="1801368"/>
            <a:ext cx="3108960" cy="438912"/>
          </a:xfrm>
          <a:prstGeom prst="roundRect">
            <a:avLst>
              <a:gd name="adj" fmla="val 50000"/>
            </a:avLst>
          </a:prstGeom>
          <a:solidFill>
            <a:schemeClr val="accent1"/>
          </a:solidFill>
          <a:ln w="12700">
            <a:solidFill>
              <a:schemeClr val="accent1"/>
            </a:solidFill>
            <a:prstDash val="solid"/>
          </a:ln>
        </p:spPr>
      </p:sp>
      <p:sp>
        <p:nvSpPr>
          <p:cNvPr id="6" name="Text 3"/>
          <p:cNvSpPr txBox="1"/>
          <p:nvPr/>
        </p:nvSpPr>
        <p:spPr>
          <a:xfrm>
            <a:off x="822960" y="1801368"/>
            <a:ext cx="3108960" cy="438912"/>
          </a:xfrm>
          <a:prstGeom prst="rect">
            <a:avLst/>
          </a:prstGeom>
          <a:noFill/>
          <a:ln/>
        </p:spPr>
        <p:txBody>
          <a:bodyPr wrap="square" lIns="0" tIns="0" rIns="0" bIns="0" rtlCol="0" anchor="ctr"/>
          <a:lstStyle/>
          <a:p>
            <a:pPr algn="ctr" indent="0" marL="0">
              <a:buNone/>
            </a:pPr>
            <a:r>
              <a:rPr lang="en-US" sz="1500" b="1" dirty="0">
                <a:solidFill>
                  <a:schemeClr val="bg1"/>
                </a:solidFill>
              </a:rPr>
              <a:t>Lista para construir</a:t>
            </a:r>
            <a:endParaRPr lang="en-US" sz="1500" dirty="0"/>
          </a:p>
        </p:txBody>
      </p:sp>
      <p:sp>
        <p:nvSpPr>
          <p:cNvPr id="7" name="Text 4"/>
          <p:cNvSpPr txBox="1"/>
          <p:nvPr/>
        </p:nvSpPr>
        <p:spPr>
          <a:xfrm>
            <a:off x="822960" y="2423160"/>
            <a:ext cx="4892040" cy="3383280"/>
          </a:xfrm>
          <a:prstGeom prst="rect">
            <a:avLst/>
          </a:prstGeom>
          <a:noFill/>
          <a:ln/>
        </p:spPr>
        <p:txBody>
          <a:bodyPr wrap="square" lIns="0" tIns="0" rIns="0" bIns="0" rtlCol="0" anchor="t"/>
          <a:lstStyle/>
          <a:p>
            <a:pPr marL="342900" indent="-342900">
              <a:spcAft>
                <a:spcPts val="800"/>
              </a:spcAft>
              <a:buSzPct val="100000"/>
              <a:buChar char="•"/>
            </a:pPr>
            <a:r>
              <a:rPr lang="en-US" sz="1450" dirty="0">
                <a:solidFill>
                  <a:schemeClr val="tx1"/>
                </a:solidFill>
              </a:rPr>
              <a:t>Se definió con SURA y tiene su criterio de aceptación.</a:t>
            </a:r>
            <a:endParaRPr lang="en-US" sz="1450" dirty="0"/>
          </a:p>
          <a:p>
            <a:pPr marL="342900" indent="-342900">
              <a:spcAft>
                <a:spcPts val="800"/>
              </a:spcAft>
              <a:buSzPct val="100000"/>
              <a:buChar char="•"/>
            </a:pPr>
            <a:r>
              <a:rPr lang="en-US" sz="1450" dirty="0">
                <a:solidFill>
                  <a:schemeClr val="tx1"/>
                </a:solidFill>
              </a:rPr>
              <a:t>El contrato del agente con el gestor está acordado: qué recibe, qué entrega y cómo escala.</a:t>
            </a:r>
            <a:endParaRPr lang="en-US" sz="1450" dirty="0"/>
          </a:p>
          <a:p>
            <a:pPr marL="342900" indent="-342900">
              <a:spcAft>
                <a:spcPts val="800"/>
              </a:spcAft>
              <a:buSzPct val="100000"/>
              <a:buChar char="•"/>
            </a:pPr>
            <a:r>
              <a:rPr lang="en-US" sz="1450" dirty="0">
                <a:solidFill>
                  <a:schemeClr val="tx1"/>
                </a:solidFill>
              </a:rPr>
              <a:t>Hay una especificación mínima versionada antes de construir.</a:t>
            </a:r>
            <a:endParaRPr lang="en-US" sz="1450" dirty="0"/>
          </a:p>
          <a:p>
            <a:pPr marL="342900" indent="-342900">
              <a:spcAft>
                <a:spcPts val="800"/>
              </a:spcAft>
              <a:buSzPct val="100000"/>
              <a:buChar char="•"/>
            </a:pPr>
            <a:r>
              <a:rPr lang="en-US" sz="1450" dirty="0">
                <a:solidFill>
                  <a:schemeClr val="tx1"/>
                </a:solidFill>
              </a:rPr>
              <a:t>El golden set tiene casos que la prueban.</a:t>
            </a:r>
            <a:endParaRPr lang="en-US" sz="1450" dirty="0"/>
          </a:p>
          <a:p>
            <a:pPr marL="342900" indent="-342900">
              <a:spcAft>
                <a:spcPts val="800"/>
              </a:spcAft>
              <a:buSzPct val="100000"/>
              <a:buChar char="•"/>
            </a:pPr>
            <a:r>
              <a:rPr lang="en-US" sz="1450" dirty="0">
                <a:solidFill>
                  <a:schemeClr val="tx1"/>
                </a:solidFill>
              </a:rPr>
              <a:t>Es acotada; si es amplia, se parte.</a:t>
            </a:r>
            <a:endParaRPr lang="en-US" sz="1450" dirty="0"/>
          </a:p>
        </p:txBody>
      </p:sp>
      <p:sp>
        <p:nvSpPr>
          <p:cNvPr id="8" name="Shape 5"/>
          <p:cNvSpPr/>
          <p:nvPr/>
        </p:nvSpPr>
        <p:spPr>
          <a:xfrm>
            <a:off x="6172200" y="1600200"/>
            <a:ext cx="5440680" cy="4297680"/>
          </a:xfrm>
          <a:prstGeom prst="roundRect">
            <a:avLst>
              <a:gd name="adj" fmla="val 1702"/>
            </a:avLst>
          </a:prstGeom>
          <a:solidFill>
            <a:schemeClr val="accent4"/>
          </a:solidFill>
          <a:ln w="12700">
            <a:solidFill>
              <a:srgbClr val="DCD8EC"/>
            </a:solidFill>
            <a:prstDash val="solid"/>
          </a:ln>
        </p:spPr>
      </p:sp>
      <p:sp>
        <p:nvSpPr>
          <p:cNvPr id="9" name="Shape 6"/>
          <p:cNvSpPr/>
          <p:nvPr/>
        </p:nvSpPr>
        <p:spPr>
          <a:xfrm>
            <a:off x="6446520" y="1801368"/>
            <a:ext cx="3108960" cy="438912"/>
          </a:xfrm>
          <a:prstGeom prst="roundRect">
            <a:avLst>
              <a:gd name="adj" fmla="val 50000"/>
            </a:avLst>
          </a:prstGeom>
          <a:solidFill>
            <a:schemeClr val="accent3"/>
          </a:solidFill>
          <a:ln w="12700">
            <a:solidFill>
              <a:schemeClr val="accent3"/>
            </a:solidFill>
            <a:prstDash val="solid"/>
          </a:ln>
        </p:spPr>
      </p:sp>
      <p:sp>
        <p:nvSpPr>
          <p:cNvPr id="10" name="Text 7"/>
          <p:cNvSpPr txBox="1"/>
          <p:nvPr/>
        </p:nvSpPr>
        <p:spPr>
          <a:xfrm>
            <a:off x="6446520" y="1801368"/>
            <a:ext cx="3108960" cy="438912"/>
          </a:xfrm>
          <a:prstGeom prst="rect">
            <a:avLst/>
          </a:prstGeom>
          <a:noFill/>
          <a:ln/>
        </p:spPr>
        <p:txBody>
          <a:bodyPr wrap="square" lIns="0" tIns="0" rIns="0" bIns="0" rtlCol="0" anchor="ctr"/>
          <a:lstStyle/>
          <a:p>
            <a:pPr algn="ctr" indent="0" marL="0">
              <a:buNone/>
            </a:pPr>
            <a:r>
              <a:rPr lang="en-US" sz="1500" b="1" dirty="0">
                <a:solidFill>
                  <a:schemeClr val="bg1"/>
                </a:solidFill>
              </a:rPr>
              <a:t>Hecha</a:t>
            </a:r>
            <a:endParaRPr lang="en-US" sz="1500" dirty="0"/>
          </a:p>
        </p:txBody>
      </p:sp>
      <p:sp>
        <p:nvSpPr>
          <p:cNvPr id="11" name="Text 8"/>
          <p:cNvSpPr txBox="1"/>
          <p:nvPr/>
        </p:nvSpPr>
        <p:spPr>
          <a:xfrm>
            <a:off x="6446520" y="2423160"/>
            <a:ext cx="4892040" cy="3383280"/>
          </a:xfrm>
          <a:prstGeom prst="rect">
            <a:avLst/>
          </a:prstGeom>
          <a:noFill/>
          <a:ln/>
        </p:spPr>
        <p:txBody>
          <a:bodyPr wrap="square" lIns="0" tIns="0" rIns="0" bIns="0" rtlCol="0" anchor="t"/>
          <a:lstStyle/>
          <a:p>
            <a:pPr marL="342900" indent="-342900">
              <a:spcAft>
                <a:spcPts val="800"/>
              </a:spcAft>
              <a:buSzPct val="100000"/>
              <a:buChar char="•"/>
            </a:pPr>
            <a:r>
              <a:rPr lang="en-US" sz="1450" dirty="0">
                <a:solidFill>
                  <a:schemeClr val="tx1"/>
                </a:solidFill>
              </a:rPr>
              <a:t>Sigue el arquetipo y los lineamientos del equipo.</a:t>
            </a:r>
            <a:endParaRPr lang="en-US" sz="1450" dirty="0"/>
          </a:p>
          <a:p>
            <a:pPr marL="342900" indent="-342900">
              <a:spcAft>
                <a:spcPts val="800"/>
              </a:spcAft>
              <a:buSzPct val="100000"/>
              <a:buChar char="•"/>
            </a:pPr>
            <a:r>
              <a:rPr lang="en-US" sz="1450" dirty="0">
                <a:solidFill>
                  <a:schemeClr val="tx1"/>
                </a:solidFill>
              </a:rPr>
              <a:t>Funciona integrada al gestor o contra su simulador.</a:t>
            </a:r>
            <a:endParaRPr lang="en-US" sz="1450" dirty="0"/>
          </a:p>
          <a:p>
            <a:pPr marL="342900" indent="-342900">
              <a:spcAft>
                <a:spcPts val="800"/>
              </a:spcAft>
              <a:buSzPct val="100000"/>
              <a:buChar char="•"/>
            </a:pPr>
            <a:r>
              <a:rPr lang="en-US" sz="1450" dirty="0">
                <a:solidFill>
                  <a:schemeClr val="tx1"/>
                </a:solidFill>
              </a:rPr>
              <a:t>Deja la traza: agente, versión, prompt, umbral y confianza.</a:t>
            </a:r>
            <a:endParaRPr lang="en-US" sz="1450" dirty="0"/>
          </a:p>
          <a:p>
            <a:pPr marL="342900" indent="-342900">
              <a:spcAft>
                <a:spcPts val="800"/>
              </a:spcAft>
              <a:buSzPct val="100000"/>
              <a:buChar char="•"/>
            </a:pPr>
            <a:r>
              <a:rPr lang="en-US" sz="1450" dirty="0">
                <a:solidFill>
                  <a:schemeClr val="tx1"/>
                </a:solidFill>
              </a:rPr>
              <a:t>Su golden set corre en la compuerta sin regresión.</a:t>
            </a:r>
            <a:endParaRPr lang="en-US" sz="1450" dirty="0"/>
          </a:p>
          <a:p>
            <a:pPr marL="342900" indent="-342900">
              <a:spcAft>
                <a:spcPts val="800"/>
              </a:spcAft>
              <a:buSzPct val="100000"/>
              <a:buChar char="•"/>
            </a:pPr>
            <a:r>
              <a:rPr lang="en-US" sz="1450" dirty="0">
                <a:solidFill>
                  <a:schemeClr val="tx1"/>
                </a:solidFill>
              </a:rPr>
              <a:t>La revisó el arquitecto o una persona distinta del autor.</a:t>
            </a:r>
            <a:endParaRPr lang="en-US" sz="1450" dirty="0"/>
          </a:p>
          <a:p>
            <a:pPr marL="342900" indent="-342900">
              <a:spcAft>
                <a:spcPts val="800"/>
              </a:spcAft>
              <a:buSzPct val="100000"/>
              <a:buChar char="•"/>
            </a:pPr>
            <a:r>
              <a:rPr lang="en-US" sz="1450" dirty="0">
                <a:solidFill>
                  <a:schemeClr val="tx1"/>
                </a:solidFill>
              </a:rPr>
              <a:t>SURA la certificó en QA.</a:t>
            </a:r>
            <a:endParaRPr lang="en-US" sz="145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Después de la primera liberación, el flujo es continuo: una micro-liberación cada dos o tres días</a:t>
            </a:r>
            <a:endParaRPr lang="en-US" sz="2800" dirty="0"/>
          </a:p>
        </p:txBody>
      </p:sp>
      <p:sp>
        <p:nvSpPr>
          <p:cNvPr id="4" name="Shape 1"/>
          <p:cNvSpPr/>
          <p:nvPr/>
        </p:nvSpPr>
        <p:spPr>
          <a:xfrm>
            <a:off x="548640" y="1508760"/>
            <a:ext cx="3429000" cy="1554480"/>
          </a:xfrm>
          <a:prstGeom prst="roundRect">
            <a:avLst>
              <a:gd name="adj" fmla="val 4706"/>
            </a:avLst>
          </a:prstGeom>
          <a:solidFill>
            <a:schemeClr val="accent4"/>
          </a:solidFill>
          <a:ln w="12700">
            <a:solidFill>
              <a:srgbClr val="DCD8EC"/>
            </a:solidFill>
            <a:prstDash val="solid"/>
          </a:ln>
        </p:spPr>
      </p:sp>
      <p:sp>
        <p:nvSpPr>
          <p:cNvPr id="5" name="Shape 2"/>
          <p:cNvSpPr/>
          <p:nvPr/>
        </p:nvSpPr>
        <p:spPr>
          <a:xfrm>
            <a:off x="731520" y="1627632"/>
            <a:ext cx="3063240" cy="384048"/>
          </a:xfrm>
          <a:prstGeom prst="roundRect">
            <a:avLst>
              <a:gd name="adj" fmla="val 14286"/>
            </a:avLst>
          </a:prstGeom>
          <a:solidFill>
            <a:schemeClr val="tx2"/>
          </a:solidFill>
          <a:ln w="12700">
            <a:solidFill>
              <a:schemeClr val="tx2"/>
            </a:solidFill>
            <a:prstDash val="solid"/>
          </a:ln>
        </p:spPr>
      </p:sp>
      <p:sp>
        <p:nvSpPr>
          <p:cNvPr id="6" name="Text 3"/>
          <p:cNvSpPr txBox="1"/>
          <p:nvPr/>
        </p:nvSpPr>
        <p:spPr>
          <a:xfrm>
            <a:off x="731520" y="1627632"/>
            <a:ext cx="3063240" cy="384048"/>
          </a:xfrm>
          <a:prstGeom prst="rect">
            <a:avLst/>
          </a:prstGeom>
          <a:noFill/>
          <a:ln/>
        </p:spPr>
        <p:txBody>
          <a:bodyPr wrap="square" lIns="0" tIns="0" rIns="0" bIns="0" rtlCol="0" anchor="ctr"/>
          <a:lstStyle/>
          <a:p>
            <a:pPr algn="ctr" indent="0" marL="0">
              <a:buNone/>
            </a:pPr>
            <a:r>
              <a:rPr lang="en-US" sz="1400" b="1" dirty="0">
                <a:solidFill>
                  <a:schemeClr val="bg1"/>
                </a:solidFill>
              </a:rPr>
              <a:t>Arranque</a:t>
            </a:r>
            <a:endParaRPr lang="en-US" sz="1400" dirty="0"/>
          </a:p>
        </p:txBody>
      </p:sp>
      <p:sp>
        <p:nvSpPr>
          <p:cNvPr id="7" name="Text 4"/>
          <p:cNvSpPr txBox="1"/>
          <p:nvPr/>
        </p:nvSpPr>
        <p:spPr>
          <a:xfrm>
            <a:off x="731520" y="2103120"/>
            <a:ext cx="3063240" cy="914400"/>
          </a:xfrm>
          <a:prstGeom prst="rect">
            <a:avLst/>
          </a:prstGeom>
          <a:noFill/>
          <a:ln/>
        </p:spPr>
        <p:txBody>
          <a:bodyPr wrap="square" lIns="0" tIns="0" rIns="0" bIns="0" rtlCol="0" anchor="t"/>
          <a:lstStyle/>
          <a:p>
            <a:pPr indent="0" marL="0">
              <a:buNone/>
            </a:pPr>
            <a:r>
              <a:rPr lang="en-US" sz="1200" dirty="0">
                <a:solidFill>
                  <a:schemeClr val="tx1"/>
                </a:solidFill>
              </a:rPr>
              <a:t>Solo lo común: arquetipo, lineamientos, contrato de eventos y trazabilidad. Quedan listos los ambientes de desarrollo y de certificación (QA).</a:t>
            </a:r>
            <a:endParaRPr lang="en-US" sz="1200" dirty="0"/>
          </a:p>
        </p:txBody>
      </p:sp>
      <p:sp>
        <p:nvSpPr>
          <p:cNvPr id="8" name="Shape 5"/>
          <p:cNvSpPr/>
          <p:nvPr/>
        </p:nvSpPr>
        <p:spPr>
          <a:xfrm>
            <a:off x="4032504" y="2148840"/>
            <a:ext cx="274320" cy="365760"/>
          </a:xfrm>
          <a:prstGeom prst="rightArrow">
            <a:avLst/>
          </a:prstGeom>
          <a:solidFill>
            <a:schemeClr val="accent5"/>
          </a:solidFill>
          <a:ln w="12700">
            <a:solidFill>
              <a:schemeClr val="accent5"/>
            </a:solidFill>
            <a:prstDash val="solid"/>
          </a:ln>
        </p:spPr>
      </p:sp>
      <p:sp>
        <p:nvSpPr>
          <p:cNvPr id="9" name="Shape 6"/>
          <p:cNvSpPr/>
          <p:nvPr/>
        </p:nvSpPr>
        <p:spPr>
          <a:xfrm>
            <a:off x="4366260" y="1508760"/>
            <a:ext cx="3429000" cy="1554480"/>
          </a:xfrm>
          <a:prstGeom prst="roundRect">
            <a:avLst>
              <a:gd name="adj" fmla="val 4706"/>
            </a:avLst>
          </a:prstGeom>
          <a:solidFill>
            <a:schemeClr val="accent4"/>
          </a:solidFill>
          <a:ln w="12700">
            <a:solidFill>
              <a:srgbClr val="DCD8EC"/>
            </a:solidFill>
            <a:prstDash val="solid"/>
          </a:ln>
        </p:spPr>
      </p:sp>
      <p:sp>
        <p:nvSpPr>
          <p:cNvPr id="10" name="Shape 7"/>
          <p:cNvSpPr/>
          <p:nvPr/>
        </p:nvSpPr>
        <p:spPr>
          <a:xfrm>
            <a:off x="4549140" y="1627632"/>
            <a:ext cx="3063240" cy="384048"/>
          </a:xfrm>
          <a:prstGeom prst="roundRect">
            <a:avLst>
              <a:gd name="adj" fmla="val 14286"/>
            </a:avLst>
          </a:prstGeom>
          <a:solidFill>
            <a:schemeClr val="accent1"/>
          </a:solidFill>
          <a:ln w="12700">
            <a:solidFill>
              <a:schemeClr val="accent1"/>
            </a:solidFill>
            <a:prstDash val="solid"/>
          </a:ln>
        </p:spPr>
      </p:sp>
      <p:sp>
        <p:nvSpPr>
          <p:cNvPr id="11" name="Text 8"/>
          <p:cNvSpPr txBox="1"/>
          <p:nvPr/>
        </p:nvSpPr>
        <p:spPr>
          <a:xfrm>
            <a:off x="4549140" y="1627632"/>
            <a:ext cx="3063240" cy="384048"/>
          </a:xfrm>
          <a:prstGeom prst="rect">
            <a:avLst/>
          </a:prstGeom>
          <a:noFill/>
          <a:ln/>
        </p:spPr>
        <p:txBody>
          <a:bodyPr wrap="square" lIns="0" tIns="0" rIns="0" bIns="0" rtlCol="0" anchor="ctr"/>
          <a:lstStyle/>
          <a:p>
            <a:pPr algn="ctr" indent="0" marL="0">
              <a:buNone/>
            </a:pPr>
            <a:r>
              <a:rPr lang="en-US" sz="1400" b="1" dirty="0">
                <a:solidFill>
                  <a:schemeClr val="bg1"/>
                </a:solidFill>
              </a:rPr>
              <a:t>Primera liberación</a:t>
            </a:r>
            <a:endParaRPr lang="en-US" sz="1400" dirty="0"/>
          </a:p>
        </p:txBody>
      </p:sp>
      <p:sp>
        <p:nvSpPr>
          <p:cNvPr id="12" name="Text 9"/>
          <p:cNvSpPr txBox="1"/>
          <p:nvPr/>
        </p:nvSpPr>
        <p:spPr>
          <a:xfrm>
            <a:off x="4549140" y="2103120"/>
            <a:ext cx="3063240" cy="914400"/>
          </a:xfrm>
          <a:prstGeom prst="rect">
            <a:avLst/>
          </a:prstGeom>
          <a:noFill/>
          <a:ln/>
        </p:spPr>
        <p:txBody>
          <a:bodyPr wrap="square" lIns="0" tIns="0" rIns="0" bIns="0" rtlCol="0" anchor="t"/>
          <a:lstStyle/>
          <a:p>
            <a:pPr indent="0" marL="0">
              <a:buNone/>
            </a:pPr>
            <a:r>
              <a:rPr lang="en-US" sz="1200" dirty="0">
                <a:solidFill>
                  <a:schemeClr val="tx1"/>
                </a:solidFill>
              </a:rPr>
              <a:t>Un conjunto mínimo de características que acuerda SURA. Es el único alcance que se acuerda de antemano.</a:t>
            </a:r>
            <a:endParaRPr lang="en-US" sz="1200" dirty="0"/>
          </a:p>
        </p:txBody>
      </p:sp>
      <p:sp>
        <p:nvSpPr>
          <p:cNvPr id="13" name="Shape 10"/>
          <p:cNvSpPr/>
          <p:nvPr/>
        </p:nvSpPr>
        <p:spPr>
          <a:xfrm>
            <a:off x="7850124" y="2148840"/>
            <a:ext cx="274320" cy="365760"/>
          </a:xfrm>
          <a:prstGeom prst="rightArrow">
            <a:avLst/>
          </a:prstGeom>
          <a:solidFill>
            <a:schemeClr val="accent5"/>
          </a:solidFill>
          <a:ln w="12700">
            <a:solidFill>
              <a:schemeClr val="accent5"/>
            </a:solidFill>
            <a:prstDash val="solid"/>
          </a:ln>
        </p:spPr>
      </p:sp>
      <p:sp>
        <p:nvSpPr>
          <p:cNvPr id="14" name="Shape 11"/>
          <p:cNvSpPr/>
          <p:nvPr/>
        </p:nvSpPr>
        <p:spPr>
          <a:xfrm>
            <a:off x="8183880" y="1508760"/>
            <a:ext cx="3429000" cy="1554480"/>
          </a:xfrm>
          <a:prstGeom prst="roundRect">
            <a:avLst>
              <a:gd name="adj" fmla="val 4706"/>
            </a:avLst>
          </a:prstGeom>
          <a:solidFill>
            <a:schemeClr val="accent4"/>
          </a:solidFill>
          <a:ln w="12700">
            <a:solidFill>
              <a:srgbClr val="DCD8EC"/>
            </a:solidFill>
            <a:prstDash val="solid"/>
          </a:ln>
        </p:spPr>
      </p:sp>
      <p:sp>
        <p:nvSpPr>
          <p:cNvPr id="15" name="Shape 12"/>
          <p:cNvSpPr/>
          <p:nvPr/>
        </p:nvSpPr>
        <p:spPr>
          <a:xfrm>
            <a:off x="8366760" y="1627632"/>
            <a:ext cx="3063240" cy="384048"/>
          </a:xfrm>
          <a:prstGeom prst="roundRect">
            <a:avLst>
              <a:gd name="adj" fmla="val 14286"/>
            </a:avLst>
          </a:prstGeom>
          <a:solidFill>
            <a:schemeClr val="accent3"/>
          </a:solidFill>
          <a:ln w="12700">
            <a:solidFill>
              <a:schemeClr val="accent3"/>
            </a:solidFill>
            <a:prstDash val="solid"/>
          </a:ln>
        </p:spPr>
      </p:sp>
      <p:sp>
        <p:nvSpPr>
          <p:cNvPr id="16" name="Text 13"/>
          <p:cNvSpPr txBox="1"/>
          <p:nvPr/>
        </p:nvSpPr>
        <p:spPr>
          <a:xfrm>
            <a:off x="8366760" y="1627632"/>
            <a:ext cx="3063240" cy="384048"/>
          </a:xfrm>
          <a:prstGeom prst="rect">
            <a:avLst/>
          </a:prstGeom>
          <a:noFill/>
          <a:ln/>
        </p:spPr>
        <p:txBody>
          <a:bodyPr wrap="square" lIns="0" tIns="0" rIns="0" bIns="0" rtlCol="0" anchor="ctr"/>
          <a:lstStyle/>
          <a:p>
            <a:pPr algn="ctr" indent="0" marL="0">
              <a:buNone/>
            </a:pPr>
            <a:r>
              <a:rPr lang="en-US" sz="1400" b="1" dirty="0">
                <a:solidFill>
                  <a:schemeClr val="bg1"/>
                </a:solidFill>
              </a:rPr>
              <a:t>Flujo continuo</a:t>
            </a:r>
            <a:endParaRPr lang="en-US" sz="1400" dirty="0"/>
          </a:p>
        </p:txBody>
      </p:sp>
      <p:sp>
        <p:nvSpPr>
          <p:cNvPr id="17" name="Text 14"/>
          <p:cNvSpPr txBox="1"/>
          <p:nvPr/>
        </p:nvSpPr>
        <p:spPr>
          <a:xfrm>
            <a:off x="8366760" y="2103120"/>
            <a:ext cx="3063240" cy="914400"/>
          </a:xfrm>
          <a:prstGeom prst="rect">
            <a:avLst/>
          </a:prstGeom>
          <a:noFill/>
          <a:ln/>
        </p:spPr>
        <p:txBody>
          <a:bodyPr wrap="square" lIns="0" tIns="0" rIns="0" bIns="0" rtlCol="0" anchor="t"/>
          <a:lstStyle/>
          <a:p>
            <a:pPr indent="0" marL="0">
              <a:buNone/>
            </a:pPr>
            <a:r>
              <a:rPr lang="en-US" sz="1200" dirty="0">
                <a:solidFill>
                  <a:schemeClr val="tx1"/>
                </a:solidFill>
              </a:rPr>
              <a:t>Cada característica se libera por separado a QA, el ambiente de certificación, en micro-liberaciones cada dos o tres días.</a:t>
            </a:r>
            <a:endParaRPr lang="en-US" sz="1200" dirty="0"/>
          </a:p>
        </p:txBody>
      </p:sp>
      <p:sp>
        <p:nvSpPr>
          <p:cNvPr id="18" name="Text 15"/>
          <p:cNvSpPr txBox="1"/>
          <p:nvPr/>
        </p:nvSpPr>
        <p:spPr>
          <a:xfrm>
            <a:off x="548640" y="3200400"/>
            <a:ext cx="11064240" cy="320040"/>
          </a:xfrm>
          <a:prstGeom prst="rect">
            <a:avLst/>
          </a:prstGeom>
          <a:noFill/>
          <a:ln/>
        </p:spPr>
        <p:txBody>
          <a:bodyPr wrap="square" lIns="0" tIns="0" rIns="0" bIns="0" rtlCol="0" anchor="t"/>
          <a:lstStyle/>
          <a:p>
            <a:pPr indent="0" marL="0">
              <a:buNone/>
            </a:pPr>
            <a:r>
              <a:rPr lang="en-US" sz="1500" b="1" dirty="0">
                <a:solidFill>
                  <a:schemeClr val="tx2"/>
                </a:solidFill>
              </a:rPr>
              <a:t>Cada característica recorre las etapas sin esperar a las demás</a:t>
            </a:r>
            <a:endParaRPr lang="en-US" sz="1500" dirty="0"/>
          </a:p>
        </p:txBody>
      </p:sp>
      <p:sp>
        <p:nvSpPr>
          <p:cNvPr id="19" name="Shape 16"/>
          <p:cNvSpPr/>
          <p:nvPr/>
        </p:nvSpPr>
        <p:spPr>
          <a:xfrm>
            <a:off x="548640" y="3611880"/>
            <a:ext cx="2423160" cy="1371600"/>
          </a:xfrm>
          <a:prstGeom prst="roundRect">
            <a:avLst>
              <a:gd name="adj" fmla="val 5333"/>
            </a:avLst>
          </a:prstGeom>
          <a:solidFill>
            <a:schemeClr val="accent4"/>
          </a:solidFill>
          <a:ln w="12700">
            <a:solidFill>
              <a:srgbClr val="DCD8EC"/>
            </a:solidFill>
            <a:prstDash val="solid"/>
          </a:ln>
        </p:spPr>
      </p:sp>
      <p:sp>
        <p:nvSpPr>
          <p:cNvPr id="20" name="Shape 17"/>
          <p:cNvSpPr/>
          <p:nvPr/>
        </p:nvSpPr>
        <p:spPr>
          <a:xfrm>
            <a:off x="640080" y="3611880"/>
            <a:ext cx="2240280" cy="54864"/>
          </a:xfrm>
          <a:prstGeom prst="rect">
            <a:avLst/>
          </a:prstGeom>
          <a:solidFill>
            <a:schemeClr val="accent1"/>
          </a:solidFill>
          <a:ln w="12700">
            <a:solidFill>
              <a:schemeClr val="accent1"/>
            </a:solidFill>
            <a:prstDash val="solid"/>
          </a:ln>
        </p:spPr>
      </p:sp>
      <p:sp>
        <p:nvSpPr>
          <p:cNvPr id="21" name="Text 18"/>
          <p:cNvSpPr txBox="1"/>
          <p:nvPr/>
        </p:nvSpPr>
        <p:spPr>
          <a:xfrm>
            <a:off x="685800" y="3721608"/>
            <a:ext cx="2148840" cy="274320"/>
          </a:xfrm>
          <a:prstGeom prst="rect">
            <a:avLst/>
          </a:prstGeom>
          <a:noFill/>
          <a:ln/>
        </p:spPr>
        <p:txBody>
          <a:bodyPr wrap="square" lIns="0" tIns="0" rIns="0" bIns="0" rtlCol="0" anchor="t"/>
          <a:lstStyle/>
          <a:p>
            <a:pPr indent="0" marL="0">
              <a:buNone/>
            </a:pPr>
            <a:r>
              <a:rPr lang="en-US" sz="1400" b="1" dirty="0">
                <a:solidFill>
                  <a:schemeClr val="accent1"/>
                </a:solidFill>
              </a:rPr>
              <a:t>4 · Construcción</a:t>
            </a:r>
            <a:endParaRPr lang="en-US" sz="1400" dirty="0"/>
          </a:p>
        </p:txBody>
      </p:sp>
      <p:sp>
        <p:nvSpPr>
          <p:cNvPr id="22" name="Shape 19"/>
          <p:cNvSpPr/>
          <p:nvPr/>
        </p:nvSpPr>
        <p:spPr>
          <a:xfrm>
            <a:off x="685800" y="4023360"/>
            <a:ext cx="640080" cy="201168"/>
          </a:xfrm>
          <a:prstGeom prst="roundRect">
            <a:avLst>
              <a:gd name="adj" fmla="val 50000"/>
            </a:avLst>
          </a:prstGeom>
          <a:solidFill>
            <a:schemeClr val="accent1"/>
          </a:solidFill>
          <a:ln w="12700">
            <a:solidFill>
              <a:schemeClr val="accent1"/>
            </a:solidFill>
            <a:prstDash val="solid"/>
          </a:ln>
        </p:spPr>
      </p:sp>
      <p:sp>
        <p:nvSpPr>
          <p:cNvPr id="23" name="Text 20"/>
          <p:cNvSpPr txBox="1"/>
          <p:nvPr/>
        </p:nvSpPr>
        <p:spPr>
          <a:xfrm>
            <a:off x="685800" y="4023360"/>
            <a:ext cx="640080" cy="201168"/>
          </a:xfrm>
          <a:prstGeom prst="rect">
            <a:avLst/>
          </a:prstGeom>
          <a:noFill/>
          <a:ln/>
        </p:spPr>
        <p:txBody>
          <a:bodyPr wrap="square" lIns="0" tIns="0" rIns="0" bIns="0" rtlCol="0" anchor="ctr"/>
          <a:lstStyle/>
          <a:p>
            <a:pPr algn="ctr" indent="0" marL="0">
              <a:buNone/>
            </a:pPr>
            <a:r>
              <a:rPr lang="en-US" sz="850" b="1" dirty="0">
                <a:solidFill>
                  <a:schemeClr val="bg1"/>
                </a:solidFill>
              </a:rPr>
              <a:t>Tech</a:t>
            </a:r>
            <a:endParaRPr lang="en-US" sz="850" dirty="0"/>
          </a:p>
        </p:txBody>
      </p:sp>
      <p:sp>
        <p:nvSpPr>
          <p:cNvPr id="24" name="Text 21"/>
          <p:cNvSpPr txBox="1"/>
          <p:nvPr/>
        </p:nvSpPr>
        <p:spPr>
          <a:xfrm>
            <a:off x="685800" y="4297680"/>
            <a:ext cx="2148840" cy="640080"/>
          </a:xfrm>
          <a:prstGeom prst="rect">
            <a:avLst/>
          </a:prstGeom>
          <a:noFill/>
          <a:ln/>
        </p:spPr>
        <p:txBody>
          <a:bodyPr wrap="square" lIns="0" tIns="0" rIns="0" bIns="0" rtlCol="0" anchor="t"/>
          <a:lstStyle/>
          <a:p>
            <a:pPr indent="0" marL="0">
              <a:buNone/>
            </a:pPr>
            <a:r>
              <a:rPr lang="en-US" sz="1100" dirty="0">
                <a:solidFill>
                  <a:schemeClr val="tx1"/>
                </a:solidFill>
              </a:rPr>
              <a:t>Se implementa la característica.</a:t>
            </a:r>
            <a:endParaRPr lang="en-US" sz="1100" dirty="0"/>
          </a:p>
        </p:txBody>
      </p:sp>
      <p:sp>
        <p:nvSpPr>
          <p:cNvPr id="25" name="Shape 22"/>
          <p:cNvSpPr/>
          <p:nvPr/>
        </p:nvSpPr>
        <p:spPr>
          <a:xfrm>
            <a:off x="3063240" y="4114800"/>
            <a:ext cx="274320" cy="365760"/>
          </a:xfrm>
          <a:prstGeom prst="rightArrow">
            <a:avLst/>
          </a:prstGeom>
          <a:solidFill>
            <a:schemeClr val="accent5"/>
          </a:solidFill>
          <a:ln w="12700">
            <a:solidFill>
              <a:schemeClr val="accent5"/>
            </a:solidFill>
            <a:prstDash val="solid"/>
          </a:ln>
        </p:spPr>
      </p:sp>
      <p:sp>
        <p:nvSpPr>
          <p:cNvPr id="26" name="Shape 23"/>
          <p:cNvSpPr/>
          <p:nvPr/>
        </p:nvSpPr>
        <p:spPr>
          <a:xfrm>
            <a:off x="3429000" y="3611880"/>
            <a:ext cx="2423160" cy="1371600"/>
          </a:xfrm>
          <a:prstGeom prst="roundRect">
            <a:avLst>
              <a:gd name="adj" fmla="val 5333"/>
            </a:avLst>
          </a:prstGeom>
          <a:solidFill>
            <a:schemeClr val="accent4"/>
          </a:solidFill>
          <a:ln w="12700">
            <a:solidFill>
              <a:srgbClr val="DCD8EC"/>
            </a:solidFill>
            <a:prstDash val="solid"/>
          </a:ln>
        </p:spPr>
      </p:sp>
      <p:sp>
        <p:nvSpPr>
          <p:cNvPr id="27" name="Shape 24"/>
          <p:cNvSpPr/>
          <p:nvPr/>
        </p:nvSpPr>
        <p:spPr>
          <a:xfrm>
            <a:off x="3520440" y="3611880"/>
            <a:ext cx="2240280" cy="54864"/>
          </a:xfrm>
          <a:prstGeom prst="rect">
            <a:avLst/>
          </a:prstGeom>
          <a:solidFill>
            <a:schemeClr val="accent1"/>
          </a:solidFill>
          <a:ln w="12700">
            <a:solidFill>
              <a:schemeClr val="accent1"/>
            </a:solidFill>
            <a:prstDash val="solid"/>
          </a:ln>
        </p:spPr>
      </p:sp>
      <p:sp>
        <p:nvSpPr>
          <p:cNvPr id="28" name="Text 25"/>
          <p:cNvSpPr txBox="1"/>
          <p:nvPr/>
        </p:nvSpPr>
        <p:spPr>
          <a:xfrm>
            <a:off x="3566160" y="3721608"/>
            <a:ext cx="2148840" cy="274320"/>
          </a:xfrm>
          <a:prstGeom prst="rect">
            <a:avLst/>
          </a:prstGeom>
          <a:noFill/>
          <a:ln/>
        </p:spPr>
        <p:txBody>
          <a:bodyPr wrap="square" lIns="0" tIns="0" rIns="0" bIns="0" rtlCol="0" anchor="t"/>
          <a:lstStyle/>
          <a:p>
            <a:pPr indent="0" marL="0">
              <a:buNone/>
            </a:pPr>
            <a:r>
              <a:rPr lang="en-US" sz="1400" b="1" dirty="0">
                <a:solidFill>
                  <a:schemeClr val="accent1"/>
                </a:solidFill>
              </a:rPr>
              <a:t>5 · Verificación</a:t>
            </a:r>
            <a:endParaRPr lang="en-US" sz="1400" dirty="0"/>
          </a:p>
        </p:txBody>
      </p:sp>
      <p:sp>
        <p:nvSpPr>
          <p:cNvPr id="29" name="Shape 26"/>
          <p:cNvSpPr/>
          <p:nvPr/>
        </p:nvSpPr>
        <p:spPr>
          <a:xfrm>
            <a:off x="3566160" y="4023360"/>
            <a:ext cx="640080" cy="201168"/>
          </a:xfrm>
          <a:prstGeom prst="roundRect">
            <a:avLst>
              <a:gd name="adj" fmla="val 50000"/>
            </a:avLst>
          </a:prstGeom>
          <a:solidFill>
            <a:schemeClr val="accent1"/>
          </a:solidFill>
          <a:ln w="12700">
            <a:solidFill>
              <a:schemeClr val="accent1"/>
            </a:solidFill>
            <a:prstDash val="solid"/>
          </a:ln>
        </p:spPr>
      </p:sp>
      <p:sp>
        <p:nvSpPr>
          <p:cNvPr id="30" name="Text 27"/>
          <p:cNvSpPr txBox="1"/>
          <p:nvPr/>
        </p:nvSpPr>
        <p:spPr>
          <a:xfrm>
            <a:off x="3566160" y="4023360"/>
            <a:ext cx="640080" cy="201168"/>
          </a:xfrm>
          <a:prstGeom prst="rect">
            <a:avLst/>
          </a:prstGeom>
          <a:noFill/>
          <a:ln/>
        </p:spPr>
        <p:txBody>
          <a:bodyPr wrap="square" lIns="0" tIns="0" rIns="0" bIns="0" rtlCol="0" anchor="ctr"/>
          <a:lstStyle/>
          <a:p>
            <a:pPr algn="ctr" indent="0" marL="0">
              <a:buNone/>
            </a:pPr>
            <a:r>
              <a:rPr lang="en-US" sz="850" b="1" dirty="0">
                <a:solidFill>
                  <a:schemeClr val="bg1"/>
                </a:solidFill>
              </a:rPr>
              <a:t>Tech</a:t>
            </a:r>
            <a:endParaRPr lang="en-US" sz="850" dirty="0"/>
          </a:p>
        </p:txBody>
      </p:sp>
      <p:sp>
        <p:nvSpPr>
          <p:cNvPr id="31" name="Text 28"/>
          <p:cNvSpPr txBox="1"/>
          <p:nvPr/>
        </p:nvSpPr>
        <p:spPr>
          <a:xfrm>
            <a:off x="3566160" y="4297680"/>
            <a:ext cx="2148840" cy="640080"/>
          </a:xfrm>
          <a:prstGeom prst="rect">
            <a:avLst/>
          </a:prstGeom>
          <a:noFill/>
          <a:ln/>
        </p:spPr>
        <p:txBody>
          <a:bodyPr wrap="square" lIns="0" tIns="0" rIns="0" bIns="0" rtlCol="0" anchor="t"/>
          <a:lstStyle/>
          <a:p>
            <a:pPr indent="0" marL="0">
              <a:buNone/>
            </a:pPr>
            <a:r>
              <a:rPr lang="en-US" sz="1100" dirty="0">
                <a:solidFill>
                  <a:schemeClr val="tx1"/>
                </a:solidFill>
              </a:rPr>
              <a:t>Pruebas, golden set en la compuerta y revisión del arquitecto; Tech entrega en QA.</a:t>
            </a:r>
            <a:endParaRPr lang="en-US" sz="1100" dirty="0"/>
          </a:p>
        </p:txBody>
      </p:sp>
      <p:sp>
        <p:nvSpPr>
          <p:cNvPr id="32" name="Shape 29"/>
          <p:cNvSpPr/>
          <p:nvPr/>
        </p:nvSpPr>
        <p:spPr>
          <a:xfrm>
            <a:off x="5943600" y="4114800"/>
            <a:ext cx="274320" cy="365760"/>
          </a:xfrm>
          <a:prstGeom prst="rightArrow">
            <a:avLst/>
          </a:prstGeom>
          <a:solidFill>
            <a:schemeClr val="accent5"/>
          </a:solidFill>
          <a:ln w="12700">
            <a:solidFill>
              <a:schemeClr val="accent5"/>
            </a:solidFill>
            <a:prstDash val="solid"/>
          </a:ln>
        </p:spPr>
      </p:sp>
      <p:sp>
        <p:nvSpPr>
          <p:cNvPr id="33" name="Shape 30"/>
          <p:cNvSpPr/>
          <p:nvPr/>
        </p:nvSpPr>
        <p:spPr>
          <a:xfrm>
            <a:off x="6309360" y="3611880"/>
            <a:ext cx="2423160" cy="1371600"/>
          </a:xfrm>
          <a:prstGeom prst="roundRect">
            <a:avLst>
              <a:gd name="adj" fmla="val 5333"/>
            </a:avLst>
          </a:prstGeom>
          <a:solidFill>
            <a:schemeClr val="accent4"/>
          </a:solidFill>
          <a:ln w="12700">
            <a:solidFill>
              <a:srgbClr val="DCD8EC"/>
            </a:solidFill>
            <a:prstDash val="solid"/>
          </a:ln>
        </p:spPr>
      </p:sp>
      <p:sp>
        <p:nvSpPr>
          <p:cNvPr id="34" name="Shape 31"/>
          <p:cNvSpPr/>
          <p:nvPr/>
        </p:nvSpPr>
        <p:spPr>
          <a:xfrm>
            <a:off x="6400800" y="3611880"/>
            <a:ext cx="2240280" cy="54864"/>
          </a:xfrm>
          <a:prstGeom prst="rect">
            <a:avLst/>
          </a:prstGeom>
          <a:solidFill>
            <a:schemeClr val="accent3"/>
          </a:solidFill>
          <a:ln w="12700">
            <a:solidFill>
              <a:schemeClr val="accent3"/>
            </a:solidFill>
            <a:prstDash val="solid"/>
          </a:ln>
        </p:spPr>
      </p:sp>
      <p:sp>
        <p:nvSpPr>
          <p:cNvPr id="35" name="Text 32"/>
          <p:cNvSpPr txBox="1"/>
          <p:nvPr/>
        </p:nvSpPr>
        <p:spPr>
          <a:xfrm>
            <a:off x="6446520" y="3721608"/>
            <a:ext cx="2148840" cy="274320"/>
          </a:xfrm>
          <a:prstGeom prst="rect">
            <a:avLst/>
          </a:prstGeom>
          <a:noFill/>
          <a:ln/>
        </p:spPr>
        <p:txBody>
          <a:bodyPr wrap="square" lIns="0" tIns="0" rIns="0" bIns="0" rtlCol="0" anchor="t"/>
          <a:lstStyle/>
          <a:p>
            <a:pPr indent="0" marL="0">
              <a:buNone/>
            </a:pPr>
            <a:r>
              <a:rPr lang="en-US" sz="1400" b="1" dirty="0">
                <a:solidFill>
                  <a:schemeClr val="accent3"/>
                </a:solidFill>
              </a:rPr>
              <a:t>6 · Certificación en QA</a:t>
            </a:r>
            <a:endParaRPr lang="en-US" sz="1400" dirty="0"/>
          </a:p>
        </p:txBody>
      </p:sp>
      <p:sp>
        <p:nvSpPr>
          <p:cNvPr id="36" name="Shape 33"/>
          <p:cNvSpPr/>
          <p:nvPr/>
        </p:nvSpPr>
        <p:spPr>
          <a:xfrm>
            <a:off x="6446520" y="4023360"/>
            <a:ext cx="640080" cy="201168"/>
          </a:xfrm>
          <a:prstGeom prst="roundRect">
            <a:avLst>
              <a:gd name="adj" fmla="val 50000"/>
            </a:avLst>
          </a:prstGeom>
          <a:solidFill>
            <a:schemeClr val="accent3"/>
          </a:solidFill>
          <a:ln w="12700">
            <a:solidFill>
              <a:schemeClr val="accent3"/>
            </a:solidFill>
            <a:prstDash val="solid"/>
          </a:ln>
        </p:spPr>
      </p:sp>
      <p:sp>
        <p:nvSpPr>
          <p:cNvPr id="37" name="Text 34"/>
          <p:cNvSpPr txBox="1"/>
          <p:nvPr/>
        </p:nvSpPr>
        <p:spPr>
          <a:xfrm>
            <a:off x="6446520" y="4023360"/>
            <a:ext cx="640080" cy="201168"/>
          </a:xfrm>
          <a:prstGeom prst="rect">
            <a:avLst/>
          </a:prstGeom>
          <a:noFill/>
          <a:ln/>
        </p:spPr>
        <p:txBody>
          <a:bodyPr wrap="square" lIns="0" tIns="0" rIns="0" bIns="0" rtlCol="0" anchor="ctr"/>
          <a:lstStyle/>
          <a:p>
            <a:pPr algn="ctr" indent="0" marL="0">
              <a:buNone/>
            </a:pPr>
            <a:r>
              <a:rPr lang="en-US" sz="850" b="1" dirty="0">
                <a:solidFill>
                  <a:schemeClr val="bg1"/>
                </a:solidFill>
              </a:rPr>
              <a:t>SURA</a:t>
            </a:r>
            <a:endParaRPr lang="en-US" sz="850" dirty="0"/>
          </a:p>
        </p:txBody>
      </p:sp>
      <p:sp>
        <p:nvSpPr>
          <p:cNvPr id="38" name="Text 35"/>
          <p:cNvSpPr txBox="1"/>
          <p:nvPr/>
        </p:nvSpPr>
        <p:spPr>
          <a:xfrm>
            <a:off x="6446520" y="4297680"/>
            <a:ext cx="2148840" cy="640080"/>
          </a:xfrm>
          <a:prstGeom prst="rect">
            <a:avLst/>
          </a:prstGeom>
          <a:noFill/>
          <a:ln/>
        </p:spPr>
        <p:txBody>
          <a:bodyPr wrap="square" lIns="0" tIns="0" rIns="0" bIns="0" rtlCol="0" anchor="t"/>
          <a:lstStyle/>
          <a:p>
            <a:pPr indent="0" marL="0">
              <a:buNone/>
            </a:pPr>
            <a:r>
              <a:rPr lang="en-US" sz="1100" dirty="0">
                <a:solidFill>
                  <a:schemeClr val="tx1"/>
                </a:solidFill>
              </a:rPr>
              <a:t>SURA prueba y certifica en QA, con acuerdos de servicio de certificación que define SURA.</a:t>
            </a:r>
            <a:endParaRPr lang="en-US" sz="1100" dirty="0"/>
          </a:p>
        </p:txBody>
      </p:sp>
      <p:sp>
        <p:nvSpPr>
          <p:cNvPr id="39" name="Shape 36"/>
          <p:cNvSpPr/>
          <p:nvPr/>
        </p:nvSpPr>
        <p:spPr>
          <a:xfrm>
            <a:off x="8823960" y="4114800"/>
            <a:ext cx="274320" cy="365760"/>
          </a:xfrm>
          <a:prstGeom prst="rightArrow">
            <a:avLst/>
          </a:prstGeom>
          <a:solidFill>
            <a:schemeClr val="accent5"/>
          </a:solidFill>
          <a:ln w="12700">
            <a:solidFill>
              <a:schemeClr val="accent5"/>
            </a:solidFill>
            <a:prstDash val="solid"/>
          </a:ln>
        </p:spPr>
      </p:sp>
      <p:sp>
        <p:nvSpPr>
          <p:cNvPr id="40" name="Shape 37"/>
          <p:cNvSpPr/>
          <p:nvPr/>
        </p:nvSpPr>
        <p:spPr>
          <a:xfrm>
            <a:off x="9189720" y="3611880"/>
            <a:ext cx="2423160" cy="1371600"/>
          </a:xfrm>
          <a:prstGeom prst="roundRect">
            <a:avLst>
              <a:gd name="adj" fmla="val 5333"/>
            </a:avLst>
          </a:prstGeom>
          <a:solidFill>
            <a:schemeClr val="accent4"/>
          </a:solidFill>
          <a:ln w="12700">
            <a:solidFill>
              <a:srgbClr val="DCD8EC"/>
            </a:solidFill>
            <a:prstDash val="solid"/>
          </a:ln>
        </p:spPr>
      </p:sp>
      <p:sp>
        <p:nvSpPr>
          <p:cNvPr id="41" name="Shape 38"/>
          <p:cNvSpPr/>
          <p:nvPr/>
        </p:nvSpPr>
        <p:spPr>
          <a:xfrm>
            <a:off x="9281160" y="3611880"/>
            <a:ext cx="2240280" cy="54864"/>
          </a:xfrm>
          <a:prstGeom prst="rect">
            <a:avLst/>
          </a:prstGeom>
          <a:solidFill>
            <a:schemeClr val="accent2"/>
          </a:solidFill>
          <a:ln w="12700">
            <a:solidFill>
              <a:schemeClr val="accent2"/>
            </a:solidFill>
            <a:prstDash val="solid"/>
          </a:ln>
        </p:spPr>
      </p:sp>
      <p:sp>
        <p:nvSpPr>
          <p:cNvPr id="42" name="Text 39"/>
          <p:cNvSpPr txBox="1"/>
          <p:nvPr/>
        </p:nvSpPr>
        <p:spPr>
          <a:xfrm>
            <a:off x="9326880" y="3721608"/>
            <a:ext cx="2148840" cy="274320"/>
          </a:xfrm>
          <a:prstGeom prst="rect">
            <a:avLst/>
          </a:prstGeom>
          <a:noFill/>
          <a:ln/>
        </p:spPr>
        <p:txBody>
          <a:bodyPr wrap="square" lIns="0" tIns="0" rIns="0" bIns="0" rtlCol="0" anchor="t"/>
          <a:lstStyle/>
          <a:p>
            <a:pPr indent="0" marL="0">
              <a:buNone/>
            </a:pPr>
            <a:r>
              <a:rPr lang="en-US" sz="1400" b="1" dirty="0">
                <a:solidFill>
                  <a:schemeClr val="accent2"/>
                </a:solidFill>
              </a:rPr>
              <a:t>7 · Liberada</a:t>
            </a:r>
            <a:endParaRPr lang="en-US" sz="1400" dirty="0"/>
          </a:p>
        </p:txBody>
      </p:sp>
      <p:sp>
        <p:nvSpPr>
          <p:cNvPr id="43" name="Shape 40"/>
          <p:cNvSpPr/>
          <p:nvPr/>
        </p:nvSpPr>
        <p:spPr>
          <a:xfrm>
            <a:off x="9326880" y="4023360"/>
            <a:ext cx="1005840" cy="201168"/>
          </a:xfrm>
          <a:prstGeom prst="roundRect">
            <a:avLst>
              <a:gd name="adj" fmla="val 50000"/>
            </a:avLst>
          </a:prstGeom>
          <a:solidFill>
            <a:schemeClr val="accent2"/>
          </a:solidFill>
          <a:ln w="12700">
            <a:solidFill>
              <a:schemeClr val="accent2"/>
            </a:solidFill>
            <a:prstDash val="solid"/>
          </a:ln>
        </p:spPr>
      </p:sp>
      <p:sp>
        <p:nvSpPr>
          <p:cNvPr id="44" name="Text 41"/>
          <p:cNvSpPr txBox="1"/>
          <p:nvPr/>
        </p:nvSpPr>
        <p:spPr>
          <a:xfrm>
            <a:off x="9326880" y="4023360"/>
            <a:ext cx="1005840" cy="201168"/>
          </a:xfrm>
          <a:prstGeom prst="rect">
            <a:avLst/>
          </a:prstGeom>
          <a:noFill/>
          <a:ln/>
        </p:spPr>
        <p:txBody>
          <a:bodyPr wrap="square" lIns="0" tIns="0" rIns="0" bIns="0" rtlCol="0" anchor="ctr"/>
          <a:lstStyle/>
          <a:p>
            <a:pPr algn="ctr" indent="0" marL="0">
              <a:buNone/>
            </a:pPr>
            <a:r>
              <a:rPr lang="en-US" sz="850" b="1" dirty="0">
                <a:solidFill>
                  <a:schemeClr val="bg1"/>
                </a:solidFill>
              </a:rPr>
              <a:t>SURA + Tech</a:t>
            </a:r>
            <a:endParaRPr lang="en-US" sz="850" dirty="0"/>
          </a:p>
        </p:txBody>
      </p:sp>
      <p:sp>
        <p:nvSpPr>
          <p:cNvPr id="45" name="Text 42"/>
          <p:cNvSpPr txBox="1"/>
          <p:nvPr/>
        </p:nvSpPr>
        <p:spPr>
          <a:xfrm>
            <a:off x="9326880" y="4297680"/>
            <a:ext cx="2148840" cy="640080"/>
          </a:xfrm>
          <a:prstGeom prst="rect">
            <a:avLst/>
          </a:prstGeom>
          <a:noFill/>
          <a:ln/>
        </p:spPr>
        <p:txBody>
          <a:bodyPr wrap="square" lIns="0" tIns="0" rIns="0" bIns="0" rtlCol="0" anchor="t"/>
          <a:lstStyle/>
          <a:p>
            <a:pPr indent="0" marL="0">
              <a:buNone/>
            </a:pPr>
            <a:r>
              <a:rPr lang="en-US" sz="1100" dirty="0">
                <a:solidFill>
                  <a:schemeClr val="tx1"/>
                </a:solidFill>
              </a:rPr>
              <a:t>SURA decide cuándo se activa y Tech despliega; lo certificado puede esperar su momento.</a:t>
            </a:r>
            <a:endParaRPr lang="en-US" sz="1100" dirty="0"/>
          </a:p>
        </p:txBody>
      </p:sp>
      <p:sp>
        <p:nvSpPr>
          <p:cNvPr id="46" name="Shape 43"/>
          <p:cNvSpPr/>
          <p:nvPr/>
        </p:nvSpPr>
        <p:spPr>
          <a:xfrm>
            <a:off x="548640" y="5166360"/>
            <a:ext cx="5440680" cy="777240"/>
          </a:xfrm>
          <a:prstGeom prst="roundRect">
            <a:avLst>
              <a:gd name="adj" fmla="val 9412"/>
            </a:avLst>
          </a:prstGeom>
          <a:solidFill>
            <a:schemeClr val="bg2"/>
          </a:solidFill>
          <a:ln w="12700">
            <a:solidFill>
              <a:schemeClr val="bg2"/>
            </a:solidFill>
            <a:prstDash val="solid"/>
          </a:ln>
        </p:spPr>
      </p:sp>
      <p:sp>
        <p:nvSpPr>
          <p:cNvPr id="47" name="Text 44"/>
          <p:cNvSpPr txBox="1"/>
          <p:nvPr/>
        </p:nvSpPr>
        <p:spPr>
          <a:xfrm>
            <a:off x="777240" y="5166360"/>
            <a:ext cx="4983480" cy="777240"/>
          </a:xfrm>
          <a:prstGeom prst="rect">
            <a:avLst/>
          </a:prstGeom>
          <a:noFill/>
          <a:ln/>
        </p:spPr>
        <p:txBody>
          <a:bodyPr wrap="square" lIns="0" tIns="0" rIns="0" bIns="0" rtlCol="0" anchor="ctr"/>
          <a:lstStyle/>
          <a:p>
            <a:pPr indent="0" marL="0">
              <a:buNone/>
            </a:pPr>
            <a:r>
              <a:rPr lang="en-US" sz="1200" b="1" dirty="0">
                <a:solidFill>
                  <a:schemeClr val="tx2"/>
                </a:solidFill>
              </a:rPr>
              <a:t>Mejora continua, transversal. </a:t>
            </a:r>
            <a:pPr indent="0" marL="0">
              <a:buNone/>
            </a:pPr>
            <a:r>
              <a:rPr lang="en-US" sz="1200" dirty="0">
                <a:solidFill>
                  <a:schemeClr val="tx1"/>
                </a:solidFill>
              </a:rPr>
              <a:t>El arquitecto la lleva en lo técnico y en la alineación con el negocio de SURA.</a:t>
            </a:r>
            <a:endParaRPr lang="en-US" sz="1200" dirty="0"/>
          </a:p>
        </p:txBody>
      </p:sp>
      <p:sp>
        <p:nvSpPr>
          <p:cNvPr id="48" name="Shape 45"/>
          <p:cNvSpPr/>
          <p:nvPr/>
        </p:nvSpPr>
        <p:spPr>
          <a:xfrm>
            <a:off x="6172200" y="5166360"/>
            <a:ext cx="5440680" cy="777240"/>
          </a:xfrm>
          <a:prstGeom prst="roundRect">
            <a:avLst>
              <a:gd name="adj" fmla="val 9412"/>
            </a:avLst>
          </a:prstGeom>
          <a:solidFill>
            <a:schemeClr val="bg2"/>
          </a:solidFill>
          <a:ln w="12700">
            <a:solidFill>
              <a:schemeClr val="bg2"/>
            </a:solidFill>
            <a:prstDash val="solid"/>
          </a:ln>
        </p:spPr>
      </p:sp>
      <p:sp>
        <p:nvSpPr>
          <p:cNvPr id="49" name="Text 46"/>
          <p:cNvSpPr txBox="1"/>
          <p:nvPr/>
        </p:nvSpPr>
        <p:spPr>
          <a:xfrm>
            <a:off x="6400800" y="5166360"/>
            <a:ext cx="4983480" cy="777240"/>
          </a:xfrm>
          <a:prstGeom prst="rect">
            <a:avLst/>
          </a:prstGeom>
          <a:noFill/>
          <a:ln/>
        </p:spPr>
        <p:txBody>
          <a:bodyPr wrap="square" lIns="0" tIns="0" rIns="0" bIns="0" rtlCol="0" anchor="ctr"/>
          <a:lstStyle/>
          <a:p>
            <a:pPr indent="0" marL="0">
              <a:buNone/>
            </a:pPr>
            <a:r>
              <a:rPr lang="en-US" sz="1200" b="1" dirty="0">
                <a:solidFill>
                  <a:schemeClr val="tx2"/>
                </a:solidFill>
              </a:rPr>
              <a:t>Soporte, un rol del equipo. </a:t>
            </a:r>
            <a:pPr indent="0" marL="0">
              <a:buNone/>
            </a:pPr>
            <a:r>
              <a:rPr lang="en-US" sz="1200" dirty="0">
                <a:solidFill>
                  <a:schemeClr val="tx1"/>
                </a:solidFill>
              </a:rPr>
              <a:t>Una persona a media jornada atiende lo que ya opera, sin interrumpir la creación de nuevas características.</a:t>
            </a:r>
            <a:endParaRPr lang="en-US" sz="1200" dirty="0"/>
          </a:p>
        </p:txBody>
      </p:sp>
      <p:sp>
        <p:nvSpPr>
          <p:cNvPr id="50" name="Text 47"/>
          <p:cNvSpPr txBox="1"/>
          <p:nvPr/>
        </p:nvSpPr>
        <p:spPr>
          <a:xfrm>
            <a:off x="6400800" y="6382512"/>
            <a:ext cx="1371600" cy="320040"/>
          </a:xfrm>
          <a:prstGeom prst="rect">
            <a:avLst/>
          </a:prstGeom>
          <a:noFill/>
          <a:ln/>
        </p:spPr>
        <p:txBody>
          <a:bodyPr wrap="square" lIns="0" tIns="0" rIns="0" bIns="0" rtlCol="0" anchor="ctr"/>
          <a:lstStyle/>
          <a:p>
            <a:pPr indent="0" marL="0">
              <a:buNone/>
            </a:pPr>
            <a:r>
              <a:rPr lang="en-US" sz="1000" b="1" dirty="0">
                <a:solidFill>
                  <a:schemeClr val="tx2"/>
                </a:solidFill>
              </a:rPr>
              <a:t>Quién participa:</a:t>
            </a:r>
            <a:endParaRPr lang="en-US" sz="1000" dirty="0"/>
          </a:p>
        </p:txBody>
      </p:sp>
      <p:sp>
        <p:nvSpPr>
          <p:cNvPr id="51" name="Shape 48"/>
          <p:cNvSpPr/>
          <p:nvPr/>
        </p:nvSpPr>
        <p:spPr>
          <a:xfrm>
            <a:off x="7818120" y="6473952"/>
            <a:ext cx="274320" cy="137160"/>
          </a:xfrm>
          <a:prstGeom prst="roundRect">
            <a:avLst>
              <a:gd name="adj" fmla="val 26667"/>
            </a:avLst>
          </a:prstGeom>
          <a:solidFill>
            <a:schemeClr val="accent3"/>
          </a:solidFill>
          <a:ln w="12700">
            <a:solidFill>
              <a:schemeClr val="accent3"/>
            </a:solidFill>
            <a:prstDash val="solid"/>
          </a:ln>
        </p:spPr>
      </p:sp>
      <p:sp>
        <p:nvSpPr>
          <p:cNvPr id="52" name="Text 49"/>
          <p:cNvSpPr txBox="1"/>
          <p:nvPr/>
        </p:nvSpPr>
        <p:spPr>
          <a:xfrm>
            <a:off x="8165592" y="6382512"/>
            <a:ext cx="822960" cy="320040"/>
          </a:xfrm>
          <a:prstGeom prst="rect">
            <a:avLst/>
          </a:prstGeom>
          <a:noFill/>
          <a:ln/>
        </p:spPr>
        <p:txBody>
          <a:bodyPr wrap="square" lIns="0" tIns="0" rIns="0" bIns="0" rtlCol="0" anchor="ctr"/>
          <a:lstStyle/>
          <a:p>
            <a:pPr indent="0" marL="0">
              <a:buNone/>
            </a:pPr>
            <a:r>
              <a:rPr lang="en-US" sz="1000" dirty="0">
                <a:solidFill>
                  <a:schemeClr val="accent6"/>
                </a:solidFill>
              </a:rPr>
              <a:t>SURA</a:t>
            </a:r>
            <a:endParaRPr lang="en-US" sz="1000" dirty="0"/>
          </a:p>
        </p:txBody>
      </p:sp>
      <p:sp>
        <p:nvSpPr>
          <p:cNvPr id="53" name="Shape 50"/>
          <p:cNvSpPr/>
          <p:nvPr/>
        </p:nvSpPr>
        <p:spPr>
          <a:xfrm>
            <a:off x="8732520" y="6473952"/>
            <a:ext cx="274320" cy="137160"/>
          </a:xfrm>
          <a:prstGeom prst="roundRect">
            <a:avLst>
              <a:gd name="adj" fmla="val 26667"/>
            </a:avLst>
          </a:prstGeom>
          <a:solidFill>
            <a:schemeClr val="accent1"/>
          </a:solidFill>
          <a:ln w="12700">
            <a:solidFill>
              <a:schemeClr val="accent1"/>
            </a:solidFill>
            <a:prstDash val="solid"/>
          </a:ln>
        </p:spPr>
      </p:sp>
      <p:sp>
        <p:nvSpPr>
          <p:cNvPr id="54" name="Text 51"/>
          <p:cNvSpPr txBox="1"/>
          <p:nvPr/>
        </p:nvSpPr>
        <p:spPr>
          <a:xfrm>
            <a:off x="9079992" y="6382512"/>
            <a:ext cx="822960" cy="320040"/>
          </a:xfrm>
          <a:prstGeom prst="rect">
            <a:avLst/>
          </a:prstGeom>
          <a:noFill/>
          <a:ln/>
        </p:spPr>
        <p:txBody>
          <a:bodyPr wrap="square" lIns="0" tIns="0" rIns="0" bIns="0" rtlCol="0" anchor="ctr"/>
          <a:lstStyle/>
          <a:p>
            <a:pPr indent="0" marL="0">
              <a:buNone/>
            </a:pPr>
            <a:r>
              <a:rPr lang="en-US" sz="1000" dirty="0">
                <a:solidFill>
                  <a:schemeClr val="accent6"/>
                </a:solidFill>
              </a:rPr>
              <a:t>Tech</a:t>
            </a:r>
            <a:endParaRPr lang="en-US" sz="1000" dirty="0"/>
          </a:p>
        </p:txBody>
      </p:sp>
      <p:sp>
        <p:nvSpPr>
          <p:cNvPr id="55" name="Shape 52"/>
          <p:cNvSpPr/>
          <p:nvPr/>
        </p:nvSpPr>
        <p:spPr>
          <a:xfrm>
            <a:off x="9555480" y="6473952"/>
            <a:ext cx="274320" cy="137160"/>
          </a:xfrm>
          <a:prstGeom prst="roundRect">
            <a:avLst>
              <a:gd name="adj" fmla="val 26667"/>
            </a:avLst>
          </a:prstGeom>
          <a:solidFill>
            <a:schemeClr val="accent2"/>
          </a:solidFill>
          <a:ln w="12700">
            <a:solidFill>
              <a:schemeClr val="accent2"/>
            </a:solidFill>
            <a:prstDash val="solid"/>
          </a:ln>
        </p:spPr>
      </p:sp>
      <p:sp>
        <p:nvSpPr>
          <p:cNvPr id="56" name="Text 53"/>
          <p:cNvSpPr txBox="1"/>
          <p:nvPr/>
        </p:nvSpPr>
        <p:spPr>
          <a:xfrm>
            <a:off x="9902952" y="6382512"/>
            <a:ext cx="1188720" cy="320040"/>
          </a:xfrm>
          <a:prstGeom prst="rect">
            <a:avLst/>
          </a:prstGeom>
          <a:noFill/>
          <a:ln/>
        </p:spPr>
        <p:txBody>
          <a:bodyPr wrap="square" lIns="0" tIns="0" rIns="0" bIns="0" rtlCol="0" anchor="ctr"/>
          <a:lstStyle/>
          <a:p>
            <a:pPr indent="0" marL="0">
              <a:buNone/>
            </a:pPr>
            <a:r>
              <a:rPr lang="en-US" sz="1000" dirty="0">
                <a:solidFill>
                  <a:schemeClr val="accent6"/>
                </a:solidFill>
              </a:rPr>
              <a:t>Los dos</a:t>
            </a:r>
            <a:endParaRPr lang="en-US" sz="10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Qué hace cada quien en cada momento</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1737360"/>
                <a:gridCol w="3017520"/>
                <a:gridCol w="3017520"/>
                <a:gridCol w="3291840"/>
              </a:tblGrid>
              <a:tr h="310896">
                <a:tc rowSpan="2">
                  <a:txBody>
                    <a:bodyPr/>
                    <a:lstStyle/>
                    <a:p>
                      <a:pPr indent="0" marL="0">
                        <a:buNone/>
                      </a:pPr>
                      <a:r>
                        <a:rPr lang="en-US" sz="1200" b="1" dirty="0">
                          <a:solidFill>
                            <a:schemeClr val="bg1"/>
                          </a:solidFill>
                        </a:rPr>
                        <a:t>Momento</a:t>
                      </a:r>
                      <a:endParaRPr lang="en-US" sz="1200" dirty="0"/>
                    </a:p>
                  </a:txBody>
                  <a:tcPr marL="91440" marR="91440" marT="45720" marB="45720" anchor="b">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gridSpan="2">
                  <a:txBody>
                    <a:bodyPr/>
                    <a:lstStyle/>
                    <a:p>
                      <a:pPr algn="ctr" indent="0" marL="0">
                        <a:buNone/>
                      </a:pPr>
                      <a:r>
                        <a:rPr lang="en-US" sz="1200" b="1" dirty="0">
                          <a:solidFill>
                            <a:schemeClr val="bg1"/>
                          </a:solidFill>
                        </a:rPr>
                        <a:t>Equipo tech · Tech and Solve</a:t>
                      </a:r>
                      <a:endParaRPr lang="en-US" sz="12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1"/>
                    </a:solidFill>
                  </a:tcPr>
                </a:tc>
                <a:tc hMerge="1">
                  <a:tcPr/>
                </a:tc>
                <a:tc>
                  <a:txBody>
                    <a:bodyPr/>
                    <a:lstStyle/>
                    <a:p>
                      <a:pPr algn="ctr" indent="0" marL="0">
                        <a:buNone/>
                      </a:pPr>
                      <a:r>
                        <a:rPr lang="en-US" sz="1200" b="1" dirty="0">
                          <a:solidFill>
                            <a:schemeClr val="bg1"/>
                          </a:solidFill>
                        </a:rPr>
                        <a:t>Equipo SURA</a:t>
                      </a:r>
                      <a:endParaRPr lang="en-US" sz="12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3"/>
                    </a:solidFill>
                  </a:tcPr>
                </a:tc>
              </a:tr>
              <a:tr h="310896">
                <a:tc vMerge="1">
                  <a:tcPr/>
                </a:tc>
                <a:tc>
                  <a:txBody>
                    <a:bodyPr/>
                    <a:lstStyle/>
                    <a:p>
                      <a:pPr indent="0" marL="0">
                        <a:buNone/>
                      </a:pPr>
                      <a:r>
                        <a:rPr lang="en-US" sz="1200" b="1" dirty="0">
                          <a:solidFill>
                            <a:schemeClr val="bg1"/>
                          </a:solidFill>
                        </a:rPr>
                        <a:t>Arquitecto</a:t>
                      </a:r>
                      <a:endParaRPr lang="en-US" sz="12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Desarrolladores</a:t>
                      </a:r>
                      <a:endParaRPr lang="en-US" sz="12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Product Owner, negocio y arquitectura</a:t>
                      </a:r>
                      <a:endParaRPr lang="en-US" sz="12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3"/>
                    </a:solidFill>
                  </a:tcPr>
                </a:tc>
              </a:tr>
              <a:tr h="457200">
                <a:tc>
                  <a:txBody>
                    <a:bodyPr/>
                    <a:lstStyle/>
                    <a:p>
                      <a:pPr indent="0" marL="0">
                        <a:buNone/>
                      </a:pPr>
                      <a:r>
                        <a:rPr lang="en-US" sz="1100" b="1" dirty="0">
                          <a:solidFill>
                            <a:schemeClr val="tx2"/>
                          </a:solidFill>
                        </a:rPr>
                        <a:t>1 · Propuesta</a:t>
                      </a:r>
                      <a:endParaRPr lang="en-US" sz="1100" dirty="0"/>
                    </a:p>
                    <a:p>
                      <a:pPr indent="0" marL="0">
                        <a:buNone/>
                      </a:pPr>
                      <a:r>
                        <a:rPr lang="en-US" sz="900" b="1" dirty="0">
                          <a:solidFill>
                            <a:schemeClr val="accent3"/>
                          </a:solidFill>
                        </a:rPr>
                        <a:t>SURA</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rPr>
                        <a:t>Detecta dependencias técnicas.</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Informados.</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Product Owner: registra la característica con su valor de negocio.</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457200">
                <a:tc>
                  <a:txBody>
                    <a:bodyPr/>
                    <a:lstStyle/>
                    <a:p>
                      <a:pPr indent="0" marL="0">
                        <a:buNone/>
                      </a:pPr>
                      <a:r>
                        <a:rPr lang="en-US" sz="1100" b="1" dirty="0">
                          <a:solidFill>
                            <a:schemeClr val="tx2"/>
                          </a:solidFill>
                        </a:rPr>
                        <a:t>2 · Definición</a:t>
                      </a:r>
                      <a:endParaRPr lang="en-US" sz="1100" dirty="0"/>
                    </a:p>
                    <a:p>
                      <a:pPr indent="0" marL="0">
                        <a:buNone/>
                      </a:pPr>
                      <a:r>
                        <a:rPr lang="en-US" sz="900" b="1" dirty="0">
                          <a:solidFill>
                            <a:schemeClr val="accent2"/>
                          </a:solidFill>
                        </a:rPr>
                        <a:t>SURA + Tech</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rPr>
                        <a:t>Cuida que cada característica se pueda partir, probar y medir.</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Preguntan hasta entender el criterio de aceptación.</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Product Owner y negocio: definen la característica junto al equipo y le dan tamaño.</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457200">
                <a:tc>
                  <a:txBody>
                    <a:bodyPr/>
                    <a:lstStyle/>
                    <a:p>
                      <a:pPr indent="0" marL="0">
                        <a:buNone/>
                      </a:pPr>
                      <a:r>
                        <a:rPr lang="en-US" sz="1100" b="1" dirty="0">
                          <a:solidFill>
                            <a:schemeClr val="tx2"/>
                          </a:solidFill>
                        </a:rPr>
                        <a:t>3 · Lista para construir</a:t>
                      </a:r>
                      <a:endParaRPr lang="en-US" sz="1100" dirty="0"/>
                    </a:p>
                    <a:p>
                      <a:pPr indent="0" marL="0">
                        <a:buNone/>
                      </a:pPr>
                      <a:r>
                        <a:rPr lang="en-US" sz="900" b="1" dirty="0">
                          <a:solidFill>
                            <a:schemeClr val="accent2"/>
                          </a:solidFill>
                        </a:rPr>
                        <a:t>SURA + Tech</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rPr>
                        <a:t>Aprueba la entrada a construcción.</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Toman la característica.</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Product Owner: confirma el criterio de aceptación y los ejemplos con datos.</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457200">
                <a:tc>
                  <a:txBody>
                    <a:bodyPr/>
                    <a:lstStyle/>
                    <a:p>
                      <a:pPr indent="0" marL="0">
                        <a:buNone/>
                      </a:pPr>
                      <a:r>
                        <a:rPr lang="en-US" sz="1100" b="1" dirty="0">
                          <a:solidFill>
                            <a:schemeClr val="tx2"/>
                          </a:solidFill>
                        </a:rPr>
                        <a:t>4 · Construcción</a:t>
                      </a:r>
                      <a:endParaRPr lang="en-US" sz="1100" dirty="0"/>
                    </a:p>
                    <a:p>
                      <a:pPr indent="0" marL="0">
                        <a:buNone/>
                      </a:pPr>
                      <a:r>
                        <a:rPr lang="en-US" sz="900" b="1" dirty="0">
                          <a:solidFill>
                            <a:schemeClr val="accent1"/>
                          </a:solidFill>
                        </a:rPr>
                        <a:t>Tech</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rPr>
                        <a:t>Revisa el código contra los lineamientos.</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Implementan, y reportan avance y bloqueos, cada uno con su dueño.</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Negocio: resuelve las dudas del equipo en el momento.</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457200">
                <a:tc>
                  <a:txBody>
                    <a:bodyPr/>
                    <a:lstStyle/>
                    <a:p>
                      <a:pPr indent="0" marL="0">
                        <a:buNone/>
                      </a:pPr>
                      <a:r>
                        <a:rPr lang="en-US" sz="1100" b="1" dirty="0">
                          <a:solidFill>
                            <a:schemeClr val="tx2"/>
                          </a:solidFill>
                        </a:rPr>
                        <a:t>5 · Verificación</a:t>
                      </a:r>
                      <a:endParaRPr lang="en-US" sz="1100" dirty="0"/>
                    </a:p>
                    <a:p>
                      <a:pPr indent="0" marL="0">
                        <a:buNone/>
                      </a:pPr>
                      <a:r>
                        <a:rPr lang="en-US" sz="900" b="1" dirty="0">
                          <a:solidFill>
                            <a:schemeClr val="accent1"/>
                          </a:solidFill>
                        </a:rPr>
                        <a:t>Tech</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rPr>
                        <a:t>Verifica que la evidencia cumpla la definición de hecho.</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Entregan la característica en QA, con sus evidencias.</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Recibe aviso de cada micro-liberación.</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457200">
                <a:tc>
                  <a:txBody>
                    <a:bodyPr/>
                    <a:lstStyle/>
                    <a:p>
                      <a:pPr indent="0" marL="0">
                        <a:buNone/>
                      </a:pPr>
                      <a:r>
                        <a:rPr lang="en-US" sz="1100" b="1" dirty="0">
                          <a:solidFill>
                            <a:schemeClr val="tx2"/>
                          </a:solidFill>
                        </a:rPr>
                        <a:t>6 · Certificación</a:t>
                      </a:r>
                      <a:endParaRPr lang="en-US" sz="1100" dirty="0"/>
                    </a:p>
                    <a:p>
                      <a:pPr indent="0" marL="0">
                        <a:buNone/>
                      </a:pPr>
                      <a:r>
                        <a:rPr lang="en-US" sz="900" b="1" dirty="0">
                          <a:solidFill>
                            <a:schemeClr val="accent3"/>
                          </a:solidFill>
                        </a:rPr>
                        <a:t>SURA</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rPr>
                        <a:t>Atiende las observaciones técnicas.</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Corrigen las observaciones y vuelven a entregar en QA.</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Product Owner y negocio: certifican en QA o devuelven con observaciones.</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457200">
                <a:tc>
                  <a:txBody>
                    <a:bodyPr/>
                    <a:lstStyle/>
                    <a:p>
                      <a:pPr indent="0" marL="0">
                        <a:buNone/>
                      </a:pPr>
                      <a:r>
                        <a:rPr lang="en-US" sz="1100" b="1" dirty="0">
                          <a:solidFill>
                            <a:schemeClr val="tx2"/>
                          </a:solidFill>
                        </a:rPr>
                        <a:t>7 · Liberada</a:t>
                      </a:r>
                      <a:endParaRPr lang="en-US" sz="1100" dirty="0"/>
                    </a:p>
                    <a:p>
                      <a:pPr indent="0" marL="0">
                        <a:buNone/>
                      </a:pPr>
                      <a:r>
                        <a:rPr lang="en-US" sz="900" b="1" dirty="0">
                          <a:solidFill>
                            <a:schemeClr val="accent2"/>
                          </a:solidFill>
                        </a:rPr>
                        <a:t>SURA + Tech</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rPr>
                        <a:t>Aprueba la liberación a producción.</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Preparan el despliegue y quedan atentos.</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Product Owner: decide cuándo se activa.</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457200">
                <a:tc>
                  <a:txBody>
                    <a:bodyPr/>
                    <a:lstStyle/>
                    <a:p>
                      <a:pPr indent="0" marL="0">
                        <a:buNone/>
                      </a:pPr>
                      <a:r>
                        <a:rPr lang="en-US" sz="1100" b="1" dirty="0">
                          <a:solidFill>
                            <a:schemeClr val="tx2"/>
                          </a:solidFill>
                        </a:rPr>
                        <a:t>8 · Estable</a:t>
                      </a:r>
                      <a:endParaRPr lang="en-US" sz="1100" dirty="0"/>
                    </a:p>
                    <a:p>
                      <a:pPr indent="0" marL="0">
                        <a:buNone/>
                      </a:pPr>
                      <a:r>
                        <a:rPr lang="en-US" sz="900" b="1" dirty="0">
                          <a:solidFill>
                            <a:schemeClr val="accent2"/>
                          </a:solidFill>
                        </a:rPr>
                        <a:t>Tech + SURA</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rPr>
                        <a:t>Analiza las causas raíz.</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Soporte: monitorea y atiende incidentes.</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Negocio: reporta comportamientos anómalos.</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457200">
                <a:tc>
                  <a:txBody>
                    <a:bodyPr/>
                    <a:lstStyle/>
                    <a:p>
                      <a:pPr indent="0" marL="0">
                        <a:buNone/>
                      </a:pPr>
                      <a:r>
                        <a:rPr lang="en-US" sz="1100" b="1" dirty="0">
                          <a:solidFill>
                            <a:schemeClr val="tx2"/>
                          </a:solidFill>
                        </a:rPr>
                        <a:t>Mejora continua</a:t>
                      </a:r>
                      <a:endParaRPr lang="en-US" sz="1100" dirty="0"/>
                    </a:p>
                    <a:p>
                      <a:pPr indent="0" marL="0">
                        <a:buNone/>
                      </a:pPr>
                      <a:r>
                        <a:rPr lang="en-US" sz="900" b="1" dirty="0">
                          <a:solidFill>
                            <a:schemeClr val="accent2"/>
                          </a:solidFill>
                        </a:rPr>
                        <a:t>SURA + Tech</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rPr>
                        <a:t>Mejora lo técnico y la alineación con el negocio de SURA, según lo que ve.</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Proponen y acuerdan una mejora.</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Product Owner y negocio: aportan lo que ven y acuerdan los ajustes con el arquitecto.</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bl>
          </a:graphicData>
        </a:graphic>
      </p:graphicFrame>
      <p:sp>
        <p:nvSpPr>
          <p:cNvPr id="5" name="Text 1"/>
          <p:cNvSpPr txBox="1"/>
          <p:nvPr/>
        </p:nvSpPr>
        <p:spPr>
          <a:xfrm>
            <a:off x="6400800" y="6382512"/>
            <a:ext cx="1371600" cy="320040"/>
          </a:xfrm>
          <a:prstGeom prst="rect">
            <a:avLst/>
          </a:prstGeom>
          <a:noFill/>
          <a:ln/>
        </p:spPr>
        <p:txBody>
          <a:bodyPr wrap="square" lIns="0" tIns="0" rIns="0" bIns="0" rtlCol="0" anchor="ctr"/>
          <a:lstStyle/>
          <a:p>
            <a:pPr indent="0" marL="0">
              <a:buNone/>
            </a:pPr>
            <a:r>
              <a:rPr lang="en-US" sz="1000" b="1" dirty="0">
                <a:solidFill>
                  <a:schemeClr val="tx2"/>
                </a:solidFill>
              </a:rPr>
              <a:t>Quién participa:</a:t>
            </a:r>
            <a:endParaRPr lang="en-US" sz="1000" dirty="0"/>
          </a:p>
        </p:txBody>
      </p:sp>
      <p:sp>
        <p:nvSpPr>
          <p:cNvPr id="6" name="Shape 2"/>
          <p:cNvSpPr/>
          <p:nvPr/>
        </p:nvSpPr>
        <p:spPr>
          <a:xfrm>
            <a:off x="7818120" y="6473952"/>
            <a:ext cx="274320" cy="137160"/>
          </a:xfrm>
          <a:prstGeom prst="roundRect">
            <a:avLst>
              <a:gd name="adj" fmla="val 26667"/>
            </a:avLst>
          </a:prstGeom>
          <a:solidFill>
            <a:schemeClr val="accent3"/>
          </a:solidFill>
          <a:ln w="12700">
            <a:solidFill>
              <a:schemeClr val="accent3"/>
            </a:solidFill>
            <a:prstDash val="solid"/>
          </a:ln>
        </p:spPr>
      </p:sp>
      <p:sp>
        <p:nvSpPr>
          <p:cNvPr id="7" name="Text 3"/>
          <p:cNvSpPr txBox="1"/>
          <p:nvPr/>
        </p:nvSpPr>
        <p:spPr>
          <a:xfrm>
            <a:off x="8165592" y="6382512"/>
            <a:ext cx="822960" cy="320040"/>
          </a:xfrm>
          <a:prstGeom prst="rect">
            <a:avLst/>
          </a:prstGeom>
          <a:noFill/>
          <a:ln/>
        </p:spPr>
        <p:txBody>
          <a:bodyPr wrap="square" lIns="0" tIns="0" rIns="0" bIns="0" rtlCol="0" anchor="ctr"/>
          <a:lstStyle/>
          <a:p>
            <a:pPr indent="0" marL="0">
              <a:buNone/>
            </a:pPr>
            <a:r>
              <a:rPr lang="en-US" sz="1000" dirty="0">
                <a:solidFill>
                  <a:schemeClr val="accent6"/>
                </a:solidFill>
              </a:rPr>
              <a:t>SURA</a:t>
            </a:r>
            <a:endParaRPr lang="en-US" sz="1000" dirty="0"/>
          </a:p>
        </p:txBody>
      </p:sp>
      <p:sp>
        <p:nvSpPr>
          <p:cNvPr id="8" name="Shape 4"/>
          <p:cNvSpPr/>
          <p:nvPr/>
        </p:nvSpPr>
        <p:spPr>
          <a:xfrm>
            <a:off x="8732520" y="6473952"/>
            <a:ext cx="274320" cy="137160"/>
          </a:xfrm>
          <a:prstGeom prst="roundRect">
            <a:avLst>
              <a:gd name="adj" fmla="val 26667"/>
            </a:avLst>
          </a:prstGeom>
          <a:solidFill>
            <a:schemeClr val="accent1"/>
          </a:solidFill>
          <a:ln w="12700">
            <a:solidFill>
              <a:schemeClr val="accent1"/>
            </a:solidFill>
            <a:prstDash val="solid"/>
          </a:ln>
        </p:spPr>
      </p:sp>
      <p:sp>
        <p:nvSpPr>
          <p:cNvPr id="9" name="Text 5"/>
          <p:cNvSpPr txBox="1"/>
          <p:nvPr/>
        </p:nvSpPr>
        <p:spPr>
          <a:xfrm>
            <a:off x="9079992" y="6382512"/>
            <a:ext cx="822960" cy="320040"/>
          </a:xfrm>
          <a:prstGeom prst="rect">
            <a:avLst/>
          </a:prstGeom>
          <a:noFill/>
          <a:ln/>
        </p:spPr>
        <p:txBody>
          <a:bodyPr wrap="square" lIns="0" tIns="0" rIns="0" bIns="0" rtlCol="0" anchor="ctr"/>
          <a:lstStyle/>
          <a:p>
            <a:pPr indent="0" marL="0">
              <a:buNone/>
            </a:pPr>
            <a:r>
              <a:rPr lang="en-US" sz="1000" dirty="0">
                <a:solidFill>
                  <a:schemeClr val="accent6"/>
                </a:solidFill>
              </a:rPr>
              <a:t>Tech</a:t>
            </a:r>
            <a:endParaRPr lang="en-US" sz="1000" dirty="0"/>
          </a:p>
        </p:txBody>
      </p:sp>
      <p:sp>
        <p:nvSpPr>
          <p:cNvPr id="10" name="Shape 6"/>
          <p:cNvSpPr/>
          <p:nvPr/>
        </p:nvSpPr>
        <p:spPr>
          <a:xfrm>
            <a:off x="9555480" y="6473952"/>
            <a:ext cx="274320" cy="137160"/>
          </a:xfrm>
          <a:prstGeom prst="roundRect">
            <a:avLst>
              <a:gd name="adj" fmla="val 26667"/>
            </a:avLst>
          </a:prstGeom>
          <a:solidFill>
            <a:schemeClr val="accent2"/>
          </a:solidFill>
          <a:ln w="12700">
            <a:solidFill>
              <a:schemeClr val="accent2"/>
            </a:solidFill>
            <a:prstDash val="solid"/>
          </a:ln>
        </p:spPr>
      </p:sp>
      <p:sp>
        <p:nvSpPr>
          <p:cNvPr id="11" name="Text 7"/>
          <p:cNvSpPr txBox="1"/>
          <p:nvPr/>
        </p:nvSpPr>
        <p:spPr>
          <a:xfrm>
            <a:off x="9902952" y="6382512"/>
            <a:ext cx="1188720" cy="320040"/>
          </a:xfrm>
          <a:prstGeom prst="rect">
            <a:avLst/>
          </a:prstGeom>
          <a:noFill/>
          <a:ln/>
        </p:spPr>
        <p:txBody>
          <a:bodyPr wrap="square" lIns="0" tIns="0" rIns="0" bIns="0" rtlCol="0" anchor="ctr"/>
          <a:lstStyle/>
          <a:p>
            <a:pPr indent="0" marL="0">
              <a:buNone/>
            </a:pPr>
            <a:r>
              <a:rPr lang="en-US" sz="1000" dirty="0">
                <a:solidFill>
                  <a:schemeClr val="accent6"/>
                </a:solidFill>
              </a:rPr>
              <a:t>Los dos</a:t>
            </a:r>
            <a:endParaRPr lang="en-US" sz="10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Un tablero con las etapas y seis acuerdos para cuidar el flujo</a:t>
            </a:r>
            <a:endParaRPr lang="en-US" sz="2800" dirty="0"/>
          </a:p>
        </p:txBody>
      </p:sp>
      <p:sp>
        <p:nvSpPr>
          <p:cNvPr id="4" name="Shape 1"/>
          <p:cNvSpPr/>
          <p:nvPr/>
        </p:nvSpPr>
        <p:spPr>
          <a:xfrm>
            <a:off x="548640" y="1554480"/>
            <a:ext cx="1319022" cy="2514600"/>
          </a:xfrm>
          <a:prstGeom prst="roundRect">
            <a:avLst>
              <a:gd name="adj" fmla="val 4159"/>
            </a:avLst>
          </a:prstGeom>
          <a:solidFill>
            <a:schemeClr val="accent4"/>
          </a:solidFill>
          <a:ln w="12700">
            <a:solidFill>
              <a:srgbClr val="DCD8EC"/>
            </a:solidFill>
            <a:prstDash val="solid"/>
          </a:ln>
        </p:spPr>
      </p:sp>
      <p:sp>
        <p:nvSpPr>
          <p:cNvPr id="5" name="Text 2"/>
          <p:cNvSpPr txBox="1"/>
          <p:nvPr/>
        </p:nvSpPr>
        <p:spPr>
          <a:xfrm>
            <a:off x="585216" y="1627632"/>
            <a:ext cx="1245870" cy="384048"/>
          </a:xfrm>
          <a:prstGeom prst="rect">
            <a:avLst/>
          </a:prstGeom>
          <a:noFill/>
          <a:ln/>
        </p:spPr>
        <p:txBody>
          <a:bodyPr wrap="square" lIns="0" tIns="0" rIns="0" bIns="0" rtlCol="0" anchor="ctr"/>
          <a:lstStyle/>
          <a:p>
            <a:pPr algn="ctr" indent="0" marL="0">
              <a:buNone/>
            </a:pPr>
            <a:r>
              <a:rPr lang="en-US" sz="1000" b="1" dirty="0">
                <a:solidFill>
                  <a:schemeClr val="tx2"/>
                </a:solidFill>
              </a:rPr>
              <a:t>Propuesta</a:t>
            </a:r>
            <a:endParaRPr lang="en-US" sz="1000" dirty="0"/>
          </a:p>
        </p:txBody>
      </p:sp>
      <p:sp>
        <p:nvSpPr>
          <p:cNvPr id="6" name="Shape 3"/>
          <p:cNvSpPr/>
          <p:nvPr/>
        </p:nvSpPr>
        <p:spPr>
          <a:xfrm>
            <a:off x="685800" y="2048256"/>
            <a:ext cx="1044702" cy="237744"/>
          </a:xfrm>
          <a:prstGeom prst="roundRect">
            <a:avLst>
              <a:gd name="adj" fmla="val 50000"/>
            </a:avLst>
          </a:prstGeom>
          <a:solidFill>
            <a:schemeClr val="accent3"/>
          </a:solidFill>
          <a:ln w="12700">
            <a:solidFill>
              <a:schemeClr val="accent3"/>
            </a:solidFill>
            <a:prstDash val="solid"/>
          </a:ln>
        </p:spPr>
      </p:sp>
      <p:sp>
        <p:nvSpPr>
          <p:cNvPr id="7" name="Text 4"/>
          <p:cNvSpPr txBox="1"/>
          <p:nvPr/>
        </p:nvSpPr>
        <p:spPr>
          <a:xfrm>
            <a:off x="685800" y="2048256"/>
            <a:ext cx="1044702" cy="237744"/>
          </a:xfrm>
          <a:prstGeom prst="rect">
            <a:avLst/>
          </a:prstGeom>
          <a:noFill/>
          <a:ln/>
        </p:spPr>
        <p:txBody>
          <a:bodyPr wrap="square" lIns="0" tIns="0" rIns="0" bIns="0" rtlCol="0" anchor="ctr"/>
          <a:lstStyle/>
          <a:p>
            <a:pPr algn="ctr" indent="0" marL="0">
              <a:buNone/>
            </a:pPr>
            <a:r>
              <a:rPr lang="en-US" sz="850" b="1" dirty="0">
                <a:solidFill>
                  <a:schemeClr val="bg1"/>
                </a:solidFill>
              </a:rPr>
              <a:t>SURA</a:t>
            </a:r>
            <a:endParaRPr lang="en-US" sz="850" dirty="0"/>
          </a:p>
        </p:txBody>
      </p:sp>
      <p:sp>
        <p:nvSpPr>
          <p:cNvPr id="8" name="Shape 5"/>
          <p:cNvSpPr/>
          <p:nvPr/>
        </p:nvSpPr>
        <p:spPr>
          <a:xfrm>
            <a:off x="658368" y="2606040"/>
            <a:ext cx="1099566" cy="347472"/>
          </a:xfrm>
          <a:prstGeom prst="roundRect">
            <a:avLst>
              <a:gd name="adj" fmla="val 13158"/>
            </a:avLst>
          </a:prstGeom>
          <a:solidFill>
            <a:schemeClr val="accent5"/>
          </a:solidFill>
          <a:ln w="12700">
            <a:solidFill>
              <a:schemeClr val="accent5"/>
            </a:solidFill>
            <a:prstDash val="solid"/>
          </a:ln>
        </p:spPr>
      </p:sp>
      <p:sp>
        <p:nvSpPr>
          <p:cNvPr id="9" name="Shape 6"/>
          <p:cNvSpPr/>
          <p:nvPr/>
        </p:nvSpPr>
        <p:spPr>
          <a:xfrm>
            <a:off x="658368" y="3063240"/>
            <a:ext cx="1099566" cy="347472"/>
          </a:xfrm>
          <a:prstGeom prst="roundRect">
            <a:avLst>
              <a:gd name="adj" fmla="val 13158"/>
            </a:avLst>
          </a:prstGeom>
          <a:solidFill>
            <a:schemeClr val="accent5"/>
          </a:solidFill>
          <a:ln w="12700">
            <a:solidFill>
              <a:schemeClr val="accent5"/>
            </a:solidFill>
            <a:prstDash val="solid"/>
          </a:ln>
        </p:spPr>
      </p:sp>
      <p:sp>
        <p:nvSpPr>
          <p:cNvPr id="10" name="Shape 7"/>
          <p:cNvSpPr/>
          <p:nvPr/>
        </p:nvSpPr>
        <p:spPr>
          <a:xfrm>
            <a:off x="658368" y="3520440"/>
            <a:ext cx="1099566" cy="347472"/>
          </a:xfrm>
          <a:prstGeom prst="roundRect">
            <a:avLst>
              <a:gd name="adj" fmla="val 13158"/>
            </a:avLst>
          </a:prstGeom>
          <a:solidFill>
            <a:schemeClr val="accent5"/>
          </a:solidFill>
          <a:ln w="12700">
            <a:solidFill>
              <a:schemeClr val="accent5"/>
            </a:solidFill>
            <a:prstDash val="solid"/>
          </a:ln>
        </p:spPr>
      </p:sp>
      <p:sp>
        <p:nvSpPr>
          <p:cNvPr id="11" name="Shape 8"/>
          <p:cNvSpPr/>
          <p:nvPr/>
        </p:nvSpPr>
        <p:spPr>
          <a:xfrm>
            <a:off x="1940814" y="1554480"/>
            <a:ext cx="1319022" cy="2514600"/>
          </a:xfrm>
          <a:prstGeom prst="roundRect">
            <a:avLst>
              <a:gd name="adj" fmla="val 4159"/>
            </a:avLst>
          </a:prstGeom>
          <a:solidFill>
            <a:schemeClr val="accent4"/>
          </a:solidFill>
          <a:ln w="12700">
            <a:solidFill>
              <a:srgbClr val="DCD8EC"/>
            </a:solidFill>
            <a:prstDash val="solid"/>
          </a:ln>
        </p:spPr>
      </p:sp>
      <p:sp>
        <p:nvSpPr>
          <p:cNvPr id="12" name="Text 9"/>
          <p:cNvSpPr txBox="1"/>
          <p:nvPr/>
        </p:nvSpPr>
        <p:spPr>
          <a:xfrm>
            <a:off x="1977390" y="1627632"/>
            <a:ext cx="1245870" cy="384048"/>
          </a:xfrm>
          <a:prstGeom prst="rect">
            <a:avLst/>
          </a:prstGeom>
          <a:noFill/>
          <a:ln/>
        </p:spPr>
        <p:txBody>
          <a:bodyPr wrap="square" lIns="0" tIns="0" rIns="0" bIns="0" rtlCol="0" anchor="ctr"/>
          <a:lstStyle/>
          <a:p>
            <a:pPr algn="ctr" indent="0" marL="0">
              <a:buNone/>
            </a:pPr>
            <a:r>
              <a:rPr lang="en-US" sz="1000" b="1" dirty="0">
                <a:solidFill>
                  <a:schemeClr val="tx2"/>
                </a:solidFill>
              </a:rPr>
              <a:t>Definición</a:t>
            </a:r>
            <a:endParaRPr lang="en-US" sz="1000" dirty="0"/>
          </a:p>
        </p:txBody>
      </p:sp>
      <p:sp>
        <p:nvSpPr>
          <p:cNvPr id="13" name="Shape 10"/>
          <p:cNvSpPr/>
          <p:nvPr/>
        </p:nvSpPr>
        <p:spPr>
          <a:xfrm>
            <a:off x="2077974" y="2048256"/>
            <a:ext cx="1044702" cy="237744"/>
          </a:xfrm>
          <a:prstGeom prst="roundRect">
            <a:avLst>
              <a:gd name="adj" fmla="val 50000"/>
            </a:avLst>
          </a:prstGeom>
          <a:solidFill>
            <a:schemeClr val="accent2"/>
          </a:solidFill>
          <a:ln w="12700">
            <a:solidFill>
              <a:schemeClr val="accent2"/>
            </a:solidFill>
            <a:prstDash val="solid"/>
          </a:ln>
        </p:spPr>
      </p:sp>
      <p:sp>
        <p:nvSpPr>
          <p:cNvPr id="14" name="Text 11"/>
          <p:cNvSpPr txBox="1"/>
          <p:nvPr/>
        </p:nvSpPr>
        <p:spPr>
          <a:xfrm>
            <a:off x="2077974" y="2048256"/>
            <a:ext cx="1044702" cy="237744"/>
          </a:xfrm>
          <a:prstGeom prst="rect">
            <a:avLst/>
          </a:prstGeom>
          <a:noFill/>
          <a:ln/>
        </p:spPr>
        <p:txBody>
          <a:bodyPr wrap="square" lIns="0" tIns="0" rIns="0" bIns="0" rtlCol="0" anchor="ctr"/>
          <a:lstStyle/>
          <a:p>
            <a:pPr algn="ctr" indent="0" marL="0">
              <a:buNone/>
            </a:pPr>
            <a:r>
              <a:rPr lang="en-US" sz="850" b="1" dirty="0">
                <a:solidFill>
                  <a:schemeClr val="bg1"/>
                </a:solidFill>
              </a:rPr>
              <a:t>SURA + Tech</a:t>
            </a:r>
            <a:endParaRPr lang="en-US" sz="850" dirty="0"/>
          </a:p>
        </p:txBody>
      </p:sp>
      <p:sp>
        <p:nvSpPr>
          <p:cNvPr id="15" name="Shape 12"/>
          <p:cNvSpPr/>
          <p:nvPr/>
        </p:nvSpPr>
        <p:spPr>
          <a:xfrm>
            <a:off x="2050542" y="2606040"/>
            <a:ext cx="1099566" cy="347472"/>
          </a:xfrm>
          <a:prstGeom prst="roundRect">
            <a:avLst>
              <a:gd name="adj" fmla="val 13158"/>
            </a:avLst>
          </a:prstGeom>
          <a:solidFill>
            <a:schemeClr val="accent5"/>
          </a:solidFill>
          <a:ln w="12700">
            <a:solidFill>
              <a:schemeClr val="accent5"/>
            </a:solidFill>
            <a:prstDash val="solid"/>
          </a:ln>
        </p:spPr>
      </p:sp>
      <p:sp>
        <p:nvSpPr>
          <p:cNvPr id="16" name="Shape 13"/>
          <p:cNvSpPr/>
          <p:nvPr/>
        </p:nvSpPr>
        <p:spPr>
          <a:xfrm>
            <a:off x="2050542" y="3063240"/>
            <a:ext cx="1099566" cy="347472"/>
          </a:xfrm>
          <a:prstGeom prst="roundRect">
            <a:avLst>
              <a:gd name="adj" fmla="val 13158"/>
            </a:avLst>
          </a:prstGeom>
          <a:solidFill>
            <a:schemeClr val="accent5"/>
          </a:solidFill>
          <a:ln w="12700">
            <a:solidFill>
              <a:schemeClr val="accent5"/>
            </a:solidFill>
            <a:prstDash val="solid"/>
          </a:ln>
        </p:spPr>
      </p:sp>
      <p:sp>
        <p:nvSpPr>
          <p:cNvPr id="17" name="Shape 14"/>
          <p:cNvSpPr/>
          <p:nvPr/>
        </p:nvSpPr>
        <p:spPr>
          <a:xfrm>
            <a:off x="3332988" y="1554480"/>
            <a:ext cx="1319022" cy="2514600"/>
          </a:xfrm>
          <a:prstGeom prst="roundRect">
            <a:avLst>
              <a:gd name="adj" fmla="val 4159"/>
            </a:avLst>
          </a:prstGeom>
          <a:solidFill>
            <a:schemeClr val="accent4"/>
          </a:solidFill>
          <a:ln w="12700">
            <a:solidFill>
              <a:srgbClr val="DCD8EC"/>
            </a:solidFill>
            <a:prstDash val="solid"/>
          </a:ln>
        </p:spPr>
      </p:sp>
      <p:sp>
        <p:nvSpPr>
          <p:cNvPr id="18" name="Text 15"/>
          <p:cNvSpPr txBox="1"/>
          <p:nvPr/>
        </p:nvSpPr>
        <p:spPr>
          <a:xfrm>
            <a:off x="3369564" y="1627632"/>
            <a:ext cx="1245870" cy="384048"/>
          </a:xfrm>
          <a:prstGeom prst="rect">
            <a:avLst/>
          </a:prstGeom>
          <a:noFill/>
          <a:ln/>
        </p:spPr>
        <p:txBody>
          <a:bodyPr wrap="square" lIns="0" tIns="0" rIns="0" bIns="0" rtlCol="0" anchor="ctr"/>
          <a:lstStyle/>
          <a:p>
            <a:pPr algn="ctr" indent="0" marL="0">
              <a:buNone/>
            </a:pPr>
            <a:r>
              <a:rPr lang="en-US" sz="1000" b="1" dirty="0">
                <a:solidFill>
                  <a:schemeClr val="tx2"/>
                </a:solidFill>
              </a:rPr>
              <a:t>Lista para construir</a:t>
            </a:r>
            <a:endParaRPr lang="en-US" sz="1000" dirty="0"/>
          </a:p>
        </p:txBody>
      </p:sp>
      <p:sp>
        <p:nvSpPr>
          <p:cNvPr id="19" name="Shape 16"/>
          <p:cNvSpPr/>
          <p:nvPr/>
        </p:nvSpPr>
        <p:spPr>
          <a:xfrm>
            <a:off x="3470148" y="2048256"/>
            <a:ext cx="1044702" cy="237744"/>
          </a:xfrm>
          <a:prstGeom prst="roundRect">
            <a:avLst>
              <a:gd name="adj" fmla="val 50000"/>
            </a:avLst>
          </a:prstGeom>
          <a:solidFill>
            <a:schemeClr val="accent2"/>
          </a:solidFill>
          <a:ln w="12700">
            <a:solidFill>
              <a:schemeClr val="accent2"/>
            </a:solidFill>
            <a:prstDash val="solid"/>
          </a:ln>
        </p:spPr>
      </p:sp>
      <p:sp>
        <p:nvSpPr>
          <p:cNvPr id="20" name="Text 17"/>
          <p:cNvSpPr txBox="1"/>
          <p:nvPr/>
        </p:nvSpPr>
        <p:spPr>
          <a:xfrm>
            <a:off x="3470148" y="2048256"/>
            <a:ext cx="1044702" cy="237744"/>
          </a:xfrm>
          <a:prstGeom prst="rect">
            <a:avLst/>
          </a:prstGeom>
          <a:noFill/>
          <a:ln/>
        </p:spPr>
        <p:txBody>
          <a:bodyPr wrap="square" lIns="0" tIns="0" rIns="0" bIns="0" rtlCol="0" anchor="ctr"/>
          <a:lstStyle/>
          <a:p>
            <a:pPr algn="ctr" indent="0" marL="0">
              <a:buNone/>
            </a:pPr>
            <a:r>
              <a:rPr lang="en-US" sz="850" b="1" dirty="0">
                <a:solidFill>
                  <a:schemeClr val="bg1"/>
                </a:solidFill>
              </a:rPr>
              <a:t>SURA + Tech</a:t>
            </a:r>
            <a:endParaRPr lang="en-US" sz="850" dirty="0"/>
          </a:p>
        </p:txBody>
      </p:sp>
      <p:sp>
        <p:nvSpPr>
          <p:cNvPr id="21" name="Shape 18"/>
          <p:cNvSpPr/>
          <p:nvPr/>
        </p:nvSpPr>
        <p:spPr>
          <a:xfrm>
            <a:off x="3442716" y="2606040"/>
            <a:ext cx="1099566" cy="347472"/>
          </a:xfrm>
          <a:prstGeom prst="roundRect">
            <a:avLst>
              <a:gd name="adj" fmla="val 13158"/>
            </a:avLst>
          </a:prstGeom>
          <a:solidFill>
            <a:schemeClr val="accent5"/>
          </a:solidFill>
          <a:ln w="12700">
            <a:solidFill>
              <a:schemeClr val="accent5"/>
            </a:solidFill>
            <a:prstDash val="solid"/>
          </a:ln>
        </p:spPr>
      </p:sp>
      <p:sp>
        <p:nvSpPr>
          <p:cNvPr id="22" name="Shape 19"/>
          <p:cNvSpPr/>
          <p:nvPr/>
        </p:nvSpPr>
        <p:spPr>
          <a:xfrm>
            <a:off x="3442716" y="3063240"/>
            <a:ext cx="1099566" cy="347472"/>
          </a:xfrm>
          <a:prstGeom prst="roundRect">
            <a:avLst>
              <a:gd name="adj" fmla="val 13158"/>
            </a:avLst>
          </a:prstGeom>
          <a:solidFill>
            <a:schemeClr val="accent5"/>
          </a:solidFill>
          <a:ln w="12700">
            <a:solidFill>
              <a:schemeClr val="accent5"/>
            </a:solidFill>
            <a:prstDash val="solid"/>
          </a:ln>
        </p:spPr>
      </p:sp>
      <p:sp>
        <p:nvSpPr>
          <p:cNvPr id="23" name="Shape 20"/>
          <p:cNvSpPr/>
          <p:nvPr/>
        </p:nvSpPr>
        <p:spPr>
          <a:xfrm>
            <a:off x="4725162" y="1554480"/>
            <a:ext cx="1319022" cy="2514600"/>
          </a:xfrm>
          <a:prstGeom prst="roundRect">
            <a:avLst>
              <a:gd name="adj" fmla="val 4159"/>
            </a:avLst>
          </a:prstGeom>
          <a:solidFill>
            <a:schemeClr val="bg2"/>
          </a:solidFill>
          <a:ln w="12700">
            <a:solidFill>
              <a:srgbClr val="DCD8EC"/>
            </a:solidFill>
            <a:prstDash val="solid"/>
          </a:ln>
        </p:spPr>
      </p:sp>
      <p:sp>
        <p:nvSpPr>
          <p:cNvPr id="24" name="Text 21"/>
          <p:cNvSpPr txBox="1"/>
          <p:nvPr/>
        </p:nvSpPr>
        <p:spPr>
          <a:xfrm>
            <a:off x="4761738" y="1627632"/>
            <a:ext cx="1245870" cy="384048"/>
          </a:xfrm>
          <a:prstGeom prst="rect">
            <a:avLst/>
          </a:prstGeom>
          <a:noFill/>
          <a:ln/>
        </p:spPr>
        <p:txBody>
          <a:bodyPr wrap="square" lIns="0" tIns="0" rIns="0" bIns="0" rtlCol="0" anchor="ctr"/>
          <a:lstStyle/>
          <a:p>
            <a:pPr algn="ctr" indent="0" marL="0">
              <a:buNone/>
            </a:pPr>
            <a:r>
              <a:rPr lang="en-US" sz="1000" b="1" dirty="0">
                <a:solidFill>
                  <a:schemeClr val="tx2"/>
                </a:solidFill>
              </a:rPr>
              <a:t>Construcción</a:t>
            </a:r>
            <a:endParaRPr lang="en-US" sz="1000" dirty="0"/>
          </a:p>
        </p:txBody>
      </p:sp>
      <p:sp>
        <p:nvSpPr>
          <p:cNvPr id="25" name="Shape 22"/>
          <p:cNvSpPr/>
          <p:nvPr/>
        </p:nvSpPr>
        <p:spPr>
          <a:xfrm>
            <a:off x="4862322" y="2048256"/>
            <a:ext cx="1044702" cy="237744"/>
          </a:xfrm>
          <a:prstGeom prst="roundRect">
            <a:avLst>
              <a:gd name="adj" fmla="val 50000"/>
            </a:avLst>
          </a:prstGeom>
          <a:solidFill>
            <a:schemeClr val="accent1"/>
          </a:solidFill>
          <a:ln w="12700">
            <a:solidFill>
              <a:schemeClr val="accent1"/>
            </a:solidFill>
            <a:prstDash val="solid"/>
          </a:ln>
        </p:spPr>
      </p:sp>
      <p:sp>
        <p:nvSpPr>
          <p:cNvPr id="26" name="Text 23"/>
          <p:cNvSpPr txBox="1"/>
          <p:nvPr/>
        </p:nvSpPr>
        <p:spPr>
          <a:xfrm>
            <a:off x="4862322" y="2048256"/>
            <a:ext cx="1044702" cy="237744"/>
          </a:xfrm>
          <a:prstGeom prst="rect">
            <a:avLst/>
          </a:prstGeom>
          <a:noFill/>
          <a:ln/>
        </p:spPr>
        <p:txBody>
          <a:bodyPr wrap="square" lIns="0" tIns="0" rIns="0" bIns="0" rtlCol="0" anchor="ctr"/>
          <a:lstStyle/>
          <a:p>
            <a:pPr algn="ctr" indent="0" marL="0">
              <a:buNone/>
            </a:pPr>
            <a:r>
              <a:rPr lang="en-US" sz="850" b="1" dirty="0">
                <a:solidFill>
                  <a:schemeClr val="bg1"/>
                </a:solidFill>
              </a:rPr>
              <a:t>Tech</a:t>
            </a:r>
            <a:endParaRPr lang="en-US" sz="850" dirty="0"/>
          </a:p>
        </p:txBody>
      </p:sp>
      <p:sp>
        <p:nvSpPr>
          <p:cNvPr id="27" name="Text 24"/>
          <p:cNvSpPr txBox="1"/>
          <p:nvPr/>
        </p:nvSpPr>
        <p:spPr>
          <a:xfrm>
            <a:off x="4725162" y="2322576"/>
            <a:ext cx="1319022" cy="201168"/>
          </a:xfrm>
          <a:prstGeom prst="rect">
            <a:avLst/>
          </a:prstGeom>
          <a:noFill/>
          <a:ln/>
        </p:spPr>
        <p:txBody>
          <a:bodyPr wrap="square" lIns="0" tIns="0" rIns="0" bIns="0" rtlCol="0" anchor="t"/>
          <a:lstStyle/>
          <a:p>
            <a:pPr algn="ctr" indent="0" marL="0">
              <a:buNone/>
            </a:pPr>
            <a:r>
              <a:rPr lang="en-US" sz="950" b="1" dirty="0">
                <a:solidFill>
                  <a:schemeClr val="accent2"/>
                </a:solidFill>
              </a:rPr>
              <a:t>máx. 2</a:t>
            </a:r>
            <a:endParaRPr lang="en-US" sz="950" dirty="0"/>
          </a:p>
        </p:txBody>
      </p:sp>
      <p:sp>
        <p:nvSpPr>
          <p:cNvPr id="28" name="Shape 25"/>
          <p:cNvSpPr/>
          <p:nvPr/>
        </p:nvSpPr>
        <p:spPr>
          <a:xfrm>
            <a:off x="4834890" y="2606040"/>
            <a:ext cx="1099566" cy="347472"/>
          </a:xfrm>
          <a:prstGeom prst="roundRect">
            <a:avLst>
              <a:gd name="adj" fmla="val 13158"/>
            </a:avLst>
          </a:prstGeom>
          <a:solidFill>
            <a:schemeClr val="accent1"/>
          </a:solidFill>
          <a:ln w="12700">
            <a:solidFill>
              <a:schemeClr val="accent1"/>
            </a:solidFill>
            <a:prstDash val="solid"/>
          </a:ln>
        </p:spPr>
      </p:sp>
      <p:sp>
        <p:nvSpPr>
          <p:cNvPr id="29" name="Shape 26"/>
          <p:cNvSpPr/>
          <p:nvPr/>
        </p:nvSpPr>
        <p:spPr>
          <a:xfrm>
            <a:off x="4834890" y="3063240"/>
            <a:ext cx="1099566" cy="347472"/>
          </a:xfrm>
          <a:prstGeom prst="roundRect">
            <a:avLst>
              <a:gd name="adj" fmla="val 13158"/>
            </a:avLst>
          </a:prstGeom>
          <a:solidFill>
            <a:schemeClr val="accent1"/>
          </a:solidFill>
          <a:ln w="12700">
            <a:solidFill>
              <a:schemeClr val="accent1"/>
            </a:solidFill>
            <a:prstDash val="solid"/>
          </a:ln>
        </p:spPr>
      </p:sp>
      <p:sp>
        <p:nvSpPr>
          <p:cNvPr id="30" name="Shape 27"/>
          <p:cNvSpPr/>
          <p:nvPr/>
        </p:nvSpPr>
        <p:spPr>
          <a:xfrm>
            <a:off x="6117336" y="1554480"/>
            <a:ext cx="1319022" cy="2514600"/>
          </a:xfrm>
          <a:prstGeom prst="roundRect">
            <a:avLst>
              <a:gd name="adj" fmla="val 4159"/>
            </a:avLst>
          </a:prstGeom>
          <a:solidFill>
            <a:schemeClr val="accent4"/>
          </a:solidFill>
          <a:ln w="12700">
            <a:solidFill>
              <a:srgbClr val="DCD8EC"/>
            </a:solidFill>
            <a:prstDash val="solid"/>
          </a:ln>
        </p:spPr>
      </p:sp>
      <p:sp>
        <p:nvSpPr>
          <p:cNvPr id="31" name="Text 28"/>
          <p:cNvSpPr txBox="1"/>
          <p:nvPr/>
        </p:nvSpPr>
        <p:spPr>
          <a:xfrm>
            <a:off x="6153912" y="1627632"/>
            <a:ext cx="1245870" cy="384048"/>
          </a:xfrm>
          <a:prstGeom prst="rect">
            <a:avLst/>
          </a:prstGeom>
          <a:noFill/>
          <a:ln/>
        </p:spPr>
        <p:txBody>
          <a:bodyPr wrap="square" lIns="0" tIns="0" rIns="0" bIns="0" rtlCol="0" anchor="ctr"/>
          <a:lstStyle/>
          <a:p>
            <a:pPr algn="ctr" indent="0" marL="0">
              <a:buNone/>
            </a:pPr>
            <a:r>
              <a:rPr lang="en-US" sz="1000" b="1" dirty="0">
                <a:solidFill>
                  <a:schemeClr val="tx2"/>
                </a:solidFill>
              </a:rPr>
              <a:t>Verificación</a:t>
            </a:r>
            <a:endParaRPr lang="en-US" sz="1000" dirty="0"/>
          </a:p>
        </p:txBody>
      </p:sp>
      <p:sp>
        <p:nvSpPr>
          <p:cNvPr id="32" name="Shape 29"/>
          <p:cNvSpPr/>
          <p:nvPr/>
        </p:nvSpPr>
        <p:spPr>
          <a:xfrm>
            <a:off x="6254496" y="2048256"/>
            <a:ext cx="1044702" cy="237744"/>
          </a:xfrm>
          <a:prstGeom prst="roundRect">
            <a:avLst>
              <a:gd name="adj" fmla="val 50000"/>
            </a:avLst>
          </a:prstGeom>
          <a:solidFill>
            <a:schemeClr val="accent1"/>
          </a:solidFill>
          <a:ln w="12700">
            <a:solidFill>
              <a:schemeClr val="accent1"/>
            </a:solidFill>
            <a:prstDash val="solid"/>
          </a:ln>
        </p:spPr>
      </p:sp>
      <p:sp>
        <p:nvSpPr>
          <p:cNvPr id="33" name="Text 30"/>
          <p:cNvSpPr txBox="1"/>
          <p:nvPr/>
        </p:nvSpPr>
        <p:spPr>
          <a:xfrm>
            <a:off x="6254496" y="2048256"/>
            <a:ext cx="1044702" cy="237744"/>
          </a:xfrm>
          <a:prstGeom prst="rect">
            <a:avLst/>
          </a:prstGeom>
          <a:noFill/>
          <a:ln/>
        </p:spPr>
        <p:txBody>
          <a:bodyPr wrap="square" lIns="0" tIns="0" rIns="0" bIns="0" rtlCol="0" anchor="ctr"/>
          <a:lstStyle/>
          <a:p>
            <a:pPr algn="ctr" indent="0" marL="0">
              <a:buNone/>
            </a:pPr>
            <a:r>
              <a:rPr lang="en-US" sz="850" b="1" dirty="0">
                <a:solidFill>
                  <a:schemeClr val="bg1"/>
                </a:solidFill>
              </a:rPr>
              <a:t>Tech</a:t>
            </a:r>
            <a:endParaRPr lang="en-US" sz="850" dirty="0"/>
          </a:p>
        </p:txBody>
      </p:sp>
      <p:sp>
        <p:nvSpPr>
          <p:cNvPr id="34" name="Shape 31"/>
          <p:cNvSpPr/>
          <p:nvPr/>
        </p:nvSpPr>
        <p:spPr>
          <a:xfrm>
            <a:off x="6227064" y="2606040"/>
            <a:ext cx="1099566" cy="347472"/>
          </a:xfrm>
          <a:prstGeom prst="roundRect">
            <a:avLst>
              <a:gd name="adj" fmla="val 13158"/>
            </a:avLst>
          </a:prstGeom>
          <a:solidFill>
            <a:schemeClr val="accent1"/>
          </a:solidFill>
          <a:ln w="12700">
            <a:solidFill>
              <a:schemeClr val="accent1"/>
            </a:solidFill>
            <a:prstDash val="solid"/>
          </a:ln>
        </p:spPr>
      </p:sp>
      <p:sp>
        <p:nvSpPr>
          <p:cNvPr id="35" name="Shape 32"/>
          <p:cNvSpPr/>
          <p:nvPr/>
        </p:nvSpPr>
        <p:spPr>
          <a:xfrm>
            <a:off x="7509510" y="1554480"/>
            <a:ext cx="1319022" cy="2514600"/>
          </a:xfrm>
          <a:prstGeom prst="roundRect">
            <a:avLst>
              <a:gd name="adj" fmla="val 4159"/>
            </a:avLst>
          </a:prstGeom>
          <a:solidFill>
            <a:schemeClr val="accent4"/>
          </a:solidFill>
          <a:ln w="12700">
            <a:solidFill>
              <a:srgbClr val="DCD8EC"/>
            </a:solidFill>
            <a:prstDash val="solid"/>
          </a:ln>
        </p:spPr>
      </p:sp>
      <p:sp>
        <p:nvSpPr>
          <p:cNvPr id="36" name="Text 33"/>
          <p:cNvSpPr txBox="1"/>
          <p:nvPr/>
        </p:nvSpPr>
        <p:spPr>
          <a:xfrm>
            <a:off x="7546086" y="1627632"/>
            <a:ext cx="1245870" cy="384048"/>
          </a:xfrm>
          <a:prstGeom prst="rect">
            <a:avLst/>
          </a:prstGeom>
          <a:noFill/>
          <a:ln/>
        </p:spPr>
        <p:txBody>
          <a:bodyPr wrap="square" lIns="0" tIns="0" rIns="0" bIns="0" rtlCol="0" anchor="ctr"/>
          <a:lstStyle/>
          <a:p>
            <a:pPr algn="ctr" indent="0" marL="0">
              <a:buNone/>
            </a:pPr>
            <a:r>
              <a:rPr lang="en-US" sz="1000" b="1" dirty="0">
                <a:solidFill>
                  <a:schemeClr val="tx2"/>
                </a:solidFill>
              </a:rPr>
              <a:t>Certificación</a:t>
            </a:r>
            <a:endParaRPr lang="en-US" sz="1000" dirty="0"/>
          </a:p>
        </p:txBody>
      </p:sp>
      <p:sp>
        <p:nvSpPr>
          <p:cNvPr id="37" name="Shape 34"/>
          <p:cNvSpPr/>
          <p:nvPr/>
        </p:nvSpPr>
        <p:spPr>
          <a:xfrm>
            <a:off x="7646670" y="2048256"/>
            <a:ext cx="1044702" cy="237744"/>
          </a:xfrm>
          <a:prstGeom prst="roundRect">
            <a:avLst>
              <a:gd name="adj" fmla="val 50000"/>
            </a:avLst>
          </a:prstGeom>
          <a:solidFill>
            <a:schemeClr val="accent3"/>
          </a:solidFill>
          <a:ln w="12700">
            <a:solidFill>
              <a:schemeClr val="accent3"/>
            </a:solidFill>
            <a:prstDash val="solid"/>
          </a:ln>
        </p:spPr>
      </p:sp>
      <p:sp>
        <p:nvSpPr>
          <p:cNvPr id="38" name="Text 35"/>
          <p:cNvSpPr txBox="1"/>
          <p:nvPr/>
        </p:nvSpPr>
        <p:spPr>
          <a:xfrm>
            <a:off x="7646670" y="2048256"/>
            <a:ext cx="1044702" cy="237744"/>
          </a:xfrm>
          <a:prstGeom prst="rect">
            <a:avLst/>
          </a:prstGeom>
          <a:noFill/>
          <a:ln/>
        </p:spPr>
        <p:txBody>
          <a:bodyPr wrap="square" lIns="0" tIns="0" rIns="0" bIns="0" rtlCol="0" anchor="ctr"/>
          <a:lstStyle/>
          <a:p>
            <a:pPr algn="ctr" indent="0" marL="0">
              <a:buNone/>
            </a:pPr>
            <a:r>
              <a:rPr lang="en-US" sz="850" b="1" dirty="0">
                <a:solidFill>
                  <a:schemeClr val="bg1"/>
                </a:solidFill>
              </a:rPr>
              <a:t>SURA</a:t>
            </a:r>
            <a:endParaRPr lang="en-US" sz="850" dirty="0"/>
          </a:p>
        </p:txBody>
      </p:sp>
      <p:sp>
        <p:nvSpPr>
          <p:cNvPr id="39" name="Shape 36"/>
          <p:cNvSpPr/>
          <p:nvPr/>
        </p:nvSpPr>
        <p:spPr>
          <a:xfrm>
            <a:off x="7619238" y="2606040"/>
            <a:ext cx="1099566" cy="347472"/>
          </a:xfrm>
          <a:prstGeom prst="roundRect">
            <a:avLst>
              <a:gd name="adj" fmla="val 13158"/>
            </a:avLst>
          </a:prstGeom>
          <a:solidFill>
            <a:schemeClr val="accent2"/>
          </a:solidFill>
          <a:ln w="12700">
            <a:solidFill>
              <a:schemeClr val="accent2"/>
            </a:solidFill>
            <a:prstDash val="solid"/>
          </a:ln>
        </p:spPr>
      </p:sp>
      <p:sp>
        <p:nvSpPr>
          <p:cNvPr id="40" name="Shape 37"/>
          <p:cNvSpPr/>
          <p:nvPr/>
        </p:nvSpPr>
        <p:spPr>
          <a:xfrm>
            <a:off x="8901684" y="1554480"/>
            <a:ext cx="1319022" cy="2514600"/>
          </a:xfrm>
          <a:prstGeom prst="roundRect">
            <a:avLst>
              <a:gd name="adj" fmla="val 4159"/>
            </a:avLst>
          </a:prstGeom>
          <a:solidFill>
            <a:schemeClr val="accent4"/>
          </a:solidFill>
          <a:ln w="12700">
            <a:solidFill>
              <a:srgbClr val="DCD8EC"/>
            </a:solidFill>
            <a:prstDash val="solid"/>
          </a:ln>
        </p:spPr>
      </p:sp>
      <p:sp>
        <p:nvSpPr>
          <p:cNvPr id="41" name="Text 38"/>
          <p:cNvSpPr txBox="1"/>
          <p:nvPr/>
        </p:nvSpPr>
        <p:spPr>
          <a:xfrm>
            <a:off x="8938260" y="1627632"/>
            <a:ext cx="1245870" cy="384048"/>
          </a:xfrm>
          <a:prstGeom prst="rect">
            <a:avLst/>
          </a:prstGeom>
          <a:noFill/>
          <a:ln/>
        </p:spPr>
        <p:txBody>
          <a:bodyPr wrap="square" lIns="0" tIns="0" rIns="0" bIns="0" rtlCol="0" anchor="ctr"/>
          <a:lstStyle/>
          <a:p>
            <a:pPr algn="ctr" indent="0" marL="0">
              <a:buNone/>
            </a:pPr>
            <a:r>
              <a:rPr lang="en-US" sz="1000" b="1" dirty="0">
                <a:solidFill>
                  <a:schemeClr val="tx2"/>
                </a:solidFill>
              </a:rPr>
              <a:t>Liberada</a:t>
            </a:r>
            <a:endParaRPr lang="en-US" sz="1000" dirty="0"/>
          </a:p>
        </p:txBody>
      </p:sp>
      <p:sp>
        <p:nvSpPr>
          <p:cNvPr id="42" name="Shape 39"/>
          <p:cNvSpPr/>
          <p:nvPr/>
        </p:nvSpPr>
        <p:spPr>
          <a:xfrm>
            <a:off x="9038844" y="2048256"/>
            <a:ext cx="1044702" cy="237744"/>
          </a:xfrm>
          <a:prstGeom prst="roundRect">
            <a:avLst>
              <a:gd name="adj" fmla="val 50000"/>
            </a:avLst>
          </a:prstGeom>
          <a:solidFill>
            <a:schemeClr val="accent2"/>
          </a:solidFill>
          <a:ln w="12700">
            <a:solidFill>
              <a:schemeClr val="accent2"/>
            </a:solidFill>
            <a:prstDash val="solid"/>
          </a:ln>
        </p:spPr>
      </p:sp>
      <p:sp>
        <p:nvSpPr>
          <p:cNvPr id="43" name="Text 40"/>
          <p:cNvSpPr txBox="1"/>
          <p:nvPr/>
        </p:nvSpPr>
        <p:spPr>
          <a:xfrm>
            <a:off x="9038844" y="2048256"/>
            <a:ext cx="1044702" cy="237744"/>
          </a:xfrm>
          <a:prstGeom prst="rect">
            <a:avLst/>
          </a:prstGeom>
          <a:noFill/>
          <a:ln/>
        </p:spPr>
        <p:txBody>
          <a:bodyPr wrap="square" lIns="0" tIns="0" rIns="0" bIns="0" rtlCol="0" anchor="ctr"/>
          <a:lstStyle/>
          <a:p>
            <a:pPr algn="ctr" indent="0" marL="0">
              <a:buNone/>
            </a:pPr>
            <a:r>
              <a:rPr lang="en-US" sz="850" b="1" dirty="0">
                <a:solidFill>
                  <a:schemeClr val="bg1"/>
                </a:solidFill>
              </a:rPr>
              <a:t>SURA + Tech</a:t>
            </a:r>
            <a:endParaRPr lang="en-US" sz="850" dirty="0"/>
          </a:p>
        </p:txBody>
      </p:sp>
      <p:sp>
        <p:nvSpPr>
          <p:cNvPr id="44" name="Shape 41"/>
          <p:cNvSpPr/>
          <p:nvPr/>
        </p:nvSpPr>
        <p:spPr>
          <a:xfrm>
            <a:off x="9011412" y="2606040"/>
            <a:ext cx="1099566" cy="347472"/>
          </a:xfrm>
          <a:prstGeom prst="roundRect">
            <a:avLst>
              <a:gd name="adj" fmla="val 13158"/>
            </a:avLst>
          </a:prstGeom>
          <a:solidFill>
            <a:schemeClr val="accent3"/>
          </a:solidFill>
          <a:ln w="12700">
            <a:solidFill>
              <a:schemeClr val="accent3"/>
            </a:solidFill>
            <a:prstDash val="solid"/>
          </a:ln>
        </p:spPr>
      </p:sp>
      <p:sp>
        <p:nvSpPr>
          <p:cNvPr id="45" name="Shape 42"/>
          <p:cNvSpPr/>
          <p:nvPr/>
        </p:nvSpPr>
        <p:spPr>
          <a:xfrm>
            <a:off x="10293858" y="1554480"/>
            <a:ext cx="1319022" cy="2514600"/>
          </a:xfrm>
          <a:prstGeom prst="roundRect">
            <a:avLst>
              <a:gd name="adj" fmla="val 4159"/>
            </a:avLst>
          </a:prstGeom>
          <a:solidFill>
            <a:schemeClr val="accent4"/>
          </a:solidFill>
          <a:ln w="12700">
            <a:solidFill>
              <a:srgbClr val="DCD8EC"/>
            </a:solidFill>
            <a:prstDash val="solid"/>
          </a:ln>
        </p:spPr>
      </p:sp>
      <p:sp>
        <p:nvSpPr>
          <p:cNvPr id="46" name="Text 43"/>
          <p:cNvSpPr txBox="1"/>
          <p:nvPr/>
        </p:nvSpPr>
        <p:spPr>
          <a:xfrm>
            <a:off x="10330434" y="1627632"/>
            <a:ext cx="1245870" cy="384048"/>
          </a:xfrm>
          <a:prstGeom prst="rect">
            <a:avLst/>
          </a:prstGeom>
          <a:noFill/>
          <a:ln/>
        </p:spPr>
        <p:txBody>
          <a:bodyPr wrap="square" lIns="0" tIns="0" rIns="0" bIns="0" rtlCol="0" anchor="ctr"/>
          <a:lstStyle/>
          <a:p>
            <a:pPr algn="ctr" indent="0" marL="0">
              <a:buNone/>
            </a:pPr>
            <a:r>
              <a:rPr lang="en-US" sz="1000" b="1" dirty="0">
                <a:solidFill>
                  <a:schemeClr val="tx2"/>
                </a:solidFill>
              </a:rPr>
              <a:t>Estable</a:t>
            </a:r>
            <a:endParaRPr lang="en-US" sz="1000" dirty="0"/>
          </a:p>
        </p:txBody>
      </p:sp>
      <p:sp>
        <p:nvSpPr>
          <p:cNvPr id="47" name="Shape 44"/>
          <p:cNvSpPr/>
          <p:nvPr/>
        </p:nvSpPr>
        <p:spPr>
          <a:xfrm>
            <a:off x="10431018" y="2048256"/>
            <a:ext cx="1044702" cy="237744"/>
          </a:xfrm>
          <a:prstGeom prst="roundRect">
            <a:avLst>
              <a:gd name="adj" fmla="val 50000"/>
            </a:avLst>
          </a:prstGeom>
          <a:solidFill>
            <a:schemeClr val="accent2"/>
          </a:solidFill>
          <a:ln w="12700">
            <a:solidFill>
              <a:schemeClr val="accent2"/>
            </a:solidFill>
            <a:prstDash val="solid"/>
          </a:ln>
        </p:spPr>
      </p:sp>
      <p:sp>
        <p:nvSpPr>
          <p:cNvPr id="48" name="Text 45"/>
          <p:cNvSpPr txBox="1"/>
          <p:nvPr/>
        </p:nvSpPr>
        <p:spPr>
          <a:xfrm>
            <a:off x="10431018" y="2048256"/>
            <a:ext cx="1044702" cy="237744"/>
          </a:xfrm>
          <a:prstGeom prst="rect">
            <a:avLst/>
          </a:prstGeom>
          <a:noFill/>
          <a:ln/>
        </p:spPr>
        <p:txBody>
          <a:bodyPr wrap="square" lIns="0" tIns="0" rIns="0" bIns="0" rtlCol="0" anchor="ctr"/>
          <a:lstStyle/>
          <a:p>
            <a:pPr algn="ctr" indent="0" marL="0">
              <a:buNone/>
            </a:pPr>
            <a:r>
              <a:rPr lang="en-US" sz="850" b="1" dirty="0">
                <a:solidFill>
                  <a:schemeClr val="bg1"/>
                </a:solidFill>
              </a:rPr>
              <a:t>Tech + SURA</a:t>
            </a:r>
            <a:endParaRPr lang="en-US" sz="850" dirty="0"/>
          </a:p>
        </p:txBody>
      </p:sp>
      <p:sp>
        <p:nvSpPr>
          <p:cNvPr id="49" name="Shape 46"/>
          <p:cNvSpPr/>
          <p:nvPr/>
        </p:nvSpPr>
        <p:spPr>
          <a:xfrm>
            <a:off x="10403586" y="2606040"/>
            <a:ext cx="1099566" cy="347472"/>
          </a:xfrm>
          <a:prstGeom prst="roundRect">
            <a:avLst>
              <a:gd name="adj" fmla="val 13158"/>
            </a:avLst>
          </a:prstGeom>
          <a:solidFill>
            <a:schemeClr val="accent3"/>
          </a:solidFill>
          <a:ln w="12700">
            <a:solidFill>
              <a:schemeClr val="accent3"/>
            </a:solidFill>
            <a:prstDash val="solid"/>
          </a:ln>
        </p:spPr>
      </p:sp>
      <p:sp>
        <p:nvSpPr>
          <p:cNvPr id="50" name="Shape 47"/>
          <p:cNvSpPr/>
          <p:nvPr/>
        </p:nvSpPr>
        <p:spPr>
          <a:xfrm>
            <a:off x="10403586" y="3063240"/>
            <a:ext cx="1099566" cy="347472"/>
          </a:xfrm>
          <a:prstGeom prst="roundRect">
            <a:avLst>
              <a:gd name="adj" fmla="val 13158"/>
            </a:avLst>
          </a:prstGeom>
          <a:solidFill>
            <a:schemeClr val="accent3"/>
          </a:solidFill>
          <a:ln w="12700">
            <a:solidFill>
              <a:schemeClr val="accent3"/>
            </a:solidFill>
            <a:prstDash val="solid"/>
          </a:ln>
        </p:spPr>
      </p:sp>
      <p:sp>
        <p:nvSpPr>
          <p:cNvPr id="51" name="Text 48"/>
          <p:cNvSpPr txBox="1"/>
          <p:nvPr/>
        </p:nvSpPr>
        <p:spPr>
          <a:xfrm>
            <a:off x="548640" y="4123944"/>
            <a:ext cx="1463040" cy="256032"/>
          </a:xfrm>
          <a:prstGeom prst="rect">
            <a:avLst/>
          </a:prstGeom>
          <a:noFill/>
          <a:ln/>
        </p:spPr>
        <p:txBody>
          <a:bodyPr wrap="square" lIns="0" tIns="0" rIns="0" bIns="0" rtlCol="0" anchor="ctr"/>
          <a:lstStyle/>
          <a:p>
            <a:pPr indent="0" marL="0">
              <a:buNone/>
            </a:pPr>
            <a:r>
              <a:rPr lang="en-US" sz="1050" b="1" dirty="0">
                <a:solidFill>
                  <a:schemeClr val="tx2"/>
                </a:solidFill>
              </a:rPr>
              <a:t>Quién participa:</a:t>
            </a:r>
            <a:endParaRPr lang="en-US" sz="1050" dirty="0"/>
          </a:p>
        </p:txBody>
      </p:sp>
      <p:sp>
        <p:nvSpPr>
          <p:cNvPr id="52" name="Shape 49"/>
          <p:cNvSpPr/>
          <p:nvPr/>
        </p:nvSpPr>
        <p:spPr>
          <a:xfrm>
            <a:off x="2194560" y="4187952"/>
            <a:ext cx="274320" cy="137160"/>
          </a:xfrm>
          <a:prstGeom prst="roundRect">
            <a:avLst>
              <a:gd name="adj" fmla="val 26667"/>
            </a:avLst>
          </a:prstGeom>
          <a:solidFill>
            <a:schemeClr val="accent3"/>
          </a:solidFill>
          <a:ln w="12700">
            <a:solidFill>
              <a:schemeClr val="accent3"/>
            </a:solidFill>
            <a:prstDash val="solid"/>
          </a:ln>
        </p:spPr>
      </p:sp>
      <p:sp>
        <p:nvSpPr>
          <p:cNvPr id="53" name="Text 50"/>
          <p:cNvSpPr txBox="1"/>
          <p:nvPr/>
        </p:nvSpPr>
        <p:spPr>
          <a:xfrm>
            <a:off x="2542032" y="4123944"/>
            <a:ext cx="914400" cy="256032"/>
          </a:xfrm>
          <a:prstGeom prst="rect">
            <a:avLst/>
          </a:prstGeom>
          <a:noFill/>
          <a:ln/>
        </p:spPr>
        <p:txBody>
          <a:bodyPr wrap="square" lIns="0" tIns="0" rIns="0" bIns="0" rtlCol="0" anchor="ctr"/>
          <a:lstStyle/>
          <a:p>
            <a:pPr indent="0" marL="0">
              <a:buNone/>
            </a:pPr>
            <a:r>
              <a:rPr lang="en-US" sz="1050" dirty="0">
                <a:solidFill>
                  <a:schemeClr val="accent6"/>
                </a:solidFill>
              </a:rPr>
              <a:t>SURA</a:t>
            </a:r>
            <a:endParaRPr lang="en-US" sz="1050" dirty="0"/>
          </a:p>
        </p:txBody>
      </p:sp>
      <p:sp>
        <p:nvSpPr>
          <p:cNvPr id="54" name="Shape 51"/>
          <p:cNvSpPr/>
          <p:nvPr/>
        </p:nvSpPr>
        <p:spPr>
          <a:xfrm>
            <a:off x="3337560" y="4187952"/>
            <a:ext cx="274320" cy="137160"/>
          </a:xfrm>
          <a:prstGeom prst="roundRect">
            <a:avLst>
              <a:gd name="adj" fmla="val 26667"/>
            </a:avLst>
          </a:prstGeom>
          <a:solidFill>
            <a:schemeClr val="accent1"/>
          </a:solidFill>
          <a:ln w="12700">
            <a:solidFill>
              <a:schemeClr val="accent1"/>
            </a:solidFill>
            <a:prstDash val="solid"/>
          </a:ln>
        </p:spPr>
      </p:sp>
      <p:sp>
        <p:nvSpPr>
          <p:cNvPr id="55" name="Text 52"/>
          <p:cNvSpPr txBox="1"/>
          <p:nvPr/>
        </p:nvSpPr>
        <p:spPr>
          <a:xfrm>
            <a:off x="3685032" y="4123944"/>
            <a:ext cx="914400" cy="256032"/>
          </a:xfrm>
          <a:prstGeom prst="rect">
            <a:avLst/>
          </a:prstGeom>
          <a:noFill/>
          <a:ln/>
        </p:spPr>
        <p:txBody>
          <a:bodyPr wrap="square" lIns="0" tIns="0" rIns="0" bIns="0" rtlCol="0" anchor="ctr"/>
          <a:lstStyle/>
          <a:p>
            <a:pPr indent="0" marL="0">
              <a:buNone/>
            </a:pPr>
            <a:r>
              <a:rPr lang="en-US" sz="1050" dirty="0">
                <a:solidFill>
                  <a:schemeClr val="accent6"/>
                </a:solidFill>
              </a:rPr>
              <a:t>Tech</a:t>
            </a:r>
            <a:endParaRPr lang="en-US" sz="1050" dirty="0"/>
          </a:p>
        </p:txBody>
      </p:sp>
      <p:sp>
        <p:nvSpPr>
          <p:cNvPr id="56" name="Shape 53"/>
          <p:cNvSpPr/>
          <p:nvPr/>
        </p:nvSpPr>
        <p:spPr>
          <a:xfrm>
            <a:off x="4480560" y="4187952"/>
            <a:ext cx="274320" cy="137160"/>
          </a:xfrm>
          <a:prstGeom prst="roundRect">
            <a:avLst>
              <a:gd name="adj" fmla="val 26667"/>
            </a:avLst>
          </a:prstGeom>
          <a:solidFill>
            <a:schemeClr val="accent2"/>
          </a:solidFill>
          <a:ln w="12700">
            <a:solidFill>
              <a:schemeClr val="accent2"/>
            </a:solidFill>
            <a:prstDash val="solid"/>
          </a:ln>
        </p:spPr>
      </p:sp>
      <p:sp>
        <p:nvSpPr>
          <p:cNvPr id="57" name="Text 54"/>
          <p:cNvSpPr txBox="1"/>
          <p:nvPr/>
        </p:nvSpPr>
        <p:spPr>
          <a:xfrm>
            <a:off x="4828032" y="4123944"/>
            <a:ext cx="2468880" cy="256032"/>
          </a:xfrm>
          <a:prstGeom prst="rect">
            <a:avLst/>
          </a:prstGeom>
          <a:noFill/>
          <a:ln/>
        </p:spPr>
        <p:txBody>
          <a:bodyPr wrap="square" lIns="0" tIns="0" rIns="0" bIns="0" rtlCol="0" anchor="ctr"/>
          <a:lstStyle/>
          <a:p>
            <a:pPr indent="0" marL="0">
              <a:buNone/>
            </a:pPr>
            <a:r>
              <a:rPr lang="en-US" sz="1050" dirty="0">
                <a:solidFill>
                  <a:schemeClr val="accent6"/>
                </a:solidFill>
              </a:rPr>
              <a:t>Los dos, en la misma etapa</a:t>
            </a:r>
            <a:endParaRPr lang="en-US" sz="1050" dirty="0"/>
          </a:p>
        </p:txBody>
      </p:sp>
      <p:sp>
        <p:nvSpPr>
          <p:cNvPr id="58" name="Shape 55"/>
          <p:cNvSpPr/>
          <p:nvPr/>
        </p:nvSpPr>
        <p:spPr>
          <a:xfrm>
            <a:off x="548640" y="4599432"/>
            <a:ext cx="420624" cy="420624"/>
          </a:xfrm>
          <a:prstGeom prst="ellipse">
            <a:avLst/>
          </a:prstGeom>
          <a:solidFill>
            <a:schemeClr val="accent1"/>
          </a:solidFill>
          <a:ln w="12700">
            <a:solidFill>
              <a:schemeClr val="accent1"/>
            </a:solidFill>
            <a:prstDash val="solid"/>
          </a:ln>
        </p:spPr>
      </p:sp>
      <p:sp>
        <p:nvSpPr>
          <p:cNvPr id="59" name="Text 56"/>
          <p:cNvSpPr txBox="1"/>
          <p:nvPr/>
        </p:nvSpPr>
        <p:spPr>
          <a:xfrm>
            <a:off x="548640" y="4599432"/>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0" name="Text 57"/>
          <p:cNvSpPr txBox="1"/>
          <p:nvPr/>
        </p:nvSpPr>
        <p:spPr>
          <a:xfrm>
            <a:off x="1097280" y="4526280"/>
            <a:ext cx="2956560" cy="731520"/>
          </a:xfrm>
          <a:prstGeom prst="rect">
            <a:avLst/>
          </a:prstGeom>
          <a:noFill/>
          <a:ln/>
        </p:spPr>
        <p:txBody>
          <a:bodyPr wrap="square" lIns="0" tIns="0" rIns="0" bIns="0" rtlCol="0" anchor="ctr"/>
          <a:lstStyle/>
          <a:p>
            <a:pPr indent="0" marL="0">
              <a:buNone/>
            </a:pPr>
            <a:r>
              <a:rPr lang="en-US" sz="1200" b="1" dirty="0">
                <a:solidFill>
                  <a:schemeClr val="tx2"/>
                </a:solidFill>
              </a:rPr>
              <a:t>Un solo backlog.</a:t>
            </a:r>
            <a:pPr indent="0" marL="0">
              <a:buNone/>
            </a:pPr>
            <a:r>
              <a:rPr lang="en-US" sz="1200" dirty="0">
                <a:solidFill>
                  <a:schemeClr val="tx1"/>
                </a:solidFill>
              </a:rPr>
              <a:t> Cada quien toma la siguiente prioridad, con máximo dos cosas en construcción.</a:t>
            </a:r>
            <a:endParaRPr lang="en-US" sz="1200" dirty="0"/>
          </a:p>
        </p:txBody>
      </p:sp>
      <p:sp>
        <p:nvSpPr>
          <p:cNvPr id="61" name="Shape 58"/>
          <p:cNvSpPr/>
          <p:nvPr/>
        </p:nvSpPr>
        <p:spPr>
          <a:xfrm>
            <a:off x="4328160" y="4599432"/>
            <a:ext cx="420624" cy="420624"/>
          </a:xfrm>
          <a:prstGeom prst="ellipse">
            <a:avLst/>
          </a:prstGeom>
          <a:solidFill>
            <a:schemeClr val="accent1"/>
          </a:solidFill>
          <a:ln w="12700">
            <a:solidFill>
              <a:schemeClr val="accent1"/>
            </a:solidFill>
            <a:prstDash val="solid"/>
          </a:ln>
        </p:spPr>
      </p:sp>
      <p:sp>
        <p:nvSpPr>
          <p:cNvPr id="62" name="Text 59"/>
          <p:cNvSpPr txBox="1"/>
          <p:nvPr/>
        </p:nvSpPr>
        <p:spPr>
          <a:xfrm>
            <a:off x="4328160" y="4599432"/>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63" name="Text 60"/>
          <p:cNvSpPr txBox="1"/>
          <p:nvPr/>
        </p:nvSpPr>
        <p:spPr>
          <a:xfrm>
            <a:off x="4876800" y="4526280"/>
            <a:ext cx="2956560" cy="731520"/>
          </a:xfrm>
          <a:prstGeom prst="rect">
            <a:avLst/>
          </a:prstGeom>
          <a:noFill/>
          <a:ln/>
        </p:spPr>
        <p:txBody>
          <a:bodyPr wrap="square" lIns="0" tIns="0" rIns="0" bIns="0" rtlCol="0" anchor="ctr"/>
          <a:lstStyle/>
          <a:p>
            <a:pPr indent="0" marL="0">
              <a:buNone/>
            </a:pPr>
            <a:r>
              <a:rPr lang="en-US" sz="1200" b="1" dirty="0">
                <a:solidFill>
                  <a:schemeClr val="tx2"/>
                </a:solidFill>
              </a:rPr>
              <a:t>Lo riesgoso, en pareja:</a:t>
            </a:r>
            <a:pPr indent="0" marL="0">
              <a:buNone/>
            </a:pPr>
            <a:r>
              <a:rPr lang="en-US" sz="1200" dirty="0">
                <a:solidFill>
                  <a:schemeClr val="tx1"/>
                </a:solidFill>
              </a:rPr>
              <a:t> contratos, traza y agentes que influyen en una decisión.</a:t>
            </a:r>
            <a:endParaRPr lang="en-US" sz="1200" dirty="0"/>
          </a:p>
        </p:txBody>
      </p:sp>
      <p:sp>
        <p:nvSpPr>
          <p:cNvPr id="64" name="Shape 61"/>
          <p:cNvSpPr/>
          <p:nvPr/>
        </p:nvSpPr>
        <p:spPr>
          <a:xfrm>
            <a:off x="8107680" y="4599432"/>
            <a:ext cx="420624" cy="420624"/>
          </a:xfrm>
          <a:prstGeom prst="ellipse">
            <a:avLst/>
          </a:prstGeom>
          <a:solidFill>
            <a:schemeClr val="accent1"/>
          </a:solidFill>
          <a:ln w="12700">
            <a:solidFill>
              <a:schemeClr val="accent1"/>
            </a:solidFill>
            <a:prstDash val="solid"/>
          </a:ln>
        </p:spPr>
      </p:sp>
      <p:sp>
        <p:nvSpPr>
          <p:cNvPr id="65" name="Text 62"/>
          <p:cNvSpPr txBox="1"/>
          <p:nvPr/>
        </p:nvSpPr>
        <p:spPr>
          <a:xfrm>
            <a:off x="8107680" y="4599432"/>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66" name="Text 63"/>
          <p:cNvSpPr txBox="1"/>
          <p:nvPr/>
        </p:nvSpPr>
        <p:spPr>
          <a:xfrm>
            <a:off x="8656320" y="4526280"/>
            <a:ext cx="2956560" cy="731520"/>
          </a:xfrm>
          <a:prstGeom prst="rect">
            <a:avLst/>
          </a:prstGeom>
          <a:noFill/>
          <a:ln/>
        </p:spPr>
        <p:txBody>
          <a:bodyPr wrap="square" lIns="0" tIns="0" rIns="0" bIns="0" rtlCol="0" anchor="ctr"/>
          <a:lstStyle/>
          <a:p>
            <a:pPr indent="0" marL="0">
              <a:buNone/>
            </a:pPr>
            <a:r>
              <a:rPr lang="en-US" sz="1200" b="1" dirty="0">
                <a:solidFill>
                  <a:schemeClr val="tx2"/>
                </a:solidFill>
              </a:rPr>
              <a:t>Características de tres días o menos.</a:t>
            </a:r>
            <a:pPr indent="0" marL="0">
              <a:buNone/>
            </a:pPr>
            <a:r>
              <a:rPr lang="en-US" sz="1200" dirty="0">
                <a:solidFill>
                  <a:schemeClr val="tx1"/>
                </a:solidFill>
              </a:rPr>
              <a:t> Si una no cabe, se parte, para poder liberar seguido.</a:t>
            </a:r>
            <a:endParaRPr lang="en-US" sz="1200" dirty="0"/>
          </a:p>
        </p:txBody>
      </p:sp>
      <p:sp>
        <p:nvSpPr>
          <p:cNvPr id="67" name="Shape 64"/>
          <p:cNvSpPr/>
          <p:nvPr/>
        </p:nvSpPr>
        <p:spPr>
          <a:xfrm>
            <a:off x="548640" y="5468112"/>
            <a:ext cx="420624" cy="420624"/>
          </a:xfrm>
          <a:prstGeom prst="ellipse">
            <a:avLst/>
          </a:prstGeom>
          <a:solidFill>
            <a:schemeClr val="accent1"/>
          </a:solidFill>
          <a:ln w="12700">
            <a:solidFill>
              <a:schemeClr val="accent1"/>
            </a:solidFill>
            <a:prstDash val="solid"/>
          </a:ln>
        </p:spPr>
      </p:sp>
      <p:sp>
        <p:nvSpPr>
          <p:cNvPr id="68" name="Text 65"/>
          <p:cNvSpPr txBox="1"/>
          <p:nvPr/>
        </p:nvSpPr>
        <p:spPr>
          <a:xfrm>
            <a:off x="548640" y="5468112"/>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69" name="Text 66"/>
          <p:cNvSpPr txBox="1"/>
          <p:nvPr/>
        </p:nvSpPr>
        <p:spPr>
          <a:xfrm>
            <a:off x="1097280" y="5394960"/>
            <a:ext cx="2956560" cy="731520"/>
          </a:xfrm>
          <a:prstGeom prst="rect">
            <a:avLst/>
          </a:prstGeom>
          <a:noFill/>
          <a:ln/>
        </p:spPr>
        <p:txBody>
          <a:bodyPr wrap="square" lIns="0" tIns="0" rIns="0" bIns="0" rtlCol="0" anchor="ctr"/>
          <a:lstStyle/>
          <a:p>
            <a:pPr indent="0" marL="0">
              <a:buNone/>
            </a:pPr>
            <a:r>
              <a:rPr lang="en-US" sz="1200" b="1" dirty="0">
                <a:solidFill>
                  <a:schemeClr val="tx2"/>
                </a:solidFill>
              </a:rPr>
              <a:t>Revisa quien no escribió.</a:t>
            </a:r>
            <a:pPr indent="0" marL="0">
              <a:buNone/>
            </a:pPr>
            <a:r>
              <a:rPr lang="en-US" sz="1200" dirty="0">
                <a:solidFill>
                  <a:schemeClr val="tx1"/>
                </a:solidFill>
              </a:rPr>
              <a:t> El arquitecto revisa contra los lineamientos.</a:t>
            </a:r>
            <a:endParaRPr lang="en-US" sz="1200" dirty="0"/>
          </a:p>
        </p:txBody>
      </p:sp>
      <p:sp>
        <p:nvSpPr>
          <p:cNvPr id="70" name="Shape 67"/>
          <p:cNvSpPr/>
          <p:nvPr/>
        </p:nvSpPr>
        <p:spPr>
          <a:xfrm>
            <a:off x="4328160" y="5468112"/>
            <a:ext cx="420624" cy="420624"/>
          </a:xfrm>
          <a:prstGeom prst="ellipse">
            <a:avLst/>
          </a:prstGeom>
          <a:solidFill>
            <a:schemeClr val="accent1"/>
          </a:solidFill>
          <a:ln w="12700">
            <a:solidFill>
              <a:schemeClr val="accent1"/>
            </a:solidFill>
            <a:prstDash val="solid"/>
          </a:ln>
        </p:spPr>
      </p:sp>
      <p:sp>
        <p:nvSpPr>
          <p:cNvPr id="71" name="Text 68"/>
          <p:cNvSpPr txBox="1"/>
          <p:nvPr/>
        </p:nvSpPr>
        <p:spPr>
          <a:xfrm>
            <a:off x="4328160" y="5468112"/>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72" name="Text 69"/>
          <p:cNvSpPr txBox="1"/>
          <p:nvPr/>
        </p:nvSpPr>
        <p:spPr>
          <a:xfrm>
            <a:off x="4876800" y="5394960"/>
            <a:ext cx="2956560" cy="731520"/>
          </a:xfrm>
          <a:prstGeom prst="rect">
            <a:avLst/>
          </a:prstGeom>
          <a:noFill/>
          <a:ln/>
        </p:spPr>
        <p:txBody>
          <a:bodyPr wrap="square" lIns="0" tIns="0" rIns="0" bIns="0" rtlCol="0" anchor="ctr"/>
          <a:lstStyle/>
          <a:p>
            <a:pPr indent="0" marL="0">
              <a:buNone/>
            </a:pPr>
            <a:r>
              <a:rPr lang="en-US" sz="1200" b="1" dirty="0">
                <a:solidFill>
                  <a:schemeClr val="tx2"/>
                </a:solidFill>
              </a:rPr>
              <a:t>Un bloqueo se dice el mismo día</a:t>
            </a:r>
            <a:pPr indent="0" marL="0">
              <a:buNone/>
            </a:pPr>
            <a:r>
              <a:rPr lang="en-US" sz="1200" dirty="0">
                <a:solidFill>
                  <a:schemeClr val="tx1"/>
                </a:solidFill>
              </a:rPr>
              <a:t> y se nombra su dueño.</a:t>
            </a:r>
            <a:endParaRPr lang="en-US" sz="1200" dirty="0"/>
          </a:p>
        </p:txBody>
      </p:sp>
      <p:sp>
        <p:nvSpPr>
          <p:cNvPr id="73" name="Shape 70"/>
          <p:cNvSpPr/>
          <p:nvPr/>
        </p:nvSpPr>
        <p:spPr>
          <a:xfrm>
            <a:off x="8107680" y="5468112"/>
            <a:ext cx="420624" cy="420624"/>
          </a:xfrm>
          <a:prstGeom prst="ellipse">
            <a:avLst/>
          </a:prstGeom>
          <a:solidFill>
            <a:schemeClr val="accent1"/>
          </a:solidFill>
          <a:ln w="12700">
            <a:solidFill>
              <a:schemeClr val="accent1"/>
            </a:solidFill>
            <a:prstDash val="solid"/>
          </a:ln>
        </p:spPr>
      </p:sp>
      <p:sp>
        <p:nvSpPr>
          <p:cNvPr id="74" name="Text 71"/>
          <p:cNvSpPr txBox="1"/>
          <p:nvPr/>
        </p:nvSpPr>
        <p:spPr>
          <a:xfrm>
            <a:off x="8107680" y="5468112"/>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75" name="Text 72"/>
          <p:cNvSpPr txBox="1"/>
          <p:nvPr/>
        </p:nvSpPr>
        <p:spPr>
          <a:xfrm>
            <a:off x="8656320" y="5394960"/>
            <a:ext cx="2956560" cy="731520"/>
          </a:xfrm>
          <a:prstGeom prst="rect">
            <a:avLst/>
          </a:prstGeom>
          <a:noFill/>
          <a:ln/>
        </p:spPr>
        <p:txBody>
          <a:bodyPr wrap="square" lIns="0" tIns="0" rIns="0" bIns="0" rtlCol="0" anchor="ctr"/>
          <a:lstStyle/>
          <a:p>
            <a:pPr indent="0" marL="0">
              <a:buNone/>
            </a:pPr>
            <a:r>
              <a:rPr lang="en-US" sz="1200" b="1" dirty="0">
                <a:solidFill>
                  <a:schemeClr val="tx2"/>
                </a:solidFill>
              </a:rPr>
              <a:t>La mejora continua es de todos:</a:t>
            </a:r>
            <a:pPr indent="0" marL="0">
              <a:buNone/>
            </a:pPr>
            <a:r>
              <a:rPr lang="en-US" sz="1200" dirty="0">
                <a:solidFill>
                  <a:schemeClr val="tx1"/>
                </a:solidFill>
              </a:rPr>
              <a:t> cada ajuste queda a la vista del equipo y de SURA.</a:t>
            </a:r>
            <a:endParaRPr lang="en-US" sz="12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Qué recibe SURA con cada micro-liberación</a:t>
            </a:r>
            <a:endParaRPr lang="en-US" sz="2800" dirty="0"/>
          </a:p>
        </p:txBody>
      </p:sp>
      <p:sp>
        <p:nvSpPr>
          <p:cNvPr id="4" name="Shape 1"/>
          <p:cNvSpPr/>
          <p:nvPr/>
        </p:nvSpPr>
        <p:spPr>
          <a:xfrm>
            <a:off x="548640" y="1645920"/>
            <a:ext cx="3520440" cy="3063240"/>
          </a:xfrm>
          <a:prstGeom prst="roundRect">
            <a:avLst>
              <a:gd name="adj" fmla="val 2388"/>
            </a:avLst>
          </a:prstGeom>
          <a:solidFill>
            <a:schemeClr val="accent4"/>
          </a:solidFill>
          <a:ln w="12700">
            <a:solidFill>
              <a:srgbClr val="DCD8EC"/>
            </a:solidFill>
            <a:prstDash val="solid"/>
          </a:ln>
        </p:spPr>
      </p:sp>
      <p:sp>
        <p:nvSpPr>
          <p:cNvPr id="5" name="Shape 2"/>
          <p:cNvSpPr/>
          <p:nvPr/>
        </p:nvSpPr>
        <p:spPr>
          <a:xfrm>
            <a:off x="822960" y="1874520"/>
            <a:ext cx="548640" cy="548640"/>
          </a:xfrm>
          <a:prstGeom prst="ellipse">
            <a:avLst/>
          </a:prstGeom>
          <a:solidFill>
            <a:schemeClr val="accent3"/>
          </a:solidFill>
          <a:ln w="12700">
            <a:solidFill>
              <a:schemeClr val="accent3"/>
            </a:solidFill>
            <a:prstDash val="solid"/>
          </a:ln>
        </p:spPr>
      </p:sp>
      <p:sp>
        <p:nvSpPr>
          <p:cNvPr id="6" name="Text 3"/>
          <p:cNvSpPr txBox="1"/>
          <p:nvPr/>
        </p:nvSpPr>
        <p:spPr>
          <a:xfrm>
            <a:off x="822960" y="18745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822960" y="2560320"/>
            <a:ext cx="2971800" cy="685800"/>
          </a:xfrm>
          <a:prstGeom prst="rect">
            <a:avLst/>
          </a:prstGeom>
          <a:noFill/>
          <a:ln/>
        </p:spPr>
        <p:txBody>
          <a:bodyPr wrap="square" lIns="0" tIns="0" rIns="0" bIns="0" rtlCol="0" anchor="b"/>
          <a:lstStyle/>
          <a:p>
            <a:pPr indent="0" marL="0">
              <a:buNone/>
            </a:pPr>
            <a:r>
              <a:rPr lang="en-US" sz="1800" b="1" dirty="0">
                <a:solidFill>
                  <a:schemeClr val="tx2"/>
                </a:solidFill>
              </a:rPr>
              <a:t>Características trabajadas, con su estado</a:t>
            </a:r>
            <a:endParaRPr lang="en-US" sz="1800" dirty="0"/>
          </a:p>
        </p:txBody>
      </p:sp>
      <p:sp>
        <p:nvSpPr>
          <p:cNvPr id="8" name="Text 5"/>
          <p:cNvSpPr txBox="1"/>
          <p:nvPr/>
        </p:nvSpPr>
        <p:spPr>
          <a:xfrm>
            <a:off x="822960" y="3337560"/>
            <a:ext cx="2971800" cy="1325880"/>
          </a:xfrm>
          <a:prstGeom prst="rect">
            <a:avLst/>
          </a:prstGeom>
          <a:noFill/>
          <a:ln/>
        </p:spPr>
        <p:txBody>
          <a:bodyPr wrap="square" lIns="0" tIns="0" rIns="0" bIns="0" rtlCol="0" anchor="t"/>
          <a:lstStyle/>
          <a:p>
            <a:pPr indent="0" marL="0">
              <a:buNone/>
            </a:pPr>
            <a:r>
              <a:rPr lang="en-US" sz="1400" dirty="0">
                <a:solidFill>
                  <a:schemeClr val="tx1"/>
                </a:solidFill>
              </a:rPr>
              <a:t>Cada característica con su estado: lista para certificar, certificada o de vuelta al backlog, y el porqué.</a:t>
            </a:r>
            <a:endParaRPr lang="en-US" sz="1400" dirty="0"/>
          </a:p>
        </p:txBody>
      </p:sp>
      <p:sp>
        <p:nvSpPr>
          <p:cNvPr id="9" name="Shape 6"/>
          <p:cNvSpPr/>
          <p:nvPr/>
        </p:nvSpPr>
        <p:spPr>
          <a:xfrm>
            <a:off x="4320540" y="1645920"/>
            <a:ext cx="3520440" cy="3063240"/>
          </a:xfrm>
          <a:prstGeom prst="roundRect">
            <a:avLst>
              <a:gd name="adj" fmla="val 2388"/>
            </a:avLst>
          </a:prstGeom>
          <a:solidFill>
            <a:schemeClr val="accent4"/>
          </a:solidFill>
          <a:ln w="12700">
            <a:solidFill>
              <a:srgbClr val="DCD8EC"/>
            </a:solidFill>
            <a:prstDash val="solid"/>
          </a:ln>
        </p:spPr>
      </p:sp>
      <p:sp>
        <p:nvSpPr>
          <p:cNvPr id="10" name="Shape 7"/>
          <p:cNvSpPr/>
          <p:nvPr/>
        </p:nvSpPr>
        <p:spPr>
          <a:xfrm>
            <a:off x="4594860" y="1874520"/>
            <a:ext cx="548640" cy="548640"/>
          </a:xfrm>
          <a:prstGeom prst="ellipse">
            <a:avLst/>
          </a:prstGeom>
          <a:solidFill>
            <a:schemeClr val="accent3"/>
          </a:solidFill>
          <a:ln w="12700">
            <a:solidFill>
              <a:schemeClr val="accent3"/>
            </a:solidFill>
            <a:prstDash val="solid"/>
          </a:ln>
        </p:spPr>
      </p:sp>
      <p:sp>
        <p:nvSpPr>
          <p:cNvPr id="11" name="Text 8"/>
          <p:cNvSpPr txBox="1"/>
          <p:nvPr/>
        </p:nvSpPr>
        <p:spPr>
          <a:xfrm>
            <a:off x="4594860" y="18745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4594860" y="2560320"/>
            <a:ext cx="2971800" cy="685800"/>
          </a:xfrm>
          <a:prstGeom prst="rect">
            <a:avLst/>
          </a:prstGeom>
          <a:noFill/>
          <a:ln/>
        </p:spPr>
        <p:txBody>
          <a:bodyPr wrap="square" lIns="0" tIns="0" rIns="0" bIns="0" rtlCol="0" anchor="b"/>
          <a:lstStyle/>
          <a:p>
            <a:pPr indent="0" marL="0">
              <a:buNone/>
            </a:pPr>
            <a:r>
              <a:rPr lang="en-US" sz="1800" b="1" dirty="0">
                <a:solidFill>
                  <a:schemeClr val="tx2"/>
                </a:solidFill>
              </a:rPr>
              <a:t>Entrega en QA, el ambiente de certificación</a:t>
            </a:r>
            <a:endParaRPr lang="en-US" sz="1800" dirty="0"/>
          </a:p>
        </p:txBody>
      </p:sp>
      <p:sp>
        <p:nvSpPr>
          <p:cNvPr id="13" name="Text 10"/>
          <p:cNvSpPr txBox="1"/>
          <p:nvPr/>
        </p:nvSpPr>
        <p:spPr>
          <a:xfrm>
            <a:off x="4594860" y="3337560"/>
            <a:ext cx="2971800" cy="1325880"/>
          </a:xfrm>
          <a:prstGeom prst="rect">
            <a:avLst/>
          </a:prstGeom>
          <a:noFill/>
          <a:ln/>
        </p:spPr>
        <p:txBody>
          <a:bodyPr wrap="square" lIns="0" tIns="0" rIns="0" bIns="0" rtlCol="0" anchor="t"/>
          <a:lstStyle/>
          <a:p>
            <a:pPr indent="0" marL="0">
              <a:buNone/>
            </a:pPr>
            <a:r>
              <a:rPr lang="en-US" sz="1400" dirty="0">
                <a:solidFill>
                  <a:schemeClr val="tx1"/>
                </a:solidFill>
              </a:rPr>
              <a:t>Lo terminado, funcionando con su traza, sobre datos sintéticos y nunca con datos reales de pacientes.</a:t>
            </a:r>
            <a:endParaRPr lang="en-US" sz="1400" dirty="0"/>
          </a:p>
        </p:txBody>
      </p:sp>
      <p:sp>
        <p:nvSpPr>
          <p:cNvPr id="14" name="Shape 11"/>
          <p:cNvSpPr/>
          <p:nvPr/>
        </p:nvSpPr>
        <p:spPr>
          <a:xfrm>
            <a:off x="8092440" y="1645920"/>
            <a:ext cx="3520440" cy="3063240"/>
          </a:xfrm>
          <a:prstGeom prst="roundRect">
            <a:avLst>
              <a:gd name="adj" fmla="val 2388"/>
            </a:avLst>
          </a:prstGeom>
          <a:solidFill>
            <a:schemeClr val="accent4"/>
          </a:solidFill>
          <a:ln w="12700">
            <a:solidFill>
              <a:srgbClr val="DCD8EC"/>
            </a:solidFill>
            <a:prstDash val="solid"/>
          </a:ln>
        </p:spPr>
      </p:sp>
      <p:sp>
        <p:nvSpPr>
          <p:cNvPr id="15" name="Shape 12"/>
          <p:cNvSpPr/>
          <p:nvPr/>
        </p:nvSpPr>
        <p:spPr>
          <a:xfrm>
            <a:off x="8366760" y="1874520"/>
            <a:ext cx="548640" cy="548640"/>
          </a:xfrm>
          <a:prstGeom prst="ellipse">
            <a:avLst/>
          </a:prstGeom>
          <a:solidFill>
            <a:schemeClr val="accent3"/>
          </a:solidFill>
          <a:ln w="12700">
            <a:solidFill>
              <a:schemeClr val="accent3"/>
            </a:solidFill>
            <a:prstDash val="solid"/>
          </a:ln>
        </p:spPr>
      </p:sp>
      <p:sp>
        <p:nvSpPr>
          <p:cNvPr id="16" name="Text 13"/>
          <p:cNvSpPr txBox="1"/>
          <p:nvPr/>
        </p:nvSpPr>
        <p:spPr>
          <a:xfrm>
            <a:off x="8366760" y="18745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4"/>
          <p:cNvSpPr txBox="1"/>
          <p:nvPr/>
        </p:nvSpPr>
        <p:spPr>
          <a:xfrm>
            <a:off x="8366760" y="2560320"/>
            <a:ext cx="2971800" cy="685800"/>
          </a:xfrm>
          <a:prstGeom prst="rect">
            <a:avLst/>
          </a:prstGeom>
          <a:noFill/>
          <a:ln/>
        </p:spPr>
        <p:txBody>
          <a:bodyPr wrap="square" lIns="0" tIns="0" rIns="0" bIns="0" rtlCol="0" anchor="b"/>
          <a:lstStyle/>
          <a:p>
            <a:pPr indent="0" marL="0">
              <a:buNone/>
            </a:pPr>
            <a:r>
              <a:rPr lang="en-US" sz="1800" b="1" dirty="0">
                <a:solidFill>
                  <a:schemeClr val="tx2"/>
                </a:solidFill>
              </a:rPr>
              <a:t>Evidencias de cada implementación</a:t>
            </a:r>
            <a:endParaRPr lang="en-US" sz="1800" dirty="0"/>
          </a:p>
        </p:txBody>
      </p:sp>
      <p:sp>
        <p:nvSpPr>
          <p:cNvPr id="18" name="Text 15"/>
          <p:cNvSpPr txBox="1"/>
          <p:nvPr/>
        </p:nvSpPr>
        <p:spPr>
          <a:xfrm>
            <a:off x="8366760" y="3337560"/>
            <a:ext cx="2971800" cy="1325880"/>
          </a:xfrm>
          <a:prstGeom prst="rect">
            <a:avLst/>
          </a:prstGeom>
          <a:noFill/>
          <a:ln/>
        </p:spPr>
        <p:txBody>
          <a:bodyPr wrap="square" lIns="0" tIns="0" rIns="0" bIns="0" rtlCol="0" anchor="t"/>
          <a:lstStyle/>
          <a:p>
            <a:pPr indent="0" marL="0">
              <a:buNone/>
            </a:pPr>
            <a:r>
              <a:rPr lang="en-US" sz="1400" dirty="0">
                <a:solidFill>
                  <a:schemeClr val="tx1"/>
                </a:solidFill>
              </a:rPr>
              <a:t>Según la definición de hecho de cada característica: pruebas, traza de la decisión, golden set sin regresión y revisión aprobada.</a:t>
            </a:r>
            <a:endParaRPr lang="en-US" sz="1400" dirty="0"/>
          </a:p>
        </p:txBody>
      </p:sp>
      <p:sp>
        <p:nvSpPr>
          <p:cNvPr id="19" name="Shape 16"/>
          <p:cNvSpPr/>
          <p:nvPr/>
        </p:nvSpPr>
        <p:spPr>
          <a:xfrm>
            <a:off x="548640" y="4892040"/>
            <a:ext cx="11064240" cy="1005840"/>
          </a:xfrm>
          <a:prstGeom prst="roundRect">
            <a:avLst>
              <a:gd name="adj" fmla="val 7273"/>
            </a:avLst>
          </a:prstGeom>
          <a:solidFill>
            <a:schemeClr val="bg2"/>
          </a:solidFill>
          <a:ln w="12700">
            <a:solidFill>
              <a:schemeClr val="bg2"/>
            </a:solidFill>
            <a:prstDash val="solid"/>
          </a:ln>
        </p:spPr>
      </p:sp>
      <p:sp>
        <p:nvSpPr>
          <p:cNvPr id="20" name="Text 17"/>
          <p:cNvSpPr txBox="1"/>
          <p:nvPr/>
        </p:nvSpPr>
        <p:spPr>
          <a:xfrm>
            <a:off x="822960" y="4892040"/>
            <a:ext cx="10515600" cy="1005840"/>
          </a:xfrm>
          <a:prstGeom prst="rect">
            <a:avLst/>
          </a:prstGeom>
          <a:noFill/>
          <a:ln/>
        </p:spPr>
        <p:txBody>
          <a:bodyPr wrap="square" lIns="0" tIns="0" rIns="0" bIns="0" rtlCol="0" anchor="ctr"/>
          <a:lstStyle/>
          <a:p>
            <a:pPr indent="0" marL="0">
              <a:buNone/>
            </a:pPr>
            <a:r>
              <a:rPr lang="en-US" sz="1500" b="1" dirty="0">
                <a:solidFill>
                  <a:schemeClr val="tx2"/>
                </a:solidFill>
              </a:rPr>
              <a:t>A producción, cuando SURA lo decide. </a:t>
            </a:r>
            <a:pPr indent="0" marL="0">
              <a:buNone/>
            </a:pPr>
            <a:r>
              <a:rPr lang="en-US" sz="1500" dirty="0">
                <a:solidFill>
                  <a:schemeClr val="tx1"/>
                </a:solidFill>
              </a:rPr>
              <a:t>Cada característica certificada puede activarse por separado. Los hitos de activación marcan cuándo hay algo usable de punta a punta, como los agentes de Solicitud o la autorización automática de nivel 1. Esa activación siempre la aprueba una persona.</a:t>
            </a:r>
            <a:endParaRPr lang="en-US" sz="15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El orden sugerido: tres bloques y dos hitos de activación</a:t>
            </a:r>
            <a:endParaRPr lang="en-US" sz="2800" dirty="0"/>
          </a:p>
        </p:txBody>
      </p:sp>
      <p:sp>
        <p:nvSpPr>
          <p:cNvPr id="4" name="Shape 1"/>
          <p:cNvSpPr/>
          <p:nvPr/>
        </p:nvSpPr>
        <p:spPr>
          <a:xfrm>
            <a:off x="548640" y="1481328"/>
            <a:ext cx="11064240" cy="566928"/>
          </a:xfrm>
          <a:prstGeom prst="roundRect">
            <a:avLst>
              <a:gd name="adj" fmla="val 12903"/>
            </a:avLst>
          </a:prstGeom>
          <a:solidFill>
            <a:schemeClr val="bg2"/>
          </a:solidFill>
          <a:ln w="12700">
            <a:solidFill>
              <a:schemeClr val="bg2"/>
            </a:solidFill>
            <a:prstDash val="solid"/>
          </a:ln>
        </p:spPr>
      </p:sp>
      <p:sp>
        <p:nvSpPr>
          <p:cNvPr id="5" name="Text 2"/>
          <p:cNvSpPr txBox="1"/>
          <p:nvPr/>
        </p:nvSpPr>
        <p:spPr>
          <a:xfrm>
            <a:off x="777240" y="1481328"/>
            <a:ext cx="10607040" cy="566928"/>
          </a:xfrm>
          <a:prstGeom prst="rect">
            <a:avLst/>
          </a:prstGeom>
          <a:noFill/>
          <a:ln/>
        </p:spPr>
        <p:txBody>
          <a:bodyPr wrap="square" lIns="0" tIns="0" rIns="0" bIns="0" rtlCol="0" anchor="ctr"/>
          <a:lstStyle/>
          <a:p>
            <a:pPr indent="0" marL="0">
              <a:buNone/>
            </a:pPr>
            <a:r>
              <a:rPr lang="en-US" sz="1500" b="1" dirty="0">
                <a:solidFill>
                  <a:schemeClr val="accent1"/>
                </a:solidFill>
              </a:rPr>
              <a:t>Un orden, no un calendario.  </a:t>
            </a:r>
            <a:pPr indent="0" marL="0">
              <a:buNone/>
            </a:pPr>
            <a:r>
              <a:rPr lang="en-US" sz="1200" dirty="0">
                <a:solidFill>
                  <a:schemeClr val="tx1"/>
                </a:solidFill>
              </a:rPr>
              <a:t>SURA lo confirma o lo cambia en cada sesión de definición. </a:t>
            </a:r>
            <a:pPr indent="0" marL="0">
              <a:buNone/>
            </a:pPr>
            <a:r>
              <a:rPr lang="en-US" sz="1200" b="1" dirty="0">
                <a:solidFill>
                  <a:schemeClr val="tx2"/>
                </a:solidFill>
              </a:rPr>
              <a:t>La arquitectura es evolutiva: </a:t>
            </a:r>
            <a:pPr indent="0" marL="0">
              <a:buNone/>
            </a:pPr>
            <a:r>
              <a:rPr lang="en-US" sz="1200" dirty="0">
                <a:solidFill>
                  <a:schemeClr val="tx1"/>
                </a:solidFill>
              </a:rPr>
              <a:t>la de cada sistema agéntico se define al empezar su implementación.</a:t>
            </a:r>
            <a:endParaRPr lang="en-US" sz="1200" dirty="0"/>
          </a:p>
        </p:txBody>
      </p:sp>
      <p:sp>
        <p:nvSpPr>
          <p:cNvPr id="6" name="Shape 3"/>
          <p:cNvSpPr/>
          <p:nvPr/>
        </p:nvSpPr>
        <p:spPr>
          <a:xfrm>
            <a:off x="548640" y="2176272"/>
            <a:ext cx="2606040" cy="1828800"/>
          </a:xfrm>
          <a:prstGeom prst="roundRect">
            <a:avLst>
              <a:gd name="adj" fmla="val 4000"/>
            </a:avLst>
          </a:prstGeom>
          <a:solidFill>
            <a:schemeClr val="accent4"/>
          </a:solidFill>
          <a:ln w="12700">
            <a:solidFill>
              <a:srgbClr val="DCD8EC"/>
            </a:solidFill>
            <a:prstDash val="solid"/>
          </a:ln>
        </p:spPr>
      </p:sp>
      <p:sp>
        <p:nvSpPr>
          <p:cNvPr id="7" name="Shape 4"/>
          <p:cNvSpPr/>
          <p:nvPr/>
        </p:nvSpPr>
        <p:spPr>
          <a:xfrm>
            <a:off x="731520" y="2304288"/>
            <a:ext cx="2240280" cy="347472"/>
          </a:xfrm>
          <a:prstGeom prst="roundRect">
            <a:avLst>
              <a:gd name="adj" fmla="val 15789"/>
            </a:avLst>
          </a:prstGeom>
          <a:solidFill>
            <a:schemeClr val="tx2"/>
          </a:solidFill>
          <a:ln w="12700">
            <a:solidFill>
              <a:schemeClr val="tx2"/>
            </a:solidFill>
            <a:prstDash val="solid"/>
          </a:ln>
        </p:spPr>
      </p:sp>
      <p:sp>
        <p:nvSpPr>
          <p:cNvPr id="8" name="Text 5"/>
          <p:cNvSpPr txBox="1"/>
          <p:nvPr/>
        </p:nvSpPr>
        <p:spPr>
          <a:xfrm>
            <a:off x="731520" y="2304288"/>
            <a:ext cx="2240280" cy="347472"/>
          </a:xfrm>
          <a:prstGeom prst="rect">
            <a:avLst/>
          </a:prstGeom>
          <a:noFill/>
          <a:ln/>
        </p:spPr>
        <p:txBody>
          <a:bodyPr wrap="square" lIns="0" tIns="0" rIns="0" bIns="0" rtlCol="0" anchor="ctr"/>
          <a:lstStyle/>
          <a:p>
            <a:pPr algn="ctr" indent="0" marL="0">
              <a:buNone/>
            </a:pPr>
            <a:r>
              <a:rPr lang="en-US" sz="1300" b="1" dirty="0">
                <a:solidFill>
                  <a:schemeClr val="bg1"/>
                </a:solidFill>
              </a:rPr>
              <a:t>Arranque</a:t>
            </a:r>
            <a:endParaRPr lang="en-US" sz="1300" dirty="0"/>
          </a:p>
        </p:txBody>
      </p:sp>
      <p:sp>
        <p:nvSpPr>
          <p:cNvPr id="9" name="Text 6"/>
          <p:cNvSpPr txBox="1"/>
          <p:nvPr/>
        </p:nvSpPr>
        <p:spPr>
          <a:xfrm>
            <a:off x="731520" y="2724912"/>
            <a:ext cx="2240280" cy="256032"/>
          </a:xfrm>
          <a:prstGeom prst="rect">
            <a:avLst/>
          </a:prstGeom>
          <a:noFill/>
          <a:ln/>
        </p:spPr>
        <p:txBody>
          <a:bodyPr wrap="square" lIns="0" tIns="0" rIns="0" bIns="0" rtlCol="0" anchor="t"/>
          <a:lstStyle/>
          <a:p>
            <a:pPr indent="0" marL="0">
              <a:buNone/>
            </a:pPr>
            <a:r>
              <a:rPr lang="en-US" sz="1200" b="1" dirty="0">
                <a:solidFill>
                  <a:schemeClr val="accent2"/>
                </a:solidFill>
              </a:rPr>
              <a:t>Primero</a:t>
            </a:r>
            <a:endParaRPr lang="en-US" sz="1200" dirty="0"/>
          </a:p>
        </p:txBody>
      </p:sp>
      <p:sp>
        <p:nvSpPr>
          <p:cNvPr id="10" name="Text 7"/>
          <p:cNvSpPr txBox="1"/>
          <p:nvPr/>
        </p:nvSpPr>
        <p:spPr>
          <a:xfrm>
            <a:off x="731520" y="2999232"/>
            <a:ext cx="2240280" cy="960120"/>
          </a:xfrm>
          <a:prstGeom prst="rect">
            <a:avLst/>
          </a:prstGeom>
          <a:noFill/>
          <a:ln/>
        </p:spPr>
        <p:txBody>
          <a:bodyPr wrap="square" lIns="0" tIns="0" rIns="0" bIns="0" rtlCol="0" anchor="t"/>
          <a:lstStyle/>
          <a:p>
            <a:pPr indent="0" marL="0">
              <a:buNone/>
            </a:pPr>
            <a:r>
              <a:rPr lang="en-US" sz="1200" dirty="0">
                <a:solidFill>
                  <a:schemeClr val="tx1"/>
                </a:solidFill>
              </a:rPr>
              <a:t>Solo lo común: arquetipo, lineamientos, contrato de eventos y trazabilidad, y primer golden set.</a:t>
            </a:r>
            <a:endParaRPr lang="en-US" sz="1200" dirty="0"/>
          </a:p>
        </p:txBody>
      </p:sp>
      <p:sp>
        <p:nvSpPr>
          <p:cNvPr id="11" name="Shape 8"/>
          <p:cNvSpPr/>
          <p:nvPr/>
        </p:nvSpPr>
        <p:spPr>
          <a:xfrm>
            <a:off x="3364992" y="2176272"/>
            <a:ext cx="2606040" cy="1828800"/>
          </a:xfrm>
          <a:prstGeom prst="roundRect">
            <a:avLst>
              <a:gd name="adj" fmla="val 4000"/>
            </a:avLst>
          </a:prstGeom>
          <a:solidFill>
            <a:schemeClr val="accent4"/>
          </a:solidFill>
          <a:ln w="12700">
            <a:solidFill>
              <a:srgbClr val="DCD8EC"/>
            </a:solidFill>
            <a:prstDash val="solid"/>
          </a:ln>
        </p:spPr>
      </p:sp>
      <p:sp>
        <p:nvSpPr>
          <p:cNvPr id="12" name="Shape 9"/>
          <p:cNvSpPr/>
          <p:nvPr/>
        </p:nvSpPr>
        <p:spPr>
          <a:xfrm>
            <a:off x="3547872" y="2304288"/>
            <a:ext cx="2240280" cy="347472"/>
          </a:xfrm>
          <a:prstGeom prst="roundRect">
            <a:avLst>
              <a:gd name="adj" fmla="val 15789"/>
            </a:avLst>
          </a:prstGeom>
          <a:solidFill>
            <a:schemeClr val="accent1"/>
          </a:solidFill>
          <a:ln w="12700">
            <a:solidFill>
              <a:schemeClr val="accent1"/>
            </a:solidFill>
            <a:prstDash val="solid"/>
          </a:ln>
        </p:spPr>
      </p:sp>
      <p:sp>
        <p:nvSpPr>
          <p:cNvPr id="13" name="Text 10"/>
          <p:cNvSpPr txBox="1"/>
          <p:nvPr/>
        </p:nvSpPr>
        <p:spPr>
          <a:xfrm>
            <a:off x="3547872" y="2304288"/>
            <a:ext cx="2240280" cy="347472"/>
          </a:xfrm>
          <a:prstGeom prst="rect">
            <a:avLst/>
          </a:prstGeom>
          <a:noFill/>
          <a:ln/>
        </p:spPr>
        <p:txBody>
          <a:bodyPr wrap="square" lIns="0" tIns="0" rIns="0" bIns="0" rtlCol="0" anchor="ctr"/>
          <a:lstStyle/>
          <a:p>
            <a:pPr algn="ctr" indent="0" marL="0">
              <a:buNone/>
            </a:pPr>
            <a:r>
              <a:rPr lang="en-US" sz="1300" b="1" dirty="0">
                <a:solidFill>
                  <a:schemeClr val="bg1"/>
                </a:solidFill>
              </a:rPr>
              <a:t>Agentes de Solicitud</a:t>
            </a:r>
            <a:endParaRPr lang="en-US" sz="1300" dirty="0"/>
          </a:p>
        </p:txBody>
      </p:sp>
      <p:sp>
        <p:nvSpPr>
          <p:cNvPr id="14" name="Text 11"/>
          <p:cNvSpPr txBox="1"/>
          <p:nvPr/>
        </p:nvSpPr>
        <p:spPr>
          <a:xfrm>
            <a:off x="3547872" y="2724912"/>
            <a:ext cx="2240280" cy="256032"/>
          </a:xfrm>
          <a:prstGeom prst="rect">
            <a:avLst/>
          </a:prstGeom>
          <a:noFill/>
          <a:ln/>
        </p:spPr>
        <p:txBody>
          <a:bodyPr wrap="square" lIns="0" tIns="0" rIns="0" bIns="0" rtlCol="0" anchor="t"/>
          <a:lstStyle/>
          <a:p>
            <a:pPr indent="0" marL="0">
              <a:buNone/>
            </a:pPr>
            <a:r>
              <a:rPr lang="en-US" sz="1200" b="1" dirty="0">
                <a:solidFill>
                  <a:schemeClr val="accent2"/>
                </a:solidFill>
              </a:rPr>
              <a:t>Bloque 1</a:t>
            </a:r>
            <a:endParaRPr lang="en-US" sz="1200" dirty="0"/>
          </a:p>
        </p:txBody>
      </p:sp>
      <p:sp>
        <p:nvSpPr>
          <p:cNvPr id="15" name="Text 12"/>
          <p:cNvSpPr txBox="1"/>
          <p:nvPr/>
        </p:nvSpPr>
        <p:spPr>
          <a:xfrm>
            <a:off x="3547872" y="2999232"/>
            <a:ext cx="2240280" cy="960120"/>
          </a:xfrm>
          <a:prstGeom prst="rect">
            <a:avLst/>
          </a:prstGeom>
          <a:noFill/>
          <a:ln/>
        </p:spPr>
        <p:txBody>
          <a:bodyPr wrap="square" lIns="0" tIns="0" rIns="0" bIns="0" rtlCol="0" anchor="t"/>
          <a:lstStyle/>
          <a:p>
            <a:pPr indent="0" marL="0">
              <a:buNone/>
            </a:pPr>
            <a:r>
              <a:rPr lang="en-US" sz="1200" dirty="0">
                <a:solidFill>
                  <a:schemeClr val="tx1"/>
                </a:solidFill>
              </a:rPr>
              <a:t>Clasificador, enrutador, extractores, request builder y LLM-as-a-judge; escala a preradicado con su motivo.</a:t>
            </a:r>
            <a:endParaRPr lang="en-US" sz="1200" dirty="0"/>
          </a:p>
        </p:txBody>
      </p:sp>
      <p:sp>
        <p:nvSpPr>
          <p:cNvPr id="16" name="Shape 13"/>
          <p:cNvSpPr/>
          <p:nvPr/>
        </p:nvSpPr>
        <p:spPr>
          <a:xfrm>
            <a:off x="6181344" y="2176272"/>
            <a:ext cx="2606040" cy="1828800"/>
          </a:xfrm>
          <a:prstGeom prst="roundRect">
            <a:avLst>
              <a:gd name="adj" fmla="val 4000"/>
            </a:avLst>
          </a:prstGeom>
          <a:solidFill>
            <a:schemeClr val="accent4"/>
          </a:solidFill>
          <a:ln w="12700">
            <a:solidFill>
              <a:srgbClr val="DCD8EC"/>
            </a:solidFill>
            <a:prstDash val="solid"/>
          </a:ln>
        </p:spPr>
      </p:sp>
      <p:sp>
        <p:nvSpPr>
          <p:cNvPr id="17" name="Shape 14"/>
          <p:cNvSpPr/>
          <p:nvPr/>
        </p:nvSpPr>
        <p:spPr>
          <a:xfrm>
            <a:off x="6364224" y="2304288"/>
            <a:ext cx="2240280" cy="347472"/>
          </a:xfrm>
          <a:prstGeom prst="roundRect">
            <a:avLst>
              <a:gd name="adj" fmla="val 15789"/>
            </a:avLst>
          </a:prstGeom>
          <a:solidFill>
            <a:schemeClr val="accent1"/>
          </a:solidFill>
          <a:ln w="12700">
            <a:solidFill>
              <a:schemeClr val="accent1"/>
            </a:solidFill>
            <a:prstDash val="solid"/>
          </a:ln>
        </p:spPr>
      </p:sp>
      <p:sp>
        <p:nvSpPr>
          <p:cNvPr id="18" name="Text 15"/>
          <p:cNvSpPr txBox="1"/>
          <p:nvPr/>
        </p:nvSpPr>
        <p:spPr>
          <a:xfrm>
            <a:off x="6364224" y="2304288"/>
            <a:ext cx="2240280" cy="347472"/>
          </a:xfrm>
          <a:prstGeom prst="rect">
            <a:avLst/>
          </a:prstGeom>
          <a:noFill/>
          <a:ln/>
        </p:spPr>
        <p:txBody>
          <a:bodyPr wrap="square" lIns="0" tIns="0" rIns="0" bIns="0" rtlCol="0" anchor="ctr"/>
          <a:lstStyle/>
          <a:p>
            <a:pPr algn="ctr" indent="0" marL="0">
              <a:buNone/>
            </a:pPr>
            <a:r>
              <a:rPr lang="en-US" sz="1300" b="1" dirty="0">
                <a:solidFill>
                  <a:schemeClr val="bg1"/>
                </a:solidFill>
              </a:rPr>
              <a:t>Agentes de Evaluación</a:t>
            </a:r>
            <a:endParaRPr lang="en-US" sz="1300" dirty="0"/>
          </a:p>
        </p:txBody>
      </p:sp>
      <p:sp>
        <p:nvSpPr>
          <p:cNvPr id="19" name="Text 16"/>
          <p:cNvSpPr txBox="1"/>
          <p:nvPr/>
        </p:nvSpPr>
        <p:spPr>
          <a:xfrm>
            <a:off x="6364224" y="2724912"/>
            <a:ext cx="2240280" cy="256032"/>
          </a:xfrm>
          <a:prstGeom prst="rect">
            <a:avLst/>
          </a:prstGeom>
          <a:noFill/>
          <a:ln/>
        </p:spPr>
        <p:txBody>
          <a:bodyPr wrap="square" lIns="0" tIns="0" rIns="0" bIns="0" rtlCol="0" anchor="t"/>
          <a:lstStyle/>
          <a:p>
            <a:pPr indent="0" marL="0">
              <a:buNone/>
            </a:pPr>
            <a:r>
              <a:rPr lang="en-US" sz="1200" b="1" dirty="0">
                <a:solidFill>
                  <a:schemeClr val="accent2"/>
                </a:solidFill>
              </a:rPr>
              <a:t>Bloque 2</a:t>
            </a:r>
            <a:endParaRPr lang="en-US" sz="1200" dirty="0"/>
          </a:p>
        </p:txBody>
      </p:sp>
      <p:sp>
        <p:nvSpPr>
          <p:cNvPr id="20" name="Text 17"/>
          <p:cNvSpPr txBox="1"/>
          <p:nvPr/>
        </p:nvSpPr>
        <p:spPr>
          <a:xfrm>
            <a:off x="6364224" y="2999232"/>
            <a:ext cx="2240280" cy="960120"/>
          </a:xfrm>
          <a:prstGeom prst="rect">
            <a:avLst/>
          </a:prstGeom>
          <a:noFill/>
          <a:ln/>
        </p:spPr>
        <p:txBody>
          <a:bodyPr wrap="square" lIns="0" tIns="0" rIns="0" bIns="0" rtlCol="0" anchor="t"/>
          <a:lstStyle/>
          <a:p>
            <a:pPr indent="0" marL="0">
              <a:buNone/>
            </a:pPr>
            <a:r>
              <a:rPr lang="en-US" sz="1200" dirty="0">
                <a:solidFill>
                  <a:schemeClr val="tx1"/>
                </a:solidFill>
              </a:rPr>
              <a:t>Coberturas, pertinencia médica, duplicidad y concepto al escalar. Ningún agente niega.</a:t>
            </a:r>
            <a:endParaRPr lang="en-US" sz="1200" dirty="0"/>
          </a:p>
        </p:txBody>
      </p:sp>
      <p:sp>
        <p:nvSpPr>
          <p:cNvPr id="21" name="Shape 18"/>
          <p:cNvSpPr/>
          <p:nvPr/>
        </p:nvSpPr>
        <p:spPr>
          <a:xfrm>
            <a:off x="8997696" y="2176272"/>
            <a:ext cx="2606040" cy="1828800"/>
          </a:xfrm>
          <a:prstGeom prst="roundRect">
            <a:avLst>
              <a:gd name="adj" fmla="val 4000"/>
            </a:avLst>
          </a:prstGeom>
          <a:solidFill>
            <a:schemeClr val="accent4"/>
          </a:solidFill>
          <a:ln w="12700">
            <a:solidFill>
              <a:srgbClr val="DCD8EC"/>
            </a:solidFill>
            <a:prstDash val="solid"/>
          </a:ln>
        </p:spPr>
      </p:sp>
      <p:sp>
        <p:nvSpPr>
          <p:cNvPr id="22" name="Shape 19"/>
          <p:cNvSpPr/>
          <p:nvPr/>
        </p:nvSpPr>
        <p:spPr>
          <a:xfrm>
            <a:off x="9180576" y="2304288"/>
            <a:ext cx="2240280" cy="347472"/>
          </a:xfrm>
          <a:prstGeom prst="roundRect">
            <a:avLst>
              <a:gd name="adj" fmla="val 15789"/>
            </a:avLst>
          </a:prstGeom>
          <a:solidFill>
            <a:schemeClr val="accent1"/>
          </a:solidFill>
          <a:ln w="12700">
            <a:solidFill>
              <a:schemeClr val="accent1"/>
            </a:solidFill>
            <a:prstDash val="solid"/>
          </a:ln>
        </p:spPr>
      </p:sp>
      <p:sp>
        <p:nvSpPr>
          <p:cNvPr id="23" name="Text 20"/>
          <p:cNvSpPr txBox="1"/>
          <p:nvPr/>
        </p:nvSpPr>
        <p:spPr>
          <a:xfrm>
            <a:off x="9180576" y="2304288"/>
            <a:ext cx="2240280" cy="347472"/>
          </a:xfrm>
          <a:prstGeom prst="rect">
            <a:avLst/>
          </a:prstGeom>
          <a:noFill/>
          <a:ln/>
        </p:spPr>
        <p:txBody>
          <a:bodyPr wrap="square" lIns="0" tIns="0" rIns="0" bIns="0" rtlCol="0" anchor="ctr"/>
          <a:lstStyle/>
          <a:p>
            <a:pPr algn="ctr" indent="0" marL="0">
              <a:buNone/>
            </a:pPr>
            <a:r>
              <a:rPr lang="en-US" sz="1300" b="1" dirty="0">
                <a:solidFill>
                  <a:schemeClr val="bg1"/>
                </a:solidFill>
              </a:rPr>
              <a:t>Auditor y cierre</a:t>
            </a:r>
            <a:endParaRPr lang="en-US" sz="1300" dirty="0"/>
          </a:p>
        </p:txBody>
      </p:sp>
      <p:sp>
        <p:nvSpPr>
          <p:cNvPr id="24" name="Text 21"/>
          <p:cNvSpPr txBox="1"/>
          <p:nvPr/>
        </p:nvSpPr>
        <p:spPr>
          <a:xfrm>
            <a:off x="9180576" y="2724912"/>
            <a:ext cx="2240280" cy="256032"/>
          </a:xfrm>
          <a:prstGeom prst="rect">
            <a:avLst/>
          </a:prstGeom>
          <a:noFill/>
          <a:ln/>
        </p:spPr>
        <p:txBody>
          <a:bodyPr wrap="square" lIns="0" tIns="0" rIns="0" bIns="0" rtlCol="0" anchor="t"/>
          <a:lstStyle/>
          <a:p>
            <a:pPr indent="0" marL="0">
              <a:buNone/>
            </a:pPr>
            <a:r>
              <a:rPr lang="en-US" sz="1200" b="1" dirty="0">
                <a:solidFill>
                  <a:schemeClr val="accent2"/>
                </a:solidFill>
              </a:rPr>
              <a:t>Bloque 3</a:t>
            </a:r>
            <a:endParaRPr lang="en-US" sz="1200" dirty="0"/>
          </a:p>
        </p:txBody>
      </p:sp>
      <p:sp>
        <p:nvSpPr>
          <p:cNvPr id="25" name="Text 22"/>
          <p:cNvSpPr txBox="1"/>
          <p:nvPr/>
        </p:nvSpPr>
        <p:spPr>
          <a:xfrm>
            <a:off x="9180576" y="2999232"/>
            <a:ext cx="2240280" cy="960120"/>
          </a:xfrm>
          <a:prstGeom prst="rect">
            <a:avLst/>
          </a:prstGeom>
          <a:noFill/>
          <a:ln/>
        </p:spPr>
        <p:txBody>
          <a:bodyPr wrap="square" lIns="0" tIns="0" rIns="0" bIns="0" rtlCol="0" anchor="t"/>
          <a:lstStyle/>
          <a:p>
            <a:pPr indent="0" marL="0">
              <a:buNone/>
            </a:pPr>
            <a:r>
              <a:rPr lang="en-US" sz="1200" dirty="0">
                <a:solidFill>
                  <a:schemeClr val="tx1"/>
                </a:solidFill>
              </a:rPr>
              <a:t>Auditor dentro de cada gestor, que propone sin promover, y pruebas de punta a punta.</a:t>
            </a:r>
            <a:endParaRPr lang="en-US" sz="1200" dirty="0"/>
          </a:p>
        </p:txBody>
      </p:sp>
      <p:sp>
        <p:nvSpPr>
          <p:cNvPr id="26" name="Shape 23"/>
          <p:cNvSpPr/>
          <p:nvPr/>
        </p:nvSpPr>
        <p:spPr>
          <a:xfrm>
            <a:off x="3364992" y="4096512"/>
            <a:ext cx="2606040" cy="475488"/>
          </a:xfrm>
          <a:prstGeom prst="roundRect">
            <a:avLst>
              <a:gd name="adj" fmla="val 28846"/>
            </a:avLst>
          </a:prstGeom>
          <a:solidFill>
            <a:schemeClr val="bg1"/>
          </a:solidFill>
          <a:ln w="19050">
            <a:solidFill>
              <a:schemeClr val="accent3"/>
            </a:solidFill>
            <a:prstDash val="solid"/>
          </a:ln>
        </p:spPr>
      </p:sp>
      <p:sp>
        <p:nvSpPr>
          <p:cNvPr id="27" name="Text 24"/>
          <p:cNvSpPr txBox="1"/>
          <p:nvPr/>
        </p:nvSpPr>
        <p:spPr>
          <a:xfrm>
            <a:off x="3456432" y="4096512"/>
            <a:ext cx="2423160" cy="475488"/>
          </a:xfrm>
          <a:prstGeom prst="rect">
            <a:avLst/>
          </a:prstGeom>
          <a:noFill/>
          <a:ln/>
        </p:spPr>
        <p:txBody>
          <a:bodyPr wrap="square" lIns="0" tIns="0" rIns="0" bIns="0" rtlCol="0" anchor="ctr"/>
          <a:lstStyle/>
          <a:p>
            <a:pPr algn="ctr" indent="0" marL="0">
              <a:buNone/>
            </a:pPr>
            <a:r>
              <a:rPr lang="en-US" sz="1100" b="1" dirty="0">
                <a:solidFill>
                  <a:schemeClr val="accent3"/>
                </a:solidFill>
              </a:rPr>
              <a:t>Hito 1 · agentes de Solicitud listos para activar</a:t>
            </a:r>
            <a:endParaRPr lang="en-US" sz="1100" dirty="0"/>
          </a:p>
        </p:txBody>
      </p:sp>
      <p:sp>
        <p:nvSpPr>
          <p:cNvPr id="28" name="Shape 25"/>
          <p:cNvSpPr/>
          <p:nvPr/>
        </p:nvSpPr>
        <p:spPr>
          <a:xfrm>
            <a:off x="6181344" y="4096512"/>
            <a:ext cx="2606040" cy="475488"/>
          </a:xfrm>
          <a:prstGeom prst="roundRect">
            <a:avLst>
              <a:gd name="adj" fmla="val 28846"/>
            </a:avLst>
          </a:prstGeom>
          <a:solidFill>
            <a:schemeClr val="bg1"/>
          </a:solidFill>
          <a:ln w="19050">
            <a:solidFill>
              <a:schemeClr val="accent3"/>
            </a:solidFill>
            <a:prstDash val="solid"/>
          </a:ln>
        </p:spPr>
      </p:sp>
      <p:sp>
        <p:nvSpPr>
          <p:cNvPr id="29" name="Text 26"/>
          <p:cNvSpPr txBox="1"/>
          <p:nvPr/>
        </p:nvSpPr>
        <p:spPr>
          <a:xfrm>
            <a:off x="6272784" y="4096512"/>
            <a:ext cx="2423160" cy="475488"/>
          </a:xfrm>
          <a:prstGeom prst="rect">
            <a:avLst/>
          </a:prstGeom>
          <a:noFill/>
          <a:ln/>
        </p:spPr>
        <p:txBody>
          <a:bodyPr wrap="square" lIns="0" tIns="0" rIns="0" bIns="0" rtlCol="0" anchor="ctr"/>
          <a:lstStyle/>
          <a:p>
            <a:pPr algn="ctr" indent="0" marL="0">
              <a:buNone/>
            </a:pPr>
            <a:r>
              <a:rPr lang="en-US" sz="1100" b="1" dirty="0">
                <a:solidFill>
                  <a:schemeClr val="accent3"/>
                </a:solidFill>
              </a:rPr>
              <a:t>Hito 2 · autorización automática de nivel 1 lista para activar</a:t>
            </a:r>
            <a:endParaRPr lang="en-US" sz="1100" dirty="0"/>
          </a:p>
        </p:txBody>
      </p:sp>
      <p:sp>
        <p:nvSpPr>
          <p:cNvPr id="30" name="Shape 27"/>
          <p:cNvSpPr/>
          <p:nvPr/>
        </p:nvSpPr>
        <p:spPr>
          <a:xfrm>
            <a:off x="548640" y="4681728"/>
            <a:ext cx="11064240" cy="658368"/>
          </a:xfrm>
          <a:prstGeom prst="roundRect">
            <a:avLst>
              <a:gd name="adj" fmla="val 11111"/>
            </a:avLst>
          </a:prstGeom>
          <a:solidFill>
            <a:schemeClr val="tx2"/>
          </a:solidFill>
          <a:ln w="12700">
            <a:solidFill>
              <a:schemeClr val="tx2"/>
            </a:solidFill>
            <a:prstDash val="solid"/>
          </a:ln>
        </p:spPr>
      </p:sp>
      <p:sp>
        <p:nvSpPr>
          <p:cNvPr id="31" name="Text 28"/>
          <p:cNvSpPr txBox="1"/>
          <p:nvPr/>
        </p:nvSpPr>
        <p:spPr>
          <a:xfrm>
            <a:off x="777240" y="4681728"/>
            <a:ext cx="10607040" cy="658368"/>
          </a:xfrm>
          <a:prstGeom prst="rect">
            <a:avLst/>
          </a:prstGeom>
          <a:noFill/>
          <a:ln/>
        </p:spPr>
        <p:txBody>
          <a:bodyPr wrap="square" lIns="0" tIns="0" rIns="0" bIns="0" rtlCol="0" anchor="ctr"/>
          <a:lstStyle/>
          <a:p>
            <a:pPr indent="0" marL="0">
              <a:buNone/>
            </a:pPr>
            <a:r>
              <a:rPr lang="en-US" sz="1300" b="1" dirty="0">
                <a:solidFill>
                  <a:schemeClr val="bg1"/>
                </a:solidFill>
              </a:rPr>
              <a:t>Transversal · trazabilidad para la torre de control. </a:t>
            </a:r>
            <a:pPr indent="0" marL="0">
              <a:buNone/>
            </a:pPr>
            <a:r>
              <a:rPr lang="en-US" sz="1300" dirty="0">
                <a:solidFill>
                  <a:schemeClr val="bg1"/>
                </a:solidFill>
              </a:rPr>
              <a:t>Se define en el arranque y se implementa en todos los bloques: cada agente deja su traza y emite sus eventos con el contrato acordado.</a:t>
            </a:r>
            <a:endParaRPr lang="en-US" sz="1300" dirty="0"/>
          </a:p>
        </p:txBody>
      </p:sp>
      <p:sp>
        <p:nvSpPr>
          <p:cNvPr id="32" name="Shape 29"/>
          <p:cNvSpPr/>
          <p:nvPr/>
        </p:nvSpPr>
        <p:spPr>
          <a:xfrm>
            <a:off x="548640" y="5440680"/>
            <a:ext cx="11064240" cy="566928"/>
          </a:xfrm>
          <a:prstGeom prst="roundRect">
            <a:avLst>
              <a:gd name="adj" fmla="val 12903"/>
            </a:avLst>
          </a:prstGeom>
          <a:solidFill>
            <a:schemeClr val="bg2"/>
          </a:solidFill>
          <a:ln w="12700">
            <a:solidFill>
              <a:schemeClr val="bg2"/>
            </a:solidFill>
            <a:prstDash val="solid"/>
          </a:ln>
        </p:spPr>
      </p:sp>
      <p:sp>
        <p:nvSpPr>
          <p:cNvPr id="33" name="Text 30"/>
          <p:cNvSpPr txBox="1"/>
          <p:nvPr/>
        </p:nvSpPr>
        <p:spPr>
          <a:xfrm>
            <a:off x="777240" y="5440680"/>
            <a:ext cx="10607040" cy="566928"/>
          </a:xfrm>
          <a:prstGeom prst="rect">
            <a:avLst/>
          </a:prstGeom>
          <a:noFill/>
          <a:ln/>
        </p:spPr>
        <p:txBody>
          <a:bodyPr wrap="square" lIns="0" tIns="0" rIns="0" bIns="0" rtlCol="0" anchor="ctr"/>
          <a:lstStyle/>
          <a:p>
            <a:pPr indent="0" marL="0">
              <a:buNone/>
            </a:pPr>
            <a:r>
              <a:rPr lang="en-US" sz="1300" b="1" dirty="0">
                <a:solidFill>
                  <a:schemeClr val="tx2"/>
                </a:solidFill>
              </a:rPr>
              <a:t>El ciclo de mejora va dentro. </a:t>
            </a:r>
            <a:pPr indent="0" marL="0">
              <a:buNone/>
            </a:pPr>
            <a:r>
              <a:rPr lang="en-US" sz="1300" dirty="0">
                <a:solidFill>
                  <a:schemeClr val="tx1"/>
                </a:solidFill>
              </a:rPr>
              <a:t>Traza, golden set, compuerta, umbral y calibración entran con Solicitud; corrección estructurada y muestreo, con Evaluación. Tras la primera liberación, cada característica se libera por separado al ambiente de certificación.</a:t>
            </a:r>
            <a:endParaRPr lang="en-US" sz="13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w="12700">
            <a:solidFill>
              <a:schemeClr val="tx2"/>
            </a:solidFill>
            <a:prstDash val="solid"/>
          </a:ln>
        </p:spPr>
      </p:sp>
      <p:sp>
        <p:nvSpPr>
          <p:cNvPr id="3" name="Shape 1"/>
          <p:cNvSpPr/>
          <p:nvPr/>
        </p:nvSpPr>
        <p:spPr>
          <a:xfrm>
            <a:off x="822960" y="1920240"/>
            <a:ext cx="1737360" cy="914400"/>
          </a:xfrm>
          <a:prstGeom prst="roundRect">
            <a:avLst>
              <a:gd name="adj" fmla="val 10000"/>
            </a:avLst>
          </a:prstGeom>
          <a:solidFill>
            <a:schemeClr val="bg1"/>
          </a:solidFill>
          <a:ln w="12700">
            <a:solidFill>
              <a:schemeClr val="bg1"/>
            </a:solidFill>
            <a:prstDash val="solid"/>
          </a:ln>
        </p:spPr>
      </p:sp>
      <p:pic>
        <p:nvPicPr>
          <p:cNvPr id="4" name="Image 0" descr="preencoded.png">    </p:cNvPr>
          <p:cNvPicPr>
            <a:picLocks noChangeAspect="1"/>
          </p:cNvPicPr>
          <p:nvPr/>
        </p:nvPicPr>
        <p:blipFill>
          <a:blip r:embed="rId1"/>
          <a:stretch>
            <a:fillRect/>
          </a:stretch>
        </p:blipFill>
        <p:spPr>
          <a:xfrm>
            <a:off x="932688" y="1993392"/>
            <a:ext cx="1517904" cy="795528"/>
          </a:xfrm>
          <a:prstGeom prst="rect">
            <a:avLst/>
          </a:prstGeom>
        </p:spPr>
      </p:pic>
      <p:sp>
        <p:nvSpPr>
          <p:cNvPr id="5" name="Text 2"/>
          <p:cNvSpPr txBox="1"/>
          <p:nvPr/>
        </p:nvSpPr>
        <p:spPr>
          <a:xfrm>
            <a:off x="822960" y="3063240"/>
            <a:ext cx="10058400" cy="914400"/>
          </a:xfrm>
          <a:prstGeom prst="rect">
            <a:avLst/>
          </a:prstGeom>
          <a:noFill/>
          <a:ln/>
        </p:spPr>
        <p:txBody>
          <a:bodyPr wrap="square" lIns="0" tIns="0" rIns="0" bIns="0" rtlCol="0" anchor="t"/>
          <a:lstStyle/>
          <a:p>
            <a:pPr indent="0" marL="0">
              <a:buNone/>
            </a:pPr>
            <a:r>
              <a:rPr lang="en-US" sz="4800" b="1" dirty="0">
                <a:solidFill>
                  <a:schemeClr val="bg1"/>
                </a:solidFill>
                <a:latin typeface="+mj-lt" pitchFamily="34" charset="0"/>
                <a:ea typeface="+mj-lt" pitchFamily="34" charset="-122"/>
                <a:cs typeface="+mj-lt" pitchFamily="34" charset="-120"/>
              </a:rPr>
              <a:t>IA de Tech and Solve</a:t>
            </a:r>
            <a:endParaRPr lang="en-US" sz="4800" dirty="0"/>
          </a:p>
        </p:txBody>
      </p:sp>
      <p:sp>
        <p:nvSpPr>
          <p:cNvPr id="6" name="Text 3"/>
          <p:cNvSpPr txBox="1"/>
          <p:nvPr/>
        </p:nvSpPr>
        <p:spPr>
          <a:xfrm>
            <a:off x="822960" y="4069080"/>
            <a:ext cx="7772400" cy="822960"/>
          </a:xfrm>
          <a:prstGeom prst="rect">
            <a:avLst/>
          </a:prstGeom>
          <a:noFill/>
          <a:ln/>
        </p:spPr>
        <p:txBody>
          <a:bodyPr wrap="square" lIns="0" tIns="0" rIns="0" bIns="0" rtlCol="0" anchor="t"/>
          <a:lstStyle/>
          <a:p>
            <a:pPr indent="0" marL="0">
              <a:buNone/>
            </a:pPr>
            <a:r>
              <a:rPr lang="en-US" sz="2000" dirty="0">
                <a:solidFill>
                  <a:schemeClr val="bg2"/>
                </a:solidFill>
              </a:rPr>
              <a:t>Nuestra IA generativa propia, cómo potencia el proceso y por qué marca la diferencia.</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La IA de Tech and Solve: lo que la hace nuestra es lo que construimos encima del modelo</a:t>
            </a:r>
            <a:endParaRPr lang="en-US" sz="2800" dirty="0"/>
          </a:p>
        </p:txBody>
      </p:sp>
      <p:sp>
        <p:nvSpPr>
          <p:cNvPr id="4" name="Shape 1"/>
          <p:cNvSpPr/>
          <p:nvPr/>
        </p:nvSpPr>
        <p:spPr>
          <a:xfrm>
            <a:off x="548640" y="1600200"/>
            <a:ext cx="7223760" cy="822960"/>
          </a:xfrm>
          <a:prstGeom prst="roundRect">
            <a:avLst>
              <a:gd name="adj" fmla="val 8889"/>
            </a:avLst>
          </a:prstGeom>
          <a:solidFill>
            <a:schemeClr val="bg1"/>
          </a:solidFill>
          <a:ln w="25400">
            <a:solidFill>
              <a:schemeClr val="tx2"/>
            </a:solidFill>
            <a:prstDash val="solid"/>
          </a:ln>
        </p:spPr>
      </p:sp>
      <p:sp>
        <p:nvSpPr>
          <p:cNvPr id="5" name="Text 2"/>
          <p:cNvSpPr txBox="1"/>
          <p:nvPr/>
        </p:nvSpPr>
        <p:spPr>
          <a:xfrm>
            <a:off x="822960" y="1691640"/>
            <a:ext cx="6675120" cy="228600"/>
          </a:xfrm>
          <a:prstGeom prst="rect">
            <a:avLst/>
          </a:prstGeom>
          <a:noFill/>
          <a:ln/>
        </p:spPr>
        <p:txBody>
          <a:bodyPr wrap="square" lIns="0" tIns="0" rIns="0" bIns="0" rtlCol="0" anchor="t"/>
          <a:lstStyle/>
          <a:p>
            <a:pPr indent="0" marL="0">
              <a:buNone/>
            </a:pPr>
            <a:r>
              <a:rPr lang="en-US" sz="1000" b="1" spc="150" kern="0" dirty="0">
                <a:solidFill>
                  <a:schemeClr val="tx2"/>
                </a:solidFill>
              </a:rPr>
              <a:t>QUIÉN LA USA</a:t>
            </a:r>
            <a:endParaRPr lang="en-US" sz="1000" dirty="0"/>
          </a:p>
        </p:txBody>
      </p:sp>
      <p:sp>
        <p:nvSpPr>
          <p:cNvPr id="6" name="Text 3"/>
          <p:cNvSpPr txBox="1"/>
          <p:nvPr/>
        </p:nvSpPr>
        <p:spPr>
          <a:xfrm>
            <a:off x="822960" y="1947672"/>
            <a:ext cx="6675120" cy="384048"/>
          </a:xfrm>
          <a:prstGeom prst="rect">
            <a:avLst/>
          </a:prstGeom>
          <a:noFill/>
          <a:ln/>
        </p:spPr>
        <p:txBody>
          <a:bodyPr wrap="square" lIns="0" tIns="0" rIns="0" bIns="0" rtlCol="0" anchor="ctr"/>
          <a:lstStyle/>
          <a:p>
            <a:pPr indent="0" marL="0">
              <a:buNone/>
            </a:pPr>
            <a:r>
              <a:rPr lang="en-US" sz="1400" b="1" dirty="0">
                <a:solidFill>
                  <a:schemeClr val="tx2"/>
                </a:solidFill>
              </a:rPr>
              <a:t>Solo el equipo tech de Tech and Solve. </a:t>
            </a:r>
            <a:pPr indent="0" marL="0">
              <a:buNone/>
            </a:pPr>
            <a:r>
              <a:rPr lang="en-US" sz="1400" dirty="0">
                <a:solidFill>
                  <a:schemeClr val="tx1"/>
                </a:solidFill>
              </a:rPr>
              <a:t>No se comercializa ni se abre a terceros.</a:t>
            </a:r>
            <a:endParaRPr lang="en-US" sz="1400" dirty="0"/>
          </a:p>
        </p:txBody>
      </p:sp>
      <p:sp>
        <p:nvSpPr>
          <p:cNvPr id="7" name="Shape 4"/>
          <p:cNvSpPr/>
          <p:nvPr/>
        </p:nvSpPr>
        <p:spPr>
          <a:xfrm>
            <a:off x="548640" y="2542032"/>
            <a:ext cx="7223760" cy="2240280"/>
          </a:xfrm>
          <a:prstGeom prst="roundRect">
            <a:avLst>
              <a:gd name="adj" fmla="val 3265"/>
            </a:avLst>
          </a:prstGeom>
          <a:solidFill>
            <a:schemeClr val="tx2"/>
          </a:solidFill>
          <a:ln w="12700">
            <a:solidFill>
              <a:schemeClr val="tx2"/>
            </a:solidFill>
            <a:prstDash val="solid"/>
          </a:ln>
        </p:spPr>
      </p:sp>
      <p:sp>
        <p:nvSpPr>
          <p:cNvPr id="8" name="Text 5"/>
          <p:cNvSpPr txBox="1"/>
          <p:nvPr/>
        </p:nvSpPr>
        <p:spPr>
          <a:xfrm>
            <a:off x="822960" y="2697480"/>
            <a:ext cx="6675120" cy="228600"/>
          </a:xfrm>
          <a:prstGeom prst="rect">
            <a:avLst/>
          </a:prstGeom>
          <a:noFill/>
          <a:ln/>
        </p:spPr>
        <p:txBody>
          <a:bodyPr wrap="square" lIns="0" tIns="0" rIns="0" bIns="0" rtlCol="0" anchor="t"/>
          <a:lstStyle/>
          <a:p>
            <a:pPr indent="0" marL="0">
              <a:buNone/>
            </a:pPr>
            <a:r>
              <a:rPr lang="en-US" sz="1000" b="1" spc="150" kern="0" dirty="0">
                <a:solidFill>
                  <a:schemeClr val="bg2"/>
                </a:solidFill>
              </a:rPr>
              <a:t>LO QUE CONSTRUIMOS · LA IA DE TECH AND SOLVE</a:t>
            </a:r>
            <a:endParaRPr lang="en-US" sz="1000" dirty="0"/>
          </a:p>
        </p:txBody>
      </p:sp>
      <p:sp>
        <p:nvSpPr>
          <p:cNvPr id="9" name="Text 6"/>
          <p:cNvSpPr txBox="1"/>
          <p:nvPr/>
        </p:nvSpPr>
        <p:spPr>
          <a:xfrm>
            <a:off x="822960" y="2971800"/>
            <a:ext cx="6675120" cy="457200"/>
          </a:xfrm>
          <a:prstGeom prst="rect">
            <a:avLst/>
          </a:prstGeom>
          <a:noFill/>
          <a:ln/>
        </p:spPr>
        <p:txBody>
          <a:bodyPr wrap="square" lIns="0" tIns="0" rIns="0" bIns="0" rtlCol="0" anchor="t"/>
          <a:lstStyle/>
          <a:p>
            <a:pPr indent="0" marL="0">
              <a:buNone/>
            </a:pPr>
            <a:r>
              <a:rPr lang="en-US" sz="2000" b="1" dirty="0">
                <a:solidFill>
                  <a:schemeClr val="bg1"/>
                </a:solidFill>
              </a:rPr>
              <a:t>Conocimiento, proceso y controles propios</a:t>
            </a:r>
            <a:endParaRPr lang="en-US" sz="2000" dirty="0"/>
          </a:p>
        </p:txBody>
      </p:sp>
      <p:sp>
        <p:nvSpPr>
          <p:cNvPr id="10" name="Shape 7"/>
          <p:cNvSpPr/>
          <p:nvPr/>
        </p:nvSpPr>
        <p:spPr>
          <a:xfrm>
            <a:off x="822960" y="3520440"/>
            <a:ext cx="1837944" cy="365760"/>
          </a:xfrm>
          <a:prstGeom prst="roundRect">
            <a:avLst>
              <a:gd name="adj" fmla="val 50000"/>
            </a:avLst>
          </a:prstGeom>
          <a:solidFill>
            <a:schemeClr val="bg1"/>
          </a:solidFill>
          <a:ln w="12700">
            <a:solidFill>
              <a:schemeClr val="bg1"/>
            </a:solidFill>
            <a:prstDash val="solid"/>
          </a:ln>
        </p:spPr>
      </p:sp>
      <p:sp>
        <p:nvSpPr>
          <p:cNvPr id="11" name="Text 8"/>
          <p:cNvSpPr txBox="1"/>
          <p:nvPr/>
        </p:nvSpPr>
        <p:spPr>
          <a:xfrm>
            <a:off x="822960" y="3520440"/>
            <a:ext cx="1837944" cy="365760"/>
          </a:xfrm>
          <a:prstGeom prst="rect">
            <a:avLst/>
          </a:prstGeom>
          <a:noFill/>
          <a:ln/>
        </p:spPr>
        <p:txBody>
          <a:bodyPr wrap="square" lIns="0" tIns="0" rIns="0" bIns="0" rtlCol="0" anchor="ctr"/>
          <a:lstStyle/>
          <a:p>
            <a:pPr algn="ctr" indent="0" marL="0">
              <a:buNone/>
            </a:pPr>
            <a:r>
              <a:rPr lang="en-US" sz="1150" b="1" dirty="0">
                <a:solidFill>
                  <a:schemeClr val="tx2"/>
                </a:solidFill>
              </a:rPr>
              <a:t>Base de conocimiento</a:t>
            </a:r>
            <a:endParaRPr lang="en-US" sz="1150" dirty="0"/>
          </a:p>
        </p:txBody>
      </p:sp>
      <p:sp>
        <p:nvSpPr>
          <p:cNvPr id="12" name="Shape 9"/>
          <p:cNvSpPr/>
          <p:nvPr/>
        </p:nvSpPr>
        <p:spPr>
          <a:xfrm>
            <a:off x="2770632" y="3520440"/>
            <a:ext cx="1623974" cy="365760"/>
          </a:xfrm>
          <a:prstGeom prst="roundRect">
            <a:avLst>
              <a:gd name="adj" fmla="val 50000"/>
            </a:avLst>
          </a:prstGeom>
          <a:solidFill>
            <a:schemeClr val="bg1"/>
          </a:solidFill>
          <a:ln w="12700">
            <a:solidFill>
              <a:schemeClr val="bg1"/>
            </a:solidFill>
            <a:prstDash val="solid"/>
          </a:ln>
        </p:spPr>
      </p:sp>
      <p:sp>
        <p:nvSpPr>
          <p:cNvPr id="13" name="Text 10"/>
          <p:cNvSpPr txBox="1"/>
          <p:nvPr/>
        </p:nvSpPr>
        <p:spPr>
          <a:xfrm>
            <a:off x="2770632" y="3520440"/>
            <a:ext cx="1623974" cy="365760"/>
          </a:xfrm>
          <a:prstGeom prst="rect">
            <a:avLst/>
          </a:prstGeom>
          <a:noFill/>
          <a:ln/>
        </p:spPr>
        <p:txBody>
          <a:bodyPr wrap="square" lIns="0" tIns="0" rIns="0" bIns="0" rtlCol="0" anchor="ctr"/>
          <a:lstStyle/>
          <a:p>
            <a:pPr algn="ctr" indent="0" marL="0">
              <a:buNone/>
            </a:pPr>
            <a:r>
              <a:rPr lang="en-US" sz="1150" b="1" dirty="0">
                <a:solidFill>
                  <a:schemeClr val="tx2"/>
                </a:solidFill>
              </a:rPr>
              <a:t>Proceso por fases</a:t>
            </a:r>
            <a:endParaRPr lang="en-US" sz="1150" dirty="0"/>
          </a:p>
        </p:txBody>
      </p:sp>
      <p:sp>
        <p:nvSpPr>
          <p:cNvPr id="14" name="Shape 11"/>
          <p:cNvSpPr/>
          <p:nvPr/>
        </p:nvSpPr>
        <p:spPr>
          <a:xfrm>
            <a:off x="4504334" y="3520440"/>
            <a:ext cx="2551176" cy="365760"/>
          </a:xfrm>
          <a:prstGeom prst="roundRect">
            <a:avLst>
              <a:gd name="adj" fmla="val 50000"/>
            </a:avLst>
          </a:prstGeom>
          <a:solidFill>
            <a:schemeClr val="bg1"/>
          </a:solidFill>
          <a:ln w="12700">
            <a:solidFill>
              <a:schemeClr val="bg1"/>
            </a:solidFill>
            <a:prstDash val="solid"/>
          </a:ln>
        </p:spPr>
      </p:sp>
      <p:sp>
        <p:nvSpPr>
          <p:cNvPr id="15" name="Text 12"/>
          <p:cNvSpPr txBox="1"/>
          <p:nvPr/>
        </p:nvSpPr>
        <p:spPr>
          <a:xfrm>
            <a:off x="4504334" y="3520440"/>
            <a:ext cx="2551176" cy="365760"/>
          </a:xfrm>
          <a:prstGeom prst="rect">
            <a:avLst/>
          </a:prstGeom>
          <a:noFill/>
          <a:ln/>
        </p:spPr>
        <p:txBody>
          <a:bodyPr wrap="square" lIns="0" tIns="0" rIns="0" bIns="0" rtlCol="0" anchor="ctr"/>
          <a:lstStyle/>
          <a:p>
            <a:pPr algn="ctr" indent="0" marL="0">
              <a:buNone/>
            </a:pPr>
            <a:r>
              <a:rPr lang="en-US" sz="1150" b="1" dirty="0">
                <a:solidFill>
                  <a:schemeClr val="tx2"/>
                </a:solidFill>
              </a:rPr>
              <a:t>Reglas desde revisiones reales</a:t>
            </a:r>
            <a:endParaRPr lang="en-US" sz="1150" dirty="0"/>
          </a:p>
        </p:txBody>
      </p:sp>
      <p:sp>
        <p:nvSpPr>
          <p:cNvPr id="16" name="Shape 13"/>
          <p:cNvSpPr/>
          <p:nvPr/>
        </p:nvSpPr>
        <p:spPr>
          <a:xfrm>
            <a:off x="822960" y="3995928"/>
            <a:ext cx="1980590" cy="365760"/>
          </a:xfrm>
          <a:prstGeom prst="roundRect">
            <a:avLst>
              <a:gd name="adj" fmla="val 50000"/>
            </a:avLst>
          </a:prstGeom>
          <a:solidFill>
            <a:schemeClr val="bg1"/>
          </a:solidFill>
          <a:ln w="12700">
            <a:solidFill>
              <a:schemeClr val="bg1"/>
            </a:solidFill>
            <a:prstDash val="solid"/>
          </a:ln>
        </p:spPr>
      </p:sp>
      <p:sp>
        <p:nvSpPr>
          <p:cNvPr id="17" name="Text 14"/>
          <p:cNvSpPr txBox="1"/>
          <p:nvPr/>
        </p:nvSpPr>
        <p:spPr>
          <a:xfrm>
            <a:off x="822960" y="3995928"/>
            <a:ext cx="1980590" cy="365760"/>
          </a:xfrm>
          <a:prstGeom prst="rect">
            <a:avLst/>
          </a:prstGeom>
          <a:noFill/>
          <a:ln/>
        </p:spPr>
        <p:txBody>
          <a:bodyPr wrap="square" lIns="0" tIns="0" rIns="0" bIns="0" rtlCol="0" anchor="ctr"/>
          <a:lstStyle/>
          <a:p>
            <a:pPr algn="ctr" indent="0" marL="0">
              <a:buNone/>
            </a:pPr>
            <a:r>
              <a:rPr lang="en-US" sz="1150" b="1" dirty="0">
                <a:solidFill>
                  <a:schemeClr val="tx2"/>
                </a:solidFill>
              </a:rPr>
              <a:t>Agentes especializados</a:t>
            </a:r>
            <a:endParaRPr lang="en-US" sz="1150" dirty="0"/>
          </a:p>
        </p:txBody>
      </p:sp>
      <p:sp>
        <p:nvSpPr>
          <p:cNvPr id="18" name="Shape 15"/>
          <p:cNvSpPr/>
          <p:nvPr/>
        </p:nvSpPr>
        <p:spPr>
          <a:xfrm>
            <a:off x="2913278" y="3995928"/>
            <a:ext cx="2123237" cy="365760"/>
          </a:xfrm>
          <a:prstGeom prst="roundRect">
            <a:avLst>
              <a:gd name="adj" fmla="val 50000"/>
            </a:avLst>
          </a:prstGeom>
          <a:solidFill>
            <a:schemeClr val="bg1"/>
          </a:solidFill>
          <a:ln w="12700">
            <a:solidFill>
              <a:schemeClr val="bg1"/>
            </a:solidFill>
            <a:prstDash val="solid"/>
          </a:ln>
        </p:spPr>
      </p:sp>
      <p:sp>
        <p:nvSpPr>
          <p:cNvPr id="19" name="Text 16"/>
          <p:cNvSpPr txBox="1"/>
          <p:nvPr/>
        </p:nvSpPr>
        <p:spPr>
          <a:xfrm>
            <a:off x="2913278" y="3995928"/>
            <a:ext cx="2123237" cy="365760"/>
          </a:xfrm>
          <a:prstGeom prst="rect">
            <a:avLst/>
          </a:prstGeom>
          <a:noFill/>
          <a:ln/>
        </p:spPr>
        <p:txBody>
          <a:bodyPr wrap="square" lIns="0" tIns="0" rIns="0" bIns="0" rtlCol="0" anchor="ctr"/>
          <a:lstStyle/>
          <a:p>
            <a:pPr algn="ctr" indent="0" marL="0">
              <a:buNone/>
            </a:pPr>
            <a:r>
              <a:rPr lang="en-US" sz="1150" b="1" dirty="0">
                <a:solidFill>
                  <a:schemeClr val="tx2"/>
                </a:solidFill>
              </a:rPr>
              <a:t>Controles y firma humana</a:t>
            </a:r>
            <a:endParaRPr lang="en-US" sz="1150" dirty="0"/>
          </a:p>
        </p:txBody>
      </p:sp>
      <p:sp>
        <p:nvSpPr>
          <p:cNvPr id="20" name="Shape 17"/>
          <p:cNvSpPr/>
          <p:nvPr/>
        </p:nvSpPr>
        <p:spPr>
          <a:xfrm>
            <a:off x="548640" y="4901184"/>
            <a:ext cx="7223760" cy="1005840"/>
          </a:xfrm>
          <a:prstGeom prst="roundRect">
            <a:avLst>
              <a:gd name="adj" fmla="val 7273"/>
            </a:avLst>
          </a:prstGeom>
          <a:solidFill>
            <a:schemeClr val="accent4"/>
          </a:solidFill>
          <a:ln w="12700">
            <a:solidFill>
              <a:srgbClr val="DCD8EC"/>
            </a:solidFill>
            <a:prstDash val="solid"/>
          </a:ln>
        </p:spPr>
      </p:sp>
      <p:sp>
        <p:nvSpPr>
          <p:cNvPr id="21" name="Text 18"/>
          <p:cNvSpPr txBox="1"/>
          <p:nvPr/>
        </p:nvSpPr>
        <p:spPr>
          <a:xfrm>
            <a:off x="822960" y="5010912"/>
            <a:ext cx="6675120" cy="228600"/>
          </a:xfrm>
          <a:prstGeom prst="rect">
            <a:avLst/>
          </a:prstGeom>
          <a:noFill/>
          <a:ln/>
        </p:spPr>
        <p:txBody>
          <a:bodyPr wrap="square" lIns="0" tIns="0" rIns="0" bIns="0" rtlCol="0" anchor="t"/>
          <a:lstStyle/>
          <a:p>
            <a:pPr indent="0" marL="0">
              <a:buNone/>
            </a:pPr>
            <a:r>
              <a:rPr lang="en-US" sz="1000" b="1" spc="150" kern="0" dirty="0">
                <a:solidFill>
                  <a:schemeClr val="accent6"/>
                </a:solidFill>
              </a:rPr>
              <a:t>SOBRE MODELOS DE PRIMER NIVEL</a:t>
            </a:r>
            <a:endParaRPr lang="en-US" sz="1000" dirty="0"/>
          </a:p>
        </p:txBody>
      </p:sp>
      <p:sp>
        <p:nvSpPr>
          <p:cNvPr id="22" name="Shape 19"/>
          <p:cNvSpPr/>
          <p:nvPr/>
        </p:nvSpPr>
        <p:spPr>
          <a:xfrm>
            <a:off x="822960" y="5303520"/>
            <a:ext cx="1152144" cy="365760"/>
          </a:xfrm>
          <a:prstGeom prst="roundRect">
            <a:avLst>
              <a:gd name="adj" fmla="val 50000"/>
            </a:avLst>
          </a:prstGeom>
          <a:solidFill>
            <a:schemeClr val="accent6"/>
          </a:solidFill>
          <a:ln w="12700">
            <a:solidFill>
              <a:schemeClr val="accent6"/>
            </a:solidFill>
            <a:prstDash val="solid"/>
          </a:ln>
        </p:spPr>
      </p:sp>
      <p:sp>
        <p:nvSpPr>
          <p:cNvPr id="23" name="Text 20"/>
          <p:cNvSpPr txBox="1"/>
          <p:nvPr/>
        </p:nvSpPr>
        <p:spPr>
          <a:xfrm>
            <a:off x="822960" y="5303520"/>
            <a:ext cx="1152144" cy="365760"/>
          </a:xfrm>
          <a:prstGeom prst="rect">
            <a:avLst/>
          </a:prstGeom>
          <a:noFill/>
          <a:ln/>
        </p:spPr>
        <p:txBody>
          <a:bodyPr wrap="square" lIns="0" tIns="0" rIns="0" bIns="0" rtlCol="0" anchor="ctr"/>
          <a:lstStyle/>
          <a:p>
            <a:pPr algn="ctr" indent="0" marL="0">
              <a:buNone/>
            </a:pPr>
            <a:r>
              <a:rPr lang="en-US" sz="1200" b="1" dirty="0">
                <a:solidFill>
                  <a:schemeClr val="bg1"/>
                </a:solidFill>
              </a:rPr>
              <a:t>Anthropic</a:t>
            </a:r>
            <a:endParaRPr lang="en-US" sz="1200" dirty="0"/>
          </a:p>
        </p:txBody>
      </p:sp>
      <p:sp>
        <p:nvSpPr>
          <p:cNvPr id="24" name="Text 21"/>
          <p:cNvSpPr txBox="1"/>
          <p:nvPr/>
        </p:nvSpPr>
        <p:spPr>
          <a:xfrm>
            <a:off x="2148840" y="5303520"/>
            <a:ext cx="5303520" cy="365760"/>
          </a:xfrm>
          <a:prstGeom prst="rect">
            <a:avLst/>
          </a:prstGeom>
          <a:noFill/>
          <a:ln/>
        </p:spPr>
        <p:txBody>
          <a:bodyPr wrap="square" lIns="0" tIns="0" rIns="0" bIns="0" rtlCol="0" anchor="ctr"/>
          <a:lstStyle/>
          <a:p>
            <a:pPr indent="0" marL="0">
              <a:buNone/>
            </a:pPr>
            <a:r>
              <a:rPr lang="en-US" sz="1200" dirty="0">
                <a:solidFill>
                  <a:schemeClr val="accent6"/>
                </a:solidFill>
              </a:rPr>
              <a:t>Según la complejidad de cada tarea · siempre con autorización de SURA</a:t>
            </a:r>
            <a:endParaRPr lang="en-US" sz="1200" dirty="0"/>
          </a:p>
        </p:txBody>
      </p:sp>
      <p:sp>
        <p:nvSpPr>
          <p:cNvPr id="25" name="Shape 22"/>
          <p:cNvSpPr/>
          <p:nvPr/>
        </p:nvSpPr>
        <p:spPr>
          <a:xfrm>
            <a:off x="8046720" y="1600200"/>
            <a:ext cx="3593592" cy="1325880"/>
          </a:xfrm>
          <a:prstGeom prst="roundRect">
            <a:avLst>
              <a:gd name="adj" fmla="val 5517"/>
            </a:avLst>
          </a:prstGeom>
          <a:solidFill>
            <a:schemeClr val="accent4"/>
          </a:solidFill>
          <a:ln w="12700">
            <a:solidFill>
              <a:srgbClr val="DCD8EC"/>
            </a:solidFill>
            <a:prstDash val="solid"/>
          </a:ln>
        </p:spPr>
      </p:sp>
      <p:sp>
        <p:nvSpPr>
          <p:cNvPr id="26" name="Text 23"/>
          <p:cNvSpPr txBox="1"/>
          <p:nvPr/>
        </p:nvSpPr>
        <p:spPr>
          <a:xfrm>
            <a:off x="8229600" y="1645920"/>
            <a:ext cx="3227832" cy="1234440"/>
          </a:xfrm>
          <a:prstGeom prst="rect">
            <a:avLst/>
          </a:prstGeom>
          <a:noFill/>
          <a:ln/>
        </p:spPr>
        <p:txBody>
          <a:bodyPr wrap="square" lIns="0" tIns="0" rIns="0" bIns="0" rtlCol="0" anchor="ctr"/>
          <a:lstStyle/>
          <a:p>
            <a:pPr indent="0" marL="0">
              <a:buNone/>
            </a:pPr>
            <a:r>
              <a:rPr lang="en-US" sz="1300" b="1" dirty="0">
                <a:solidFill>
                  <a:schemeClr val="tx2"/>
                </a:solidFill>
              </a:rPr>
              <a:t>Ya opera en proyectos de clientes</a:t>
            </a:r>
            <a:endParaRPr lang="en-US" sz="1300" dirty="0"/>
          </a:p>
          <a:p>
            <a:pPr indent="0" marL="0">
              <a:buNone/>
            </a:pPr>
            <a:r>
              <a:rPr lang="en-US" sz="1300" dirty="0">
                <a:solidFill>
                  <a:schemeClr val="accent6"/>
                </a:solidFill>
              </a:rPr>
              <a:t>No es un piloto: es como trabajamos hoy.</a:t>
            </a:r>
            <a:endParaRPr lang="en-US" sz="1300" dirty="0"/>
          </a:p>
        </p:txBody>
      </p:sp>
      <p:sp>
        <p:nvSpPr>
          <p:cNvPr id="27" name="Shape 24"/>
          <p:cNvSpPr/>
          <p:nvPr/>
        </p:nvSpPr>
        <p:spPr>
          <a:xfrm>
            <a:off x="8046720" y="3086100"/>
            <a:ext cx="3593592" cy="1325880"/>
          </a:xfrm>
          <a:prstGeom prst="roundRect">
            <a:avLst>
              <a:gd name="adj" fmla="val 5517"/>
            </a:avLst>
          </a:prstGeom>
          <a:solidFill>
            <a:schemeClr val="accent4"/>
          </a:solidFill>
          <a:ln w="12700">
            <a:solidFill>
              <a:srgbClr val="DCD8EC"/>
            </a:solidFill>
            <a:prstDash val="solid"/>
          </a:ln>
        </p:spPr>
      </p:sp>
      <p:sp>
        <p:nvSpPr>
          <p:cNvPr id="28" name="Text 25"/>
          <p:cNvSpPr txBox="1"/>
          <p:nvPr/>
        </p:nvSpPr>
        <p:spPr>
          <a:xfrm>
            <a:off x="8229600" y="3131820"/>
            <a:ext cx="3227832" cy="1234440"/>
          </a:xfrm>
          <a:prstGeom prst="rect">
            <a:avLst/>
          </a:prstGeom>
          <a:noFill/>
          <a:ln/>
        </p:spPr>
        <p:txBody>
          <a:bodyPr wrap="square" lIns="0" tIns="0" rIns="0" bIns="0" rtlCol="0" anchor="ctr"/>
          <a:lstStyle/>
          <a:p>
            <a:pPr indent="0" marL="0">
              <a:buNone/>
            </a:pPr>
            <a:r>
              <a:rPr lang="en-US" sz="1300" b="1" dirty="0">
                <a:solidFill>
                  <a:schemeClr val="tx2"/>
                </a:solidFill>
              </a:rPr>
              <a:t>Madurez medida</a:t>
            </a:r>
            <a:endParaRPr lang="en-US" sz="1300" dirty="0"/>
          </a:p>
          <a:p>
            <a:pPr indent="0" marL="0">
              <a:buNone/>
            </a:pPr>
            <a:r>
              <a:rPr lang="en-US" sz="1300" dirty="0">
                <a:solidFill>
                  <a:schemeClr val="accent6"/>
                </a:solidFill>
              </a:rPr>
              <a:t>Medimos su madurez con métricas de equipo y la mejoramos con evidencia.</a:t>
            </a:r>
            <a:endParaRPr lang="en-US" sz="1300" dirty="0"/>
          </a:p>
        </p:txBody>
      </p:sp>
      <p:sp>
        <p:nvSpPr>
          <p:cNvPr id="29" name="Shape 26"/>
          <p:cNvSpPr/>
          <p:nvPr/>
        </p:nvSpPr>
        <p:spPr>
          <a:xfrm>
            <a:off x="8046720" y="4572000"/>
            <a:ext cx="3593592" cy="1325880"/>
          </a:xfrm>
          <a:prstGeom prst="roundRect">
            <a:avLst>
              <a:gd name="adj" fmla="val 5517"/>
            </a:avLst>
          </a:prstGeom>
          <a:solidFill>
            <a:schemeClr val="accent4"/>
          </a:solidFill>
          <a:ln w="12700">
            <a:solidFill>
              <a:srgbClr val="DCD8EC"/>
            </a:solidFill>
            <a:prstDash val="solid"/>
          </a:ln>
        </p:spPr>
      </p:sp>
      <p:sp>
        <p:nvSpPr>
          <p:cNvPr id="30" name="Text 27"/>
          <p:cNvSpPr txBox="1"/>
          <p:nvPr/>
        </p:nvSpPr>
        <p:spPr>
          <a:xfrm>
            <a:off x="8229600" y="4617720"/>
            <a:ext cx="3227832" cy="1234440"/>
          </a:xfrm>
          <a:prstGeom prst="rect">
            <a:avLst/>
          </a:prstGeom>
          <a:noFill/>
          <a:ln/>
        </p:spPr>
        <p:txBody>
          <a:bodyPr wrap="square" lIns="0" tIns="0" rIns="0" bIns="0" rtlCol="0" anchor="ctr"/>
          <a:lstStyle/>
          <a:p>
            <a:pPr indent="0" marL="0">
              <a:buNone/>
            </a:pPr>
            <a:r>
              <a:rPr lang="en-US" sz="1300" b="1" dirty="0">
                <a:solidFill>
                  <a:schemeClr val="tx2"/>
                </a:solidFill>
              </a:rPr>
              <a:t>Uso responsable</a:t>
            </a:r>
            <a:endParaRPr lang="en-US" sz="1300" dirty="0"/>
          </a:p>
          <a:p>
            <a:pPr indent="0" marL="0">
              <a:buNone/>
            </a:pPr>
            <a:r>
              <a:rPr lang="en-US" sz="1300" dirty="0">
                <a:solidFill>
                  <a:schemeClr val="accent6"/>
                </a:solidFill>
              </a:rPr>
              <a:t>Cada desarrollador se forma en buenos principios y en proteger los datos del cliente.</a:t>
            </a:r>
            <a:endParaRPr lang="en-US" sz="13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Así trabaja la IA de Tech and Solve: no es un IDE con IA</a:t>
            </a:r>
            <a:endParaRPr lang="en-US" sz="2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1828800"/>
                <a:gridCol w="3291840"/>
                <a:gridCol w="5943600"/>
              </a:tblGrid>
              <a:tr h="384048">
                <a:tc>
                  <a:txBody>
                    <a:bodyPr/>
                    <a:lstStyle/>
                    <a:p>
                      <a:pPr indent="0" marL="0">
                        <a:buNone/>
                      </a:pP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Un IDE con IA</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6"/>
                    </a:solidFill>
                  </a:tcPr>
                </a:tc>
                <a:tc>
                  <a:txBody>
                    <a:bodyPr/>
                    <a:lstStyle/>
                    <a:p>
                      <a:pPr indent="0" marL="0">
                        <a:buNone/>
                      </a:pPr>
                      <a:r>
                        <a:rPr lang="en-US" sz="1300" b="1" dirty="0">
                          <a:solidFill>
                            <a:schemeClr val="bg1"/>
                          </a:solidFill>
                        </a:rPr>
                        <a:t>La IA de Tech and Solve</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r>
              <a:tr h="585216">
                <a:tc>
                  <a:txBody>
                    <a:bodyPr/>
                    <a:lstStyle/>
                    <a:p>
                      <a:pPr indent="0" marL="0">
                        <a:buNone/>
                      </a:pPr>
                      <a:r>
                        <a:rPr lang="en-US" sz="1300" b="1" dirty="0">
                          <a:solidFill>
                            <a:schemeClr val="tx2"/>
                          </a:solidFill>
                        </a:rPr>
                        <a:t>Contexto</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chemeClr val="accent6"/>
                          </a:solidFill>
                        </a:rPr>
                        <a:t>Lo que el desarrollador pegue en el chat.</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rgbClr val="000000"/>
                          </a:solidFill>
                        </a:rPr>
                        <a:t>Una base de conocimiento del sistema, citada con evidencia y sincronizada con el código antes de cada sesión.</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r>
              <a:tr h="585216">
                <a:tc>
                  <a:txBody>
                    <a:bodyPr/>
                    <a:lstStyle/>
                    <a:p>
                      <a:pPr indent="0" marL="0">
                        <a:buNone/>
                      </a:pPr>
                      <a:r>
                        <a:rPr lang="en-US" sz="1300" b="1" dirty="0">
                          <a:solidFill>
                            <a:schemeClr val="tx2"/>
                          </a:solidFill>
                        </a:rPr>
                        <a:t>Reglas</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chemeClr val="accent6"/>
                          </a:solidFill>
                        </a:rPr>
                        <a:t>Las que el desarrollador recuerde.</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rgbClr val="000000"/>
                          </a:solidFill>
                        </a:rPr>
                        <a:t>Reglas escritas a partir de revisiones de código reales, que el agente aplica siempre.</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r>
              <a:tr h="585216">
                <a:tc>
                  <a:txBody>
                    <a:bodyPr/>
                    <a:lstStyle/>
                    <a:p>
                      <a:pPr indent="0" marL="0">
                        <a:buNone/>
                      </a:pPr>
                      <a:r>
                        <a:rPr lang="en-US" sz="1300" b="1" dirty="0">
                          <a:solidFill>
                            <a:schemeClr val="tx2"/>
                          </a:solidFill>
                        </a:rPr>
                        <a:t>Proceso</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chemeClr val="accent6"/>
                          </a:solidFill>
                        </a:rPr>
                        <a:t>Libre: se pide y se genera.</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rgbClr val="000000"/>
                          </a:solidFill>
                        </a:rPr>
                        <a:t>Un proceso por fases: primero analiza, se detiene si hay bloqueos y solo entonces implementa.</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r>
              <a:tr h="585216">
                <a:tc>
                  <a:txBody>
                    <a:bodyPr/>
                    <a:lstStyle/>
                    <a:p>
                      <a:pPr indent="0" marL="0">
                        <a:buNone/>
                      </a:pPr>
                      <a:r>
                        <a:rPr lang="en-US" sz="1300" b="1" dirty="0">
                          <a:solidFill>
                            <a:schemeClr val="tx2"/>
                          </a:solidFill>
                        </a:rPr>
                        <a:t>Control</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chemeClr val="accent6"/>
                          </a:solidFill>
                        </a:rPr>
                        <a:t>Depende de la disciplina de cada quien.</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rgbClr val="000000"/>
                          </a:solidFill>
                        </a:rPr>
                        <a:t>Compuertas que el agente no puede saltar: no escribe sin pasar la de análisis ni publica sin la firma de una persona.</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r>
              <a:tr h="585216">
                <a:tc>
                  <a:txBody>
                    <a:bodyPr/>
                    <a:lstStyle/>
                    <a:p>
                      <a:pPr indent="0" marL="0">
                        <a:buNone/>
                      </a:pPr>
                      <a:r>
                        <a:rPr lang="en-US" sz="1300" b="1" dirty="0">
                          <a:solidFill>
                            <a:schemeClr val="tx2"/>
                          </a:solidFill>
                        </a:rPr>
                        <a:t>Revisión y evidencia</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chemeClr val="accent6"/>
                          </a:solidFill>
                        </a:rPr>
                        <a:t>Al final, en el pull request.</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rgbClr val="000000"/>
                          </a:solidFill>
                        </a:rPr>
                        <a:t>Agentes auditores revisan requisitos y evidencia de pruebas; cada cambio llega con su porqué.</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r>
              <a:tr h="585216">
                <a:tc>
                  <a:txBody>
                    <a:bodyPr/>
                    <a:lstStyle/>
                    <a:p>
                      <a:pPr indent="0" marL="0">
                        <a:buNone/>
                      </a:pPr>
                      <a:r>
                        <a:rPr lang="en-US" sz="1300" b="1" dirty="0">
                          <a:solidFill>
                            <a:schemeClr val="tx2"/>
                          </a:solidFill>
                        </a:rPr>
                        <a:t>Continuidad</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chemeClr val="accent6"/>
                          </a:solidFill>
                        </a:rPr>
                        <a:t>Se pierde al cerrar la sesión.</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rgbClr val="000000"/>
                          </a:solidFill>
                        </a:rPr>
                        <a:t>Cada tarea deja sus artefactos versionados y se retoma en cualquier momento.</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548640" y="5669280"/>
            <a:ext cx="11064240" cy="502920"/>
          </a:xfrm>
          <a:prstGeom prst="rect">
            <a:avLst/>
          </a:prstGeom>
          <a:noFill/>
          <a:ln/>
        </p:spPr>
        <p:txBody>
          <a:bodyPr wrap="square" lIns="0" tIns="0" rIns="0" bIns="0" rtlCol="0" anchor="ctr"/>
          <a:lstStyle/>
          <a:p>
            <a:pPr indent="0" marL="0">
              <a:buNone/>
            </a:pPr>
            <a:r>
              <a:rPr lang="en-US" sz="1500" b="1" dirty="0">
                <a:solidFill>
                  <a:schemeClr val="tx2"/>
                </a:solidFill>
              </a:rPr>
              <a:t>Un IDE con IA acelera a quien escribe. La nuestra acelera al equipo, con conocimiento, reglas y control incorporados.</a:t>
            </a:r>
            <a:endParaRPr lang="en-US" sz="15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Nuestra IA potencia cada etapa, y una persona valida cada paso</a:t>
            </a:r>
            <a:endParaRPr lang="en-US" sz="2800" dirty="0"/>
          </a:p>
        </p:txBody>
      </p:sp>
      <p:sp>
        <p:nvSpPr>
          <p:cNvPr id="4" name="Shape 1"/>
          <p:cNvSpPr/>
          <p:nvPr/>
        </p:nvSpPr>
        <p:spPr>
          <a:xfrm>
            <a:off x="548640" y="1463040"/>
            <a:ext cx="2676906" cy="2057400"/>
          </a:xfrm>
          <a:prstGeom prst="roundRect">
            <a:avLst>
              <a:gd name="adj" fmla="val 3556"/>
            </a:avLst>
          </a:prstGeom>
          <a:solidFill>
            <a:schemeClr val="accent4"/>
          </a:solidFill>
          <a:ln w="12700">
            <a:solidFill>
              <a:srgbClr val="DCD8EC"/>
            </a:solidFill>
            <a:prstDash val="solid"/>
          </a:ln>
        </p:spPr>
      </p:sp>
      <p:sp>
        <p:nvSpPr>
          <p:cNvPr id="5" name="Shape 2"/>
          <p:cNvSpPr/>
          <p:nvPr/>
        </p:nvSpPr>
        <p:spPr>
          <a:xfrm>
            <a:off x="658368" y="1572768"/>
            <a:ext cx="347472" cy="347472"/>
          </a:xfrm>
          <a:prstGeom prst="ellipse">
            <a:avLst/>
          </a:prstGeom>
          <a:solidFill>
            <a:schemeClr val="accent1"/>
          </a:solidFill>
          <a:ln w="12700">
            <a:solidFill>
              <a:schemeClr val="accent1"/>
            </a:solidFill>
            <a:prstDash val="solid"/>
          </a:ln>
        </p:spPr>
      </p:sp>
      <p:sp>
        <p:nvSpPr>
          <p:cNvPr id="6" name="Text 3"/>
          <p:cNvSpPr txBox="1"/>
          <p:nvPr/>
        </p:nvSpPr>
        <p:spPr>
          <a:xfrm>
            <a:off x="658368" y="1572768"/>
            <a:ext cx="347472" cy="347472"/>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7" name="Text 4"/>
          <p:cNvSpPr txBox="1"/>
          <p:nvPr/>
        </p:nvSpPr>
        <p:spPr>
          <a:xfrm>
            <a:off x="1097280" y="1536192"/>
            <a:ext cx="2036826" cy="420624"/>
          </a:xfrm>
          <a:prstGeom prst="rect">
            <a:avLst/>
          </a:prstGeom>
          <a:noFill/>
          <a:ln/>
        </p:spPr>
        <p:txBody>
          <a:bodyPr wrap="square" lIns="0" tIns="0" rIns="0" bIns="0" rtlCol="0" anchor="ctr"/>
          <a:lstStyle/>
          <a:p>
            <a:pPr indent="0" marL="0">
              <a:buNone/>
            </a:pPr>
            <a:r>
              <a:rPr lang="en-US" sz="1250" b="1" dirty="0">
                <a:solidFill>
                  <a:schemeClr val="tx2"/>
                </a:solidFill>
              </a:rPr>
              <a:t>Propuesta</a:t>
            </a:r>
            <a:endParaRPr lang="en-US" sz="1250" dirty="0"/>
          </a:p>
        </p:txBody>
      </p:sp>
      <p:sp>
        <p:nvSpPr>
          <p:cNvPr id="8" name="Text 5"/>
          <p:cNvSpPr txBox="1"/>
          <p:nvPr/>
        </p:nvSpPr>
        <p:spPr>
          <a:xfrm>
            <a:off x="658368" y="2011680"/>
            <a:ext cx="2457450" cy="1435608"/>
          </a:xfrm>
          <a:prstGeom prst="rect">
            <a:avLst/>
          </a:prstGeom>
          <a:noFill/>
          <a:ln/>
        </p:spPr>
        <p:txBody>
          <a:bodyPr wrap="square" lIns="0" tIns="0" rIns="0" bIns="0" rtlCol="0" anchor="t"/>
          <a:lstStyle/>
          <a:p>
            <a:pPr indent="0" marL="0">
              <a:spcAft>
                <a:spcPts val="400"/>
              </a:spcAft>
              <a:buNone/>
            </a:pPr>
            <a:r>
              <a:rPr lang="en-US" sz="1050" b="1" dirty="0">
                <a:solidFill>
                  <a:schemeClr val="accent1"/>
                </a:solidFill>
              </a:rPr>
              <a:t>IA: </a:t>
            </a:r>
            <a:pPr indent="0" marL="0">
              <a:spcAft>
                <a:spcPts val="400"/>
              </a:spcAft>
              <a:buNone/>
            </a:pPr>
            <a:r>
              <a:rPr lang="en-US" sz="1050" dirty="0">
                <a:solidFill>
                  <a:schemeClr val="tx1"/>
                </a:solidFill>
              </a:rPr>
              <a:t>mantiene una base de conocimiento del sistema, citada con evidencia y sincronizada con el código.</a:t>
            </a:r>
            <a:endParaRPr lang="en-US" sz="1050" dirty="0"/>
          </a:p>
          <a:p>
            <a:pPr indent="0" marL="0">
              <a:spcAft>
                <a:spcPts val="400"/>
              </a:spcAft>
              <a:buNone/>
            </a:pPr>
            <a:r>
              <a:rPr lang="en-US" sz="1050" b="1" dirty="0">
                <a:solidFill>
                  <a:schemeClr val="tx2"/>
                </a:solidFill>
              </a:rPr>
              <a:t>Persona: </a:t>
            </a:r>
            <a:pPr indent="0" marL="0">
              <a:spcAft>
                <a:spcPts val="400"/>
              </a:spcAft>
              <a:buNone/>
            </a:pPr>
            <a:r>
              <a:rPr lang="en-US" sz="1050" dirty="0">
                <a:solidFill>
                  <a:schemeClr val="accent6"/>
                </a:solidFill>
              </a:rPr>
              <a:t>el arquitecto valida alcance y reglas.</a:t>
            </a:r>
            <a:endParaRPr lang="en-US" sz="1050" dirty="0"/>
          </a:p>
        </p:txBody>
      </p:sp>
      <p:sp>
        <p:nvSpPr>
          <p:cNvPr id="9" name="Shape 6"/>
          <p:cNvSpPr/>
          <p:nvPr/>
        </p:nvSpPr>
        <p:spPr>
          <a:xfrm>
            <a:off x="3344418" y="1463040"/>
            <a:ext cx="2676906" cy="2057400"/>
          </a:xfrm>
          <a:prstGeom prst="roundRect">
            <a:avLst>
              <a:gd name="adj" fmla="val 3556"/>
            </a:avLst>
          </a:prstGeom>
          <a:solidFill>
            <a:schemeClr val="accent4"/>
          </a:solidFill>
          <a:ln w="12700">
            <a:solidFill>
              <a:srgbClr val="DCD8EC"/>
            </a:solidFill>
            <a:prstDash val="solid"/>
          </a:ln>
        </p:spPr>
      </p:sp>
      <p:sp>
        <p:nvSpPr>
          <p:cNvPr id="10" name="Shape 7"/>
          <p:cNvSpPr/>
          <p:nvPr/>
        </p:nvSpPr>
        <p:spPr>
          <a:xfrm>
            <a:off x="3454146" y="1572768"/>
            <a:ext cx="347472" cy="347472"/>
          </a:xfrm>
          <a:prstGeom prst="ellipse">
            <a:avLst/>
          </a:prstGeom>
          <a:solidFill>
            <a:schemeClr val="accent1"/>
          </a:solidFill>
          <a:ln w="12700">
            <a:solidFill>
              <a:schemeClr val="accent1"/>
            </a:solidFill>
            <a:prstDash val="solid"/>
          </a:ln>
        </p:spPr>
      </p:sp>
      <p:sp>
        <p:nvSpPr>
          <p:cNvPr id="11" name="Text 8"/>
          <p:cNvSpPr txBox="1"/>
          <p:nvPr/>
        </p:nvSpPr>
        <p:spPr>
          <a:xfrm>
            <a:off x="3454146" y="1572768"/>
            <a:ext cx="347472" cy="347472"/>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 9"/>
          <p:cNvSpPr txBox="1"/>
          <p:nvPr/>
        </p:nvSpPr>
        <p:spPr>
          <a:xfrm>
            <a:off x="3893058" y="1536192"/>
            <a:ext cx="2036826" cy="420624"/>
          </a:xfrm>
          <a:prstGeom prst="rect">
            <a:avLst/>
          </a:prstGeom>
          <a:noFill/>
          <a:ln/>
        </p:spPr>
        <p:txBody>
          <a:bodyPr wrap="square" lIns="0" tIns="0" rIns="0" bIns="0" rtlCol="0" anchor="ctr"/>
          <a:lstStyle/>
          <a:p>
            <a:pPr indent="0" marL="0">
              <a:buNone/>
            </a:pPr>
            <a:r>
              <a:rPr lang="en-US" sz="1250" b="1" dirty="0">
                <a:solidFill>
                  <a:schemeClr val="tx2"/>
                </a:solidFill>
              </a:rPr>
              <a:t>Definición</a:t>
            </a:r>
            <a:endParaRPr lang="en-US" sz="1250" dirty="0"/>
          </a:p>
        </p:txBody>
      </p:sp>
      <p:sp>
        <p:nvSpPr>
          <p:cNvPr id="13" name="Text 10"/>
          <p:cNvSpPr txBox="1"/>
          <p:nvPr/>
        </p:nvSpPr>
        <p:spPr>
          <a:xfrm>
            <a:off x="3454146" y="2011680"/>
            <a:ext cx="2457450" cy="1435608"/>
          </a:xfrm>
          <a:prstGeom prst="rect">
            <a:avLst/>
          </a:prstGeom>
          <a:noFill/>
          <a:ln/>
        </p:spPr>
        <p:txBody>
          <a:bodyPr wrap="square" lIns="0" tIns="0" rIns="0" bIns="0" rtlCol="0" anchor="t"/>
          <a:lstStyle/>
          <a:p>
            <a:pPr indent="0" marL="0">
              <a:spcAft>
                <a:spcPts val="400"/>
              </a:spcAft>
              <a:buNone/>
            </a:pPr>
            <a:r>
              <a:rPr lang="en-US" sz="1050" b="1" dirty="0">
                <a:solidFill>
                  <a:schemeClr val="accent1"/>
                </a:solidFill>
              </a:rPr>
              <a:t>IA: </a:t>
            </a:r>
            <a:pPr indent="0" marL="0">
              <a:spcAft>
                <a:spcPts val="400"/>
              </a:spcAft>
              <a:buNone/>
            </a:pPr>
            <a:r>
              <a:rPr lang="en-US" sz="1050" dirty="0">
                <a:solidFill>
                  <a:schemeClr val="tx1"/>
                </a:solidFill>
              </a:rPr>
              <a:t>contrasta la característica con el código real y mide su radio de impacto.</a:t>
            </a:r>
            <a:endParaRPr lang="en-US" sz="1050" dirty="0"/>
          </a:p>
          <a:p>
            <a:pPr indent="0" marL="0">
              <a:spcAft>
                <a:spcPts val="400"/>
              </a:spcAft>
              <a:buNone/>
            </a:pPr>
            <a:r>
              <a:rPr lang="en-US" sz="1050" b="1" dirty="0">
                <a:solidFill>
                  <a:schemeClr val="tx2"/>
                </a:solidFill>
              </a:rPr>
              <a:t>Persona: </a:t>
            </a:r>
            <a:pPr indent="0" marL="0">
              <a:spcAft>
                <a:spcPts val="400"/>
              </a:spcAft>
              <a:buNone/>
            </a:pPr>
            <a:r>
              <a:rPr lang="en-US" sz="1050" dirty="0">
                <a:solidFill>
                  <a:schemeClr val="accent6"/>
                </a:solidFill>
              </a:rPr>
              <a:t>responde lo que la IA no puede decidir.</a:t>
            </a:r>
            <a:endParaRPr lang="en-US" sz="1050" dirty="0"/>
          </a:p>
        </p:txBody>
      </p:sp>
      <p:sp>
        <p:nvSpPr>
          <p:cNvPr id="14" name="Shape 11"/>
          <p:cNvSpPr/>
          <p:nvPr/>
        </p:nvSpPr>
        <p:spPr>
          <a:xfrm>
            <a:off x="6140196" y="1463040"/>
            <a:ext cx="2676906" cy="2057400"/>
          </a:xfrm>
          <a:prstGeom prst="roundRect">
            <a:avLst>
              <a:gd name="adj" fmla="val 3556"/>
            </a:avLst>
          </a:prstGeom>
          <a:solidFill>
            <a:schemeClr val="accent4"/>
          </a:solidFill>
          <a:ln w="12700">
            <a:solidFill>
              <a:srgbClr val="DCD8EC"/>
            </a:solidFill>
            <a:prstDash val="solid"/>
          </a:ln>
        </p:spPr>
      </p:sp>
      <p:sp>
        <p:nvSpPr>
          <p:cNvPr id="15" name="Shape 12"/>
          <p:cNvSpPr/>
          <p:nvPr/>
        </p:nvSpPr>
        <p:spPr>
          <a:xfrm>
            <a:off x="6249924" y="1572768"/>
            <a:ext cx="347472" cy="347472"/>
          </a:xfrm>
          <a:prstGeom prst="ellipse">
            <a:avLst/>
          </a:prstGeom>
          <a:solidFill>
            <a:schemeClr val="accent1"/>
          </a:solidFill>
          <a:ln w="12700">
            <a:solidFill>
              <a:schemeClr val="accent1"/>
            </a:solidFill>
            <a:prstDash val="solid"/>
          </a:ln>
        </p:spPr>
      </p:sp>
      <p:sp>
        <p:nvSpPr>
          <p:cNvPr id="16" name="Text 13"/>
          <p:cNvSpPr txBox="1"/>
          <p:nvPr/>
        </p:nvSpPr>
        <p:spPr>
          <a:xfrm>
            <a:off x="6249924" y="1572768"/>
            <a:ext cx="347472" cy="347472"/>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7" name="Text 14"/>
          <p:cNvSpPr txBox="1"/>
          <p:nvPr/>
        </p:nvSpPr>
        <p:spPr>
          <a:xfrm>
            <a:off x="6688836" y="1536192"/>
            <a:ext cx="2036826" cy="420624"/>
          </a:xfrm>
          <a:prstGeom prst="rect">
            <a:avLst/>
          </a:prstGeom>
          <a:noFill/>
          <a:ln/>
        </p:spPr>
        <p:txBody>
          <a:bodyPr wrap="square" lIns="0" tIns="0" rIns="0" bIns="0" rtlCol="0" anchor="ctr"/>
          <a:lstStyle/>
          <a:p>
            <a:pPr indent="0" marL="0">
              <a:buNone/>
            </a:pPr>
            <a:r>
              <a:rPr lang="en-US" sz="1250" b="1" dirty="0">
                <a:solidFill>
                  <a:schemeClr val="tx2"/>
                </a:solidFill>
              </a:rPr>
              <a:t>Lista para construir</a:t>
            </a:r>
            <a:endParaRPr lang="en-US" sz="1250" dirty="0"/>
          </a:p>
        </p:txBody>
      </p:sp>
      <p:sp>
        <p:nvSpPr>
          <p:cNvPr id="18" name="Text 15"/>
          <p:cNvSpPr txBox="1"/>
          <p:nvPr/>
        </p:nvSpPr>
        <p:spPr>
          <a:xfrm>
            <a:off x="6249924" y="2011680"/>
            <a:ext cx="2457450" cy="1435608"/>
          </a:xfrm>
          <a:prstGeom prst="rect">
            <a:avLst/>
          </a:prstGeom>
          <a:noFill/>
          <a:ln/>
        </p:spPr>
        <p:txBody>
          <a:bodyPr wrap="square" lIns="0" tIns="0" rIns="0" bIns="0" rtlCol="0" anchor="t"/>
          <a:lstStyle/>
          <a:p>
            <a:pPr indent="0" marL="0">
              <a:spcAft>
                <a:spcPts val="400"/>
              </a:spcAft>
              <a:buNone/>
            </a:pPr>
            <a:r>
              <a:rPr lang="en-US" sz="1050" b="1" dirty="0">
                <a:solidFill>
                  <a:schemeClr val="accent1"/>
                </a:solidFill>
              </a:rPr>
              <a:t>IA: </a:t>
            </a:r>
            <a:pPr indent="0" marL="0">
              <a:spcAft>
                <a:spcPts val="400"/>
              </a:spcAft>
              <a:buNone/>
            </a:pPr>
            <a:r>
              <a:rPr lang="en-US" sz="1050" dirty="0">
                <a:solidFill>
                  <a:schemeClr val="tx1"/>
                </a:solidFill>
              </a:rPr>
              <a:t>aplica la definición de listo y recomienda qué característica tomar.</a:t>
            </a:r>
            <a:endParaRPr lang="en-US" sz="1050" dirty="0"/>
          </a:p>
          <a:p>
            <a:pPr indent="0" marL="0">
              <a:spcAft>
                <a:spcPts val="400"/>
              </a:spcAft>
              <a:buNone/>
            </a:pPr>
            <a:r>
              <a:rPr lang="en-US" sz="1050" b="1" dirty="0">
                <a:solidFill>
                  <a:schemeClr val="tx2"/>
                </a:solidFill>
              </a:rPr>
              <a:t>Persona: </a:t>
            </a:r>
            <a:pPr indent="0" marL="0">
              <a:spcAft>
                <a:spcPts val="400"/>
              </a:spcAft>
              <a:buNone/>
            </a:pPr>
            <a:r>
              <a:rPr lang="en-US" sz="1050" dirty="0">
                <a:solidFill>
                  <a:schemeClr val="accent6"/>
                </a:solidFill>
              </a:rPr>
              <a:t>SURA prioriza; el equipo toma la siguiente prioridad.</a:t>
            </a:r>
            <a:endParaRPr lang="en-US" sz="1050" dirty="0"/>
          </a:p>
        </p:txBody>
      </p:sp>
      <p:sp>
        <p:nvSpPr>
          <p:cNvPr id="19" name="Shape 16"/>
          <p:cNvSpPr/>
          <p:nvPr/>
        </p:nvSpPr>
        <p:spPr>
          <a:xfrm>
            <a:off x="8935974" y="1463040"/>
            <a:ext cx="2676906" cy="2057400"/>
          </a:xfrm>
          <a:prstGeom prst="roundRect">
            <a:avLst>
              <a:gd name="adj" fmla="val 3556"/>
            </a:avLst>
          </a:prstGeom>
          <a:solidFill>
            <a:schemeClr val="accent4"/>
          </a:solidFill>
          <a:ln w="12700">
            <a:solidFill>
              <a:srgbClr val="DCD8EC"/>
            </a:solidFill>
            <a:prstDash val="solid"/>
          </a:ln>
        </p:spPr>
      </p:sp>
      <p:sp>
        <p:nvSpPr>
          <p:cNvPr id="20" name="Shape 17"/>
          <p:cNvSpPr/>
          <p:nvPr/>
        </p:nvSpPr>
        <p:spPr>
          <a:xfrm>
            <a:off x="9045702" y="1572768"/>
            <a:ext cx="347472" cy="347472"/>
          </a:xfrm>
          <a:prstGeom prst="ellipse">
            <a:avLst/>
          </a:prstGeom>
          <a:solidFill>
            <a:schemeClr val="accent1"/>
          </a:solidFill>
          <a:ln w="12700">
            <a:solidFill>
              <a:schemeClr val="accent1"/>
            </a:solidFill>
            <a:prstDash val="solid"/>
          </a:ln>
        </p:spPr>
      </p:sp>
      <p:sp>
        <p:nvSpPr>
          <p:cNvPr id="21" name="Text 18"/>
          <p:cNvSpPr txBox="1"/>
          <p:nvPr/>
        </p:nvSpPr>
        <p:spPr>
          <a:xfrm>
            <a:off x="9045702" y="1572768"/>
            <a:ext cx="347472" cy="347472"/>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2" name="Text 19"/>
          <p:cNvSpPr txBox="1"/>
          <p:nvPr/>
        </p:nvSpPr>
        <p:spPr>
          <a:xfrm>
            <a:off x="9484614" y="1536192"/>
            <a:ext cx="2036826" cy="420624"/>
          </a:xfrm>
          <a:prstGeom prst="rect">
            <a:avLst/>
          </a:prstGeom>
          <a:noFill/>
          <a:ln/>
        </p:spPr>
        <p:txBody>
          <a:bodyPr wrap="square" lIns="0" tIns="0" rIns="0" bIns="0" rtlCol="0" anchor="ctr"/>
          <a:lstStyle/>
          <a:p>
            <a:pPr indent="0" marL="0">
              <a:buNone/>
            </a:pPr>
            <a:r>
              <a:rPr lang="en-US" sz="1250" b="1" dirty="0">
                <a:solidFill>
                  <a:schemeClr val="tx2"/>
                </a:solidFill>
              </a:rPr>
              <a:t>Construcción</a:t>
            </a:r>
            <a:endParaRPr lang="en-US" sz="1250" dirty="0"/>
          </a:p>
        </p:txBody>
      </p:sp>
      <p:sp>
        <p:nvSpPr>
          <p:cNvPr id="23" name="Text 20"/>
          <p:cNvSpPr txBox="1"/>
          <p:nvPr/>
        </p:nvSpPr>
        <p:spPr>
          <a:xfrm>
            <a:off x="9045702" y="2011680"/>
            <a:ext cx="2457450" cy="1435608"/>
          </a:xfrm>
          <a:prstGeom prst="rect">
            <a:avLst/>
          </a:prstGeom>
          <a:noFill/>
          <a:ln/>
        </p:spPr>
        <p:txBody>
          <a:bodyPr wrap="square" lIns="0" tIns="0" rIns="0" bIns="0" rtlCol="0" anchor="t"/>
          <a:lstStyle/>
          <a:p>
            <a:pPr indent="0" marL="0">
              <a:spcAft>
                <a:spcPts val="400"/>
              </a:spcAft>
              <a:buNone/>
            </a:pPr>
            <a:r>
              <a:rPr lang="en-US" sz="1050" b="1" dirty="0">
                <a:solidFill>
                  <a:schemeClr val="accent1"/>
                </a:solidFill>
              </a:rPr>
              <a:t>IA: </a:t>
            </a:r>
            <a:pPr indent="0" marL="0">
              <a:spcAft>
                <a:spcPts val="400"/>
              </a:spcAft>
              <a:buNone/>
            </a:pPr>
            <a:r>
              <a:rPr lang="en-US" sz="1050" dirty="0">
                <a:solidFill>
                  <a:schemeClr val="tx1"/>
                </a:solidFill>
              </a:rPr>
              <a:t>si hay bloqueos, se detiene y pregunta; si no, arma un plan de pasos y pruebas, e implementa según el plan y las reglas escritas desde revisiones reales.</a:t>
            </a:r>
            <a:endParaRPr lang="en-US" sz="1050" dirty="0"/>
          </a:p>
          <a:p>
            <a:pPr indent="0" marL="0">
              <a:spcAft>
                <a:spcPts val="400"/>
              </a:spcAft>
              <a:buNone/>
            </a:pPr>
            <a:r>
              <a:rPr lang="en-US" sz="1050" b="1" dirty="0">
                <a:solidFill>
                  <a:schemeClr val="tx2"/>
                </a:solidFill>
              </a:rPr>
              <a:t>Persona: </a:t>
            </a:r>
            <a:pPr indent="0" marL="0">
              <a:spcAft>
                <a:spcPts val="400"/>
              </a:spcAft>
              <a:buNone/>
            </a:pPr>
            <a:r>
              <a:rPr lang="en-US" sz="1050" dirty="0">
                <a:solidFill>
                  <a:schemeClr val="accent6"/>
                </a:solidFill>
              </a:rPr>
              <a:t>firma antes de seguir en lo riesgoso, revisa, y lo fuera de alcance va a una característica nueva.</a:t>
            </a:r>
            <a:endParaRPr lang="en-US" sz="1050" dirty="0"/>
          </a:p>
        </p:txBody>
      </p:sp>
      <p:sp>
        <p:nvSpPr>
          <p:cNvPr id="24" name="Shape 21"/>
          <p:cNvSpPr/>
          <p:nvPr/>
        </p:nvSpPr>
        <p:spPr>
          <a:xfrm>
            <a:off x="548640" y="3630168"/>
            <a:ext cx="2676906" cy="1600200"/>
          </a:xfrm>
          <a:prstGeom prst="roundRect">
            <a:avLst>
              <a:gd name="adj" fmla="val 4571"/>
            </a:avLst>
          </a:prstGeom>
          <a:solidFill>
            <a:schemeClr val="accent4"/>
          </a:solidFill>
          <a:ln w="12700">
            <a:solidFill>
              <a:srgbClr val="DCD8EC"/>
            </a:solidFill>
            <a:prstDash val="solid"/>
          </a:ln>
        </p:spPr>
      </p:sp>
      <p:sp>
        <p:nvSpPr>
          <p:cNvPr id="25" name="Shape 22"/>
          <p:cNvSpPr/>
          <p:nvPr/>
        </p:nvSpPr>
        <p:spPr>
          <a:xfrm>
            <a:off x="658368" y="3739896"/>
            <a:ext cx="347472" cy="347472"/>
          </a:xfrm>
          <a:prstGeom prst="ellipse">
            <a:avLst/>
          </a:prstGeom>
          <a:solidFill>
            <a:schemeClr val="accent1"/>
          </a:solidFill>
          <a:ln w="12700">
            <a:solidFill>
              <a:schemeClr val="accent1"/>
            </a:solidFill>
            <a:prstDash val="solid"/>
          </a:ln>
        </p:spPr>
      </p:sp>
      <p:sp>
        <p:nvSpPr>
          <p:cNvPr id="26" name="Text 23"/>
          <p:cNvSpPr txBox="1"/>
          <p:nvPr/>
        </p:nvSpPr>
        <p:spPr>
          <a:xfrm>
            <a:off x="658368" y="3739896"/>
            <a:ext cx="347472" cy="347472"/>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27" name="Text 24"/>
          <p:cNvSpPr txBox="1"/>
          <p:nvPr/>
        </p:nvSpPr>
        <p:spPr>
          <a:xfrm>
            <a:off x="1097280" y="3703320"/>
            <a:ext cx="2036826" cy="420624"/>
          </a:xfrm>
          <a:prstGeom prst="rect">
            <a:avLst/>
          </a:prstGeom>
          <a:noFill/>
          <a:ln/>
        </p:spPr>
        <p:txBody>
          <a:bodyPr wrap="square" lIns="0" tIns="0" rIns="0" bIns="0" rtlCol="0" anchor="ctr"/>
          <a:lstStyle/>
          <a:p>
            <a:pPr indent="0" marL="0">
              <a:buNone/>
            </a:pPr>
            <a:r>
              <a:rPr lang="en-US" sz="1250" b="1" dirty="0">
                <a:solidFill>
                  <a:schemeClr val="tx2"/>
                </a:solidFill>
              </a:rPr>
              <a:t>Verificación</a:t>
            </a:r>
            <a:endParaRPr lang="en-US" sz="1250" dirty="0"/>
          </a:p>
        </p:txBody>
      </p:sp>
      <p:sp>
        <p:nvSpPr>
          <p:cNvPr id="28" name="Text 25"/>
          <p:cNvSpPr txBox="1"/>
          <p:nvPr/>
        </p:nvSpPr>
        <p:spPr>
          <a:xfrm>
            <a:off x="658368" y="4178808"/>
            <a:ext cx="2457450" cy="978408"/>
          </a:xfrm>
          <a:prstGeom prst="rect">
            <a:avLst/>
          </a:prstGeom>
          <a:noFill/>
          <a:ln/>
        </p:spPr>
        <p:txBody>
          <a:bodyPr wrap="square" lIns="0" tIns="0" rIns="0" bIns="0" rtlCol="0" anchor="t"/>
          <a:lstStyle/>
          <a:p>
            <a:pPr indent="0" marL="0">
              <a:spcAft>
                <a:spcPts val="400"/>
              </a:spcAft>
              <a:buNone/>
            </a:pPr>
            <a:r>
              <a:rPr lang="en-US" sz="1050" b="1" dirty="0">
                <a:solidFill>
                  <a:schemeClr val="accent1"/>
                </a:solidFill>
              </a:rPr>
              <a:t>IA: </a:t>
            </a:r>
            <a:pPr indent="0" marL="0">
              <a:spcAft>
                <a:spcPts val="400"/>
              </a:spcAft>
              <a:buNone/>
            </a:pPr>
            <a:r>
              <a:rPr lang="en-US" sz="1050" dirty="0">
                <a:solidFill>
                  <a:schemeClr val="tx1"/>
                </a:solidFill>
              </a:rPr>
              <a:t>corre las pruebas por escenario y arma la evidencia de cada caso.</a:t>
            </a:r>
            <a:endParaRPr lang="en-US" sz="1050" dirty="0"/>
          </a:p>
          <a:p>
            <a:pPr indent="0" marL="0">
              <a:spcAft>
                <a:spcPts val="400"/>
              </a:spcAft>
              <a:buNone/>
            </a:pPr>
            <a:r>
              <a:rPr lang="en-US" sz="1050" b="1" dirty="0">
                <a:solidFill>
                  <a:schemeClr val="tx2"/>
                </a:solidFill>
              </a:rPr>
              <a:t>Persona: </a:t>
            </a:r>
            <a:pPr indent="0" marL="0">
              <a:spcAft>
                <a:spcPts val="400"/>
              </a:spcAft>
              <a:buNone/>
            </a:pPr>
            <a:r>
              <a:rPr lang="en-US" sz="1050" dirty="0">
                <a:solidFill>
                  <a:schemeClr val="accent6"/>
                </a:solidFill>
              </a:rPr>
              <a:t>un agente auditor y una persona revisan la evidencia.</a:t>
            </a:r>
            <a:endParaRPr lang="en-US" sz="1050" dirty="0"/>
          </a:p>
        </p:txBody>
      </p:sp>
      <p:sp>
        <p:nvSpPr>
          <p:cNvPr id="29" name="Shape 26"/>
          <p:cNvSpPr/>
          <p:nvPr/>
        </p:nvSpPr>
        <p:spPr>
          <a:xfrm>
            <a:off x="3344418" y="3630168"/>
            <a:ext cx="2676906" cy="1600200"/>
          </a:xfrm>
          <a:prstGeom prst="roundRect">
            <a:avLst>
              <a:gd name="adj" fmla="val 4571"/>
            </a:avLst>
          </a:prstGeom>
          <a:solidFill>
            <a:schemeClr val="accent4"/>
          </a:solidFill>
          <a:ln w="12700">
            <a:solidFill>
              <a:srgbClr val="DCD8EC"/>
            </a:solidFill>
            <a:prstDash val="solid"/>
          </a:ln>
        </p:spPr>
      </p:sp>
      <p:sp>
        <p:nvSpPr>
          <p:cNvPr id="30" name="Shape 27"/>
          <p:cNvSpPr/>
          <p:nvPr/>
        </p:nvSpPr>
        <p:spPr>
          <a:xfrm>
            <a:off x="3454146" y="3739896"/>
            <a:ext cx="347472" cy="347472"/>
          </a:xfrm>
          <a:prstGeom prst="ellipse">
            <a:avLst/>
          </a:prstGeom>
          <a:solidFill>
            <a:schemeClr val="accent1"/>
          </a:solidFill>
          <a:ln w="12700">
            <a:solidFill>
              <a:schemeClr val="accent1"/>
            </a:solidFill>
            <a:prstDash val="solid"/>
          </a:ln>
        </p:spPr>
      </p:sp>
      <p:sp>
        <p:nvSpPr>
          <p:cNvPr id="31" name="Text 28"/>
          <p:cNvSpPr txBox="1"/>
          <p:nvPr/>
        </p:nvSpPr>
        <p:spPr>
          <a:xfrm>
            <a:off x="3454146" y="3739896"/>
            <a:ext cx="347472" cy="347472"/>
          </a:xfrm>
          <a:prstGeom prst="rect">
            <a:avLst/>
          </a:prstGeom>
          <a:no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32" name="Text 29"/>
          <p:cNvSpPr txBox="1"/>
          <p:nvPr/>
        </p:nvSpPr>
        <p:spPr>
          <a:xfrm>
            <a:off x="3893058" y="3703320"/>
            <a:ext cx="2036826" cy="420624"/>
          </a:xfrm>
          <a:prstGeom prst="rect">
            <a:avLst/>
          </a:prstGeom>
          <a:noFill/>
          <a:ln/>
        </p:spPr>
        <p:txBody>
          <a:bodyPr wrap="square" lIns="0" tIns="0" rIns="0" bIns="0" rtlCol="0" anchor="ctr"/>
          <a:lstStyle/>
          <a:p>
            <a:pPr indent="0" marL="0">
              <a:buNone/>
            </a:pPr>
            <a:r>
              <a:rPr lang="en-US" sz="1250" b="1" dirty="0">
                <a:solidFill>
                  <a:schemeClr val="tx2"/>
                </a:solidFill>
              </a:rPr>
              <a:t>Certificación</a:t>
            </a:r>
            <a:endParaRPr lang="en-US" sz="1250" dirty="0"/>
          </a:p>
        </p:txBody>
      </p:sp>
      <p:sp>
        <p:nvSpPr>
          <p:cNvPr id="33" name="Text 30"/>
          <p:cNvSpPr txBox="1"/>
          <p:nvPr/>
        </p:nvSpPr>
        <p:spPr>
          <a:xfrm>
            <a:off x="3454146" y="4178808"/>
            <a:ext cx="2457450" cy="978408"/>
          </a:xfrm>
          <a:prstGeom prst="rect">
            <a:avLst/>
          </a:prstGeom>
          <a:noFill/>
          <a:ln/>
        </p:spPr>
        <p:txBody>
          <a:bodyPr wrap="square" lIns="0" tIns="0" rIns="0" bIns="0" rtlCol="0" anchor="t"/>
          <a:lstStyle/>
          <a:p>
            <a:pPr indent="0" marL="0">
              <a:spcAft>
                <a:spcPts val="400"/>
              </a:spcAft>
              <a:buNone/>
            </a:pPr>
            <a:r>
              <a:rPr lang="en-US" sz="1050" b="1" dirty="0">
                <a:solidFill>
                  <a:schemeClr val="accent1"/>
                </a:solidFill>
              </a:rPr>
              <a:t>IA: </a:t>
            </a:r>
            <a:pPr indent="0" marL="0">
              <a:spcAft>
                <a:spcPts val="400"/>
              </a:spcAft>
              <a:buNone/>
            </a:pPr>
            <a:r>
              <a:rPr lang="en-US" sz="1050" dirty="0">
                <a:solidFill>
                  <a:schemeClr val="tx1"/>
                </a:solidFill>
              </a:rPr>
              <a:t>se autorrevisa con el estándar de los revisores y defiende cada cambio: quién lo pidió y qué afecta.</a:t>
            </a:r>
            <a:endParaRPr lang="en-US" sz="1050" dirty="0"/>
          </a:p>
          <a:p>
            <a:pPr indent="0" marL="0">
              <a:spcAft>
                <a:spcPts val="400"/>
              </a:spcAft>
              <a:buNone/>
            </a:pPr>
            <a:r>
              <a:rPr lang="en-US" sz="1050" b="1" dirty="0">
                <a:solidFill>
                  <a:schemeClr val="tx2"/>
                </a:solidFill>
              </a:rPr>
              <a:t>Persona: </a:t>
            </a:r>
            <a:pPr indent="0" marL="0">
              <a:spcAft>
                <a:spcPts val="400"/>
              </a:spcAft>
              <a:buNone/>
            </a:pPr>
            <a:r>
              <a:rPr lang="en-US" sz="1050" dirty="0">
                <a:solidFill>
                  <a:schemeClr val="accent6"/>
                </a:solidFill>
              </a:rPr>
              <a:t>aprueba el pull request, y SURA certifica en QA.</a:t>
            </a:r>
            <a:endParaRPr lang="en-US" sz="1050" dirty="0"/>
          </a:p>
        </p:txBody>
      </p:sp>
      <p:sp>
        <p:nvSpPr>
          <p:cNvPr id="34" name="Shape 31"/>
          <p:cNvSpPr/>
          <p:nvPr/>
        </p:nvSpPr>
        <p:spPr>
          <a:xfrm>
            <a:off x="6140196" y="3630168"/>
            <a:ext cx="2676906" cy="1600200"/>
          </a:xfrm>
          <a:prstGeom prst="roundRect">
            <a:avLst>
              <a:gd name="adj" fmla="val 4571"/>
            </a:avLst>
          </a:prstGeom>
          <a:solidFill>
            <a:schemeClr val="accent4"/>
          </a:solidFill>
          <a:ln w="12700">
            <a:solidFill>
              <a:srgbClr val="DCD8EC"/>
            </a:solidFill>
            <a:prstDash val="solid"/>
          </a:ln>
        </p:spPr>
      </p:sp>
      <p:sp>
        <p:nvSpPr>
          <p:cNvPr id="35" name="Shape 32"/>
          <p:cNvSpPr/>
          <p:nvPr/>
        </p:nvSpPr>
        <p:spPr>
          <a:xfrm>
            <a:off x="6249924" y="3739896"/>
            <a:ext cx="347472" cy="347472"/>
          </a:xfrm>
          <a:prstGeom prst="ellipse">
            <a:avLst/>
          </a:prstGeom>
          <a:solidFill>
            <a:schemeClr val="accent1"/>
          </a:solidFill>
          <a:ln w="12700">
            <a:solidFill>
              <a:schemeClr val="accent1"/>
            </a:solidFill>
            <a:prstDash val="solid"/>
          </a:ln>
        </p:spPr>
      </p:sp>
      <p:sp>
        <p:nvSpPr>
          <p:cNvPr id="36" name="Text 33"/>
          <p:cNvSpPr txBox="1"/>
          <p:nvPr/>
        </p:nvSpPr>
        <p:spPr>
          <a:xfrm>
            <a:off x="6249924" y="3739896"/>
            <a:ext cx="347472" cy="347472"/>
          </a:xfrm>
          <a:prstGeom prst="rect">
            <a:avLst/>
          </a:prstGeom>
          <a:noFill/>
          <a:ln/>
        </p:spPr>
        <p:txBody>
          <a:bodyPr wrap="square" lIns="0" tIns="0" rIns="0" bIns="0" rtlCol="0" anchor="ctr"/>
          <a:lstStyle/>
          <a:p>
            <a:pPr algn="ctr" indent="0" marL="0">
              <a:buNone/>
            </a:pPr>
            <a:r>
              <a:rPr lang="en-US" sz="1100" b="1" dirty="0">
                <a:solidFill>
                  <a:schemeClr val="bg1"/>
                </a:solidFill>
              </a:rPr>
              <a:t>7</a:t>
            </a:r>
            <a:endParaRPr lang="en-US" sz="1100" dirty="0"/>
          </a:p>
        </p:txBody>
      </p:sp>
      <p:sp>
        <p:nvSpPr>
          <p:cNvPr id="37" name="Text 34"/>
          <p:cNvSpPr txBox="1"/>
          <p:nvPr/>
        </p:nvSpPr>
        <p:spPr>
          <a:xfrm>
            <a:off x="6688836" y="3703320"/>
            <a:ext cx="2036826" cy="420624"/>
          </a:xfrm>
          <a:prstGeom prst="rect">
            <a:avLst/>
          </a:prstGeom>
          <a:noFill/>
          <a:ln/>
        </p:spPr>
        <p:txBody>
          <a:bodyPr wrap="square" lIns="0" tIns="0" rIns="0" bIns="0" rtlCol="0" anchor="ctr"/>
          <a:lstStyle/>
          <a:p>
            <a:pPr indent="0" marL="0">
              <a:buNone/>
            </a:pPr>
            <a:r>
              <a:rPr lang="en-US" sz="1250" b="1" dirty="0">
                <a:solidFill>
                  <a:schemeClr val="tx2"/>
                </a:solidFill>
              </a:rPr>
              <a:t>Liberada</a:t>
            </a:r>
            <a:endParaRPr lang="en-US" sz="1250" dirty="0"/>
          </a:p>
        </p:txBody>
      </p:sp>
      <p:sp>
        <p:nvSpPr>
          <p:cNvPr id="38" name="Text 35"/>
          <p:cNvSpPr txBox="1"/>
          <p:nvPr/>
        </p:nvSpPr>
        <p:spPr>
          <a:xfrm>
            <a:off x="6249924" y="4178808"/>
            <a:ext cx="2457450" cy="978408"/>
          </a:xfrm>
          <a:prstGeom prst="rect">
            <a:avLst/>
          </a:prstGeom>
          <a:noFill/>
          <a:ln/>
        </p:spPr>
        <p:txBody>
          <a:bodyPr wrap="square" lIns="0" tIns="0" rIns="0" bIns="0" rtlCol="0" anchor="t"/>
          <a:lstStyle/>
          <a:p>
            <a:pPr indent="0" marL="0">
              <a:spcAft>
                <a:spcPts val="400"/>
              </a:spcAft>
              <a:buNone/>
            </a:pPr>
            <a:r>
              <a:rPr lang="en-US" sz="1050" b="1" dirty="0">
                <a:solidFill>
                  <a:schemeClr val="accent1"/>
                </a:solidFill>
              </a:rPr>
              <a:t>IA: </a:t>
            </a:r>
            <a:pPr indent="0" marL="0">
              <a:spcAft>
                <a:spcPts val="400"/>
              </a:spcAft>
              <a:buNone/>
            </a:pPr>
            <a:r>
              <a:rPr lang="en-US" sz="1050" dirty="0">
                <a:solidFill>
                  <a:schemeClr val="tx1"/>
                </a:solidFill>
              </a:rPr>
              <a:t>prepara el despliegue y un rollback que se ejecuta en minutos.</a:t>
            </a:r>
            <a:endParaRPr lang="en-US" sz="1050" dirty="0"/>
          </a:p>
          <a:p>
            <a:pPr indent="0" marL="0">
              <a:spcAft>
                <a:spcPts val="400"/>
              </a:spcAft>
              <a:buNone/>
            </a:pPr>
            <a:r>
              <a:rPr lang="en-US" sz="1050" b="1" dirty="0">
                <a:solidFill>
                  <a:schemeClr val="tx2"/>
                </a:solidFill>
              </a:rPr>
              <a:t>Persona: </a:t>
            </a:r>
            <a:pPr indent="0" marL="0">
              <a:spcAft>
                <a:spcPts val="400"/>
              </a:spcAft>
              <a:buNone/>
            </a:pPr>
            <a:r>
              <a:rPr lang="en-US" sz="1050" dirty="0">
                <a:solidFill>
                  <a:schemeClr val="accent6"/>
                </a:solidFill>
              </a:rPr>
              <a:t>publicar exige su firma; la IA no la crea.</a:t>
            </a:r>
            <a:endParaRPr lang="en-US" sz="1050" dirty="0"/>
          </a:p>
        </p:txBody>
      </p:sp>
      <p:sp>
        <p:nvSpPr>
          <p:cNvPr id="39" name="Shape 36"/>
          <p:cNvSpPr/>
          <p:nvPr/>
        </p:nvSpPr>
        <p:spPr>
          <a:xfrm>
            <a:off x="8935974" y="3630168"/>
            <a:ext cx="2676906" cy="1600200"/>
          </a:xfrm>
          <a:prstGeom prst="roundRect">
            <a:avLst>
              <a:gd name="adj" fmla="val 4571"/>
            </a:avLst>
          </a:prstGeom>
          <a:solidFill>
            <a:schemeClr val="accent4"/>
          </a:solidFill>
          <a:ln w="12700">
            <a:solidFill>
              <a:srgbClr val="DCD8EC"/>
            </a:solidFill>
            <a:prstDash val="solid"/>
          </a:ln>
        </p:spPr>
      </p:sp>
      <p:sp>
        <p:nvSpPr>
          <p:cNvPr id="40" name="Shape 37"/>
          <p:cNvSpPr/>
          <p:nvPr/>
        </p:nvSpPr>
        <p:spPr>
          <a:xfrm>
            <a:off x="9045702" y="3739896"/>
            <a:ext cx="347472" cy="347472"/>
          </a:xfrm>
          <a:prstGeom prst="ellipse">
            <a:avLst/>
          </a:prstGeom>
          <a:solidFill>
            <a:schemeClr val="accent1"/>
          </a:solidFill>
          <a:ln w="12700">
            <a:solidFill>
              <a:schemeClr val="accent1"/>
            </a:solidFill>
            <a:prstDash val="solid"/>
          </a:ln>
        </p:spPr>
      </p:sp>
      <p:sp>
        <p:nvSpPr>
          <p:cNvPr id="41" name="Text 38"/>
          <p:cNvSpPr txBox="1"/>
          <p:nvPr/>
        </p:nvSpPr>
        <p:spPr>
          <a:xfrm>
            <a:off x="9045702" y="3739896"/>
            <a:ext cx="347472" cy="347472"/>
          </a:xfrm>
          <a:prstGeom prst="rect">
            <a:avLst/>
          </a:prstGeom>
          <a:noFill/>
          <a:ln/>
        </p:spPr>
        <p:txBody>
          <a:bodyPr wrap="square" lIns="0" tIns="0" rIns="0" bIns="0" rtlCol="0" anchor="ctr"/>
          <a:lstStyle/>
          <a:p>
            <a:pPr algn="ctr" indent="0" marL="0">
              <a:buNone/>
            </a:pPr>
            <a:r>
              <a:rPr lang="en-US" sz="1100" b="1" dirty="0">
                <a:solidFill>
                  <a:schemeClr val="bg1"/>
                </a:solidFill>
              </a:rPr>
              <a:t>8</a:t>
            </a:r>
            <a:endParaRPr lang="en-US" sz="1100" dirty="0"/>
          </a:p>
        </p:txBody>
      </p:sp>
      <p:sp>
        <p:nvSpPr>
          <p:cNvPr id="42" name="Text 39"/>
          <p:cNvSpPr txBox="1"/>
          <p:nvPr/>
        </p:nvSpPr>
        <p:spPr>
          <a:xfrm>
            <a:off x="9484614" y="3703320"/>
            <a:ext cx="2036826" cy="420624"/>
          </a:xfrm>
          <a:prstGeom prst="rect">
            <a:avLst/>
          </a:prstGeom>
          <a:noFill/>
          <a:ln/>
        </p:spPr>
        <p:txBody>
          <a:bodyPr wrap="square" lIns="0" tIns="0" rIns="0" bIns="0" rtlCol="0" anchor="ctr"/>
          <a:lstStyle/>
          <a:p>
            <a:pPr indent="0" marL="0">
              <a:buNone/>
            </a:pPr>
            <a:r>
              <a:rPr lang="en-US" sz="1250" b="1" dirty="0">
                <a:solidFill>
                  <a:schemeClr val="tx2"/>
                </a:solidFill>
              </a:rPr>
              <a:t>Estable</a:t>
            </a:r>
            <a:endParaRPr lang="en-US" sz="1250" dirty="0"/>
          </a:p>
        </p:txBody>
      </p:sp>
      <p:sp>
        <p:nvSpPr>
          <p:cNvPr id="43" name="Text 40"/>
          <p:cNvSpPr txBox="1"/>
          <p:nvPr/>
        </p:nvSpPr>
        <p:spPr>
          <a:xfrm>
            <a:off x="9045702" y="4178808"/>
            <a:ext cx="2457450" cy="978408"/>
          </a:xfrm>
          <a:prstGeom prst="rect">
            <a:avLst/>
          </a:prstGeom>
          <a:noFill/>
          <a:ln/>
        </p:spPr>
        <p:txBody>
          <a:bodyPr wrap="square" lIns="0" tIns="0" rIns="0" bIns="0" rtlCol="0" anchor="t"/>
          <a:lstStyle/>
          <a:p>
            <a:pPr indent="0" marL="0">
              <a:spcAft>
                <a:spcPts val="400"/>
              </a:spcAft>
              <a:buNone/>
            </a:pPr>
            <a:r>
              <a:rPr lang="en-US" sz="1050" b="1" dirty="0">
                <a:solidFill>
                  <a:schemeClr val="accent1"/>
                </a:solidFill>
              </a:rPr>
              <a:t>IA: </a:t>
            </a:r>
            <a:pPr indent="0" marL="0">
              <a:spcAft>
                <a:spcPts val="400"/>
              </a:spcAft>
              <a:buNone/>
            </a:pPr>
            <a:r>
              <a:rPr lang="en-US" sz="1050" dirty="0">
                <a:solidFill>
                  <a:schemeClr val="tx1"/>
                </a:solidFill>
              </a:rPr>
              <a:t>verifica en producción y vuelve a sincronizar la base de conocimiento.</a:t>
            </a:r>
            <a:endParaRPr lang="en-US" sz="1050" dirty="0"/>
          </a:p>
          <a:p>
            <a:pPr indent="0" marL="0">
              <a:spcAft>
                <a:spcPts val="400"/>
              </a:spcAft>
              <a:buNone/>
            </a:pPr>
            <a:r>
              <a:rPr lang="en-US" sz="1050" b="1" dirty="0">
                <a:solidFill>
                  <a:schemeClr val="tx2"/>
                </a:solidFill>
              </a:rPr>
              <a:t>Persona: </a:t>
            </a:r>
            <a:pPr indent="0" marL="0">
              <a:spcAft>
                <a:spcPts val="400"/>
              </a:spcAft>
              <a:buNone/>
            </a:pPr>
            <a:r>
              <a:rPr lang="en-US" sz="1050" dirty="0">
                <a:solidFill>
                  <a:schemeClr val="accent6"/>
                </a:solidFill>
              </a:rPr>
              <a:t>cierra la tarea con el resultado verificado.</a:t>
            </a:r>
            <a:endParaRPr lang="en-US" sz="1050" dirty="0"/>
          </a:p>
        </p:txBody>
      </p:sp>
      <p:sp>
        <p:nvSpPr>
          <p:cNvPr id="44" name="Shape 41"/>
          <p:cNvSpPr/>
          <p:nvPr/>
        </p:nvSpPr>
        <p:spPr>
          <a:xfrm>
            <a:off x="548640" y="5321808"/>
            <a:ext cx="11064240" cy="457200"/>
          </a:xfrm>
          <a:prstGeom prst="roundRect">
            <a:avLst>
              <a:gd name="adj" fmla="val 16000"/>
            </a:avLst>
          </a:prstGeom>
          <a:solidFill>
            <a:schemeClr val="bg2"/>
          </a:solidFill>
          <a:ln w="12700">
            <a:solidFill>
              <a:schemeClr val="bg2"/>
            </a:solidFill>
            <a:prstDash val="solid"/>
          </a:ln>
        </p:spPr>
      </p:sp>
      <p:sp>
        <p:nvSpPr>
          <p:cNvPr id="45" name="Text 42"/>
          <p:cNvSpPr txBox="1"/>
          <p:nvPr/>
        </p:nvSpPr>
        <p:spPr>
          <a:xfrm>
            <a:off x="777240" y="5321808"/>
            <a:ext cx="10607040" cy="457200"/>
          </a:xfrm>
          <a:prstGeom prst="rect">
            <a:avLst/>
          </a:prstGeom>
          <a:noFill/>
          <a:ln/>
        </p:spPr>
        <p:txBody>
          <a:bodyPr wrap="square" lIns="0" tIns="0" rIns="0" bIns="0" rtlCol="0" anchor="ctr"/>
          <a:lstStyle/>
          <a:p>
            <a:pPr indent="0" marL="0">
              <a:buNone/>
            </a:pPr>
            <a:r>
              <a:rPr lang="en-US" sz="1150" b="1" dirty="0">
                <a:solidFill>
                  <a:schemeClr val="tx2"/>
                </a:solidFill>
              </a:rPr>
              <a:t>Mejora continua, transversal. </a:t>
            </a:r>
            <a:pPr indent="0" marL="0">
              <a:buNone/>
            </a:pPr>
            <a:r>
              <a:rPr lang="en-US" sz="1150" b="1" dirty="0">
                <a:solidFill>
                  <a:schemeClr val="accent1"/>
                </a:solidFill>
              </a:rPr>
              <a:t>IA: </a:t>
            </a:r>
            <a:pPr indent="0" marL="0">
              <a:buNone/>
            </a:pPr>
            <a:r>
              <a:rPr lang="en-US" sz="1150" dirty="0">
                <a:solidFill>
                  <a:schemeClr val="tx1"/>
                </a:solidFill>
              </a:rPr>
              <a:t>deja cada tarea versionada y retomable, con su rastro por etapa. </a:t>
            </a:r>
            <a:pPr indent="0" marL="0">
              <a:buNone/>
            </a:pPr>
            <a:r>
              <a:rPr lang="en-US" sz="1150" b="1" dirty="0">
                <a:solidFill>
                  <a:schemeClr val="tx2"/>
                </a:solidFill>
              </a:rPr>
              <a:t>Persona: </a:t>
            </a:r>
            <a:pPr indent="0" marL="0">
              <a:buNone/>
            </a:pPr>
            <a:r>
              <a:rPr lang="en-US" sz="1150" dirty="0">
                <a:solidFill>
                  <a:schemeClr val="tx1"/>
                </a:solidFill>
              </a:rPr>
              <a:t>el proceso solo cambia por decisión del equipo.</a:t>
            </a:r>
            <a:endParaRPr lang="en-US" sz="1150" dirty="0"/>
          </a:p>
        </p:txBody>
      </p:sp>
      <p:sp>
        <p:nvSpPr>
          <p:cNvPr id="46" name="Shape 43"/>
          <p:cNvSpPr/>
          <p:nvPr/>
        </p:nvSpPr>
        <p:spPr>
          <a:xfrm>
            <a:off x="548640" y="5852160"/>
            <a:ext cx="11064240" cy="457200"/>
          </a:xfrm>
          <a:prstGeom prst="roundRect">
            <a:avLst>
              <a:gd name="adj" fmla="val 16000"/>
            </a:avLst>
          </a:prstGeom>
          <a:solidFill>
            <a:schemeClr val="bg2"/>
          </a:solidFill>
          <a:ln w="12700">
            <a:solidFill>
              <a:schemeClr val="bg2"/>
            </a:solidFill>
            <a:prstDash val="solid"/>
          </a:ln>
        </p:spPr>
      </p:sp>
      <p:sp>
        <p:nvSpPr>
          <p:cNvPr id="47" name="Text 44"/>
          <p:cNvSpPr txBox="1"/>
          <p:nvPr/>
        </p:nvSpPr>
        <p:spPr>
          <a:xfrm>
            <a:off x="777240" y="5852160"/>
            <a:ext cx="10607040" cy="457200"/>
          </a:xfrm>
          <a:prstGeom prst="rect">
            <a:avLst/>
          </a:prstGeom>
          <a:noFill/>
          <a:ln/>
        </p:spPr>
        <p:txBody>
          <a:bodyPr wrap="square" lIns="0" tIns="0" rIns="0" bIns="0" rtlCol="0" anchor="ctr"/>
          <a:lstStyle/>
          <a:p>
            <a:pPr indent="0" marL="0">
              <a:buNone/>
            </a:pPr>
            <a:r>
              <a:rPr lang="en-US" sz="1150" b="1" dirty="0">
                <a:solidFill>
                  <a:schemeClr val="tx2"/>
                </a:solidFill>
              </a:rPr>
              <a:t>En los sistemas agénticos de SURA, el mismo método se extiende </a:t>
            </a:r>
            <a:pPr indent="0" marL="0">
              <a:buNone/>
            </a:pPr>
            <a:r>
              <a:rPr lang="en-US" sz="1150" dirty="0">
                <a:solidFill>
                  <a:schemeClr val="tx1"/>
                </a:solidFill>
              </a:rPr>
              <a:t>al golden set, a las versiones de prompt y a los casos adversariales que se prueban antes de la compuerta.</a:t>
            </a:r>
            <a:endParaRPr lang="en-US" sz="115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Velocidad con IA, con calidad, performance y seguridad que se verifican</a:t>
            </a:r>
            <a:endParaRPr lang="en-US" sz="2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1645920"/>
                <a:gridCol w="4572000"/>
                <a:gridCol w="4846320"/>
              </a:tblGrid>
              <a:tr h="411480">
                <a:tc>
                  <a:txBody>
                    <a:bodyPr/>
                    <a:lstStyle/>
                    <a:p>
                      <a:pPr indent="0" marL="0">
                        <a:buNone/>
                      </a:pPr>
                      <a:endParaRPr lang="en-US" sz="14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Hoy, con nuestra IA</a:t>
                      </a:r>
                      <a:endParaRPr lang="en-US" sz="14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En los agentes de SURA</a:t>
                      </a:r>
                      <a:endParaRPr lang="en-US" sz="14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3"/>
                    </a:solidFill>
                  </a:tcPr>
                </a:tc>
              </a:tr>
              <a:tr h="1143000">
                <a:tc>
                  <a:txBody>
                    <a:bodyPr/>
                    <a:lstStyle/>
                    <a:p>
                      <a:pPr indent="0" marL="0">
                        <a:buNone/>
                      </a:pPr>
                      <a:r>
                        <a:rPr lang="en-US" sz="1500" b="1" dirty="0">
                          <a:solidFill>
                            <a:schemeClr val="tx2"/>
                          </a:solidFill>
                        </a:rPr>
                        <a:t>Calidad</a:t>
                      </a:r>
                      <a:endParaRPr lang="en-US" sz="15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400" dirty="0">
                          <a:solidFill>
                            <a:srgbClr val="000000"/>
                          </a:solidFill>
                        </a:rPr>
                        <a:t>Se autorrevisa con el estándar de los revisores humanos y aprueba una persona distinta del autor. El estilo de código se verifica antes de pedir revisión.</a:t>
                      </a:r>
                      <a:endParaRPr lang="en-US" sz="14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400" dirty="0">
                          <a:solidFill>
                            <a:srgbClr val="000000"/>
                          </a:solidFill>
                        </a:rPr>
                        <a:t>Ningún agente se promueve si su golden set muestra regresión. El LLM-as-a-judge se calibra contra una muestra revisada por personas expertas.</a:t>
                      </a:r>
                      <a:endParaRPr lang="en-US" sz="14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r>
              <a:tr h="1143000">
                <a:tc>
                  <a:txBody>
                    <a:bodyPr/>
                    <a:lstStyle/>
                    <a:p>
                      <a:pPr indent="0" marL="0">
                        <a:buNone/>
                      </a:pPr>
                      <a:r>
                        <a:rPr lang="en-US" sz="1500" b="1" dirty="0">
                          <a:solidFill>
                            <a:schemeClr val="tx2"/>
                          </a:solidFill>
                        </a:rPr>
                        <a:t>Performance</a:t>
                      </a:r>
                      <a:endParaRPr lang="en-US" sz="15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400" dirty="0">
                          <a:solidFill>
                            <a:srgbClr val="000000"/>
                          </a:solidFill>
                        </a:rPr>
                        <a:t>Antes de planear, analiza la concurrencia, la idempotencia y el radio de impacto. Cada despliegue trae su rollback, ejecutable en minutos.</a:t>
                      </a:r>
                      <a:endParaRPr lang="en-US" sz="14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400" dirty="0">
                          <a:solidFill>
                            <a:srgbClr val="000000"/>
                          </a:solidFill>
                        </a:rPr>
                        <a:t>Latencia y costo por caso de cada agente, observados. El umbral de confianza es configuración, y la compuerta frena una versión que empeora.</a:t>
                      </a:r>
                      <a:endParaRPr lang="en-US" sz="14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r>
              <a:tr h="1143000">
                <a:tc>
                  <a:txBody>
                    <a:bodyPr/>
                    <a:lstStyle/>
                    <a:p>
                      <a:pPr indent="0" marL="0">
                        <a:buNone/>
                      </a:pPr>
                      <a:r>
                        <a:rPr lang="en-US" sz="1500" b="1" dirty="0">
                          <a:solidFill>
                            <a:schemeClr val="tx2"/>
                          </a:solidFill>
                        </a:rPr>
                        <a:t>Seguridad</a:t>
                      </a:r>
                      <a:endParaRPr lang="en-US" sz="15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400" dirty="0">
                          <a:solidFill>
                            <a:srgbClr val="000000"/>
                          </a:solidFill>
                        </a:rPr>
                        <a:t>No publica sin firma humana. Las credenciales se enmascaran en la evidencia y los datos del cliente no se versionan.</a:t>
                      </a:r>
                      <a:endParaRPr lang="en-US" sz="14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400" dirty="0">
                          <a:solidFill>
                            <a:srgbClr val="000000"/>
                          </a:solidFill>
                        </a:rPr>
                        <a:t>Los datos de SURA solo van a herramientas que SURA autorice. Techos de autonomía: ningún agente niega una solicitud.</a:t>
                      </a:r>
                      <a:endParaRPr lang="en-US" sz="14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r>
            </a:tbl>
          </a:graphicData>
        </a:graphic>
      </p:graphicFrame>
      <p:sp>
        <p:nvSpPr>
          <p:cNvPr id="5" name="Shape 1"/>
          <p:cNvSpPr/>
          <p:nvPr/>
        </p:nvSpPr>
        <p:spPr>
          <a:xfrm>
            <a:off x="548640" y="5532120"/>
            <a:ext cx="11064240" cy="566928"/>
          </a:xfrm>
          <a:prstGeom prst="roundRect">
            <a:avLst>
              <a:gd name="adj" fmla="val 12903"/>
            </a:avLst>
          </a:prstGeom>
          <a:solidFill>
            <a:schemeClr val="bg2"/>
          </a:solidFill>
          <a:ln w="12700">
            <a:solidFill>
              <a:schemeClr val="bg2"/>
            </a:solidFill>
            <a:prstDash val="solid"/>
          </a:ln>
        </p:spPr>
      </p:sp>
      <p:sp>
        <p:nvSpPr>
          <p:cNvPr id="6" name="Text 2"/>
          <p:cNvSpPr txBox="1"/>
          <p:nvPr/>
        </p:nvSpPr>
        <p:spPr>
          <a:xfrm>
            <a:off x="777240" y="5532120"/>
            <a:ext cx="10607040" cy="566928"/>
          </a:xfrm>
          <a:prstGeom prst="rect">
            <a:avLst/>
          </a:prstGeom>
          <a:noFill/>
          <a:ln/>
        </p:spPr>
        <p:txBody>
          <a:bodyPr wrap="square" lIns="0" tIns="0" rIns="0" bIns="0" rtlCol="0" anchor="ctr"/>
          <a:lstStyle/>
          <a:p>
            <a:pPr indent="0" marL="0">
              <a:buNone/>
            </a:pPr>
            <a:r>
              <a:rPr lang="en-US" sz="1400" b="1" dirty="0">
                <a:solidFill>
                  <a:schemeClr val="tx2"/>
                </a:solidFill>
              </a:rPr>
              <a:t>Lo de la izquierda ya opera; </a:t>
            </a:r>
            <a:pPr indent="0" marL="0">
              <a:buNone/>
            </a:pPr>
            <a:r>
              <a:rPr lang="en-US" sz="1400" dirty="0">
                <a:solidFill>
                  <a:schemeClr val="tx1"/>
                </a:solidFill>
              </a:rPr>
              <a:t>lo de la derecha es cómo esas mismas garantías se llevan a los sistemas agénticos de SURA.</a:t>
            </a:r>
            <a:endParaRPr lang="en-US" sz="14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Tech and Solve: más que tecnología, resultados sostenibles para SURA</a:t>
            </a:r>
            <a:endParaRPr lang="en-US" sz="2800" dirty="0"/>
          </a:p>
        </p:txBody>
      </p:sp>
      <p:sp>
        <p:nvSpPr>
          <p:cNvPr id="4" name="Shape 1"/>
          <p:cNvSpPr/>
          <p:nvPr/>
        </p:nvSpPr>
        <p:spPr>
          <a:xfrm>
            <a:off x="548640" y="1600200"/>
            <a:ext cx="3383280" cy="4297680"/>
          </a:xfrm>
          <a:prstGeom prst="roundRect">
            <a:avLst>
              <a:gd name="adj" fmla="val 2703"/>
            </a:avLst>
          </a:prstGeom>
          <a:solidFill>
            <a:schemeClr val="tx2"/>
          </a:solidFill>
          <a:ln w="12700">
            <a:solidFill>
              <a:schemeClr val="tx2"/>
            </a:solidFill>
            <a:prstDash val="solid"/>
          </a:ln>
        </p:spPr>
      </p:sp>
      <p:sp>
        <p:nvSpPr>
          <p:cNvPr id="5" name="Text 2"/>
          <p:cNvSpPr txBox="1"/>
          <p:nvPr/>
        </p:nvSpPr>
        <p:spPr>
          <a:xfrm>
            <a:off x="822960" y="1828800"/>
            <a:ext cx="2834640" cy="2103120"/>
          </a:xfrm>
          <a:prstGeom prst="rect">
            <a:avLst/>
          </a:prstGeom>
          <a:noFill/>
          <a:ln/>
        </p:spPr>
        <p:txBody>
          <a:bodyPr wrap="square" lIns="0" tIns="0" rIns="0" bIns="0" rtlCol="0" anchor="t"/>
          <a:lstStyle/>
          <a:p>
            <a:pPr indent="0" marL="0">
              <a:buNone/>
            </a:pPr>
            <a:r>
              <a:rPr lang="en-US" sz="1700" b="1" dirty="0">
                <a:solidFill>
                  <a:schemeClr val="bg1"/>
                </a:solidFill>
                <a:latin typeface="+mj-lt" pitchFamily="34" charset="0"/>
                <a:ea typeface="+mj-lt" pitchFamily="34" charset="-122"/>
                <a:cs typeface="+mj-lt" pitchFamily="34" charset="-120"/>
              </a:rPr>
              <a:t>Un equipo que combina visión de negocio, excelencia técnica e IA generativa propia para acelerar resultados medibles y sostenibles.</a:t>
            </a:r>
            <a:endParaRPr lang="en-US" sz="1700" dirty="0"/>
          </a:p>
        </p:txBody>
      </p:sp>
      <p:sp>
        <p:nvSpPr>
          <p:cNvPr id="6" name="Text 3"/>
          <p:cNvSpPr txBox="1"/>
          <p:nvPr/>
        </p:nvSpPr>
        <p:spPr>
          <a:xfrm>
            <a:off x="822960" y="4023360"/>
            <a:ext cx="2834640" cy="1645920"/>
          </a:xfrm>
          <a:prstGeom prst="rect">
            <a:avLst/>
          </a:prstGeom>
          <a:noFill/>
          <a:ln/>
        </p:spPr>
        <p:txBody>
          <a:bodyPr wrap="square" lIns="0" tIns="0" rIns="0" bIns="0" rtlCol="0" anchor="t"/>
          <a:lstStyle/>
          <a:p>
            <a:pPr indent="0" marL="0">
              <a:buNone/>
            </a:pPr>
            <a:r>
              <a:rPr lang="en-US" sz="1400" dirty="0">
                <a:solidFill>
                  <a:schemeClr val="bg2"/>
                </a:solidFill>
              </a:rPr>
              <a:t>Conocemos la arquitectura de gestores, trabajamos en flujo continuo con SURA y construimos con una IA propia que acelera sin perder control.</a:t>
            </a:r>
            <a:endParaRPr lang="en-US" sz="1400" dirty="0"/>
          </a:p>
        </p:txBody>
      </p:sp>
      <p:sp>
        <p:nvSpPr>
          <p:cNvPr id="7" name="Shape 4"/>
          <p:cNvSpPr/>
          <p:nvPr/>
        </p:nvSpPr>
        <p:spPr>
          <a:xfrm>
            <a:off x="4114800" y="1600200"/>
            <a:ext cx="3657600" cy="1325880"/>
          </a:xfrm>
          <a:prstGeom prst="roundRect">
            <a:avLst>
              <a:gd name="adj" fmla="val 5517"/>
            </a:avLst>
          </a:prstGeom>
          <a:solidFill>
            <a:schemeClr val="accent4"/>
          </a:solidFill>
          <a:ln w="12700">
            <a:solidFill>
              <a:srgbClr val="DCD8EC"/>
            </a:solidFill>
            <a:prstDash val="solid"/>
          </a:ln>
        </p:spPr>
      </p:sp>
      <p:sp>
        <p:nvSpPr>
          <p:cNvPr id="8" name="Shape 5"/>
          <p:cNvSpPr/>
          <p:nvPr/>
        </p:nvSpPr>
        <p:spPr>
          <a:xfrm>
            <a:off x="4297680" y="1764792"/>
            <a:ext cx="384048" cy="384048"/>
          </a:xfrm>
          <a:prstGeom prst="ellipse">
            <a:avLst/>
          </a:prstGeom>
          <a:solidFill>
            <a:schemeClr val="accent1"/>
          </a:solidFill>
          <a:ln w="12700">
            <a:solidFill>
              <a:schemeClr val="accent1"/>
            </a:solidFill>
            <a:prstDash val="solid"/>
          </a:ln>
        </p:spPr>
      </p:sp>
      <p:sp>
        <p:nvSpPr>
          <p:cNvPr id="9" name="Text 6"/>
          <p:cNvSpPr txBox="1"/>
          <p:nvPr/>
        </p:nvSpPr>
        <p:spPr>
          <a:xfrm>
            <a:off x="4297680" y="176479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0" name="Text 7"/>
          <p:cNvSpPr txBox="1"/>
          <p:nvPr/>
        </p:nvSpPr>
        <p:spPr>
          <a:xfrm>
            <a:off x="4800600" y="1737360"/>
            <a:ext cx="2834640" cy="438912"/>
          </a:xfrm>
          <a:prstGeom prst="rect">
            <a:avLst/>
          </a:prstGeom>
          <a:noFill/>
          <a:ln/>
        </p:spPr>
        <p:txBody>
          <a:bodyPr wrap="square" lIns="0" tIns="0" rIns="0" bIns="0" rtlCol="0" anchor="ctr"/>
          <a:lstStyle/>
          <a:p>
            <a:pPr indent="0" marL="0">
              <a:buNone/>
            </a:pPr>
            <a:r>
              <a:rPr lang="en-US" sz="1400" b="1" dirty="0">
                <a:solidFill>
                  <a:schemeClr val="tx2"/>
                </a:solidFill>
              </a:rPr>
              <a:t>Capacidades distintivas</a:t>
            </a:r>
            <a:endParaRPr lang="en-US" sz="1400" dirty="0"/>
          </a:p>
        </p:txBody>
      </p:sp>
      <p:sp>
        <p:nvSpPr>
          <p:cNvPr id="11" name="Text 8"/>
          <p:cNvSpPr txBox="1"/>
          <p:nvPr/>
        </p:nvSpPr>
        <p:spPr>
          <a:xfrm>
            <a:off x="4297680" y="2240280"/>
            <a:ext cx="3291840" cy="640080"/>
          </a:xfrm>
          <a:prstGeom prst="rect">
            <a:avLst/>
          </a:prstGeom>
          <a:noFill/>
          <a:ln/>
        </p:spPr>
        <p:txBody>
          <a:bodyPr wrap="square" lIns="0" tIns="0" rIns="0" bIns="0" rtlCol="0" anchor="t"/>
          <a:lstStyle/>
          <a:p>
            <a:pPr indent="0" marL="0">
              <a:buNone/>
            </a:pPr>
            <a:r>
              <a:rPr lang="en-US" sz="1200" dirty="0">
                <a:solidFill>
                  <a:schemeClr val="tx1"/>
                </a:solidFill>
              </a:rPr>
              <a:t>Expertos en sistemas agénticos y arquitectura de gestores.</a:t>
            </a:r>
            <a:endParaRPr lang="en-US" sz="1200" dirty="0"/>
          </a:p>
        </p:txBody>
      </p:sp>
      <p:sp>
        <p:nvSpPr>
          <p:cNvPr id="12" name="Shape 9"/>
          <p:cNvSpPr/>
          <p:nvPr/>
        </p:nvSpPr>
        <p:spPr>
          <a:xfrm>
            <a:off x="7955280" y="1600200"/>
            <a:ext cx="3657600" cy="1325880"/>
          </a:xfrm>
          <a:prstGeom prst="roundRect">
            <a:avLst>
              <a:gd name="adj" fmla="val 5517"/>
            </a:avLst>
          </a:prstGeom>
          <a:solidFill>
            <a:schemeClr val="accent4"/>
          </a:solidFill>
          <a:ln w="12700">
            <a:solidFill>
              <a:srgbClr val="DCD8EC"/>
            </a:solidFill>
            <a:prstDash val="solid"/>
          </a:ln>
        </p:spPr>
      </p:sp>
      <p:sp>
        <p:nvSpPr>
          <p:cNvPr id="13" name="Shape 10"/>
          <p:cNvSpPr/>
          <p:nvPr/>
        </p:nvSpPr>
        <p:spPr>
          <a:xfrm>
            <a:off x="8138160" y="1764792"/>
            <a:ext cx="384048" cy="384048"/>
          </a:xfrm>
          <a:prstGeom prst="ellipse">
            <a:avLst/>
          </a:prstGeom>
          <a:solidFill>
            <a:schemeClr val="accent1"/>
          </a:solidFill>
          <a:ln w="12700">
            <a:solidFill>
              <a:schemeClr val="accent1"/>
            </a:solidFill>
            <a:prstDash val="solid"/>
          </a:ln>
        </p:spPr>
      </p:sp>
      <p:sp>
        <p:nvSpPr>
          <p:cNvPr id="14" name="Text 11"/>
          <p:cNvSpPr txBox="1"/>
          <p:nvPr/>
        </p:nvSpPr>
        <p:spPr>
          <a:xfrm>
            <a:off x="8138160" y="176479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5" name="Text 12"/>
          <p:cNvSpPr txBox="1"/>
          <p:nvPr/>
        </p:nvSpPr>
        <p:spPr>
          <a:xfrm>
            <a:off x="8641080" y="1737360"/>
            <a:ext cx="2834640" cy="438912"/>
          </a:xfrm>
          <a:prstGeom prst="rect">
            <a:avLst/>
          </a:prstGeom>
          <a:noFill/>
          <a:ln/>
        </p:spPr>
        <p:txBody>
          <a:bodyPr wrap="square" lIns="0" tIns="0" rIns="0" bIns="0" rtlCol="0" anchor="ctr"/>
          <a:lstStyle/>
          <a:p>
            <a:pPr indent="0" marL="0">
              <a:buNone/>
            </a:pPr>
            <a:r>
              <a:rPr lang="en-US" sz="1400" b="1" dirty="0">
                <a:solidFill>
                  <a:schemeClr val="tx2"/>
                </a:solidFill>
              </a:rPr>
              <a:t>IA: procesos medibles</a:t>
            </a:r>
            <a:endParaRPr lang="en-US" sz="1400" dirty="0"/>
          </a:p>
        </p:txBody>
      </p:sp>
      <p:sp>
        <p:nvSpPr>
          <p:cNvPr id="16" name="Text 13"/>
          <p:cNvSpPr txBox="1"/>
          <p:nvPr/>
        </p:nvSpPr>
        <p:spPr>
          <a:xfrm>
            <a:off x="8138160" y="2240280"/>
            <a:ext cx="3291840" cy="640080"/>
          </a:xfrm>
          <a:prstGeom prst="rect">
            <a:avLst/>
          </a:prstGeom>
          <a:noFill/>
          <a:ln/>
        </p:spPr>
        <p:txBody>
          <a:bodyPr wrap="square" lIns="0" tIns="0" rIns="0" bIns="0" rtlCol="0" anchor="t"/>
          <a:lstStyle/>
          <a:p>
            <a:pPr indent="0" marL="0">
              <a:buNone/>
            </a:pPr>
            <a:r>
              <a:rPr lang="en-US" sz="1200" dirty="0">
                <a:solidFill>
                  <a:schemeClr val="tx1"/>
                </a:solidFill>
              </a:rPr>
              <a:t>IA propia que acelera cada liberación con validación humana.</a:t>
            </a:r>
            <a:endParaRPr lang="en-US" sz="1200" dirty="0"/>
          </a:p>
        </p:txBody>
      </p:sp>
      <p:sp>
        <p:nvSpPr>
          <p:cNvPr id="17" name="Shape 14"/>
          <p:cNvSpPr/>
          <p:nvPr/>
        </p:nvSpPr>
        <p:spPr>
          <a:xfrm>
            <a:off x="4114800" y="3086100"/>
            <a:ext cx="3657600" cy="1325880"/>
          </a:xfrm>
          <a:prstGeom prst="roundRect">
            <a:avLst>
              <a:gd name="adj" fmla="val 5517"/>
            </a:avLst>
          </a:prstGeom>
          <a:solidFill>
            <a:schemeClr val="accent4"/>
          </a:solidFill>
          <a:ln w="12700">
            <a:solidFill>
              <a:srgbClr val="DCD8EC"/>
            </a:solidFill>
            <a:prstDash val="solid"/>
          </a:ln>
        </p:spPr>
      </p:sp>
      <p:sp>
        <p:nvSpPr>
          <p:cNvPr id="18" name="Shape 15"/>
          <p:cNvSpPr/>
          <p:nvPr/>
        </p:nvSpPr>
        <p:spPr>
          <a:xfrm>
            <a:off x="4297680" y="3250692"/>
            <a:ext cx="384048" cy="384048"/>
          </a:xfrm>
          <a:prstGeom prst="ellipse">
            <a:avLst/>
          </a:prstGeom>
          <a:solidFill>
            <a:schemeClr val="accent1"/>
          </a:solidFill>
          <a:ln w="12700">
            <a:solidFill>
              <a:schemeClr val="accent1"/>
            </a:solidFill>
            <a:prstDash val="solid"/>
          </a:ln>
        </p:spPr>
      </p:sp>
      <p:sp>
        <p:nvSpPr>
          <p:cNvPr id="19" name="Text 16"/>
          <p:cNvSpPr txBox="1"/>
          <p:nvPr/>
        </p:nvSpPr>
        <p:spPr>
          <a:xfrm>
            <a:off x="4297680" y="325069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0" name="Text 17"/>
          <p:cNvSpPr txBox="1"/>
          <p:nvPr/>
        </p:nvSpPr>
        <p:spPr>
          <a:xfrm>
            <a:off x="4800600" y="3223260"/>
            <a:ext cx="2834640" cy="438912"/>
          </a:xfrm>
          <a:prstGeom prst="rect">
            <a:avLst/>
          </a:prstGeom>
          <a:noFill/>
          <a:ln/>
        </p:spPr>
        <p:txBody>
          <a:bodyPr wrap="square" lIns="0" tIns="0" rIns="0" bIns="0" rtlCol="0" anchor="ctr"/>
          <a:lstStyle/>
          <a:p>
            <a:pPr indent="0" marL="0">
              <a:buNone/>
            </a:pPr>
            <a:r>
              <a:rPr lang="en-US" sz="1400" b="1" dirty="0">
                <a:solidFill>
                  <a:schemeClr val="tx2"/>
                </a:solidFill>
              </a:rPr>
              <a:t>Equipo: estructura flexible</a:t>
            </a:r>
            <a:endParaRPr lang="en-US" sz="1400" dirty="0"/>
          </a:p>
        </p:txBody>
      </p:sp>
      <p:sp>
        <p:nvSpPr>
          <p:cNvPr id="21" name="Text 18"/>
          <p:cNvSpPr txBox="1"/>
          <p:nvPr/>
        </p:nvSpPr>
        <p:spPr>
          <a:xfrm>
            <a:off x="4297680" y="3726180"/>
            <a:ext cx="3291840" cy="640080"/>
          </a:xfrm>
          <a:prstGeom prst="rect">
            <a:avLst/>
          </a:prstGeom>
          <a:noFill/>
          <a:ln/>
        </p:spPr>
        <p:txBody>
          <a:bodyPr wrap="square" lIns="0" tIns="0" rIns="0" bIns="0" rtlCol="0" anchor="t"/>
          <a:lstStyle/>
          <a:p>
            <a:pPr indent="0" marL="0">
              <a:buNone/>
            </a:pPr>
            <a:r>
              <a:rPr lang="en-US" sz="1200" dirty="0">
                <a:solidFill>
                  <a:schemeClr val="tx1"/>
                </a:solidFill>
              </a:rPr>
              <a:t>Equipo ágil con arquitecto y desarrolladores dedicados.</a:t>
            </a:r>
            <a:endParaRPr lang="en-US" sz="1200" dirty="0"/>
          </a:p>
        </p:txBody>
      </p:sp>
      <p:sp>
        <p:nvSpPr>
          <p:cNvPr id="22" name="Shape 19"/>
          <p:cNvSpPr/>
          <p:nvPr/>
        </p:nvSpPr>
        <p:spPr>
          <a:xfrm>
            <a:off x="7955280" y="3086100"/>
            <a:ext cx="3657600" cy="1325880"/>
          </a:xfrm>
          <a:prstGeom prst="roundRect">
            <a:avLst>
              <a:gd name="adj" fmla="val 5517"/>
            </a:avLst>
          </a:prstGeom>
          <a:solidFill>
            <a:schemeClr val="accent4"/>
          </a:solidFill>
          <a:ln w="12700">
            <a:solidFill>
              <a:srgbClr val="DCD8EC"/>
            </a:solidFill>
            <a:prstDash val="solid"/>
          </a:ln>
        </p:spPr>
      </p:sp>
      <p:sp>
        <p:nvSpPr>
          <p:cNvPr id="23" name="Shape 20"/>
          <p:cNvSpPr/>
          <p:nvPr/>
        </p:nvSpPr>
        <p:spPr>
          <a:xfrm>
            <a:off x="8138160" y="3250692"/>
            <a:ext cx="384048" cy="384048"/>
          </a:xfrm>
          <a:prstGeom prst="ellipse">
            <a:avLst/>
          </a:prstGeom>
          <a:solidFill>
            <a:schemeClr val="accent1"/>
          </a:solidFill>
          <a:ln w="12700">
            <a:solidFill>
              <a:schemeClr val="accent1"/>
            </a:solidFill>
            <a:prstDash val="solid"/>
          </a:ln>
        </p:spPr>
      </p:sp>
      <p:sp>
        <p:nvSpPr>
          <p:cNvPr id="24" name="Text 21"/>
          <p:cNvSpPr txBox="1"/>
          <p:nvPr/>
        </p:nvSpPr>
        <p:spPr>
          <a:xfrm>
            <a:off x="8138160" y="325069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5" name="Text 22"/>
          <p:cNvSpPr txBox="1"/>
          <p:nvPr/>
        </p:nvSpPr>
        <p:spPr>
          <a:xfrm>
            <a:off x="8641080" y="3223260"/>
            <a:ext cx="2834640" cy="438912"/>
          </a:xfrm>
          <a:prstGeom prst="rect">
            <a:avLst/>
          </a:prstGeom>
          <a:noFill/>
          <a:ln/>
        </p:spPr>
        <p:txBody>
          <a:bodyPr wrap="square" lIns="0" tIns="0" rIns="0" bIns="0" rtlCol="0" anchor="ctr"/>
          <a:lstStyle/>
          <a:p>
            <a:pPr indent="0" marL="0">
              <a:buNone/>
            </a:pPr>
            <a:r>
              <a:rPr lang="en-US" sz="1400" b="1" dirty="0">
                <a:solidFill>
                  <a:schemeClr val="tx2"/>
                </a:solidFill>
              </a:rPr>
              <a:t>Talento consultivo</a:t>
            </a:r>
            <a:endParaRPr lang="en-US" sz="1400" dirty="0"/>
          </a:p>
        </p:txBody>
      </p:sp>
      <p:sp>
        <p:nvSpPr>
          <p:cNvPr id="26" name="Text 23"/>
          <p:cNvSpPr txBox="1"/>
          <p:nvPr/>
        </p:nvSpPr>
        <p:spPr>
          <a:xfrm>
            <a:off x="8138160" y="3726180"/>
            <a:ext cx="3291840" cy="640080"/>
          </a:xfrm>
          <a:prstGeom prst="rect">
            <a:avLst/>
          </a:prstGeom>
          <a:noFill/>
          <a:ln/>
        </p:spPr>
        <p:txBody>
          <a:bodyPr wrap="square" lIns="0" tIns="0" rIns="0" bIns="0" rtlCol="0" anchor="t"/>
          <a:lstStyle/>
          <a:p>
            <a:pPr indent="0" marL="0">
              <a:buNone/>
            </a:pPr>
            <a:r>
              <a:rPr lang="en-US" sz="1200" dirty="0">
                <a:solidFill>
                  <a:schemeClr val="tx1"/>
                </a:solidFill>
              </a:rPr>
              <a:t>Experiencia previa con SURA, mirada crítica de negocio y acompañamiento cercano.</a:t>
            </a:r>
            <a:endParaRPr lang="en-US" sz="1200" dirty="0"/>
          </a:p>
        </p:txBody>
      </p:sp>
      <p:sp>
        <p:nvSpPr>
          <p:cNvPr id="27" name="Shape 24"/>
          <p:cNvSpPr/>
          <p:nvPr/>
        </p:nvSpPr>
        <p:spPr>
          <a:xfrm>
            <a:off x="4114800" y="4572000"/>
            <a:ext cx="7498080" cy="1325880"/>
          </a:xfrm>
          <a:prstGeom prst="roundRect">
            <a:avLst>
              <a:gd name="adj" fmla="val 5517"/>
            </a:avLst>
          </a:prstGeom>
          <a:solidFill>
            <a:schemeClr val="accent4"/>
          </a:solidFill>
          <a:ln w="12700">
            <a:solidFill>
              <a:srgbClr val="DCD8EC"/>
            </a:solidFill>
            <a:prstDash val="solid"/>
          </a:ln>
        </p:spPr>
      </p:sp>
      <p:sp>
        <p:nvSpPr>
          <p:cNvPr id="28" name="Shape 25"/>
          <p:cNvSpPr/>
          <p:nvPr/>
        </p:nvSpPr>
        <p:spPr>
          <a:xfrm>
            <a:off x="4297680" y="4736592"/>
            <a:ext cx="384048" cy="384048"/>
          </a:xfrm>
          <a:prstGeom prst="ellipse">
            <a:avLst/>
          </a:prstGeom>
          <a:solidFill>
            <a:schemeClr val="accent1"/>
          </a:solidFill>
          <a:ln w="12700">
            <a:solidFill>
              <a:schemeClr val="accent1"/>
            </a:solidFill>
            <a:prstDash val="solid"/>
          </a:ln>
        </p:spPr>
      </p:sp>
      <p:sp>
        <p:nvSpPr>
          <p:cNvPr id="29" name="Text 26"/>
          <p:cNvSpPr txBox="1"/>
          <p:nvPr/>
        </p:nvSpPr>
        <p:spPr>
          <a:xfrm>
            <a:off x="4297680" y="473659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0" name="Text 27"/>
          <p:cNvSpPr txBox="1"/>
          <p:nvPr/>
        </p:nvSpPr>
        <p:spPr>
          <a:xfrm>
            <a:off x="4800600" y="4709160"/>
            <a:ext cx="6675120" cy="438912"/>
          </a:xfrm>
          <a:prstGeom prst="rect">
            <a:avLst/>
          </a:prstGeom>
          <a:noFill/>
          <a:ln/>
        </p:spPr>
        <p:txBody>
          <a:bodyPr wrap="square" lIns="0" tIns="0" rIns="0" bIns="0" rtlCol="0" anchor="ctr"/>
          <a:lstStyle/>
          <a:p>
            <a:pPr indent="0" marL="0">
              <a:buNone/>
            </a:pPr>
            <a:r>
              <a:rPr lang="en-US" sz="1400" b="1" dirty="0">
                <a:solidFill>
                  <a:schemeClr val="tx2"/>
                </a:solidFill>
              </a:rPr>
              <a:t>Medición integral</a:t>
            </a:r>
            <a:endParaRPr lang="en-US" sz="1400" dirty="0"/>
          </a:p>
        </p:txBody>
      </p:sp>
      <p:sp>
        <p:nvSpPr>
          <p:cNvPr id="31" name="Text 28"/>
          <p:cNvSpPr txBox="1"/>
          <p:nvPr/>
        </p:nvSpPr>
        <p:spPr>
          <a:xfrm>
            <a:off x="4297680" y="5212080"/>
            <a:ext cx="7132320" cy="640080"/>
          </a:xfrm>
          <a:prstGeom prst="rect">
            <a:avLst/>
          </a:prstGeom>
          <a:noFill/>
          <a:ln/>
        </p:spPr>
        <p:txBody>
          <a:bodyPr wrap="square" lIns="0" tIns="0" rIns="0" bIns="0" rtlCol="0" anchor="t"/>
          <a:lstStyle/>
          <a:p>
            <a:pPr indent="0" marL="0">
              <a:buNone/>
            </a:pPr>
            <a:r>
              <a:rPr lang="en-US" sz="1200" dirty="0">
                <a:solidFill>
                  <a:schemeClr val="tx1"/>
                </a:solidFill>
              </a:rPr>
              <a:t>Garantías verificables en calidad, performance y seguridad.</a:t>
            </a:r>
            <a:endParaRPr lang="en-US" sz="12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Tech and Solve">
      <a:dk1>
        <a:srgbClr val="1A1E27"/>
      </a:dk1>
      <a:lt1>
        <a:srgbClr val="FFFFFF"/>
      </a:lt1>
      <a:dk2>
        <a:srgbClr val="280265"/>
      </a:dk2>
      <a:lt2>
        <a:srgbClr val="EBEBFF"/>
      </a:lt2>
      <a:accent1>
        <a:srgbClr val="5300DF"/>
      </a:accent1>
      <a:accent2>
        <a:srgbClr val="B9720A"/>
      </a:accent2>
      <a:accent3>
        <a:srgbClr val="1B6B4F"/>
      </a:accent3>
      <a:accent4>
        <a:srgbClr val="FAF9FE"/>
      </a:accent4>
      <a:accent5>
        <a:srgbClr val="DCD8EC"/>
      </a:accent5>
      <a:accent6>
        <a:srgbClr val="5B5A66"/>
      </a:accent6>
      <a:hlink>
        <a:srgbClr val="5300DF"/>
      </a:hlink>
      <a:folHlink>
        <a:srgbClr val="280265"/>
      </a:folHlink>
    </a:clrScheme>
    <a:fontScheme name="Office">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Tech and Solve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Dinámica de trabajo del equipo</dc:title>
  <dc:subject>PptxGenJS Presentation</dc:subject>
  <dc:creator>Tech and Solve</dc:creator>
  <cp:lastModifiedBy>Tech and Solve</cp:lastModifiedBy>
  <cp:revision>1</cp:revision>
  <dcterms:created xsi:type="dcterms:W3CDTF">2026-10-16T19:19:21Z</dcterms:created>
  <dcterms:modified xsi:type="dcterms:W3CDTF">2026-10-16T19:19:21Z</dcterms:modified>
</cp:coreProperties>
</file>