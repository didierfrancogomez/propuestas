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422a6a49-edec-beb2-1a4a-0411c34f5bf1}">
          <p14:sldIdLst>
            <p14:sldId id="256"/>
          </p14:sldIdLst>
        </p14:section>
        <p14:section name="Dinámica de trabajo" id="{11b7e2f1-4051-0f38-cbcd-6cddc0a7a96f}">
          <p14:sldIdLst>
            <p14:sldId id="257"/>
            <p14:sldId id="258"/>
            <p14:sldId id="259"/>
            <p14:sldId id="260"/>
            <p14:sldId id="261"/>
            <p14:sldId id="262"/>
            <p14:sldId id="263"/>
            <p14:sldId id="264"/>
            <p14:sldId id="265"/>
            <p14:sldId id="266"/>
            <p14:sldId id="267"/>
            <p14:sldId id="268"/>
            <p14:sldId id="269"/>
          </p14:sldIdLst>
        </p14:section>
        <p14:section name="IA de Tech and Solve" id="{c3917f82-1c38-b149-e93d-5057aa5d3767}">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 la propuesta: qué equipo proponemos, cómo trabajaría con SURA y qué lo diferencia.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sistemas agénticos; el front y la integración los lideran los equipos de SURA. Trabaja por sprints: SURA define las historias y recibe cada demo. Todo lo que sigue es una sugerencia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liderazgo de Tech and Solve acompaña de forma puntual: Raúl en los hitos clave, con una mirada crítica de negocio y de solución; Alexandra, con la experiencia y los estándares de toda la compañía; y Jorge, como punto de contacto con SURA para que cada sprint cumpla lo acordado. El arquitecto define el cómo, se alinea con el equipo de arquitectura de SURA y revisa. Los desarrolladores participan en el refinamiento y la estimación, y luego implementan la solución. Trabajan sobre el mismo backlog y cada uno toma la siguiente historia priorizada; no hay frentes repartidos.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diez etapas de nuestro proceso de desarrollo ágil. Las etapas 1 y 2 preparan el trabajo con SURA; de la 3 a la 8 es el sprint, que se repite; 9 y 10 llevan el resultado a producción. Dentro del sprint todo es interno salvo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construye los agentes y lo que los gobierna.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arquitecto no implementa historias: define con el equipo cómo se construye, lo alinea con el equipo de arquitectura de SURA y revisa que el equipo lo cumpla.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sesión de historias es el espacio de SURA dentro de la iteración. De ahí sale la historia con su criterio de aceptación; el equipo la estima en puntos y resuelve el detalle técnico en el refinamiento interno.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tallas que existen hoy son de épicas y sirven para ordenar el backlog. De cada épica se desprenden historias de usuario, que el equipo estima en puntos, y el sprint se llena según la velocidad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Incluye lo propio de los agentes, golden set y traza, y lo que exige nuestro proceso de desarrollo con IA: especificación mínima antes de generar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Diez días hábiles es el sprint estándar de SuraHis y es lo que fija la hoja de seguimiento. SURA participa en tres sesiones: la alineación del arquitecto con el equipo de arquitectura de SURA, la sesión de historias y la demo con entrega. Las duraciones son sugeridas.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personas implican como máximo dos cosas en curso. Si aparece una tercera, se termina una antes. Los acuerdos son revisables en cada retro.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cierre de cada sprint SURA recibe tres cosas: las historias trabajadas con su estado, la demo de lo implementado y las evidencias de cada implementación según la definición de hecho (Definition of Done). La demo se hace con datos sintéticos, nunca con datos reales de pacientes.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orden sugerido; el orden real lo decide SURA en el backlog, sesión a sesión. Los cortes a producción dependen también del front y la integración, que lideran los equipos de SURA. La trazabilidad para la torre de control es transversal.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Versión en capas. Abajo, los modelos de primer nivel de Anthropic, elegidos según la complejidad, siempre con autorización de SURA. En el medio, lo que construimos y nos hace distintos: base de conocimiento, proceso por fases, reglas desde revisiones reales, agentes especializados y controles con firma humana. Arriba, quién la usa: solo nuestro equipo tech; no se comercializa ni se abre a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IDE con IA depende de lo que el desarrollador le dé y de su disciplina. La IA de Tech and Solve trabaja con una base de conocimiento sincronizada con el código, reglas escritas desde revisiones reales, un proceso por fases que se detiene ante bloqueos, compuertas que no puede saltar y firma humana para publicar. Ya opera así en proyectos de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etapa del proceso usa la IA propia de Tech and Solve donde más rinde, y cada paso tiene una persona que valida. Esa combinación es la que acelera sin perder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de hoy describe lo que nuestra IA ya hace en cada cambio. La de SURA es cómo se aplican esas garantías a los agentes: golden set, juez calibrado, latencia y costo observados, y techos de autonomía.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propuesta. Resume las dos secciones: la dinámica de trabajo con SURA y la IA de Tech and Solve. El argumento más fuerte es que ya conocemos la arquitectura de gestores por el trabajo previo con 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82512"/>
            <a:ext cx="603504" cy="316382"/>
          </a:xfrm>
          <a:prstGeom prst="rect">
            <a:avLst/>
          </a:prstGeom>
        </p:spPr>
      </p:pic>
      <p:sp>
        <p:nvSpPr>
          <p:cNvPr id="3" name="Text 0"/>
          <p:cNvSpPr/>
          <p:nvPr/>
        </p:nvSpPr>
        <p:spPr>
          <a:xfrm>
            <a:off x="1280160" y="6382512"/>
            <a:ext cx="7315200" cy="320040"/>
          </a:xfrm>
          <a:prstGeom prst="rect">
            <a:avLst/>
          </a:prstGeom>
          <a:noFill/>
          <a:ln/>
        </p:spPr>
        <p:txBody>
          <a:bodyPr wrap="square" lIns="0" tIns="0" rIns="0" bIns="0" rtlCol="0" anchor="ctr"/>
          <a:lstStyle/>
          <a:p>
            <a:pPr indent="0" marL="0">
              <a:buNone/>
            </a:pPr>
            <a:r>
              <a:rPr lang="en-US" sz="1100" dirty="0">
                <a:solidFill>
                  <a:schemeClr val="accent6"/>
                </a:solidFill>
              </a:rPr>
              <a:t>Dinámica de trabajo del equipo · MVP de gestores · SURA</a:t>
            </a:r>
            <a:endParaRPr lang="en-US" sz="1100" dirty="0"/>
          </a:p>
        </p:txBody>
      </p:sp>
      <p:sp>
        <p:nvSpPr>
          <p:cNvPr id="4" name="Text 1"/>
          <p:cNvSpPr/>
          <p:nvPr>
            <p:ph idx="102" type="title" hasCustomPrompt="1"/>
          </p:nvPr>
        </p:nvSpPr>
        <p:spPr>
          <a:xfrm>
            <a:off x="548640" y="411480"/>
            <a:ext cx="11064240"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 Id="rId7" Type="http://schemas.openxmlformats.org/officeDocument/2006/relationships/image" Target="../media/image-2-7.jpe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 Id="rId6" Type="http://schemas.openxmlformats.org/officeDocument/2006/relationships/image" Target="../media/image-3-6.jpe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gilemanifesto.org/iso/es/manifesto.html" TargetMode="Externa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crumguides.org/scrum-guide.html" TargetMode="Externa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731520" y="64008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841248" y="713232"/>
            <a:ext cx="1517904" cy="795528"/>
          </a:xfrm>
          <a:prstGeom prst="rect">
            <a:avLst/>
          </a:prstGeom>
        </p:spPr>
      </p:pic>
      <p:sp>
        <p:nvSpPr>
          <p:cNvPr id="5" name="Text 2"/>
          <p:cNvSpPr txBox="1"/>
          <p:nvPr/>
        </p:nvSpPr>
        <p:spPr>
          <a:xfrm>
            <a:off x="731520" y="2240280"/>
            <a:ext cx="7315200" cy="320040"/>
          </a:xfrm>
          <a:prstGeom prst="rect">
            <a:avLst/>
          </a:prstGeom>
          <a:noFill/>
          <a:ln/>
        </p:spPr>
        <p:txBody>
          <a:bodyPr wrap="square" lIns="0" tIns="0" rIns="0" bIns="0" rtlCol="0" anchor="t"/>
          <a:lstStyle/>
          <a:p>
            <a:pPr indent="0" marL="0">
              <a:buNone/>
            </a:pPr>
            <a:r>
              <a:rPr lang="en-US" sz="1300" b="1" spc="300" kern="0" dirty="0">
                <a:solidFill>
                  <a:schemeClr val="bg2"/>
                </a:solidFill>
              </a:rPr>
              <a:t>MÉTODO DE TRABAJO DE TECH AND SOLVE PARA SURA</a:t>
            </a:r>
            <a:endParaRPr lang="en-US" sz="1300" dirty="0"/>
          </a:p>
        </p:txBody>
      </p:sp>
      <p:sp>
        <p:nvSpPr>
          <p:cNvPr id="6" name="Text 3"/>
          <p:cNvSpPr txBox="1"/>
          <p:nvPr/>
        </p:nvSpPr>
        <p:spPr>
          <a:xfrm>
            <a:off x="731520" y="2606040"/>
            <a:ext cx="10515600" cy="1600200"/>
          </a:xfrm>
          <a:prstGeom prst="rect">
            <a:avLst/>
          </a:prstGeom>
          <a:noFill/>
          <a:ln/>
        </p:spPr>
        <p:txBody>
          <a:bodyPr wrap="square" lIns="0" tIns="0" rIns="0" bIns="0" rtlCol="0" anchor="t"/>
          <a:lstStyle/>
          <a:p>
            <a:pPr indent="0" marL="0">
              <a:buNone/>
            </a:pPr>
            <a:r>
              <a:rPr lang="en-US" sz="4400" b="1" dirty="0">
                <a:solidFill>
                  <a:schemeClr val="bg1"/>
                </a:solidFill>
                <a:latin typeface="+mj-lt" pitchFamily="34" charset="0"/>
                <a:ea typeface="+mj-lt" pitchFamily="34" charset="-122"/>
                <a:cs typeface="+mj-lt" pitchFamily="34" charset="-120"/>
              </a:rPr>
              <a:t>MVP de Gestores:</a:t>
            </a:r>
            <a:endParaRPr lang="en-US" sz="4400" dirty="0"/>
          </a:p>
          <a:p>
            <a:pPr indent="0" marL="0">
              <a:buNone/>
            </a:pPr>
            <a:r>
              <a:rPr lang="en-US" sz="4400" b="1" dirty="0">
                <a:solidFill>
                  <a:schemeClr val="bg1"/>
                </a:solidFill>
                <a:latin typeface="+mj-lt" pitchFamily="34" charset="0"/>
                <a:ea typeface="+mj-lt" pitchFamily="34" charset="-122"/>
                <a:cs typeface="+mj-lt" pitchFamily="34" charset="-120"/>
              </a:rPr>
              <a:t>innovación para SURA</a:t>
            </a:r>
            <a:endParaRPr lang="en-US" sz="4400" dirty="0"/>
          </a:p>
        </p:txBody>
      </p:sp>
      <p:sp>
        <p:nvSpPr>
          <p:cNvPr id="7" name="Text 4"/>
          <p:cNvSpPr txBox="1"/>
          <p:nvPr/>
        </p:nvSpPr>
        <p:spPr>
          <a:xfrm>
            <a:off x="731520" y="4434840"/>
            <a:ext cx="10515600" cy="822960"/>
          </a:xfrm>
          <a:prstGeom prst="rect">
            <a:avLst/>
          </a:prstGeom>
          <a:noFill/>
          <a:ln/>
        </p:spPr>
        <p:txBody>
          <a:bodyPr wrap="square" lIns="0" tIns="0" rIns="0" bIns="0" rtlCol="0" anchor="t"/>
          <a:lstStyle/>
          <a:p>
            <a:pPr indent="0" marL="0">
              <a:buNone/>
            </a:pPr>
            <a:r>
              <a:rPr lang="en-US" sz="2000" b="1" dirty="0">
                <a:solidFill>
                  <a:schemeClr val="bg1"/>
                </a:solidFill>
              </a:rPr>
              <a:t>Un equipo multidisciplinario dedicado al éxito de SURA,</a:t>
            </a:r>
            <a:endParaRPr lang="en-US" sz="2000" dirty="0"/>
          </a:p>
          <a:p>
            <a:pPr indent="0" marL="0">
              <a:buNone/>
            </a:pPr>
            <a:r>
              <a:rPr lang="en-US" sz="2000" b="1" dirty="0">
                <a:solidFill>
                  <a:schemeClr val="bg1"/>
                </a:solidFill>
              </a:rPr>
              <a:t>con IA generativa propia que acelera resultados medibles</a:t>
            </a:r>
            <a:endParaRPr lang="en-US" sz="2000" dirty="0"/>
          </a:p>
        </p:txBody>
      </p:sp>
      <p:sp>
        <p:nvSpPr>
          <p:cNvPr id="8" name="Shape 5"/>
          <p:cNvSpPr/>
          <p:nvPr/>
        </p:nvSpPr>
        <p:spPr>
          <a:xfrm>
            <a:off x="731520" y="5669280"/>
            <a:ext cx="10725912" cy="0"/>
          </a:xfrm>
          <a:prstGeom prst="line">
            <a:avLst/>
          </a:prstGeom>
          <a:noFill/>
          <a:ln w="9525">
            <a:solidFill>
              <a:schemeClr val="bg2">
                <a:alpha val="40000"/>
              </a:schemeClr>
            </a:solidFill>
            <a:prstDash val="solid"/>
          </a:ln>
        </p:spPr>
      </p:sp>
      <p:sp>
        <p:nvSpPr>
          <p:cNvPr id="9" name="Text 6"/>
          <p:cNvSpPr txBox="1"/>
          <p:nvPr/>
        </p:nvSpPr>
        <p:spPr>
          <a:xfrm>
            <a:off x="731520" y="5779008"/>
            <a:ext cx="5943600" cy="548640"/>
          </a:xfrm>
          <a:prstGeom prst="rect">
            <a:avLst/>
          </a:prstGeom>
          <a:noFill/>
          <a:ln/>
        </p:spPr>
        <p:txBody>
          <a:bodyPr wrap="square" lIns="0" tIns="0" rIns="0" bIns="0" rtlCol="0" anchor="t"/>
          <a:lstStyle/>
          <a:p>
            <a:pPr indent="0" marL="0">
              <a:buNone/>
            </a:pPr>
            <a:r>
              <a:rPr lang="en-US" sz="1100" dirty="0">
                <a:solidFill>
                  <a:schemeClr val="bg2"/>
                </a:solidFill>
              </a:rPr>
              <a:t>SURA Colombia · Transformación prestación y reclamaciones</a:t>
            </a:r>
            <a:endParaRPr lang="en-US" sz="1100" dirty="0"/>
          </a:p>
          <a:p>
            <a:pPr indent="0" marL="0">
              <a:buNone/>
            </a:pPr>
            <a:r>
              <a:rPr lang="en-US" sz="1100" dirty="0">
                <a:solidFill>
                  <a:schemeClr val="bg2"/>
                </a:solidFill>
              </a:rPr>
              <a:t>MVP de autorizaciones de salud</a:t>
            </a:r>
            <a:endParaRPr lang="en-US" sz="1100" dirty="0"/>
          </a:p>
        </p:txBody>
      </p:sp>
      <p:sp>
        <p:nvSpPr>
          <p:cNvPr id="10" name="Text 7"/>
          <p:cNvSpPr txBox="1"/>
          <p:nvPr/>
        </p:nvSpPr>
        <p:spPr>
          <a:xfrm>
            <a:off x="6675120" y="5779008"/>
            <a:ext cx="4782312" cy="548640"/>
          </a:xfrm>
          <a:prstGeom prst="rect">
            <a:avLst/>
          </a:prstGeom>
          <a:noFill/>
          <a:ln/>
        </p:spPr>
        <p:txBody>
          <a:bodyPr wrap="square" lIns="0" tIns="0" rIns="0" bIns="0" rtlCol="0" anchor="t"/>
          <a:lstStyle/>
          <a:p>
            <a:pPr algn="r" indent="0" marL="0">
              <a:buNone/>
            </a:pPr>
            <a:r>
              <a:rPr lang="en-US" sz="1100" dirty="0">
                <a:solidFill>
                  <a:schemeClr val="bg2"/>
                </a:solidFill>
              </a:rPr>
              <a:t>Tech and Solve · Octubre de 2026</a:t>
            </a:r>
            <a:endParaRPr lang="en-US" sz="1100" dirty="0"/>
          </a:p>
          <a:p>
            <a:pPr algn="r" indent="0" marL="0">
              <a:buNone/>
            </a:pPr>
            <a:r>
              <a:rPr lang="en-US" sz="1100" dirty="0">
                <a:solidFill>
                  <a:schemeClr val="bg2"/>
                </a:solidFill>
              </a:rPr>
              <a:t>Documento confidencial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chemeClr val="tx2"/>
          </a:solidFill>
          <a:ln w="12700">
            <a:solidFill>
              <a:schemeClr val="tx2"/>
            </a:solidFill>
            <a:prstDash val="solid"/>
          </a:ln>
        </p:spPr>
      </p:sp>
      <p:pic>
        <p:nvPicPr>
          <p:cNvPr id="3" name="Image 0" descr="preencoded.png">    </p:cNvPr>
          <p:cNvPicPr>
            <a:picLocks noChangeAspect="1"/>
          </p:cNvPicPr>
          <p:nvPr/>
        </p:nvPicPr>
        <p:blipFill>
          <a:blip r:embed="rId1"/>
          <a:stretch>
            <a:fillRect/>
          </a:stretch>
        </p:blipFill>
        <p:spPr>
          <a:xfrm>
            <a:off x="731520" y="640080"/>
            <a:ext cx="1737360" cy="909828"/>
          </a:xfrm>
          <a:prstGeom prst="rect">
            <a:avLst/>
          </a:prstGeom>
        </p:spPr>
      </p:pic>
      <p:sp>
        <p:nvSpPr>
          <p:cNvPr id="4" name="Text 1"/>
          <p:cNvSpPr txBox="1"/>
          <p:nvPr/>
        </p:nvSpPr>
        <p:spPr>
          <a:xfrm>
            <a:off x="731520" y="2148840"/>
            <a:ext cx="6766560" cy="1554480"/>
          </a:xfrm>
          <a:prstGeom prst="rect">
            <a:avLst/>
          </a:prstGeom>
          <a:noFill/>
          <a:ln/>
        </p:spPr>
        <p:txBody>
          <a:bodyPr wrap="square" lIns="0" tIns="0" rIns="0" bIns="0" rtlCol="0" anchor="t"/>
          <a:lstStyle/>
          <a:p>
            <a:pPr indent="0" marL="0">
              <a:buNone/>
            </a:pPr>
            <a:r>
              <a:rPr lang="en-US" sz="4000" b="1" dirty="0">
                <a:solidFill>
                  <a:schemeClr val="tx2"/>
                </a:solidFill>
                <a:latin typeface="+mj-lt" pitchFamily="34" charset="0"/>
                <a:ea typeface="+mj-lt" pitchFamily="34" charset="-122"/>
                <a:cs typeface="+mj-lt" pitchFamily="34" charset="-120"/>
              </a:rPr>
              <a:t>Equipo Tech and Solve</a:t>
            </a:r>
            <a:endParaRPr lang="en-US" sz="4000" dirty="0"/>
          </a:p>
        </p:txBody>
      </p:sp>
      <p:sp>
        <p:nvSpPr>
          <p:cNvPr id="5" name="Text 2"/>
          <p:cNvSpPr txBox="1"/>
          <p:nvPr/>
        </p:nvSpPr>
        <p:spPr>
          <a:xfrm>
            <a:off x="731520" y="3017520"/>
            <a:ext cx="6766560" cy="777240"/>
          </a:xfrm>
          <a:prstGeom prst="rect">
            <a:avLst/>
          </a:prstGeom>
          <a:noFill/>
          <a:ln/>
        </p:spPr>
        <p:txBody>
          <a:bodyPr wrap="square" lIns="0" tIns="0" rIns="0" bIns="0" rtlCol="0" anchor="t"/>
          <a:lstStyle/>
          <a:p>
            <a:pPr indent="0" marL="0">
              <a:buNone/>
            </a:pPr>
            <a:r>
              <a:rPr lang="en-US" sz="1700" b="1" dirty="0">
                <a:solidFill>
                  <a:schemeClr val="tx2"/>
                </a:solidFill>
              </a:rPr>
              <a:t>Un equipo ágil y experto que potencia el MVP con IA generativa para garantizar resultados medibles:</a:t>
            </a:r>
            <a:endParaRPr lang="en-US" sz="1700" dirty="0"/>
          </a:p>
        </p:txBody>
      </p:sp>
      <p:sp>
        <p:nvSpPr>
          <p:cNvPr id="6" name="Text 3"/>
          <p:cNvSpPr txBox="1"/>
          <p:nvPr/>
        </p:nvSpPr>
        <p:spPr>
          <a:xfrm>
            <a:off x="731520" y="3840480"/>
            <a:ext cx="6766560" cy="1783080"/>
          </a:xfrm>
          <a:prstGeom prst="rect">
            <a:avLst/>
          </a:prstGeom>
          <a:noFill/>
          <a:ln/>
        </p:spPr>
        <p:txBody>
          <a:bodyPr wrap="square" lIns="0" tIns="0" rIns="0" bIns="0" rtlCol="0" anchor="t"/>
          <a:lstStyle/>
          <a:p>
            <a:pPr indent="0" marL="0">
              <a:buNone/>
            </a:pPr>
            <a:r>
              <a:rPr lang="en-US" sz="1600" dirty="0">
                <a:solidFill>
                  <a:schemeClr val="accent6"/>
                </a:solidFill>
              </a:rPr>
              <a:t>Dos desarrolladores construyen los sistemas agénticos del MVP de gestores, con un arquitecto que define el cómo y lo revisa, por sprints y potenciados por la IA generativa propia de Tech and Solve, y con el respaldo de un equipo directivo que apoya de forma transversal el éxito de la implementación.</a:t>
            </a:r>
            <a:endParaRPr lang="en-US" sz="1600" dirty="0"/>
          </a:p>
        </p:txBody>
      </p:sp>
      <p:sp>
        <p:nvSpPr>
          <p:cNvPr id="7" name="Text 4"/>
          <p:cNvSpPr txBox="1"/>
          <p:nvPr/>
        </p:nvSpPr>
        <p:spPr>
          <a:xfrm>
            <a:off x="731520" y="5760720"/>
            <a:ext cx="6766560" cy="640080"/>
          </a:xfrm>
          <a:prstGeom prst="rect">
            <a:avLst/>
          </a:prstGeom>
          <a:noFill/>
          <a:ln/>
        </p:spPr>
        <p:txBody>
          <a:bodyPr wrap="square" lIns="0" tIns="0" rIns="0" bIns="0" rtlCol="0" anchor="t"/>
          <a:lstStyle/>
          <a:p>
            <a:pPr indent="0" marL="0">
              <a:buNone/>
            </a:pPr>
            <a:r>
              <a:rPr lang="en-US" sz="1300" dirty="0">
                <a:solidFill>
                  <a:schemeClr val="accent6"/>
                </a:solidFill>
              </a:rPr>
              <a:t>Tech and Solve · SURA, MVP de gestores de autorizaciones de salud</a:t>
            </a:r>
            <a:endParaRPr lang="en-US" sz="1300" dirty="0"/>
          </a:p>
          <a:p>
            <a:pPr indent="0" marL="0">
              <a:buNone/>
            </a:pPr>
            <a:r>
              <a:rPr lang="en-US" sz="1300" dirty="0">
                <a:solidFill>
                  <a:schemeClr val="accent6"/>
                </a:solidFill>
              </a:rPr>
              <a:t>Octubre de 2026 · Sugerencia de trabajo, debatible y ajustable</a:t>
            </a:r>
            <a:endParaRPr lang="en-US" sz="1300" dirty="0"/>
          </a:p>
        </p:txBody>
      </p:sp>
      <p:sp>
        <p:nvSpPr>
          <p:cNvPr id="8" name="Shape 5"/>
          <p:cNvSpPr/>
          <p:nvPr/>
        </p:nvSpPr>
        <p:spPr>
          <a:xfrm>
            <a:off x="8183880" y="502920"/>
            <a:ext cx="3611880" cy="786384"/>
          </a:xfrm>
          <a:prstGeom prst="roundRect">
            <a:avLst>
              <a:gd name="adj" fmla="val 13953"/>
            </a:avLst>
          </a:prstGeom>
          <a:solidFill>
            <a:srgbClr val="3A1878"/>
          </a:solidFill>
          <a:ln w="9525">
            <a:solidFill>
              <a:srgbClr val="5B3D96"/>
            </a:solidFill>
            <a:prstDash val="solid"/>
          </a:ln>
        </p:spPr>
      </p:sp>
      <p:sp>
        <p:nvSpPr>
          <p:cNvPr id="9" name="Shape 6"/>
          <p:cNvSpPr/>
          <p:nvPr/>
        </p:nvSpPr>
        <p:spPr>
          <a:xfrm>
            <a:off x="8348472" y="612648"/>
            <a:ext cx="566928" cy="566928"/>
          </a:xfrm>
          <a:prstGeom prst="ellipse">
            <a:avLst/>
          </a:prstGeom>
          <a:solidFill>
            <a:schemeClr val="bg1"/>
          </a:solidFill>
          <a:ln w="12700">
            <a:solidFill>
              <a:schemeClr val="bg1"/>
            </a:solidFill>
            <a:prstDash val="solid"/>
          </a:ln>
        </p:spPr>
      </p:sp>
      <p:pic>
        <p:nvPicPr>
          <p:cNvPr id="10" name="Image 1" descr="Raúl A. De Villa C.">    </p:cNvPr>
          <p:cNvPicPr>
            <a:picLocks noChangeAspect="1"/>
          </p:cNvPicPr>
          <p:nvPr/>
        </p:nvPicPr>
        <p:blipFill>
          <a:blip r:embed="rId2"/>
          <a:stretch>
            <a:fillRect/>
          </a:stretch>
        </p:blipFill>
        <p:spPr>
          <a:xfrm>
            <a:off x="8375904" y="640080"/>
            <a:ext cx="512064" cy="512064"/>
          </a:xfrm>
          <a:prstGeom prst="ellipse">
            <a:avLst/>
          </a:prstGeom>
        </p:spPr>
      </p:pic>
      <p:sp>
        <p:nvSpPr>
          <p:cNvPr id="11" name="Text 7"/>
          <p:cNvSpPr txBox="1"/>
          <p:nvPr/>
        </p:nvSpPr>
        <p:spPr>
          <a:xfrm>
            <a:off x="9052560" y="557784"/>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Raúl A. De Villa C.</a:t>
            </a:r>
            <a:endParaRPr lang="en-US" sz="1400" dirty="0"/>
          </a:p>
          <a:p>
            <a:pPr indent="0" marL="0">
              <a:buNone/>
            </a:pPr>
            <a:r>
              <a:rPr lang="en-US" sz="950" dirty="0">
                <a:solidFill>
                  <a:schemeClr val="bg2"/>
                </a:solidFill>
              </a:rPr>
              <a:t>Co-Founder · Acompaña los hitos clave con una mirada crítica de negocio y de solución.</a:t>
            </a:r>
            <a:endParaRPr lang="en-US" sz="1400" dirty="0"/>
          </a:p>
        </p:txBody>
      </p:sp>
      <p:sp>
        <p:nvSpPr>
          <p:cNvPr id="12" name="Shape 8"/>
          <p:cNvSpPr/>
          <p:nvPr/>
        </p:nvSpPr>
        <p:spPr>
          <a:xfrm>
            <a:off x="8183880" y="1380744"/>
            <a:ext cx="3611880" cy="786384"/>
          </a:xfrm>
          <a:prstGeom prst="roundRect">
            <a:avLst>
              <a:gd name="adj" fmla="val 13953"/>
            </a:avLst>
          </a:prstGeom>
          <a:solidFill>
            <a:srgbClr val="3A1878"/>
          </a:solidFill>
          <a:ln w="9525">
            <a:solidFill>
              <a:srgbClr val="5B3D96"/>
            </a:solidFill>
            <a:prstDash val="solid"/>
          </a:ln>
        </p:spPr>
      </p:sp>
      <p:sp>
        <p:nvSpPr>
          <p:cNvPr id="13" name="Shape 9"/>
          <p:cNvSpPr/>
          <p:nvPr/>
        </p:nvSpPr>
        <p:spPr>
          <a:xfrm>
            <a:off x="8348472" y="1490472"/>
            <a:ext cx="566928" cy="566928"/>
          </a:xfrm>
          <a:prstGeom prst="ellipse">
            <a:avLst/>
          </a:prstGeom>
          <a:solidFill>
            <a:schemeClr val="bg1"/>
          </a:solidFill>
          <a:ln w="12700">
            <a:solidFill>
              <a:schemeClr val="bg1"/>
            </a:solidFill>
            <a:prstDash val="solid"/>
          </a:ln>
        </p:spPr>
      </p:sp>
      <p:pic>
        <p:nvPicPr>
          <p:cNvPr id="14" name="Image 2" descr="Alexandra Acosta">    </p:cNvPr>
          <p:cNvPicPr>
            <a:picLocks noChangeAspect="1"/>
          </p:cNvPicPr>
          <p:nvPr/>
        </p:nvPicPr>
        <p:blipFill>
          <a:blip r:embed="rId3"/>
          <a:stretch>
            <a:fillRect/>
          </a:stretch>
        </p:blipFill>
        <p:spPr>
          <a:xfrm>
            <a:off x="8375904" y="1517904"/>
            <a:ext cx="512064" cy="512064"/>
          </a:xfrm>
          <a:prstGeom prst="ellipse">
            <a:avLst/>
          </a:prstGeom>
        </p:spPr>
      </p:pic>
      <p:sp>
        <p:nvSpPr>
          <p:cNvPr id="15" name="Text 10"/>
          <p:cNvSpPr txBox="1"/>
          <p:nvPr/>
        </p:nvSpPr>
        <p:spPr>
          <a:xfrm>
            <a:off x="9052560" y="1435608"/>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Alexandra Acosta</a:t>
            </a:r>
            <a:endParaRPr lang="en-US" sz="1400" dirty="0"/>
          </a:p>
          <a:p>
            <a:pPr indent="0" marL="0">
              <a:buNone/>
            </a:pPr>
            <a:r>
              <a:rPr lang="en-US" sz="950" dirty="0">
                <a:solidFill>
                  <a:schemeClr val="bg2"/>
                </a:solidFill>
              </a:rPr>
              <a:t>Gerente de Éxito del Cliente · Pone al servicio de SURA la experiencia y los estándares de toda la compañía.</a:t>
            </a:r>
            <a:endParaRPr lang="en-US" sz="1400" dirty="0"/>
          </a:p>
        </p:txBody>
      </p:sp>
      <p:sp>
        <p:nvSpPr>
          <p:cNvPr id="16" name="Shape 11"/>
          <p:cNvSpPr/>
          <p:nvPr/>
        </p:nvSpPr>
        <p:spPr>
          <a:xfrm>
            <a:off x="8183880" y="2258568"/>
            <a:ext cx="3611880" cy="786384"/>
          </a:xfrm>
          <a:prstGeom prst="roundRect">
            <a:avLst>
              <a:gd name="adj" fmla="val 13953"/>
            </a:avLst>
          </a:prstGeom>
          <a:solidFill>
            <a:srgbClr val="3A1878"/>
          </a:solidFill>
          <a:ln w="9525">
            <a:solidFill>
              <a:srgbClr val="5B3D96"/>
            </a:solidFill>
            <a:prstDash val="solid"/>
          </a:ln>
        </p:spPr>
      </p:sp>
      <p:sp>
        <p:nvSpPr>
          <p:cNvPr id="17" name="Shape 12"/>
          <p:cNvSpPr/>
          <p:nvPr/>
        </p:nvSpPr>
        <p:spPr>
          <a:xfrm>
            <a:off x="8348472" y="2368296"/>
            <a:ext cx="566928" cy="566928"/>
          </a:xfrm>
          <a:prstGeom prst="ellipse">
            <a:avLst/>
          </a:prstGeom>
          <a:solidFill>
            <a:schemeClr val="bg1"/>
          </a:solidFill>
          <a:ln w="12700">
            <a:solidFill>
              <a:schemeClr val="bg1"/>
            </a:solidFill>
            <a:prstDash val="solid"/>
          </a:ln>
        </p:spPr>
      </p:sp>
      <p:pic>
        <p:nvPicPr>
          <p:cNvPr id="18" name="Image 3" descr="Jorge Andrés Gómez Velásquez">    </p:cNvPr>
          <p:cNvPicPr>
            <a:picLocks noChangeAspect="1"/>
          </p:cNvPicPr>
          <p:nvPr/>
        </p:nvPicPr>
        <p:blipFill>
          <a:blip r:embed="rId4"/>
          <a:stretch>
            <a:fillRect/>
          </a:stretch>
        </p:blipFill>
        <p:spPr>
          <a:xfrm>
            <a:off x="8375904" y="2395728"/>
            <a:ext cx="512064" cy="512064"/>
          </a:xfrm>
          <a:prstGeom prst="ellipse">
            <a:avLst/>
          </a:prstGeom>
        </p:spPr>
      </p:pic>
      <p:sp>
        <p:nvSpPr>
          <p:cNvPr id="19" name="Text 13"/>
          <p:cNvSpPr txBox="1"/>
          <p:nvPr/>
        </p:nvSpPr>
        <p:spPr>
          <a:xfrm>
            <a:off x="9052560" y="2313432"/>
            <a:ext cx="2633472" cy="676656"/>
          </a:xfrm>
          <a:prstGeom prst="rect">
            <a:avLst/>
          </a:prstGeom>
          <a:noFill/>
          <a:ln/>
        </p:spPr>
        <p:txBody>
          <a:bodyPr wrap="square" lIns="0" tIns="0" rIns="0" bIns="0" rtlCol="0" anchor="ctr"/>
          <a:lstStyle/>
          <a:p>
            <a:pPr indent="0" marL="0">
              <a:buNone/>
            </a:pPr>
            <a:r>
              <a:rPr lang="en-US" sz="1150" b="1" dirty="0">
                <a:solidFill>
                  <a:schemeClr val="bg1"/>
                </a:solidFill>
              </a:rPr>
              <a:t>Jorge Andrés Gómez Velásquez</a:t>
            </a:r>
            <a:endParaRPr lang="en-US" sz="1400" dirty="0"/>
          </a:p>
          <a:p>
            <a:pPr indent="0" marL="0">
              <a:buNone/>
            </a:pPr>
            <a:r>
              <a:rPr lang="en-US" sz="950" dirty="0">
                <a:solidFill>
                  <a:schemeClr val="bg2"/>
                </a:solidFill>
              </a:rPr>
              <a:t>Líder del Éxito del Cliente · Punto de contacto con SURA: lo acordado, con calidad y a tiempo.</a:t>
            </a:r>
            <a:endParaRPr lang="en-US" sz="1400" dirty="0"/>
          </a:p>
        </p:txBody>
      </p:sp>
      <p:sp>
        <p:nvSpPr>
          <p:cNvPr id="20" name="Shape 14"/>
          <p:cNvSpPr/>
          <p:nvPr/>
        </p:nvSpPr>
        <p:spPr>
          <a:xfrm>
            <a:off x="8183880" y="3136392"/>
            <a:ext cx="3611880" cy="1298448"/>
          </a:xfrm>
          <a:prstGeom prst="roundRect">
            <a:avLst>
              <a:gd name="adj" fmla="val 8451"/>
            </a:avLst>
          </a:prstGeom>
          <a:solidFill>
            <a:srgbClr val="3A1878"/>
          </a:solidFill>
          <a:ln w="9525">
            <a:solidFill>
              <a:srgbClr val="5B3D96"/>
            </a:solidFill>
            <a:prstDash val="solid"/>
          </a:ln>
        </p:spPr>
      </p:sp>
      <p:sp>
        <p:nvSpPr>
          <p:cNvPr id="21" name="Shape 15"/>
          <p:cNvSpPr/>
          <p:nvPr/>
        </p:nvSpPr>
        <p:spPr>
          <a:xfrm>
            <a:off x="8348472" y="3502152"/>
            <a:ext cx="566928" cy="566928"/>
          </a:xfrm>
          <a:prstGeom prst="ellipse">
            <a:avLst/>
          </a:prstGeom>
          <a:solidFill>
            <a:schemeClr val="bg1"/>
          </a:solidFill>
          <a:ln w="12700">
            <a:solidFill>
              <a:schemeClr val="bg1"/>
            </a:solidFill>
            <a:prstDash val="solid"/>
          </a:ln>
        </p:spPr>
      </p:sp>
      <p:pic>
        <p:nvPicPr>
          <p:cNvPr id="22" name="Image 4" descr="Didier Fabián Franco Gómez">    </p:cNvPr>
          <p:cNvPicPr>
            <a:picLocks noChangeAspect="1"/>
          </p:cNvPicPr>
          <p:nvPr/>
        </p:nvPicPr>
        <p:blipFill>
          <a:blip r:embed="rId5"/>
          <a:stretch>
            <a:fillRect/>
          </a:stretch>
        </p:blipFill>
        <p:spPr>
          <a:xfrm>
            <a:off x="8375904" y="3529584"/>
            <a:ext cx="512064" cy="512064"/>
          </a:xfrm>
          <a:prstGeom prst="ellipse">
            <a:avLst/>
          </a:prstGeom>
        </p:spPr>
      </p:pic>
      <p:sp>
        <p:nvSpPr>
          <p:cNvPr id="23" name="Text 16"/>
          <p:cNvSpPr txBox="1"/>
          <p:nvPr/>
        </p:nvSpPr>
        <p:spPr>
          <a:xfrm>
            <a:off x="9052560" y="3191256"/>
            <a:ext cx="2633472" cy="1188720"/>
          </a:xfrm>
          <a:prstGeom prst="rect">
            <a:avLst/>
          </a:prstGeom>
          <a:noFill/>
          <a:ln/>
        </p:spPr>
        <p:txBody>
          <a:bodyPr wrap="square" lIns="0" tIns="0" rIns="0" bIns="0" rtlCol="0" anchor="ctr"/>
          <a:lstStyle/>
          <a:p>
            <a:pPr indent="0" marL="0">
              <a:buNone/>
            </a:pPr>
            <a:r>
              <a:rPr lang="en-US" sz="1150" b="1" dirty="0">
                <a:solidFill>
                  <a:schemeClr val="bg1"/>
                </a:solidFill>
              </a:rPr>
              <a:t>Didier Fabián Franco Gómez</a:t>
            </a:r>
            <a:endParaRPr lang="en-US" sz="1400" dirty="0"/>
          </a:p>
          <a:p>
            <a:pPr indent="0" marL="0">
              <a:buNone/>
            </a:pPr>
            <a:r>
              <a:rPr lang="en-US" sz="950" dirty="0">
                <a:solidFill>
                  <a:schemeClr val="bg2"/>
                </a:solidFill>
              </a:rPr>
              <a:t>Arquitecto Líder. Marca el rumbo técnico con el equipo, lo alinea con la arquitectura de SURA y asegura que cada historia lo cumpla.</a:t>
            </a:r>
            <a:endParaRPr lang="en-US" sz="1400" dirty="0"/>
          </a:p>
        </p:txBody>
      </p:sp>
      <p:sp>
        <p:nvSpPr>
          <p:cNvPr id="24" name="Shape 17"/>
          <p:cNvSpPr/>
          <p:nvPr/>
        </p:nvSpPr>
        <p:spPr>
          <a:xfrm>
            <a:off x="8183880" y="4526280"/>
            <a:ext cx="3611880" cy="713232"/>
          </a:xfrm>
          <a:prstGeom prst="roundRect">
            <a:avLst>
              <a:gd name="adj" fmla="val 15385"/>
            </a:avLst>
          </a:prstGeom>
          <a:solidFill>
            <a:srgbClr val="3A1878"/>
          </a:solidFill>
          <a:ln w="9525">
            <a:solidFill>
              <a:srgbClr val="5B3D96"/>
            </a:solidFill>
            <a:prstDash val="solid"/>
          </a:ln>
        </p:spPr>
      </p:sp>
      <p:sp>
        <p:nvSpPr>
          <p:cNvPr id="25" name="Shape 18"/>
          <p:cNvSpPr/>
          <p:nvPr/>
        </p:nvSpPr>
        <p:spPr>
          <a:xfrm>
            <a:off x="8348472" y="4599432"/>
            <a:ext cx="566928" cy="566928"/>
          </a:xfrm>
          <a:prstGeom prst="ellipse">
            <a:avLst/>
          </a:prstGeom>
          <a:solidFill>
            <a:schemeClr val="bg1"/>
          </a:solidFill>
          <a:ln w="12700">
            <a:solidFill>
              <a:schemeClr val="bg1"/>
            </a:solidFill>
            <a:prstDash val="solid"/>
          </a:ln>
        </p:spPr>
      </p:sp>
      <p:pic>
        <p:nvPicPr>
          <p:cNvPr id="26" name="Image 5" descr="Juan Gabriel Colorado">    </p:cNvPr>
          <p:cNvPicPr>
            <a:picLocks noChangeAspect="1"/>
          </p:cNvPicPr>
          <p:nvPr/>
        </p:nvPicPr>
        <p:blipFill>
          <a:blip r:embed="rId6"/>
          <a:stretch>
            <a:fillRect/>
          </a:stretch>
        </p:blipFill>
        <p:spPr>
          <a:xfrm>
            <a:off x="8375904" y="4626864"/>
            <a:ext cx="512064" cy="512064"/>
          </a:xfrm>
          <a:prstGeom prst="ellipse">
            <a:avLst/>
          </a:prstGeom>
        </p:spPr>
      </p:pic>
      <p:sp>
        <p:nvSpPr>
          <p:cNvPr id="27" name="Text 19"/>
          <p:cNvSpPr txBox="1"/>
          <p:nvPr/>
        </p:nvSpPr>
        <p:spPr>
          <a:xfrm>
            <a:off x="9052560" y="4581144"/>
            <a:ext cx="2633472" cy="603504"/>
          </a:xfrm>
          <a:prstGeom prst="rect">
            <a:avLst/>
          </a:prstGeom>
          <a:noFill/>
          <a:ln/>
        </p:spPr>
        <p:txBody>
          <a:bodyPr wrap="square" lIns="0" tIns="0" rIns="0" bIns="0" rtlCol="0" anchor="ctr"/>
          <a:lstStyle/>
          <a:p>
            <a:pPr indent="0" marL="0">
              <a:buNone/>
            </a:pPr>
            <a:r>
              <a:rPr lang="en-US" sz="1150" b="1" dirty="0">
                <a:solidFill>
                  <a:schemeClr val="bg1"/>
                </a:solidFill>
              </a:rPr>
              <a:t>Juan Gabriel Colorado</a:t>
            </a:r>
            <a:endParaRPr lang="en-US" sz="1400" dirty="0"/>
          </a:p>
          <a:p>
            <a:pPr indent="0" marL="0">
              <a:buNone/>
            </a:pPr>
            <a:r>
              <a:rPr lang="en-US" sz="950" dirty="0">
                <a:solidFill>
                  <a:schemeClr val="bg2"/>
                </a:solidFill>
              </a:rPr>
              <a:t>Desarrollador IA · Construye los sistemas agénticos desde un backlog compartido</a:t>
            </a:r>
            <a:endParaRPr lang="en-US" sz="1400" dirty="0"/>
          </a:p>
        </p:txBody>
      </p:sp>
      <p:sp>
        <p:nvSpPr>
          <p:cNvPr id="28" name="Shape 20"/>
          <p:cNvSpPr/>
          <p:nvPr/>
        </p:nvSpPr>
        <p:spPr>
          <a:xfrm>
            <a:off x="8183880" y="5330952"/>
            <a:ext cx="3611880" cy="713232"/>
          </a:xfrm>
          <a:prstGeom prst="roundRect">
            <a:avLst>
              <a:gd name="adj" fmla="val 15385"/>
            </a:avLst>
          </a:prstGeom>
          <a:solidFill>
            <a:srgbClr val="3A1878"/>
          </a:solidFill>
          <a:ln w="9525">
            <a:solidFill>
              <a:srgbClr val="5B3D96"/>
            </a:solidFill>
            <a:prstDash val="solid"/>
          </a:ln>
        </p:spPr>
      </p:sp>
      <p:sp>
        <p:nvSpPr>
          <p:cNvPr id="29" name="Shape 21"/>
          <p:cNvSpPr/>
          <p:nvPr/>
        </p:nvSpPr>
        <p:spPr>
          <a:xfrm>
            <a:off x="8348472" y="5404104"/>
            <a:ext cx="566928" cy="566928"/>
          </a:xfrm>
          <a:prstGeom prst="ellipse">
            <a:avLst/>
          </a:prstGeom>
          <a:solidFill>
            <a:schemeClr val="bg1"/>
          </a:solidFill>
          <a:ln w="12700">
            <a:solidFill>
              <a:schemeClr val="bg1"/>
            </a:solidFill>
            <a:prstDash val="solid"/>
          </a:ln>
        </p:spPr>
      </p:sp>
      <p:pic>
        <p:nvPicPr>
          <p:cNvPr id="30" name="Image 6" descr="Gian Valdiris">    </p:cNvPr>
          <p:cNvPicPr>
            <a:picLocks noChangeAspect="1"/>
          </p:cNvPicPr>
          <p:nvPr/>
        </p:nvPicPr>
        <p:blipFill>
          <a:blip r:embed="rId7"/>
          <a:stretch>
            <a:fillRect/>
          </a:stretch>
        </p:blipFill>
        <p:spPr>
          <a:xfrm>
            <a:off x="8375904" y="5431536"/>
            <a:ext cx="512064" cy="512064"/>
          </a:xfrm>
          <a:prstGeom prst="ellipse">
            <a:avLst/>
          </a:prstGeom>
        </p:spPr>
      </p:pic>
      <p:sp>
        <p:nvSpPr>
          <p:cNvPr id="31" name="Text 22"/>
          <p:cNvSpPr txBox="1"/>
          <p:nvPr/>
        </p:nvSpPr>
        <p:spPr>
          <a:xfrm>
            <a:off x="9052560" y="5385816"/>
            <a:ext cx="2633472" cy="603504"/>
          </a:xfrm>
          <a:prstGeom prst="rect">
            <a:avLst/>
          </a:prstGeom>
          <a:noFill/>
          <a:ln/>
        </p:spPr>
        <p:txBody>
          <a:bodyPr wrap="square" lIns="0" tIns="0" rIns="0" bIns="0" rtlCol="0" anchor="ctr"/>
          <a:lstStyle/>
          <a:p>
            <a:pPr indent="0" marL="0">
              <a:buNone/>
            </a:pPr>
            <a:r>
              <a:rPr lang="en-US" sz="1150" b="1" dirty="0">
                <a:solidFill>
                  <a:schemeClr val="bg1"/>
                </a:solidFill>
              </a:rPr>
              <a:t>Gian Valdiris</a:t>
            </a:r>
            <a:endParaRPr lang="en-US" sz="1400" dirty="0"/>
          </a:p>
          <a:p>
            <a:pPr indent="0" marL="0">
              <a:buNone/>
            </a:pPr>
            <a:r>
              <a:rPr lang="en-US" sz="950" dirty="0">
                <a:solidFill>
                  <a:schemeClr val="bg2"/>
                </a:solidFill>
              </a:rPr>
              <a:t>Desarrollador IA · Construye los sistemas agénticos desde un backlog compartido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Equipo de trabajo propuesto: modelo Tech and Solve y SURA</a:t>
            </a:r>
            <a:endParaRPr lang="en-US" sz="2800" dirty="0"/>
          </a:p>
        </p:txBody>
      </p:sp>
      <p:sp>
        <p:nvSpPr>
          <p:cNvPr id="4" name="Shape 1"/>
          <p:cNvSpPr/>
          <p:nvPr/>
        </p:nvSpPr>
        <p:spPr>
          <a:xfrm>
            <a:off x="548640" y="1481328"/>
            <a:ext cx="7223760" cy="13716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777240" y="1554480"/>
            <a:ext cx="6766560" cy="228600"/>
          </a:xfrm>
          <a:prstGeom prst="rect">
            <a:avLst/>
          </a:prstGeom>
          <a:noFill/>
          <a:ln/>
        </p:spPr>
        <p:txBody>
          <a:bodyPr wrap="square" lIns="0" tIns="0" rIns="0" bIns="0" rtlCol="0" anchor="t"/>
          <a:lstStyle/>
          <a:p>
            <a:pPr indent="0" marL="0">
              <a:buNone/>
            </a:pPr>
            <a:r>
              <a:rPr lang="en-US" sz="950" b="1" spc="100" kern="0" dirty="0">
                <a:solidFill>
                  <a:schemeClr val="tx2"/>
                </a:solidFill>
              </a:rPr>
              <a:t>LIDERAZGO QUE ACOMPAÑA</a:t>
            </a:r>
            <a:endParaRPr lang="en-US" sz="950" dirty="0"/>
          </a:p>
        </p:txBody>
      </p:sp>
      <p:sp>
        <p:nvSpPr>
          <p:cNvPr id="6" name="Shape 3"/>
          <p:cNvSpPr/>
          <p:nvPr/>
        </p:nvSpPr>
        <p:spPr>
          <a:xfrm>
            <a:off x="777240" y="1842516"/>
            <a:ext cx="475488" cy="475488"/>
          </a:xfrm>
          <a:prstGeom prst="ellipse">
            <a:avLst/>
          </a:prstGeom>
          <a:solidFill>
            <a:schemeClr val="bg1"/>
          </a:solidFill>
          <a:ln w="12700">
            <a:solidFill>
              <a:srgbClr val="DCD8EC"/>
            </a:solidFill>
            <a:prstDash val="solid"/>
          </a:ln>
        </p:spPr>
      </p:sp>
      <p:pic>
        <p:nvPicPr>
          <p:cNvPr id="7" name="Image 0" descr="preencoded.png">    </p:cNvPr>
          <p:cNvPicPr>
            <a:picLocks noChangeAspect="1"/>
          </p:cNvPicPr>
          <p:nvPr/>
        </p:nvPicPr>
        <p:blipFill>
          <a:blip r:embed="rId1"/>
          <a:stretch>
            <a:fillRect/>
          </a:stretch>
        </p:blipFill>
        <p:spPr>
          <a:xfrm>
            <a:off x="804672" y="1869948"/>
            <a:ext cx="420624" cy="420624"/>
          </a:xfrm>
          <a:prstGeom prst="ellipse">
            <a:avLst/>
          </a:prstGeom>
        </p:spPr>
      </p:pic>
      <p:sp>
        <p:nvSpPr>
          <p:cNvPr id="8" name="Text 4"/>
          <p:cNvSpPr txBox="1"/>
          <p:nvPr/>
        </p:nvSpPr>
        <p:spPr>
          <a:xfrm>
            <a:off x="134416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Raúl A. De Villa C.</a:t>
            </a:r>
            <a:endParaRPr lang="en-US" sz="1400" dirty="0"/>
          </a:p>
          <a:p>
            <a:pPr indent="0" marL="0">
              <a:buNone/>
            </a:pPr>
            <a:r>
              <a:rPr lang="en-US" sz="850" b="1" dirty="0">
                <a:solidFill>
                  <a:schemeClr val="accent2"/>
                </a:solidFill>
              </a:rPr>
              <a:t>Co-Founder</a:t>
            </a:r>
            <a:endParaRPr lang="en-US" sz="1400" dirty="0"/>
          </a:p>
        </p:txBody>
      </p:sp>
      <p:sp>
        <p:nvSpPr>
          <p:cNvPr id="9" name="Text 5"/>
          <p:cNvSpPr txBox="1"/>
          <p:nvPr/>
        </p:nvSpPr>
        <p:spPr>
          <a:xfrm>
            <a:off x="77724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Acompaña los hitos clave con una mirada crítica de negocio y de solución.</a:t>
            </a:r>
            <a:endParaRPr lang="en-US" sz="950" dirty="0"/>
          </a:p>
        </p:txBody>
      </p:sp>
      <p:sp>
        <p:nvSpPr>
          <p:cNvPr id="10" name="Shape 6"/>
          <p:cNvSpPr/>
          <p:nvPr/>
        </p:nvSpPr>
        <p:spPr>
          <a:xfrm>
            <a:off x="3078480" y="1842516"/>
            <a:ext cx="475488" cy="475488"/>
          </a:xfrm>
          <a:prstGeom prst="ellipse">
            <a:avLst/>
          </a:prstGeom>
          <a:solidFill>
            <a:schemeClr val="bg1"/>
          </a:solidFill>
          <a:ln w="12700">
            <a:solidFill>
              <a:srgbClr val="DCD8EC"/>
            </a:solidFill>
            <a:prstDash val="solid"/>
          </a:ln>
        </p:spPr>
      </p:sp>
      <p:pic>
        <p:nvPicPr>
          <p:cNvPr id="11" name="Image 1" descr="preencoded.png">    </p:cNvPr>
          <p:cNvPicPr>
            <a:picLocks noChangeAspect="1"/>
          </p:cNvPicPr>
          <p:nvPr/>
        </p:nvPicPr>
        <p:blipFill>
          <a:blip r:embed="rId2"/>
          <a:stretch>
            <a:fillRect/>
          </a:stretch>
        </p:blipFill>
        <p:spPr>
          <a:xfrm>
            <a:off x="3105912" y="1869948"/>
            <a:ext cx="420624" cy="420624"/>
          </a:xfrm>
          <a:prstGeom prst="ellipse">
            <a:avLst/>
          </a:prstGeom>
        </p:spPr>
      </p:pic>
      <p:sp>
        <p:nvSpPr>
          <p:cNvPr id="12" name="Text 7"/>
          <p:cNvSpPr txBox="1"/>
          <p:nvPr/>
        </p:nvSpPr>
        <p:spPr>
          <a:xfrm>
            <a:off x="364540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Alexandra Acosta</a:t>
            </a:r>
            <a:endParaRPr lang="en-US" sz="1400" dirty="0"/>
          </a:p>
          <a:p>
            <a:pPr indent="0" marL="0">
              <a:buNone/>
            </a:pPr>
            <a:r>
              <a:rPr lang="en-US" sz="850" b="1" dirty="0">
                <a:solidFill>
                  <a:schemeClr val="accent2"/>
                </a:solidFill>
              </a:rPr>
              <a:t>Gerente de Éxito del Cliente</a:t>
            </a:r>
            <a:endParaRPr lang="en-US" sz="1400" dirty="0"/>
          </a:p>
        </p:txBody>
      </p:sp>
      <p:sp>
        <p:nvSpPr>
          <p:cNvPr id="13" name="Text 8"/>
          <p:cNvSpPr txBox="1"/>
          <p:nvPr/>
        </p:nvSpPr>
        <p:spPr>
          <a:xfrm>
            <a:off x="307848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Pone al servicio de SURA la experiencia y los estándares de toda la compañía.</a:t>
            </a:r>
            <a:endParaRPr lang="en-US" sz="950" dirty="0"/>
          </a:p>
        </p:txBody>
      </p:sp>
      <p:sp>
        <p:nvSpPr>
          <p:cNvPr id="14" name="Shape 9"/>
          <p:cNvSpPr/>
          <p:nvPr/>
        </p:nvSpPr>
        <p:spPr>
          <a:xfrm>
            <a:off x="5379720" y="1842516"/>
            <a:ext cx="475488" cy="475488"/>
          </a:xfrm>
          <a:prstGeom prst="ellipse">
            <a:avLst/>
          </a:prstGeom>
          <a:solidFill>
            <a:schemeClr val="bg1"/>
          </a:solidFill>
          <a:ln w="12700">
            <a:solidFill>
              <a:srgbClr val="DCD8EC"/>
            </a:solidFill>
            <a:prstDash val="solid"/>
          </a:ln>
        </p:spPr>
      </p:sp>
      <p:pic>
        <p:nvPicPr>
          <p:cNvPr id="15" name="Image 2" descr="preencoded.png">    </p:cNvPr>
          <p:cNvPicPr>
            <a:picLocks noChangeAspect="1"/>
          </p:cNvPicPr>
          <p:nvPr/>
        </p:nvPicPr>
        <p:blipFill>
          <a:blip r:embed="rId3"/>
          <a:stretch>
            <a:fillRect/>
          </a:stretch>
        </p:blipFill>
        <p:spPr>
          <a:xfrm>
            <a:off x="5407152" y="1869948"/>
            <a:ext cx="420624" cy="420624"/>
          </a:xfrm>
          <a:prstGeom prst="ellipse">
            <a:avLst/>
          </a:prstGeom>
        </p:spPr>
      </p:pic>
      <p:sp>
        <p:nvSpPr>
          <p:cNvPr id="16" name="Text 10"/>
          <p:cNvSpPr txBox="1"/>
          <p:nvPr/>
        </p:nvSpPr>
        <p:spPr>
          <a:xfrm>
            <a:off x="5946648" y="1810512"/>
            <a:ext cx="1597152" cy="530352"/>
          </a:xfrm>
          <a:prstGeom prst="rect">
            <a:avLst/>
          </a:prstGeom>
          <a:noFill/>
          <a:ln/>
        </p:spPr>
        <p:txBody>
          <a:bodyPr wrap="square" lIns="0" tIns="0" rIns="0" bIns="0" rtlCol="0" anchor="ctr"/>
          <a:lstStyle/>
          <a:p>
            <a:pPr indent="0" marL="0">
              <a:buNone/>
            </a:pPr>
            <a:r>
              <a:rPr lang="en-US" sz="1000" b="1" dirty="0">
                <a:solidFill>
                  <a:schemeClr val="tx2"/>
                </a:solidFill>
              </a:rPr>
              <a:t>Jorge A. Gómez Velásquez</a:t>
            </a:r>
            <a:endParaRPr lang="en-US" sz="1400" dirty="0"/>
          </a:p>
          <a:p>
            <a:pPr indent="0" marL="0">
              <a:buNone/>
            </a:pPr>
            <a:r>
              <a:rPr lang="en-US" sz="850" b="1" dirty="0">
                <a:solidFill>
                  <a:schemeClr val="accent2"/>
                </a:solidFill>
              </a:rPr>
              <a:t>Líder del Éxito del Cliente</a:t>
            </a:r>
            <a:endParaRPr lang="en-US" sz="1400" dirty="0"/>
          </a:p>
        </p:txBody>
      </p:sp>
      <p:sp>
        <p:nvSpPr>
          <p:cNvPr id="17" name="Text 11"/>
          <p:cNvSpPr txBox="1"/>
          <p:nvPr/>
        </p:nvSpPr>
        <p:spPr>
          <a:xfrm>
            <a:off x="5379720" y="2377440"/>
            <a:ext cx="2164080" cy="411480"/>
          </a:xfrm>
          <a:prstGeom prst="rect">
            <a:avLst/>
          </a:prstGeom>
          <a:noFill/>
          <a:ln/>
        </p:spPr>
        <p:txBody>
          <a:bodyPr wrap="square" lIns="0" tIns="0" rIns="0" bIns="0" rtlCol="0" anchor="t"/>
          <a:lstStyle/>
          <a:p>
            <a:pPr indent="0" marL="0">
              <a:buNone/>
            </a:pPr>
            <a:r>
              <a:rPr lang="en-US" sz="950" dirty="0">
                <a:solidFill>
                  <a:schemeClr val="tx1"/>
                </a:solidFill>
              </a:rPr>
              <a:t>Punto de contacto con SURA: lo acordado, con calidad y a tiempo.</a:t>
            </a:r>
            <a:endParaRPr lang="en-US" sz="950" dirty="0"/>
          </a:p>
        </p:txBody>
      </p:sp>
      <p:sp>
        <p:nvSpPr>
          <p:cNvPr id="18" name="Shape 12"/>
          <p:cNvSpPr/>
          <p:nvPr/>
        </p:nvSpPr>
        <p:spPr>
          <a:xfrm>
            <a:off x="548640" y="2944368"/>
            <a:ext cx="7223760" cy="914400"/>
          </a:xfrm>
          <a:prstGeom prst="roundRect">
            <a:avLst>
              <a:gd name="adj" fmla="val 8000"/>
            </a:avLst>
          </a:prstGeom>
          <a:solidFill>
            <a:schemeClr val="accent4"/>
          </a:solidFill>
          <a:ln w="12700">
            <a:solidFill>
              <a:srgbClr val="DCD8EC"/>
            </a:solidFill>
            <a:prstDash val="solid"/>
          </a:ln>
        </p:spPr>
      </p:sp>
      <p:sp>
        <p:nvSpPr>
          <p:cNvPr id="19" name="Shape 13"/>
          <p:cNvSpPr/>
          <p:nvPr/>
        </p:nvSpPr>
        <p:spPr>
          <a:xfrm>
            <a:off x="731520" y="3072384"/>
            <a:ext cx="658368" cy="658368"/>
          </a:xfrm>
          <a:prstGeom prst="ellipse">
            <a:avLst/>
          </a:prstGeom>
          <a:solidFill>
            <a:schemeClr val="bg1"/>
          </a:solidFill>
          <a:ln w="12700">
            <a:solidFill>
              <a:srgbClr val="DCD8EC"/>
            </a:solidFill>
            <a:prstDash val="solid"/>
          </a:ln>
        </p:spPr>
      </p:sp>
      <p:pic>
        <p:nvPicPr>
          <p:cNvPr id="20" name="Image 3" descr="preencoded.png">    </p:cNvPr>
          <p:cNvPicPr>
            <a:picLocks noChangeAspect="1"/>
          </p:cNvPicPr>
          <p:nvPr/>
        </p:nvPicPr>
        <p:blipFill>
          <a:blip r:embed="rId4"/>
          <a:stretch>
            <a:fillRect/>
          </a:stretch>
        </p:blipFill>
        <p:spPr>
          <a:xfrm>
            <a:off x="758952" y="3099816"/>
            <a:ext cx="603504" cy="603504"/>
          </a:xfrm>
          <a:prstGeom prst="ellipse">
            <a:avLst/>
          </a:prstGeom>
        </p:spPr>
      </p:pic>
      <p:sp>
        <p:nvSpPr>
          <p:cNvPr id="21" name="Text 14"/>
          <p:cNvSpPr txBox="1"/>
          <p:nvPr/>
        </p:nvSpPr>
        <p:spPr>
          <a:xfrm>
            <a:off x="1536192" y="2999232"/>
            <a:ext cx="6080760" cy="292608"/>
          </a:xfrm>
          <a:prstGeom prst="rect">
            <a:avLst/>
          </a:prstGeom>
          <a:noFill/>
          <a:ln/>
        </p:spPr>
        <p:txBody>
          <a:bodyPr wrap="square" lIns="0" tIns="0" rIns="0" bIns="0" rtlCol="0" anchor="t"/>
          <a:lstStyle/>
          <a:p>
            <a:pPr indent="0" marL="0">
              <a:buNone/>
            </a:pPr>
            <a:r>
              <a:rPr lang="en-US" sz="1300" b="1" dirty="0">
                <a:solidFill>
                  <a:schemeClr val="tx2"/>
                </a:solidFill>
              </a:rPr>
              <a:t>Didier Fabián Franco Gómez</a:t>
            </a:r>
            <a:pPr indent="0" marL="0">
              <a:buNone/>
            </a:pPr>
            <a:r>
              <a:rPr lang="en-US" sz="1100" b="1" dirty="0">
                <a:solidFill>
                  <a:schemeClr val="accent2"/>
                </a:solidFill>
              </a:rPr>
              <a:t>  · Arquitecto Líder</a:t>
            </a:r>
            <a:endParaRPr lang="en-US" sz="1400" dirty="0"/>
          </a:p>
        </p:txBody>
      </p:sp>
      <p:sp>
        <p:nvSpPr>
          <p:cNvPr id="22" name="Text 15"/>
          <p:cNvSpPr txBox="1"/>
          <p:nvPr/>
        </p:nvSpPr>
        <p:spPr>
          <a:xfrm>
            <a:off x="1536192" y="3291840"/>
            <a:ext cx="6080760" cy="530352"/>
          </a:xfrm>
          <a:prstGeom prst="rect">
            <a:avLst/>
          </a:prstGeom>
          <a:noFill/>
          <a:ln/>
        </p:spPr>
        <p:txBody>
          <a:bodyPr wrap="square" lIns="0" tIns="0" rIns="0" bIns="0" rtlCol="0" anchor="t"/>
          <a:lstStyle/>
          <a:p>
            <a:pPr indent="0" marL="0">
              <a:buNone/>
            </a:pPr>
            <a:r>
              <a:rPr lang="en-US" sz="1100" dirty="0">
                <a:solidFill>
                  <a:schemeClr val="tx1"/>
                </a:solidFill>
              </a:rPr>
              <a:t>Marca el rumbo técnico: define con el equipo prácticas, arquetipos y componentes, los alinea con la arquitectura de SURA y asegura que cada historia los cumpla.</a:t>
            </a:r>
            <a:endParaRPr lang="en-US" sz="1100" dirty="0"/>
          </a:p>
        </p:txBody>
      </p:sp>
      <p:sp>
        <p:nvSpPr>
          <p:cNvPr id="23" name="Shape 16"/>
          <p:cNvSpPr/>
          <p:nvPr/>
        </p:nvSpPr>
        <p:spPr>
          <a:xfrm>
            <a:off x="548640" y="3950208"/>
            <a:ext cx="7223760" cy="1947672"/>
          </a:xfrm>
          <a:prstGeom prst="roundRect">
            <a:avLst>
              <a:gd name="adj" fmla="val 3756"/>
            </a:avLst>
          </a:prstGeom>
          <a:solidFill>
            <a:schemeClr val="accent4"/>
          </a:solidFill>
          <a:ln w="12700">
            <a:solidFill>
              <a:srgbClr val="DCD8EC"/>
            </a:solidFill>
            <a:prstDash val="solid"/>
          </a:ln>
        </p:spPr>
      </p:sp>
      <p:sp>
        <p:nvSpPr>
          <p:cNvPr id="24" name="Text 17"/>
          <p:cNvSpPr txBox="1"/>
          <p:nvPr/>
        </p:nvSpPr>
        <p:spPr>
          <a:xfrm>
            <a:off x="749808" y="4023360"/>
            <a:ext cx="1828800" cy="502920"/>
          </a:xfrm>
          <a:prstGeom prst="rect">
            <a:avLst/>
          </a:prstGeom>
          <a:noFill/>
          <a:ln/>
        </p:spPr>
        <p:txBody>
          <a:bodyPr wrap="square" lIns="0" tIns="0" rIns="0" bIns="0" rtlCol="0" anchor="ctr"/>
          <a:lstStyle/>
          <a:p>
            <a:pPr indent="0" marL="0">
              <a:buNone/>
            </a:pPr>
            <a:r>
              <a:rPr lang="en-US" sz="1500" b="1" dirty="0">
                <a:solidFill>
                  <a:schemeClr val="tx2"/>
                </a:solidFill>
              </a:rPr>
              <a:t>Desarrolladores</a:t>
            </a:r>
            <a:endParaRPr lang="en-US" sz="1400" dirty="0"/>
          </a:p>
          <a:p>
            <a:pPr indent="0" marL="0">
              <a:buNone/>
            </a:pPr>
            <a:r>
              <a:rPr lang="en-US" sz="900" b="1" dirty="0">
                <a:solidFill>
                  <a:schemeClr val="accent2"/>
                </a:solidFill>
              </a:rPr>
              <a:t>Dedicación completa</a:t>
            </a:r>
            <a:endParaRPr lang="en-US" sz="1400" dirty="0"/>
          </a:p>
        </p:txBody>
      </p:sp>
      <p:sp>
        <p:nvSpPr>
          <p:cNvPr id="25" name="Shape 18"/>
          <p:cNvSpPr/>
          <p:nvPr/>
        </p:nvSpPr>
        <p:spPr>
          <a:xfrm>
            <a:off x="2788920" y="4032504"/>
            <a:ext cx="457200" cy="457200"/>
          </a:xfrm>
          <a:prstGeom prst="ellipse">
            <a:avLst/>
          </a:prstGeom>
          <a:solidFill>
            <a:schemeClr val="bg1"/>
          </a:solidFill>
          <a:ln w="12700">
            <a:solidFill>
              <a:srgbClr val="DCD8EC"/>
            </a:solidFill>
            <a:prstDash val="solid"/>
          </a:ln>
        </p:spPr>
      </p:sp>
      <p:pic>
        <p:nvPicPr>
          <p:cNvPr id="26" name="Image 4" descr="preencoded.png">    </p:cNvPr>
          <p:cNvPicPr>
            <a:picLocks noChangeAspect="1"/>
          </p:cNvPicPr>
          <p:nvPr/>
        </p:nvPicPr>
        <p:blipFill>
          <a:blip r:embed="rId5"/>
          <a:stretch>
            <a:fillRect/>
          </a:stretch>
        </p:blipFill>
        <p:spPr>
          <a:xfrm>
            <a:off x="2816352" y="4059936"/>
            <a:ext cx="402336" cy="402336"/>
          </a:xfrm>
          <a:prstGeom prst="ellipse">
            <a:avLst/>
          </a:prstGeom>
        </p:spPr>
      </p:pic>
      <p:sp>
        <p:nvSpPr>
          <p:cNvPr id="27" name="Text 19"/>
          <p:cNvSpPr txBox="1"/>
          <p:nvPr/>
        </p:nvSpPr>
        <p:spPr>
          <a:xfrm>
            <a:off x="3319272" y="4005072"/>
            <a:ext cx="1828800" cy="512064"/>
          </a:xfrm>
          <a:prstGeom prst="rect">
            <a:avLst/>
          </a:prstGeom>
          <a:noFill/>
          <a:ln/>
        </p:spPr>
        <p:txBody>
          <a:bodyPr wrap="square" lIns="0" tIns="0" rIns="0" bIns="0" rtlCol="0" anchor="ctr"/>
          <a:lstStyle/>
          <a:p>
            <a:pPr indent="0" marL="0">
              <a:buNone/>
            </a:pPr>
            <a:r>
              <a:rPr lang="en-US" sz="1000" b="1" dirty="0">
                <a:solidFill>
                  <a:schemeClr val="tx2"/>
                </a:solidFill>
              </a:rPr>
              <a:t>Juan Gabriel Colorado</a:t>
            </a:r>
            <a:endParaRPr lang="en-US" sz="1400" dirty="0"/>
          </a:p>
          <a:p>
            <a:pPr indent="0" marL="0">
              <a:buNone/>
            </a:pPr>
            <a:r>
              <a:rPr lang="en-US" sz="850" b="1" dirty="0">
                <a:solidFill>
                  <a:schemeClr val="accent2"/>
                </a:solidFill>
              </a:rPr>
              <a:t>Desarrollador IA</a:t>
            </a:r>
            <a:endParaRPr lang="en-US" sz="1400" dirty="0"/>
          </a:p>
        </p:txBody>
      </p:sp>
      <p:sp>
        <p:nvSpPr>
          <p:cNvPr id="28" name="Shape 20"/>
          <p:cNvSpPr/>
          <p:nvPr/>
        </p:nvSpPr>
        <p:spPr>
          <a:xfrm>
            <a:off x="5212080" y="4032504"/>
            <a:ext cx="457200" cy="457200"/>
          </a:xfrm>
          <a:prstGeom prst="ellipse">
            <a:avLst/>
          </a:prstGeom>
          <a:solidFill>
            <a:schemeClr val="bg1"/>
          </a:solidFill>
          <a:ln w="12700">
            <a:solidFill>
              <a:srgbClr val="DCD8EC"/>
            </a:solidFill>
            <a:prstDash val="solid"/>
          </a:ln>
        </p:spPr>
      </p:sp>
      <p:pic>
        <p:nvPicPr>
          <p:cNvPr id="29" name="Image 5" descr="preencoded.png">    </p:cNvPr>
          <p:cNvPicPr>
            <a:picLocks noChangeAspect="1"/>
          </p:cNvPicPr>
          <p:nvPr/>
        </p:nvPicPr>
        <p:blipFill>
          <a:blip r:embed="rId6"/>
          <a:stretch>
            <a:fillRect/>
          </a:stretch>
        </p:blipFill>
        <p:spPr>
          <a:xfrm>
            <a:off x="5239512" y="4059936"/>
            <a:ext cx="402336" cy="402336"/>
          </a:xfrm>
          <a:prstGeom prst="ellipse">
            <a:avLst/>
          </a:prstGeom>
        </p:spPr>
      </p:pic>
      <p:sp>
        <p:nvSpPr>
          <p:cNvPr id="30" name="Text 21"/>
          <p:cNvSpPr txBox="1"/>
          <p:nvPr/>
        </p:nvSpPr>
        <p:spPr>
          <a:xfrm>
            <a:off x="5742432" y="4005072"/>
            <a:ext cx="1828800" cy="512064"/>
          </a:xfrm>
          <a:prstGeom prst="rect">
            <a:avLst/>
          </a:prstGeom>
          <a:noFill/>
          <a:ln/>
        </p:spPr>
        <p:txBody>
          <a:bodyPr wrap="square" lIns="0" tIns="0" rIns="0" bIns="0" rtlCol="0" anchor="ctr"/>
          <a:lstStyle/>
          <a:p>
            <a:pPr indent="0" marL="0">
              <a:buNone/>
            </a:pPr>
            <a:r>
              <a:rPr lang="en-US" sz="1000" b="1" dirty="0">
                <a:solidFill>
                  <a:schemeClr val="tx2"/>
                </a:solidFill>
              </a:rPr>
              <a:t>Gian Valdiris</a:t>
            </a:r>
            <a:endParaRPr lang="en-US" sz="1400" dirty="0"/>
          </a:p>
          <a:p>
            <a:pPr indent="0" marL="0">
              <a:buNone/>
            </a:pPr>
            <a:r>
              <a:rPr lang="en-US" sz="850" b="1" dirty="0">
                <a:solidFill>
                  <a:schemeClr val="accent2"/>
                </a:solidFill>
              </a:rPr>
              <a:t>Desarrollador IA</a:t>
            </a:r>
            <a:endParaRPr lang="en-US" sz="1400" dirty="0"/>
          </a:p>
        </p:txBody>
      </p:sp>
      <p:sp>
        <p:nvSpPr>
          <p:cNvPr id="31" name="Shape 22"/>
          <p:cNvSpPr/>
          <p:nvPr/>
        </p:nvSpPr>
        <p:spPr>
          <a:xfrm>
            <a:off x="749808" y="4544568"/>
            <a:ext cx="2200656" cy="896112"/>
          </a:xfrm>
          <a:prstGeom prst="roundRect">
            <a:avLst>
              <a:gd name="adj" fmla="val 8163"/>
            </a:avLst>
          </a:prstGeom>
          <a:solidFill>
            <a:schemeClr val="bg1"/>
          </a:solidFill>
          <a:ln w="12700">
            <a:solidFill>
              <a:srgbClr val="DCD8EC"/>
            </a:solidFill>
            <a:prstDash val="solid"/>
          </a:ln>
        </p:spPr>
      </p:sp>
      <p:sp>
        <p:nvSpPr>
          <p:cNvPr id="32" name="Text 23"/>
          <p:cNvSpPr txBox="1"/>
          <p:nvPr/>
        </p:nvSpPr>
        <p:spPr>
          <a:xfrm>
            <a:off x="859536" y="4590288"/>
            <a:ext cx="1981200" cy="822960"/>
          </a:xfrm>
          <a:prstGeom prst="rect">
            <a:avLst/>
          </a:prstGeom>
          <a:noFill/>
          <a:ln/>
        </p:spPr>
        <p:txBody>
          <a:bodyPr wrap="square" lIns="0" tIns="0" rIns="0" bIns="0" rtlCol="0" anchor="t"/>
          <a:lstStyle/>
          <a:p>
            <a:pPr indent="0" marL="0">
              <a:buNone/>
            </a:pPr>
            <a:r>
              <a:rPr lang="en-US" sz="1050" b="1" dirty="0">
                <a:solidFill>
                  <a:schemeClr val="accent1"/>
                </a:solidFill>
              </a:rPr>
              <a:t>1 · Refinan</a:t>
            </a:r>
            <a:endParaRPr lang="en-US" sz="1050" dirty="0"/>
          </a:p>
          <a:p>
            <a:pPr indent="0" marL="0">
              <a:buNone/>
            </a:pPr>
            <a:r>
              <a:rPr lang="en-US" sz="1050" dirty="0">
                <a:solidFill>
                  <a:schemeClr val="tx1"/>
                </a:solidFill>
              </a:rPr>
              <a:t>Bajan cada historia a diseño técnico con el arquetipo, junto al arquitecto.</a:t>
            </a:r>
            <a:endParaRPr lang="en-US" sz="1050" dirty="0"/>
          </a:p>
        </p:txBody>
      </p:sp>
      <p:sp>
        <p:nvSpPr>
          <p:cNvPr id="33" name="Shape 24"/>
          <p:cNvSpPr/>
          <p:nvPr/>
        </p:nvSpPr>
        <p:spPr>
          <a:xfrm>
            <a:off x="3060192" y="4544568"/>
            <a:ext cx="2200656" cy="896112"/>
          </a:xfrm>
          <a:prstGeom prst="roundRect">
            <a:avLst>
              <a:gd name="adj" fmla="val 8163"/>
            </a:avLst>
          </a:prstGeom>
          <a:solidFill>
            <a:schemeClr val="bg1"/>
          </a:solidFill>
          <a:ln w="12700">
            <a:solidFill>
              <a:srgbClr val="DCD8EC"/>
            </a:solidFill>
            <a:prstDash val="solid"/>
          </a:ln>
        </p:spPr>
      </p:sp>
      <p:sp>
        <p:nvSpPr>
          <p:cNvPr id="34" name="Text 25"/>
          <p:cNvSpPr txBox="1"/>
          <p:nvPr/>
        </p:nvSpPr>
        <p:spPr>
          <a:xfrm>
            <a:off x="3169920" y="4590288"/>
            <a:ext cx="1981200" cy="822960"/>
          </a:xfrm>
          <a:prstGeom prst="rect">
            <a:avLst/>
          </a:prstGeom>
          <a:noFill/>
          <a:ln/>
        </p:spPr>
        <p:txBody>
          <a:bodyPr wrap="square" lIns="0" tIns="0" rIns="0" bIns="0" rtlCol="0" anchor="t"/>
          <a:lstStyle/>
          <a:p>
            <a:pPr indent="0" marL="0">
              <a:buNone/>
            </a:pPr>
            <a:r>
              <a:rPr lang="en-US" sz="1050" b="1" dirty="0">
                <a:solidFill>
                  <a:schemeClr val="accent1"/>
                </a:solidFill>
              </a:rPr>
              <a:t>2 · Estiman</a:t>
            </a:r>
            <a:endParaRPr lang="en-US" sz="1050" dirty="0"/>
          </a:p>
          <a:p>
            <a:pPr indent="0" marL="0">
              <a:buNone/>
            </a:pPr>
            <a:r>
              <a:rPr lang="en-US" sz="1050" dirty="0">
                <a:solidFill>
                  <a:schemeClr val="tx1"/>
                </a:solidFill>
              </a:rPr>
              <a:t>Ponen los puntos de cada historia y la parten si pasa de 13.</a:t>
            </a:r>
            <a:endParaRPr lang="en-US" sz="1050" dirty="0"/>
          </a:p>
        </p:txBody>
      </p:sp>
      <p:sp>
        <p:nvSpPr>
          <p:cNvPr id="35" name="Shape 26"/>
          <p:cNvSpPr/>
          <p:nvPr/>
        </p:nvSpPr>
        <p:spPr>
          <a:xfrm>
            <a:off x="5370576" y="4544568"/>
            <a:ext cx="2200656" cy="896112"/>
          </a:xfrm>
          <a:prstGeom prst="roundRect">
            <a:avLst>
              <a:gd name="adj" fmla="val 8163"/>
            </a:avLst>
          </a:prstGeom>
          <a:solidFill>
            <a:schemeClr val="bg1"/>
          </a:solidFill>
          <a:ln w="12700">
            <a:solidFill>
              <a:srgbClr val="DCD8EC"/>
            </a:solidFill>
            <a:prstDash val="solid"/>
          </a:ln>
        </p:spPr>
      </p:sp>
      <p:sp>
        <p:nvSpPr>
          <p:cNvPr id="36" name="Text 27"/>
          <p:cNvSpPr txBox="1"/>
          <p:nvPr/>
        </p:nvSpPr>
        <p:spPr>
          <a:xfrm>
            <a:off x="5480304" y="4590288"/>
            <a:ext cx="1981200" cy="822960"/>
          </a:xfrm>
          <a:prstGeom prst="rect">
            <a:avLst/>
          </a:prstGeom>
          <a:noFill/>
          <a:ln/>
        </p:spPr>
        <p:txBody>
          <a:bodyPr wrap="square" lIns="0" tIns="0" rIns="0" bIns="0" rtlCol="0" anchor="t"/>
          <a:lstStyle/>
          <a:p>
            <a:pPr indent="0" marL="0">
              <a:buNone/>
            </a:pPr>
            <a:r>
              <a:rPr lang="en-US" sz="1050" b="1" dirty="0">
                <a:solidFill>
                  <a:schemeClr val="accent1"/>
                </a:solidFill>
              </a:rPr>
              <a:t>3 · Implementan</a:t>
            </a:r>
            <a:endParaRPr lang="en-US" sz="1050" dirty="0"/>
          </a:p>
          <a:p>
            <a:pPr indent="0" marL="0">
              <a:buNone/>
            </a:pPr>
            <a:r>
              <a:rPr lang="en-US" sz="1050" dirty="0">
                <a:solidFill>
                  <a:schemeClr val="tx1"/>
                </a:solidFill>
              </a:rPr>
              <a:t>Construyen la solución con las prácticas del equipo y la dejan lista para revisión.</a:t>
            </a:r>
            <a:endParaRPr lang="en-US" sz="1050" dirty="0"/>
          </a:p>
        </p:txBody>
      </p:sp>
      <p:sp>
        <p:nvSpPr>
          <p:cNvPr id="37" name="Text 28"/>
          <p:cNvSpPr txBox="1"/>
          <p:nvPr/>
        </p:nvSpPr>
        <p:spPr>
          <a:xfrm>
            <a:off x="749808" y="5486400"/>
            <a:ext cx="6821424" cy="365760"/>
          </a:xfrm>
          <a:prstGeom prst="rect">
            <a:avLst/>
          </a:prstGeom>
          <a:noFill/>
          <a:ln/>
        </p:spPr>
        <p:txBody>
          <a:bodyPr wrap="square" lIns="0" tIns="0" rIns="0" bIns="0" rtlCol="0" anchor="ctr"/>
          <a:lstStyle/>
          <a:p>
            <a:pPr indent="0" marL="0">
              <a:buNone/>
            </a:pPr>
            <a:r>
              <a:rPr lang="en-US" sz="1050" b="1" dirty="0">
                <a:solidFill>
                  <a:schemeClr val="tx2"/>
                </a:solidFill>
              </a:rPr>
              <a:t>Un equipo, un backlog: </a:t>
            </a:r>
            <a:pPr indent="0" marL="0">
              <a:buNone/>
            </a:pPr>
            <a:r>
              <a:rPr lang="en-US" sz="1050" dirty="0">
                <a:solidFill>
                  <a:schemeClr val="accent6"/>
                </a:solidFill>
              </a:rPr>
              <a:t>siempre se trabaja en la prioridad más alta de SURA, y el conocimiento queda en el equipo, no en una persona.</a:t>
            </a:r>
            <a:endParaRPr lang="en-US" sz="1050" dirty="0"/>
          </a:p>
        </p:txBody>
      </p:sp>
      <p:sp>
        <p:nvSpPr>
          <p:cNvPr id="38" name="Text 29"/>
          <p:cNvSpPr txBox="1"/>
          <p:nvPr/>
        </p:nvSpPr>
        <p:spPr>
          <a:xfrm>
            <a:off x="8138160" y="1600200"/>
            <a:ext cx="3502152" cy="365760"/>
          </a:xfrm>
          <a:prstGeom prst="rect">
            <a:avLst/>
          </a:prstGeom>
          <a:noFill/>
          <a:ln/>
        </p:spPr>
        <p:txBody>
          <a:bodyPr wrap="square" lIns="0" tIns="0" rIns="0" bIns="0" rtlCol="0" anchor="t"/>
          <a:lstStyle/>
          <a:p>
            <a:pPr indent="0" marL="0">
              <a:buNone/>
            </a:pPr>
            <a:r>
              <a:rPr lang="en-US" sz="1700" b="1" dirty="0">
                <a:solidFill>
                  <a:schemeClr val="tx2"/>
                </a:solidFill>
              </a:rPr>
              <a:t>Equipo SURA</a:t>
            </a:r>
            <a:endParaRPr lang="en-US" sz="1700" dirty="0"/>
          </a:p>
        </p:txBody>
      </p:sp>
      <p:sp>
        <p:nvSpPr>
          <p:cNvPr id="39" name="Shape 30"/>
          <p:cNvSpPr/>
          <p:nvPr/>
        </p:nvSpPr>
        <p:spPr>
          <a:xfrm>
            <a:off x="8138160" y="2057400"/>
            <a:ext cx="3502152" cy="676656"/>
          </a:xfrm>
          <a:prstGeom prst="roundRect">
            <a:avLst>
              <a:gd name="adj" fmla="val 10811"/>
            </a:avLst>
          </a:prstGeom>
          <a:solidFill>
            <a:schemeClr val="bg1"/>
          </a:solidFill>
          <a:ln w="12700">
            <a:solidFill>
              <a:srgbClr val="DCD8EC"/>
            </a:solidFill>
            <a:prstDash val="solid"/>
          </a:ln>
        </p:spPr>
      </p:sp>
      <p:sp>
        <p:nvSpPr>
          <p:cNvPr id="40" name="Text 31"/>
          <p:cNvSpPr txBox="1"/>
          <p:nvPr/>
        </p:nvSpPr>
        <p:spPr>
          <a:xfrm>
            <a:off x="8275320" y="2057400"/>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Product Owner de SURA</a:t>
            </a:r>
            <a:endParaRPr lang="en-US" sz="1200" dirty="0"/>
          </a:p>
          <a:p>
            <a:pPr indent="0" marL="0">
              <a:buNone/>
            </a:pPr>
            <a:r>
              <a:rPr lang="en-US" sz="1200" dirty="0">
                <a:solidFill>
                  <a:schemeClr val="accent6"/>
                </a:solidFill>
              </a:rPr>
              <a:t>define y prioriza las historias, y recibe cada demo</a:t>
            </a:r>
            <a:endParaRPr lang="en-US" sz="1200" dirty="0"/>
          </a:p>
        </p:txBody>
      </p:sp>
      <p:sp>
        <p:nvSpPr>
          <p:cNvPr id="41" name="Shape 32"/>
          <p:cNvSpPr/>
          <p:nvPr/>
        </p:nvSpPr>
        <p:spPr>
          <a:xfrm>
            <a:off x="8138160" y="2825496"/>
            <a:ext cx="3502152" cy="676656"/>
          </a:xfrm>
          <a:prstGeom prst="roundRect">
            <a:avLst>
              <a:gd name="adj" fmla="val 10811"/>
            </a:avLst>
          </a:prstGeom>
          <a:solidFill>
            <a:schemeClr val="bg1"/>
          </a:solidFill>
          <a:ln w="12700">
            <a:solidFill>
              <a:srgbClr val="DCD8EC"/>
            </a:solidFill>
            <a:prstDash val="solid"/>
          </a:ln>
        </p:spPr>
      </p:sp>
      <p:sp>
        <p:nvSpPr>
          <p:cNvPr id="42" name="Text 33"/>
          <p:cNvSpPr txBox="1"/>
          <p:nvPr/>
        </p:nvSpPr>
        <p:spPr>
          <a:xfrm>
            <a:off x="8275320" y="2825496"/>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Arquitectura de SURA</a:t>
            </a:r>
            <a:endParaRPr lang="en-US" sz="1200" dirty="0"/>
          </a:p>
          <a:p>
            <a:pPr indent="0" marL="0">
              <a:buNone/>
            </a:pPr>
            <a:r>
              <a:rPr lang="en-US" sz="1200" dirty="0">
                <a:solidFill>
                  <a:schemeClr val="accent6"/>
                </a:solidFill>
              </a:rPr>
              <a:t>acuerda lineamientos y decisiones con nuestro arquitecto</a:t>
            </a:r>
            <a:endParaRPr lang="en-US" sz="1200" dirty="0"/>
          </a:p>
        </p:txBody>
      </p:sp>
      <p:sp>
        <p:nvSpPr>
          <p:cNvPr id="43" name="Shape 34"/>
          <p:cNvSpPr/>
          <p:nvPr/>
        </p:nvSpPr>
        <p:spPr>
          <a:xfrm>
            <a:off x="8138160" y="3593592"/>
            <a:ext cx="3502152" cy="676656"/>
          </a:xfrm>
          <a:prstGeom prst="roundRect">
            <a:avLst>
              <a:gd name="adj" fmla="val 10811"/>
            </a:avLst>
          </a:prstGeom>
          <a:solidFill>
            <a:schemeClr val="bg1"/>
          </a:solidFill>
          <a:ln w="12700">
            <a:solidFill>
              <a:srgbClr val="DCD8EC"/>
            </a:solidFill>
            <a:prstDash val="solid"/>
          </a:ln>
        </p:spPr>
      </p:sp>
      <p:sp>
        <p:nvSpPr>
          <p:cNvPr id="44" name="Text 35"/>
          <p:cNvSpPr txBox="1"/>
          <p:nvPr/>
        </p:nvSpPr>
        <p:spPr>
          <a:xfrm>
            <a:off x="8275320" y="3593592"/>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Equipos de front e integración</a:t>
            </a:r>
            <a:endParaRPr lang="en-US" sz="1200" dirty="0"/>
          </a:p>
          <a:p>
            <a:pPr indent="0" marL="0">
              <a:buNone/>
            </a:pPr>
            <a:r>
              <a:rPr lang="en-US" sz="1200" dirty="0">
                <a:solidFill>
                  <a:schemeClr val="accent6"/>
                </a:solidFill>
              </a:rPr>
              <a:t>construyen la base donde se integran los agentes</a:t>
            </a:r>
            <a:endParaRPr lang="en-US" sz="1200" dirty="0"/>
          </a:p>
        </p:txBody>
      </p:sp>
      <p:sp>
        <p:nvSpPr>
          <p:cNvPr id="45" name="Shape 36"/>
          <p:cNvSpPr/>
          <p:nvPr/>
        </p:nvSpPr>
        <p:spPr>
          <a:xfrm>
            <a:off x="8138160" y="4361688"/>
            <a:ext cx="3502152" cy="676656"/>
          </a:xfrm>
          <a:prstGeom prst="roundRect">
            <a:avLst>
              <a:gd name="adj" fmla="val 10811"/>
            </a:avLst>
          </a:prstGeom>
          <a:solidFill>
            <a:schemeClr val="bg1"/>
          </a:solidFill>
          <a:ln w="12700">
            <a:solidFill>
              <a:srgbClr val="DCD8EC"/>
            </a:solidFill>
            <a:prstDash val="solid"/>
          </a:ln>
        </p:spPr>
      </p:sp>
      <p:sp>
        <p:nvSpPr>
          <p:cNvPr id="46" name="Text 37"/>
          <p:cNvSpPr txBox="1"/>
          <p:nvPr/>
        </p:nvSpPr>
        <p:spPr>
          <a:xfrm>
            <a:off x="8275320" y="4361688"/>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Core SuraHis y plataforma agéntica</a:t>
            </a:r>
            <a:endParaRPr lang="en-US" sz="1200" dirty="0"/>
          </a:p>
          <a:p>
            <a:pPr indent="0" marL="0">
              <a:buNone/>
            </a:pPr>
            <a:r>
              <a:rPr lang="en-US" sz="1200" dirty="0">
                <a:solidFill>
                  <a:schemeClr val="accent6"/>
                </a:solidFill>
              </a:rPr>
              <a:t>exponen reglas, histórico, gateways y modelos</a:t>
            </a:r>
            <a:endParaRPr lang="en-US" sz="1200" dirty="0"/>
          </a:p>
        </p:txBody>
      </p:sp>
      <p:sp>
        <p:nvSpPr>
          <p:cNvPr id="47" name="Shape 38"/>
          <p:cNvSpPr/>
          <p:nvPr/>
        </p:nvSpPr>
        <p:spPr>
          <a:xfrm>
            <a:off x="8138160" y="5129784"/>
            <a:ext cx="3502152" cy="676656"/>
          </a:xfrm>
          <a:prstGeom prst="roundRect">
            <a:avLst>
              <a:gd name="adj" fmla="val 10811"/>
            </a:avLst>
          </a:prstGeom>
          <a:solidFill>
            <a:schemeClr val="bg1"/>
          </a:solidFill>
          <a:ln w="12700">
            <a:solidFill>
              <a:srgbClr val="DCD8EC"/>
            </a:solidFill>
            <a:prstDash val="solid"/>
          </a:ln>
        </p:spPr>
      </p:sp>
      <p:sp>
        <p:nvSpPr>
          <p:cNvPr id="48" name="Text 39"/>
          <p:cNvSpPr txBox="1"/>
          <p:nvPr/>
        </p:nvSpPr>
        <p:spPr>
          <a:xfrm>
            <a:off x="8275320" y="5129784"/>
            <a:ext cx="3227832" cy="676656"/>
          </a:xfrm>
          <a:prstGeom prst="rect">
            <a:avLst/>
          </a:prstGeom>
          <a:noFill/>
          <a:ln/>
        </p:spPr>
        <p:txBody>
          <a:bodyPr wrap="square" lIns="0" tIns="0" rIns="0" bIns="0" rtlCol="0" anchor="ctr"/>
          <a:lstStyle/>
          <a:p>
            <a:pPr indent="0" marL="0">
              <a:buNone/>
            </a:pPr>
            <a:r>
              <a:rPr lang="en-US" sz="1200" b="1" dirty="0">
                <a:solidFill>
                  <a:schemeClr val="tx2"/>
                </a:solidFill>
              </a:rPr>
              <a:t>Negocio y equipo médico</a:t>
            </a:r>
            <a:endParaRPr lang="en-US" sz="1200" dirty="0"/>
          </a:p>
          <a:p>
            <a:pPr indent="0" marL="0">
              <a:buNone/>
            </a:pPr>
            <a:r>
              <a:rPr lang="en-US" sz="1200" dirty="0">
                <a:solidFill>
                  <a:schemeClr val="accent6"/>
                </a:solidFill>
              </a:rPr>
              <a:t>definen el error tolerable y validan la muestra clínica</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Diez etapas: SURA define al inicio y recibe al cierre de cada sprint</a:t>
            </a:r>
            <a:endParaRPr lang="en-US" sz="2800" dirty="0"/>
          </a:p>
        </p:txBody>
      </p:sp>
      <p:sp>
        <p:nvSpPr>
          <p:cNvPr id="4" name="Shape 1"/>
          <p:cNvSpPr/>
          <p:nvPr/>
        </p:nvSpPr>
        <p:spPr>
          <a:xfrm>
            <a:off x="548640" y="1600200"/>
            <a:ext cx="2743200" cy="3611880"/>
          </a:xfrm>
          <a:prstGeom prst="roundRect">
            <a:avLst>
              <a:gd name="adj" fmla="val 2667"/>
            </a:avLst>
          </a:prstGeom>
          <a:solidFill>
            <a:schemeClr val="bg2"/>
          </a:solidFill>
          <a:ln w="12700">
            <a:solidFill>
              <a:srgbClr val="DCD8EC"/>
            </a:solidFill>
            <a:prstDash val="solid"/>
          </a:ln>
        </p:spPr>
      </p:sp>
      <p:sp>
        <p:nvSpPr>
          <p:cNvPr id="5" name="Text 2"/>
          <p:cNvSpPr txBox="1"/>
          <p:nvPr/>
        </p:nvSpPr>
        <p:spPr>
          <a:xfrm>
            <a:off x="731520" y="1719072"/>
            <a:ext cx="2377440" cy="320040"/>
          </a:xfrm>
          <a:prstGeom prst="rect">
            <a:avLst/>
          </a:prstGeom>
          <a:noFill/>
          <a:ln/>
        </p:spPr>
        <p:txBody>
          <a:bodyPr wrap="square" lIns="0" tIns="0" rIns="0" bIns="0" rtlCol="0" anchor="t"/>
          <a:lstStyle/>
          <a:p>
            <a:pPr indent="0" marL="0">
              <a:buNone/>
            </a:pPr>
            <a:r>
              <a:rPr lang="en-US" sz="1400" b="1" dirty="0">
                <a:solidFill>
                  <a:schemeClr val="tx2"/>
                </a:solidFill>
              </a:rPr>
              <a:t>Con SURA · definir</a:t>
            </a:r>
            <a:endParaRPr lang="en-US" sz="1400" dirty="0"/>
          </a:p>
        </p:txBody>
      </p:sp>
      <p:sp>
        <p:nvSpPr>
          <p:cNvPr id="6" name="Shape 3"/>
          <p:cNvSpPr/>
          <p:nvPr/>
        </p:nvSpPr>
        <p:spPr>
          <a:xfrm>
            <a:off x="731520" y="2148840"/>
            <a:ext cx="2377440" cy="868680"/>
          </a:xfrm>
          <a:prstGeom prst="roundRect">
            <a:avLst>
              <a:gd name="adj" fmla="val 8421"/>
            </a:avLst>
          </a:prstGeom>
          <a:solidFill>
            <a:schemeClr val="bg1"/>
          </a:solidFill>
          <a:ln w="12700">
            <a:solidFill>
              <a:srgbClr val="DCD8EC"/>
            </a:solidFill>
            <a:prstDash val="solid"/>
          </a:ln>
        </p:spPr>
      </p:sp>
      <p:sp>
        <p:nvSpPr>
          <p:cNvPr id="7" name="Shape 4"/>
          <p:cNvSpPr/>
          <p:nvPr/>
        </p:nvSpPr>
        <p:spPr>
          <a:xfrm>
            <a:off x="868680" y="2350008"/>
            <a:ext cx="457200" cy="457200"/>
          </a:xfrm>
          <a:prstGeom prst="ellipse">
            <a:avLst/>
          </a:prstGeom>
          <a:solidFill>
            <a:schemeClr val="accent2"/>
          </a:solidFill>
          <a:ln w="12700">
            <a:solidFill>
              <a:schemeClr val="accent2"/>
            </a:solidFill>
            <a:prstDash val="solid"/>
          </a:ln>
        </p:spPr>
      </p:sp>
      <p:sp>
        <p:nvSpPr>
          <p:cNvPr id="8" name="Text 5"/>
          <p:cNvSpPr txBox="1"/>
          <p:nvPr/>
        </p:nvSpPr>
        <p:spPr>
          <a:xfrm>
            <a:off x="86868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1444752" y="2240280"/>
            <a:ext cx="1554480" cy="320040"/>
          </a:xfrm>
          <a:prstGeom prst="rect">
            <a:avLst/>
          </a:prstGeom>
          <a:noFill/>
          <a:ln/>
        </p:spPr>
        <p:txBody>
          <a:bodyPr wrap="square" lIns="0" tIns="0" rIns="0" bIns="0" rtlCol="0" anchor="t"/>
          <a:lstStyle/>
          <a:p>
            <a:pPr indent="0" marL="0">
              <a:buNone/>
            </a:pPr>
            <a:r>
              <a:rPr lang="en-US" sz="1400" b="1" dirty="0">
                <a:solidFill>
                  <a:schemeClr val="tx2"/>
                </a:solidFill>
              </a:rPr>
              <a:t>Descubrimiento</a:t>
            </a:r>
            <a:endParaRPr lang="en-US" sz="1400" dirty="0"/>
          </a:p>
        </p:txBody>
      </p:sp>
      <p:sp>
        <p:nvSpPr>
          <p:cNvPr id="10" name="Text 7"/>
          <p:cNvSpPr txBox="1"/>
          <p:nvPr/>
        </p:nvSpPr>
        <p:spPr>
          <a:xfrm>
            <a:off x="1444752" y="256946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Objetivo, alcance y reglas</a:t>
            </a:r>
            <a:endParaRPr lang="en-US" sz="1200" dirty="0"/>
          </a:p>
        </p:txBody>
      </p:sp>
      <p:sp>
        <p:nvSpPr>
          <p:cNvPr id="11" name="Shape 8"/>
          <p:cNvSpPr/>
          <p:nvPr/>
        </p:nvSpPr>
        <p:spPr>
          <a:xfrm>
            <a:off x="731520" y="3154680"/>
            <a:ext cx="2377440" cy="868680"/>
          </a:xfrm>
          <a:prstGeom prst="roundRect">
            <a:avLst>
              <a:gd name="adj" fmla="val 8421"/>
            </a:avLst>
          </a:prstGeom>
          <a:solidFill>
            <a:schemeClr val="bg1"/>
          </a:solidFill>
          <a:ln w="12700">
            <a:solidFill>
              <a:srgbClr val="DCD8EC"/>
            </a:solidFill>
            <a:prstDash val="solid"/>
          </a:ln>
        </p:spPr>
      </p:sp>
      <p:sp>
        <p:nvSpPr>
          <p:cNvPr id="12" name="Shape 9"/>
          <p:cNvSpPr/>
          <p:nvPr/>
        </p:nvSpPr>
        <p:spPr>
          <a:xfrm>
            <a:off x="868680" y="3355848"/>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86868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1444752" y="32461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Backlog</a:t>
            </a:r>
            <a:endParaRPr lang="en-US" sz="1400" dirty="0"/>
          </a:p>
        </p:txBody>
      </p:sp>
      <p:sp>
        <p:nvSpPr>
          <p:cNvPr id="15" name="Text 12"/>
          <p:cNvSpPr txBox="1"/>
          <p:nvPr/>
        </p:nvSpPr>
        <p:spPr>
          <a:xfrm>
            <a:off x="1444752" y="357530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Épicas e historias priorizadas</a:t>
            </a:r>
            <a:endParaRPr lang="en-US" sz="1200" dirty="0"/>
          </a:p>
        </p:txBody>
      </p:sp>
      <p:sp>
        <p:nvSpPr>
          <p:cNvPr id="16" name="Shape 13"/>
          <p:cNvSpPr/>
          <p:nvPr/>
        </p:nvSpPr>
        <p:spPr>
          <a:xfrm>
            <a:off x="3474720" y="1600200"/>
            <a:ext cx="5074920" cy="3611880"/>
          </a:xfrm>
          <a:prstGeom prst="roundRect">
            <a:avLst>
              <a:gd name="adj" fmla="val 2025"/>
            </a:avLst>
          </a:prstGeom>
          <a:solidFill>
            <a:schemeClr val="accent4"/>
          </a:solidFill>
          <a:ln w="12700">
            <a:solidFill>
              <a:srgbClr val="DCD8EC"/>
            </a:solidFill>
            <a:prstDash val="solid"/>
          </a:ln>
        </p:spPr>
      </p:sp>
      <p:sp>
        <p:nvSpPr>
          <p:cNvPr id="17" name="Text 14"/>
          <p:cNvSpPr txBox="1"/>
          <p:nvPr/>
        </p:nvSpPr>
        <p:spPr>
          <a:xfrm>
            <a:off x="3657600" y="1719072"/>
            <a:ext cx="4709160" cy="320040"/>
          </a:xfrm>
          <a:prstGeom prst="rect">
            <a:avLst/>
          </a:prstGeom>
          <a:noFill/>
          <a:ln/>
        </p:spPr>
        <p:txBody>
          <a:bodyPr wrap="square" lIns="0" tIns="0" rIns="0" bIns="0" rtlCol="0" anchor="t"/>
          <a:lstStyle/>
          <a:p>
            <a:pPr indent="0" marL="0">
              <a:buNone/>
            </a:pPr>
            <a:r>
              <a:rPr lang="en-US" sz="1400" b="1" dirty="0">
                <a:solidFill>
                  <a:schemeClr val="accent1"/>
                </a:solidFill>
              </a:rPr>
              <a:t>El sprint · interno del equipo, se repite cada 10 días</a:t>
            </a:r>
            <a:endParaRPr lang="en-US" sz="1400" dirty="0"/>
          </a:p>
        </p:txBody>
      </p:sp>
      <p:sp>
        <p:nvSpPr>
          <p:cNvPr id="18" name="Shape 15"/>
          <p:cNvSpPr/>
          <p:nvPr/>
        </p:nvSpPr>
        <p:spPr>
          <a:xfrm>
            <a:off x="3611880" y="2148840"/>
            <a:ext cx="2377440" cy="868680"/>
          </a:xfrm>
          <a:prstGeom prst="roundRect">
            <a:avLst>
              <a:gd name="adj" fmla="val 8421"/>
            </a:avLst>
          </a:prstGeom>
          <a:solidFill>
            <a:schemeClr val="bg1"/>
          </a:solidFill>
          <a:ln w="12700">
            <a:solidFill>
              <a:srgbClr val="DCD8EC"/>
            </a:solidFill>
            <a:prstDash val="solid"/>
          </a:ln>
        </p:spPr>
      </p:sp>
      <p:sp>
        <p:nvSpPr>
          <p:cNvPr id="19" name="Shape 16"/>
          <p:cNvSpPr/>
          <p:nvPr/>
        </p:nvSpPr>
        <p:spPr>
          <a:xfrm>
            <a:off x="3749040" y="2350008"/>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374904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1" name="Text 18"/>
          <p:cNvSpPr txBox="1"/>
          <p:nvPr/>
        </p:nvSpPr>
        <p:spPr>
          <a:xfrm>
            <a:off x="4325112" y="2240280"/>
            <a:ext cx="1554480" cy="320040"/>
          </a:xfrm>
          <a:prstGeom prst="rect">
            <a:avLst/>
          </a:prstGeom>
          <a:noFill/>
          <a:ln/>
        </p:spPr>
        <p:txBody>
          <a:bodyPr wrap="square" lIns="0" tIns="0" rIns="0" bIns="0" rtlCol="0" anchor="t"/>
          <a:lstStyle/>
          <a:p>
            <a:pPr indent="0" marL="0">
              <a:buNone/>
            </a:pPr>
            <a:r>
              <a:rPr lang="en-US" sz="1400" b="1" dirty="0">
                <a:solidFill>
                  <a:schemeClr val="tx2"/>
                </a:solidFill>
              </a:rPr>
              <a:t>Refinamiento</a:t>
            </a:r>
            <a:endParaRPr lang="en-US" sz="1400" dirty="0"/>
          </a:p>
        </p:txBody>
      </p:sp>
      <p:sp>
        <p:nvSpPr>
          <p:cNvPr id="22" name="Text 19"/>
          <p:cNvSpPr txBox="1"/>
          <p:nvPr/>
        </p:nvSpPr>
        <p:spPr>
          <a:xfrm>
            <a:off x="4325112" y="256946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Diseño técnico y puntos</a:t>
            </a:r>
            <a:endParaRPr lang="en-US" sz="1200" dirty="0"/>
          </a:p>
        </p:txBody>
      </p:sp>
      <p:sp>
        <p:nvSpPr>
          <p:cNvPr id="23" name="Shape 20"/>
          <p:cNvSpPr/>
          <p:nvPr/>
        </p:nvSpPr>
        <p:spPr>
          <a:xfrm>
            <a:off x="6126480" y="2148840"/>
            <a:ext cx="2377440" cy="868680"/>
          </a:xfrm>
          <a:prstGeom prst="roundRect">
            <a:avLst>
              <a:gd name="adj" fmla="val 8421"/>
            </a:avLst>
          </a:prstGeom>
          <a:solidFill>
            <a:schemeClr val="bg1"/>
          </a:solidFill>
          <a:ln w="12700">
            <a:solidFill>
              <a:srgbClr val="DCD8EC"/>
            </a:solidFill>
            <a:prstDash val="solid"/>
          </a:ln>
        </p:spPr>
      </p:sp>
      <p:sp>
        <p:nvSpPr>
          <p:cNvPr id="24" name="Shape 21"/>
          <p:cNvSpPr/>
          <p:nvPr/>
        </p:nvSpPr>
        <p:spPr>
          <a:xfrm>
            <a:off x="6263640" y="2350008"/>
            <a:ext cx="457200" cy="457200"/>
          </a:xfrm>
          <a:prstGeom prst="ellipse">
            <a:avLst/>
          </a:prstGeom>
          <a:solidFill>
            <a:schemeClr val="accent1"/>
          </a:solidFill>
          <a:ln w="12700">
            <a:solidFill>
              <a:schemeClr val="accent1"/>
            </a:solidFill>
            <a:prstDash val="solid"/>
          </a:ln>
        </p:spPr>
      </p:sp>
      <p:sp>
        <p:nvSpPr>
          <p:cNvPr id="25" name="Text 22"/>
          <p:cNvSpPr txBox="1"/>
          <p:nvPr/>
        </p:nvSpPr>
        <p:spPr>
          <a:xfrm>
            <a:off x="626364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839712" y="2240280"/>
            <a:ext cx="1554480" cy="320040"/>
          </a:xfrm>
          <a:prstGeom prst="rect">
            <a:avLst/>
          </a:prstGeom>
          <a:noFill/>
          <a:ln/>
        </p:spPr>
        <p:txBody>
          <a:bodyPr wrap="square" lIns="0" tIns="0" rIns="0" bIns="0" rtlCol="0" anchor="t"/>
          <a:lstStyle/>
          <a:p>
            <a:pPr indent="0" marL="0">
              <a:buNone/>
            </a:pPr>
            <a:r>
              <a:rPr lang="en-US" sz="1400" b="1" dirty="0">
                <a:solidFill>
                  <a:schemeClr val="tx2"/>
                </a:solidFill>
              </a:rPr>
              <a:t>Planificación</a:t>
            </a:r>
            <a:endParaRPr lang="en-US" sz="1400" dirty="0"/>
          </a:p>
        </p:txBody>
      </p:sp>
      <p:sp>
        <p:nvSpPr>
          <p:cNvPr id="27" name="Text 24"/>
          <p:cNvSpPr txBox="1"/>
          <p:nvPr/>
        </p:nvSpPr>
        <p:spPr>
          <a:xfrm>
            <a:off x="6839712" y="256946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Objetivo del sprint</a:t>
            </a:r>
            <a:endParaRPr lang="en-US" sz="1200" dirty="0"/>
          </a:p>
        </p:txBody>
      </p:sp>
      <p:sp>
        <p:nvSpPr>
          <p:cNvPr id="28" name="Shape 25"/>
          <p:cNvSpPr/>
          <p:nvPr/>
        </p:nvSpPr>
        <p:spPr>
          <a:xfrm>
            <a:off x="3611880" y="3154680"/>
            <a:ext cx="2377440" cy="868680"/>
          </a:xfrm>
          <a:prstGeom prst="roundRect">
            <a:avLst>
              <a:gd name="adj" fmla="val 8421"/>
            </a:avLst>
          </a:prstGeom>
          <a:solidFill>
            <a:schemeClr val="bg1"/>
          </a:solidFill>
          <a:ln w="12700">
            <a:solidFill>
              <a:srgbClr val="DCD8EC"/>
            </a:solidFill>
            <a:prstDash val="solid"/>
          </a:ln>
        </p:spPr>
      </p:sp>
      <p:sp>
        <p:nvSpPr>
          <p:cNvPr id="29" name="Shape 26"/>
          <p:cNvSpPr/>
          <p:nvPr/>
        </p:nvSpPr>
        <p:spPr>
          <a:xfrm>
            <a:off x="3749040" y="3355848"/>
            <a:ext cx="457200" cy="457200"/>
          </a:xfrm>
          <a:prstGeom prst="ellipse">
            <a:avLst/>
          </a:prstGeom>
          <a:solidFill>
            <a:schemeClr val="accent1"/>
          </a:solidFill>
          <a:ln w="12700">
            <a:solidFill>
              <a:schemeClr val="accent1"/>
            </a:solidFill>
            <a:prstDash val="solid"/>
          </a:ln>
        </p:spPr>
      </p:sp>
      <p:sp>
        <p:nvSpPr>
          <p:cNvPr id="30" name="Text 27"/>
          <p:cNvSpPr txBox="1"/>
          <p:nvPr/>
        </p:nvSpPr>
        <p:spPr>
          <a:xfrm>
            <a:off x="374904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1" name="Text 28"/>
          <p:cNvSpPr txBox="1"/>
          <p:nvPr/>
        </p:nvSpPr>
        <p:spPr>
          <a:xfrm>
            <a:off x="4325112" y="32461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Desarrollo</a:t>
            </a:r>
            <a:endParaRPr lang="en-US" sz="1400" dirty="0"/>
          </a:p>
        </p:txBody>
      </p:sp>
      <p:sp>
        <p:nvSpPr>
          <p:cNvPr id="32" name="Text 29"/>
          <p:cNvSpPr txBox="1"/>
          <p:nvPr/>
        </p:nvSpPr>
        <p:spPr>
          <a:xfrm>
            <a:off x="4325112" y="357530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Código, pruebas y revisión</a:t>
            </a:r>
            <a:endParaRPr lang="en-US" sz="1200" dirty="0"/>
          </a:p>
        </p:txBody>
      </p:sp>
      <p:sp>
        <p:nvSpPr>
          <p:cNvPr id="33" name="Shape 30"/>
          <p:cNvSpPr/>
          <p:nvPr/>
        </p:nvSpPr>
        <p:spPr>
          <a:xfrm>
            <a:off x="6126480" y="3154680"/>
            <a:ext cx="2377440" cy="868680"/>
          </a:xfrm>
          <a:prstGeom prst="roundRect">
            <a:avLst>
              <a:gd name="adj" fmla="val 8421"/>
            </a:avLst>
          </a:prstGeom>
          <a:solidFill>
            <a:schemeClr val="bg1"/>
          </a:solidFill>
          <a:ln w="12700">
            <a:solidFill>
              <a:srgbClr val="DCD8EC"/>
            </a:solidFill>
            <a:prstDash val="solid"/>
          </a:ln>
        </p:spPr>
      </p:sp>
      <p:sp>
        <p:nvSpPr>
          <p:cNvPr id="34" name="Shape 31"/>
          <p:cNvSpPr/>
          <p:nvPr/>
        </p:nvSpPr>
        <p:spPr>
          <a:xfrm>
            <a:off x="6263640" y="3355848"/>
            <a:ext cx="457200" cy="457200"/>
          </a:xfrm>
          <a:prstGeom prst="ellipse">
            <a:avLst/>
          </a:prstGeom>
          <a:solidFill>
            <a:schemeClr val="accent1"/>
          </a:solidFill>
          <a:ln w="12700">
            <a:solidFill>
              <a:schemeClr val="accent1"/>
            </a:solidFill>
            <a:prstDash val="solid"/>
          </a:ln>
        </p:spPr>
      </p:sp>
      <p:sp>
        <p:nvSpPr>
          <p:cNvPr id="35" name="Text 32"/>
          <p:cNvSpPr txBox="1"/>
          <p:nvPr/>
        </p:nvSpPr>
        <p:spPr>
          <a:xfrm>
            <a:off x="626364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6" name="Text 33"/>
          <p:cNvSpPr txBox="1"/>
          <p:nvPr/>
        </p:nvSpPr>
        <p:spPr>
          <a:xfrm>
            <a:off x="6839712" y="3246120"/>
            <a:ext cx="1554480" cy="320040"/>
          </a:xfrm>
          <a:prstGeom prst="rect">
            <a:avLst/>
          </a:prstGeom>
          <a:noFill/>
          <a:ln/>
        </p:spPr>
        <p:txBody>
          <a:bodyPr wrap="square" lIns="0" tIns="0" rIns="0" bIns="0" rtlCol="0" anchor="t"/>
          <a:lstStyle/>
          <a:p>
            <a:pPr indent="0" marL="0">
              <a:buNone/>
            </a:pPr>
            <a:r>
              <a:rPr lang="en-US" sz="1400" b="1" dirty="0">
                <a:solidFill>
                  <a:schemeClr val="tx2"/>
                </a:solidFill>
              </a:rPr>
              <a:t>Integración</a:t>
            </a:r>
            <a:endParaRPr lang="en-US" sz="1400" dirty="0"/>
          </a:p>
        </p:txBody>
      </p:sp>
      <p:sp>
        <p:nvSpPr>
          <p:cNvPr id="37" name="Text 34"/>
          <p:cNvSpPr txBox="1"/>
          <p:nvPr/>
        </p:nvSpPr>
        <p:spPr>
          <a:xfrm>
            <a:off x="6839712" y="357530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Continua: cada cambio se verifica</a:t>
            </a:r>
            <a:endParaRPr lang="en-US" sz="1200" dirty="0"/>
          </a:p>
        </p:txBody>
      </p:sp>
      <p:sp>
        <p:nvSpPr>
          <p:cNvPr id="38" name="Shape 35"/>
          <p:cNvSpPr/>
          <p:nvPr/>
        </p:nvSpPr>
        <p:spPr>
          <a:xfrm>
            <a:off x="3611880" y="4160520"/>
            <a:ext cx="2377440" cy="868680"/>
          </a:xfrm>
          <a:prstGeom prst="roundRect">
            <a:avLst>
              <a:gd name="adj" fmla="val 8421"/>
            </a:avLst>
          </a:prstGeom>
          <a:solidFill>
            <a:schemeClr val="bg1"/>
          </a:solidFill>
          <a:ln w="12700">
            <a:solidFill>
              <a:srgbClr val="DCD8EC"/>
            </a:solidFill>
            <a:prstDash val="solid"/>
          </a:ln>
        </p:spPr>
      </p:sp>
      <p:sp>
        <p:nvSpPr>
          <p:cNvPr id="39" name="Shape 36"/>
          <p:cNvSpPr/>
          <p:nvPr/>
        </p:nvSpPr>
        <p:spPr>
          <a:xfrm>
            <a:off x="3749040" y="4361688"/>
            <a:ext cx="457200" cy="457200"/>
          </a:xfrm>
          <a:prstGeom prst="ellipse">
            <a:avLst/>
          </a:prstGeom>
          <a:solidFill>
            <a:schemeClr val="accent1"/>
          </a:solidFill>
          <a:ln w="12700">
            <a:solidFill>
              <a:schemeClr val="accent1"/>
            </a:solidFill>
            <a:prstDash val="solid"/>
          </a:ln>
        </p:spPr>
      </p:sp>
      <p:sp>
        <p:nvSpPr>
          <p:cNvPr id="40" name="Text 37"/>
          <p:cNvSpPr txBox="1"/>
          <p:nvPr/>
        </p:nvSpPr>
        <p:spPr>
          <a:xfrm>
            <a:off x="3749040" y="4361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41" name="Text 38"/>
          <p:cNvSpPr txBox="1"/>
          <p:nvPr/>
        </p:nvSpPr>
        <p:spPr>
          <a:xfrm>
            <a:off x="4325112" y="4251960"/>
            <a:ext cx="1554480" cy="320040"/>
          </a:xfrm>
          <a:prstGeom prst="rect">
            <a:avLst/>
          </a:prstGeom>
          <a:noFill/>
          <a:ln/>
        </p:spPr>
        <p:txBody>
          <a:bodyPr wrap="square" lIns="0" tIns="0" rIns="0" bIns="0" rtlCol="0" anchor="t"/>
          <a:lstStyle/>
          <a:p>
            <a:pPr indent="0" marL="0">
              <a:buNone/>
            </a:pPr>
            <a:r>
              <a:rPr lang="en-US" sz="1400" b="1" dirty="0">
                <a:solidFill>
                  <a:schemeClr val="tx2"/>
                </a:solidFill>
              </a:rPr>
              <a:t>Retrospectiva</a:t>
            </a:r>
            <a:endParaRPr lang="en-US" sz="1400" dirty="0"/>
          </a:p>
        </p:txBody>
      </p:sp>
      <p:sp>
        <p:nvSpPr>
          <p:cNvPr id="42" name="Text 39"/>
          <p:cNvSpPr txBox="1"/>
          <p:nvPr/>
        </p:nvSpPr>
        <p:spPr>
          <a:xfrm>
            <a:off x="4325112" y="4581144"/>
            <a:ext cx="1554480" cy="384048"/>
          </a:xfrm>
          <a:prstGeom prst="rect">
            <a:avLst/>
          </a:prstGeom>
          <a:noFill/>
          <a:ln/>
        </p:spPr>
        <p:txBody>
          <a:bodyPr wrap="square" lIns="0" tIns="0" rIns="0" bIns="0" rtlCol="0" anchor="t"/>
          <a:lstStyle/>
          <a:p>
            <a:pPr indent="0" marL="0">
              <a:buNone/>
            </a:pPr>
            <a:r>
              <a:rPr lang="en-US" sz="1200" dirty="0">
                <a:solidFill>
                  <a:schemeClr val="accent6"/>
                </a:solidFill>
              </a:rPr>
              <a:t>Un acuerdo de mejora</a:t>
            </a:r>
            <a:endParaRPr lang="en-US" sz="1200" dirty="0"/>
          </a:p>
        </p:txBody>
      </p:sp>
      <p:sp>
        <p:nvSpPr>
          <p:cNvPr id="43" name="Text 40"/>
          <p:cNvSpPr txBox="1"/>
          <p:nvPr/>
        </p:nvSpPr>
        <p:spPr>
          <a:xfrm>
            <a:off x="6263640" y="4206240"/>
            <a:ext cx="2194560" cy="777240"/>
          </a:xfrm>
          <a:prstGeom prst="rect">
            <a:avLst/>
          </a:prstGeom>
          <a:noFill/>
          <a:ln/>
        </p:spPr>
        <p:txBody>
          <a:bodyPr wrap="square" lIns="0" tIns="0" rIns="0" bIns="0" rtlCol="0" anchor="ctr"/>
          <a:lstStyle/>
          <a:p>
            <a:pPr indent="0" marL="0">
              <a:buNone/>
            </a:pPr>
            <a:r>
              <a:rPr lang="en-US" sz="1300" dirty="0">
                <a:solidFill>
                  <a:schemeClr val="accent6"/>
                </a:solidFill>
              </a:rPr>
              <a:t>La daily acompaña todo el sprint.</a:t>
            </a:r>
            <a:endParaRPr lang="en-US" sz="1300" dirty="0"/>
          </a:p>
        </p:txBody>
      </p:sp>
      <p:sp>
        <p:nvSpPr>
          <p:cNvPr id="44" name="Shape 41"/>
          <p:cNvSpPr/>
          <p:nvPr/>
        </p:nvSpPr>
        <p:spPr>
          <a:xfrm>
            <a:off x="8778240" y="1600200"/>
            <a:ext cx="2862072" cy="3611880"/>
          </a:xfrm>
          <a:prstGeom prst="roundRect">
            <a:avLst>
              <a:gd name="adj" fmla="val 2556"/>
            </a:avLst>
          </a:prstGeom>
          <a:solidFill>
            <a:schemeClr val="bg2"/>
          </a:solidFill>
          <a:ln w="12700">
            <a:solidFill>
              <a:srgbClr val="DCD8EC"/>
            </a:solidFill>
            <a:prstDash val="solid"/>
          </a:ln>
        </p:spPr>
      </p:sp>
      <p:sp>
        <p:nvSpPr>
          <p:cNvPr id="45" name="Text 42"/>
          <p:cNvSpPr txBox="1"/>
          <p:nvPr/>
        </p:nvSpPr>
        <p:spPr>
          <a:xfrm>
            <a:off x="8961120" y="1719072"/>
            <a:ext cx="2496312" cy="320040"/>
          </a:xfrm>
          <a:prstGeom prst="rect">
            <a:avLst/>
          </a:prstGeom>
          <a:noFill/>
          <a:ln/>
        </p:spPr>
        <p:txBody>
          <a:bodyPr wrap="square" lIns="0" tIns="0" rIns="0" bIns="0" rtlCol="0" anchor="t"/>
          <a:lstStyle/>
          <a:p>
            <a:pPr indent="0" marL="0">
              <a:buNone/>
            </a:pPr>
            <a:r>
              <a:rPr lang="en-US" sz="1400" b="1" dirty="0">
                <a:solidFill>
                  <a:schemeClr val="tx2"/>
                </a:solidFill>
              </a:rPr>
              <a:t>Con SURA · ver y recibir</a:t>
            </a:r>
            <a:endParaRPr lang="en-US" sz="1400" dirty="0"/>
          </a:p>
        </p:txBody>
      </p:sp>
      <p:sp>
        <p:nvSpPr>
          <p:cNvPr id="46" name="Shape 43"/>
          <p:cNvSpPr/>
          <p:nvPr/>
        </p:nvSpPr>
        <p:spPr>
          <a:xfrm>
            <a:off x="8961120" y="2148840"/>
            <a:ext cx="2496312" cy="868680"/>
          </a:xfrm>
          <a:prstGeom prst="roundRect">
            <a:avLst>
              <a:gd name="adj" fmla="val 8421"/>
            </a:avLst>
          </a:prstGeom>
          <a:solidFill>
            <a:schemeClr val="bg1"/>
          </a:solidFill>
          <a:ln w="12700">
            <a:solidFill>
              <a:srgbClr val="DCD8EC"/>
            </a:solidFill>
            <a:prstDash val="solid"/>
          </a:ln>
        </p:spPr>
      </p:sp>
      <p:sp>
        <p:nvSpPr>
          <p:cNvPr id="47" name="Shape 44"/>
          <p:cNvSpPr/>
          <p:nvPr/>
        </p:nvSpPr>
        <p:spPr>
          <a:xfrm>
            <a:off x="9098280" y="2350008"/>
            <a:ext cx="457200" cy="457200"/>
          </a:xfrm>
          <a:prstGeom prst="ellipse">
            <a:avLst/>
          </a:prstGeom>
          <a:solidFill>
            <a:schemeClr val="accent3"/>
          </a:solidFill>
          <a:ln w="12700">
            <a:solidFill>
              <a:schemeClr val="accent3"/>
            </a:solidFill>
            <a:prstDash val="solid"/>
          </a:ln>
        </p:spPr>
      </p:sp>
      <p:sp>
        <p:nvSpPr>
          <p:cNvPr id="48" name="Text 45"/>
          <p:cNvSpPr txBox="1"/>
          <p:nvPr/>
        </p:nvSpPr>
        <p:spPr>
          <a:xfrm>
            <a:off x="9098280" y="23500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6"/>
          <p:cNvSpPr txBox="1"/>
          <p:nvPr/>
        </p:nvSpPr>
        <p:spPr>
          <a:xfrm>
            <a:off x="9674352" y="2240280"/>
            <a:ext cx="1673352" cy="320040"/>
          </a:xfrm>
          <a:prstGeom prst="rect">
            <a:avLst/>
          </a:prstGeom>
          <a:noFill/>
          <a:ln/>
        </p:spPr>
        <p:txBody>
          <a:bodyPr wrap="square" lIns="0" tIns="0" rIns="0" bIns="0" rtlCol="0" anchor="t"/>
          <a:lstStyle/>
          <a:p>
            <a:pPr indent="0" marL="0">
              <a:buNone/>
            </a:pPr>
            <a:r>
              <a:rPr lang="en-US" sz="1400" b="1" dirty="0">
                <a:solidFill>
                  <a:schemeClr val="tx2"/>
                </a:solidFill>
              </a:rPr>
              <a:t>Revisión y demo</a:t>
            </a:r>
            <a:endParaRPr lang="en-US" sz="1400" dirty="0"/>
          </a:p>
        </p:txBody>
      </p:sp>
      <p:sp>
        <p:nvSpPr>
          <p:cNvPr id="50" name="Text 47"/>
          <p:cNvSpPr txBox="1"/>
          <p:nvPr/>
        </p:nvSpPr>
        <p:spPr>
          <a:xfrm>
            <a:off x="9674352" y="2569464"/>
            <a:ext cx="1673352" cy="384048"/>
          </a:xfrm>
          <a:prstGeom prst="rect">
            <a:avLst/>
          </a:prstGeom>
          <a:noFill/>
          <a:ln/>
        </p:spPr>
        <p:txBody>
          <a:bodyPr wrap="square" lIns="0" tIns="0" rIns="0" bIns="0" rtlCol="0" anchor="t"/>
          <a:lstStyle/>
          <a:p>
            <a:pPr indent="0" marL="0">
              <a:buNone/>
            </a:pPr>
            <a:r>
              <a:rPr lang="en-US" sz="1200" dirty="0">
                <a:solidFill>
                  <a:schemeClr val="accent6"/>
                </a:solidFill>
              </a:rPr>
              <a:t>Al cierre de cada sprint</a:t>
            </a:r>
            <a:endParaRPr lang="en-US" sz="1200" dirty="0"/>
          </a:p>
        </p:txBody>
      </p:sp>
      <p:sp>
        <p:nvSpPr>
          <p:cNvPr id="51" name="Shape 48"/>
          <p:cNvSpPr/>
          <p:nvPr/>
        </p:nvSpPr>
        <p:spPr>
          <a:xfrm>
            <a:off x="8961120" y="3154680"/>
            <a:ext cx="2496312" cy="868680"/>
          </a:xfrm>
          <a:prstGeom prst="roundRect">
            <a:avLst>
              <a:gd name="adj" fmla="val 8421"/>
            </a:avLst>
          </a:prstGeom>
          <a:solidFill>
            <a:schemeClr val="bg1"/>
          </a:solidFill>
          <a:ln w="12700">
            <a:solidFill>
              <a:srgbClr val="DCD8EC"/>
            </a:solidFill>
            <a:prstDash val="solid"/>
          </a:ln>
        </p:spPr>
      </p:sp>
      <p:sp>
        <p:nvSpPr>
          <p:cNvPr id="52" name="Shape 49"/>
          <p:cNvSpPr/>
          <p:nvPr/>
        </p:nvSpPr>
        <p:spPr>
          <a:xfrm>
            <a:off x="9098280" y="3355848"/>
            <a:ext cx="457200" cy="457200"/>
          </a:xfrm>
          <a:prstGeom prst="ellipse">
            <a:avLst/>
          </a:prstGeom>
          <a:solidFill>
            <a:schemeClr val="accent3"/>
          </a:solidFill>
          <a:ln w="12700">
            <a:solidFill>
              <a:schemeClr val="accent3"/>
            </a:solidFill>
            <a:prstDash val="solid"/>
          </a:ln>
        </p:spPr>
      </p:sp>
      <p:sp>
        <p:nvSpPr>
          <p:cNvPr id="53" name="Text 50"/>
          <p:cNvSpPr txBox="1"/>
          <p:nvPr/>
        </p:nvSpPr>
        <p:spPr>
          <a:xfrm>
            <a:off x="9098280" y="335584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4" name="Text 51"/>
          <p:cNvSpPr txBox="1"/>
          <p:nvPr/>
        </p:nvSpPr>
        <p:spPr>
          <a:xfrm>
            <a:off x="9674352" y="3246120"/>
            <a:ext cx="1673352" cy="320040"/>
          </a:xfrm>
          <a:prstGeom prst="rect">
            <a:avLst/>
          </a:prstGeom>
          <a:noFill/>
          <a:ln/>
        </p:spPr>
        <p:txBody>
          <a:bodyPr wrap="square" lIns="0" tIns="0" rIns="0" bIns="0" rtlCol="0" anchor="t"/>
          <a:lstStyle/>
          <a:p>
            <a:pPr indent="0" marL="0">
              <a:buNone/>
            </a:pPr>
            <a:r>
              <a:rPr lang="en-US" sz="1400" b="1" dirty="0">
                <a:solidFill>
                  <a:schemeClr val="tx2"/>
                </a:solidFill>
              </a:rPr>
              <a:t>Despliegue</a:t>
            </a:r>
            <a:endParaRPr lang="en-US" sz="1400" dirty="0"/>
          </a:p>
        </p:txBody>
      </p:sp>
      <p:sp>
        <p:nvSpPr>
          <p:cNvPr id="55" name="Text 52"/>
          <p:cNvSpPr txBox="1"/>
          <p:nvPr/>
        </p:nvSpPr>
        <p:spPr>
          <a:xfrm>
            <a:off x="9674352" y="3575304"/>
            <a:ext cx="1673352" cy="384048"/>
          </a:xfrm>
          <a:prstGeom prst="rect">
            <a:avLst/>
          </a:prstGeom>
          <a:noFill/>
          <a:ln/>
        </p:spPr>
        <p:txBody>
          <a:bodyPr wrap="square" lIns="0" tIns="0" rIns="0" bIns="0" rtlCol="0" anchor="t"/>
          <a:lstStyle/>
          <a:p>
            <a:pPr indent="0" marL="0">
              <a:buNone/>
            </a:pPr>
            <a:r>
              <a:rPr lang="en-US" sz="1200" dirty="0">
                <a:solidFill>
                  <a:schemeClr val="accent6"/>
                </a:solidFill>
              </a:rPr>
              <a:t>Entrega del incremento</a:t>
            </a:r>
            <a:endParaRPr lang="en-US" sz="1200" dirty="0"/>
          </a:p>
        </p:txBody>
      </p:sp>
      <p:sp>
        <p:nvSpPr>
          <p:cNvPr id="56" name="Shape 53"/>
          <p:cNvSpPr/>
          <p:nvPr/>
        </p:nvSpPr>
        <p:spPr>
          <a:xfrm>
            <a:off x="8961120" y="4160520"/>
            <a:ext cx="2496312" cy="868680"/>
          </a:xfrm>
          <a:prstGeom prst="roundRect">
            <a:avLst>
              <a:gd name="adj" fmla="val 8421"/>
            </a:avLst>
          </a:prstGeom>
          <a:solidFill>
            <a:schemeClr val="bg1"/>
          </a:solidFill>
          <a:ln w="12700">
            <a:solidFill>
              <a:srgbClr val="DCD8EC"/>
            </a:solidFill>
            <a:prstDash val="solid"/>
          </a:ln>
        </p:spPr>
      </p:sp>
      <p:sp>
        <p:nvSpPr>
          <p:cNvPr id="57" name="Shape 54"/>
          <p:cNvSpPr/>
          <p:nvPr/>
        </p:nvSpPr>
        <p:spPr>
          <a:xfrm>
            <a:off x="9098280" y="4361688"/>
            <a:ext cx="457200" cy="457200"/>
          </a:xfrm>
          <a:prstGeom prst="ellipse">
            <a:avLst/>
          </a:prstGeom>
          <a:solidFill>
            <a:schemeClr val="accent3"/>
          </a:solidFill>
          <a:ln w="12700">
            <a:solidFill>
              <a:schemeClr val="accent3"/>
            </a:solidFill>
            <a:prstDash val="solid"/>
          </a:ln>
        </p:spPr>
      </p:sp>
      <p:sp>
        <p:nvSpPr>
          <p:cNvPr id="58" name="Text 55"/>
          <p:cNvSpPr txBox="1"/>
          <p:nvPr/>
        </p:nvSpPr>
        <p:spPr>
          <a:xfrm>
            <a:off x="9098280" y="436168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59" name="Text 56"/>
          <p:cNvSpPr txBox="1"/>
          <p:nvPr/>
        </p:nvSpPr>
        <p:spPr>
          <a:xfrm>
            <a:off x="9674352" y="4251960"/>
            <a:ext cx="1673352" cy="320040"/>
          </a:xfrm>
          <a:prstGeom prst="rect">
            <a:avLst/>
          </a:prstGeom>
          <a:noFill/>
          <a:ln/>
        </p:spPr>
        <p:txBody>
          <a:bodyPr wrap="square" lIns="0" tIns="0" rIns="0" bIns="0" rtlCol="0" anchor="t"/>
          <a:lstStyle/>
          <a:p>
            <a:pPr indent="0" marL="0">
              <a:buNone/>
            </a:pPr>
            <a:r>
              <a:rPr lang="en-US" sz="1400" b="1" dirty="0">
                <a:solidFill>
                  <a:schemeClr val="tx2"/>
                </a:solidFill>
              </a:rPr>
              <a:t>Operación</a:t>
            </a:r>
            <a:endParaRPr lang="en-US" sz="1400" dirty="0"/>
          </a:p>
        </p:txBody>
      </p:sp>
      <p:sp>
        <p:nvSpPr>
          <p:cNvPr id="60" name="Text 57"/>
          <p:cNvSpPr txBox="1"/>
          <p:nvPr/>
        </p:nvSpPr>
        <p:spPr>
          <a:xfrm>
            <a:off x="9674352" y="4581144"/>
            <a:ext cx="1673352" cy="384048"/>
          </a:xfrm>
          <a:prstGeom prst="rect">
            <a:avLst/>
          </a:prstGeom>
          <a:noFill/>
          <a:ln/>
        </p:spPr>
        <p:txBody>
          <a:bodyPr wrap="square" lIns="0" tIns="0" rIns="0" bIns="0" rtlCol="0" anchor="t"/>
          <a:lstStyle/>
          <a:p>
            <a:pPr indent="0" marL="0">
              <a:buNone/>
            </a:pPr>
            <a:r>
              <a:rPr lang="en-US" sz="1200" dirty="0">
                <a:solidFill>
                  <a:schemeClr val="accent6"/>
                </a:solidFill>
              </a:rPr>
              <a:t>Uso real y soporte</a:t>
            </a:r>
            <a:endParaRPr lang="en-US" sz="1200" dirty="0"/>
          </a:p>
        </p:txBody>
      </p:sp>
      <p:sp>
        <p:nvSpPr>
          <p:cNvPr id="61" name="Shape 58"/>
          <p:cNvSpPr/>
          <p:nvPr/>
        </p:nvSpPr>
        <p:spPr>
          <a:xfrm>
            <a:off x="548640" y="5376672"/>
            <a:ext cx="11064240" cy="548640"/>
          </a:xfrm>
          <a:prstGeom prst="leftArrow">
            <a:avLst/>
          </a:prstGeom>
          <a:solidFill>
            <a:schemeClr val="bg2"/>
          </a:solidFill>
          <a:ln w="12700">
            <a:solidFill>
              <a:schemeClr val="bg2"/>
            </a:solidFill>
            <a:prstDash val="solid"/>
          </a:ln>
        </p:spPr>
      </p:sp>
      <p:sp>
        <p:nvSpPr>
          <p:cNvPr id="62" name="Text 59"/>
          <p:cNvSpPr txBox="1"/>
          <p:nvPr/>
        </p:nvSpPr>
        <p:spPr>
          <a:xfrm>
            <a:off x="1280160" y="5376672"/>
            <a:ext cx="10058400" cy="548640"/>
          </a:xfrm>
          <a:prstGeom prst="rect">
            <a:avLst/>
          </a:prstGeom>
          <a:noFill/>
          <a:ln/>
        </p:spPr>
        <p:txBody>
          <a:bodyPr wrap="square" lIns="0" tIns="0" rIns="0" bIns="0" rtlCol="0" anchor="ctr"/>
          <a:lstStyle/>
          <a:p>
            <a:pPr algn="ctr" indent="0" marL="0">
              <a:buNone/>
            </a:pPr>
            <a:r>
              <a:rPr lang="en-US" sz="1400" b="1" dirty="0">
                <a:solidFill>
                  <a:schemeClr val="tx2"/>
                </a:solidFill>
              </a:rPr>
              <a:t>Lo que se aprende en la demo y en la operación vuelve al backlog, y se prioriza con SURA</a:t>
            </a:r>
            <a:endParaRPr lang="en-US" sz="1400" dirty="0"/>
          </a:p>
        </p:txBody>
      </p:sp>
      <p:sp>
        <p:nvSpPr>
          <p:cNvPr id="63" name="Text 60"/>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Práctica de industria, no norma ni requisito: los cuatro valores del </a:t>
            </a:r>
            <a:pPr indent="0" marL="0">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Manifiesto por el Desarrollo Ágil de Software</a:t>
            </a:r>
            <a:pPr indent="0" marL="0">
              <a:buNone/>
            </a:pPr>
            <a:r>
              <a:rPr lang="en-US" sz="1100" dirty="0">
                <a:solidFill>
                  <a:schemeClr val="accent6"/>
                </a:solidFill>
              </a:rPr>
              <a:t> (agilemanifesto.org), que son individuos e interacciones, software funcionando, colaboración con el cliente y respuesta ante el cambio.</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Construimos los sistemas agénticos; el front y la integración los lideran los equipos de SURA</a:t>
            </a:r>
            <a:endParaRPr lang="en-US" sz="2800" dirty="0"/>
          </a:p>
        </p:txBody>
      </p:sp>
      <p:sp>
        <p:nvSpPr>
          <p:cNvPr id="4" name="Shape 1"/>
          <p:cNvSpPr/>
          <p:nvPr/>
        </p:nvSpPr>
        <p:spPr>
          <a:xfrm>
            <a:off x="548640" y="1600200"/>
            <a:ext cx="5440680" cy="4206240"/>
          </a:xfrm>
          <a:prstGeom prst="roundRect">
            <a:avLst>
              <a:gd name="adj" fmla="val 1739"/>
            </a:avLst>
          </a:prstGeom>
          <a:solidFill>
            <a:schemeClr val="bg2"/>
          </a:solidFill>
          <a:ln w="12700">
            <a:solidFill>
              <a:schemeClr val="bg2"/>
            </a:solidFill>
            <a:prstDash val="solid"/>
          </a:ln>
        </p:spPr>
      </p:sp>
      <p:sp>
        <p:nvSpPr>
          <p:cNvPr id="5" name="Text 2"/>
          <p:cNvSpPr txBox="1"/>
          <p:nvPr/>
        </p:nvSpPr>
        <p:spPr>
          <a:xfrm>
            <a:off x="822960" y="1783080"/>
            <a:ext cx="4892040" cy="365760"/>
          </a:xfrm>
          <a:prstGeom prst="rect">
            <a:avLst/>
          </a:prstGeom>
          <a:noFill/>
          <a:ln/>
        </p:spPr>
        <p:txBody>
          <a:bodyPr wrap="square" lIns="0" tIns="0" rIns="0" bIns="0" rtlCol="0" anchor="t"/>
          <a:lstStyle/>
          <a:p>
            <a:pPr indent="0" marL="0">
              <a:buNone/>
            </a:pPr>
            <a:r>
              <a:rPr lang="en-US" sz="1700" b="1" dirty="0">
                <a:solidFill>
                  <a:schemeClr val="tx2"/>
                </a:solidFill>
              </a:rPr>
              <a:t>Lo construye este equipo</a:t>
            </a:r>
            <a:endParaRPr lang="en-US" sz="1700" dirty="0"/>
          </a:p>
        </p:txBody>
      </p:sp>
      <p:sp>
        <p:nvSpPr>
          <p:cNvPr id="6" name="Text 3"/>
          <p:cNvSpPr txBox="1"/>
          <p:nvPr/>
        </p:nvSpPr>
        <p:spPr>
          <a:xfrm>
            <a:off x="822960" y="2286000"/>
            <a:ext cx="4892040" cy="3383280"/>
          </a:xfrm>
          <a:prstGeom prst="rect">
            <a:avLst/>
          </a:prstGeom>
          <a:noFill/>
          <a:ln/>
        </p:spPr>
        <p:txBody>
          <a:bodyPr wrap="square" lIns="0" tIns="0" rIns="0" bIns="0" rtlCol="0" anchor="t"/>
          <a:lstStyle/>
          <a:p>
            <a:pPr indent="0" marL="0">
              <a:buNone/>
            </a:pPr>
            <a:r>
              <a:rPr lang="en-US" sz="1400" b="1" dirty="0">
                <a:solidFill>
                  <a:schemeClr val="accent1"/>
                </a:solidFill>
              </a:rPr>
              <a:t>Los agentes</a:t>
            </a:r>
            <a:endParaRPr lang="en-US" sz="1400" dirty="0"/>
          </a:p>
          <a:p>
            <a:pPr indent="0" marL="0">
              <a:buNone/>
            </a:pPr>
            <a:r>
              <a:rPr lang="en-US" sz="1400" dirty="0">
                <a:solidFill>
                  <a:schemeClr val="tx1"/>
                </a:solidFill>
              </a:rPr>
              <a:t>Clasificador, enrutador, extractores, request builder, LLM-as-a-judge, pertinencia médica, duplicidad, concepto al escalar y auditor.</a:t>
            </a:r>
            <a:endParaRPr lang="en-US" sz="1400" dirty="0"/>
          </a:p>
          <a:p>
            <a:pPr indent="0" marL="0">
              <a:buNone/>
            </a:pPr>
            <a:r>
              <a:rPr lang="en-US" sz="700" dirty="0">
                <a:solidFill>
                  <a:schemeClr val="tx1"/>
                </a:solidFill>
              </a:rPr>
              <a:t> </a:t>
            </a:r>
            <a:endParaRPr lang="en-US" sz="1400" dirty="0"/>
          </a:p>
          <a:p>
            <a:pPr indent="0" marL="0">
              <a:buNone/>
            </a:pPr>
            <a:r>
              <a:rPr lang="en-US" sz="1400" b="1" dirty="0">
                <a:solidFill>
                  <a:schemeClr val="accent1"/>
                </a:solidFill>
              </a:rPr>
              <a:t>Lo que los gobierna</a:t>
            </a:r>
            <a:endParaRPr lang="en-US" sz="1400" dirty="0"/>
          </a:p>
          <a:p>
            <a:pPr indent="0" marL="0">
              <a:buNone/>
            </a:pPr>
            <a:r>
              <a:rPr lang="en-US" sz="1400" dirty="0">
                <a:solidFill>
                  <a:schemeClr val="tx1"/>
                </a:solidFill>
              </a:rPr>
              <a:t>Golden set, compuerta, traza de la decisión, umbrales, calibración del juez y techos de autonomía.</a:t>
            </a:r>
            <a:endParaRPr lang="en-US" sz="1400" dirty="0"/>
          </a:p>
          <a:p>
            <a:pPr indent="0" marL="0">
              <a:buNone/>
            </a:pPr>
            <a:r>
              <a:rPr lang="en-US" sz="700" dirty="0">
                <a:solidFill>
                  <a:schemeClr val="tx1"/>
                </a:solidFill>
              </a:rPr>
              <a:t> </a:t>
            </a:r>
            <a:endParaRPr lang="en-US" sz="1400" dirty="0"/>
          </a:p>
          <a:p>
            <a:pPr indent="0" marL="0">
              <a:buNone/>
            </a:pPr>
            <a:r>
              <a:rPr lang="en-US" sz="1400" b="1" dirty="0">
                <a:solidFill>
                  <a:schemeClr val="accent1"/>
                </a:solidFill>
              </a:rPr>
              <a:t>La base de la torre de control</a:t>
            </a:r>
            <a:endParaRPr lang="en-US" sz="1400" dirty="0"/>
          </a:p>
          <a:p>
            <a:pPr indent="0" marL="0">
              <a:buNone/>
            </a:pPr>
            <a:r>
              <a:rPr lang="en-US" sz="1400" dirty="0">
                <a:solidFill>
                  <a:schemeClr val="tx1"/>
                </a:solidFill>
              </a:rPr>
              <a:t>Contrato de eventos y torre de control, capas 1 y 2.</a:t>
            </a:r>
            <a:endParaRPr lang="en-US" sz="1400" dirty="0"/>
          </a:p>
        </p:txBody>
      </p:sp>
      <p:sp>
        <p:nvSpPr>
          <p:cNvPr id="7" name="Shape 4"/>
          <p:cNvSpPr/>
          <p:nvPr/>
        </p:nvSpPr>
        <p:spPr>
          <a:xfrm>
            <a:off x="6172200" y="1600200"/>
            <a:ext cx="5440680" cy="4206240"/>
          </a:xfrm>
          <a:prstGeom prst="roundRect">
            <a:avLst>
              <a:gd name="adj" fmla="val 1739"/>
            </a:avLst>
          </a:prstGeom>
          <a:solidFill>
            <a:schemeClr val="accent4"/>
          </a:solidFill>
          <a:ln w="12700">
            <a:solidFill>
              <a:srgbClr val="DCD8EC"/>
            </a:solidFill>
            <a:prstDash val="solid"/>
          </a:ln>
        </p:spPr>
      </p:sp>
      <p:sp>
        <p:nvSpPr>
          <p:cNvPr id="8" name="Text 5"/>
          <p:cNvSpPr txBox="1"/>
          <p:nvPr/>
        </p:nvSpPr>
        <p:spPr>
          <a:xfrm>
            <a:off x="6446520" y="1783080"/>
            <a:ext cx="4892040" cy="365760"/>
          </a:xfrm>
          <a:prstGeom prst="rect">
            <a:avLst/>
          </a:prstGeom>
          <a:noFill/>
          <a:ln/>
        </p:spPr>
        <p:txBody>
          <a:bodyPr wrap="square" lIns="0" tIns="0" rIns="0" bIns="0" rtlCol="0" anchor="t"/>
          <a:lstStyle/>
          <a:p>
            <a:pPr indent="0" marL="0">
              <a:buNone/>
            </a:pPr>
            <a:r>
              <a:rPr lang="en-US" sz="1700" b="1" dirty="0">
                <a:solidFill>
                  <a:schemeClr val="accent6"/>
                </a:solidFill>
              </a:rPr>
              <a:t>Lo lideran los equipos de SURA</a:t>
            </a:r>
            <a:endParaRPr lang="en-US" sz="1700" dirty="0"/>
          </a:p>
        </p:txBody>
      </p:sp>
      <p:sp>
        <p:nvSpPr>
          <p:cNvPr id="9" name="Text 6"/>
          <p:cNvSpPr txBox="1"/>
          <p:nvPr/>
        </p:nvSpPr>
        <p:spPr>
          <a:xfrm>
            <a:off x="6446520" y="2331720"/>
            <a:ext cx="489204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Front Angular y canales</a:t>
            </a:r>
            <a:endParaRPr lang="en-US" sz="1500" dirty="0"/>
          </a:p>
          <a:p>
            <a:pPr marL="342900" indent="-342900">
              <a:spcAft>
                <a:spcPts val="1000"/>
              </a:spcAft>
              <a:buSzPct val="100000"/>
              <a:buChar char="•"/>
            </a:pPr>
            <a:r>
              <a:rPr lang="en-US" sz="1500" dirty="0">
                <a:solidFill>
                  <a:schemeClr val="tx1"/>
                </a:solidFill>
              </a:rPr>
              <a:t>API orquestadora de cada gestor e integración con el core</a:t>
            </a:r>
            <a:endParaRPr lang="en-US" sz="1500" dirty="0"/>
          </a:p>
          <a:p>
            <a:pPr marL="342900" indent="-342900">
              <a:spcAft>
                <a:spcPts val="1000"/>
              </a:spcAft>
              <a:buSzPct val="100000"/>
              <a:buChar char="•"/>
            </a:pPr>
            <a:r>
              <a:rPr lang="en-US" sz="1500" dirty="0">
                <a:solidFill>
                  <a:schemeClr val="tx1"/>
                </a:solidFill>
              </a:rPr>
              <a:t>Plataforma habilitadora y plataforma agéntica</a:t>
            </a:r>
            <a:endParaRPr lang="en-US" sz="1500" dirty="0"/>
          </a:p>
        </p:txBody>
      </p:sp>
      <p:sp>
        <p:nvSpPr>
          <p:cNvPr id="10" name="Text 7"/>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Los agentes se integran sobre lo que construyen los equipos de SURA; el contrato entre ambos se acuerda en el arranque.</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El arquitecto define el cómo, se alinea con SURA y revisa que se cumpla</a:t>
            </a:r>
            <a:endParaRPr lang="en-US" sz="2800" dirty="0"/>
          </a:p>
        </p:txBody>
      </p:sp>
      <p:sp>
        <p:nvSpPr>
          <p:cNvPr id="4" name="Shape 1"/>
          <p:cNvSpPr/>
          <p:nvPr/>
        </p:nvSpPr>
        <p:spPr>
          <a:xfrm>
            <a:off x="548640" y="1554480"/>
            <a:ext cx="3520440" cy="3703320"/>
          </a:xfrm>
          <a:prstGeom prst="roundRect">
            <a:avLst>
              <a:gd name="adj" fmla="val 2078"/>
            </a:avLst>
          </a:prstGeom>
          <a:solidFill>
            <a:schemeClr val="accent4"/>
          </a:solidFill>
          <a:ln w="12700">
            <a:solidFill>
              <a:srgbClr val="DCD8EC"/>
            </a:solidFill>
            <a:prstDash val="solid"/>
          </a:ln>
        </p:spPr>
      </p:sp>
      <p:sp>
        <p:nvSpPr>
          <p:cNvPr id="5" name="Shape 2"/>
          <p:cNvSpPr/>
          <p:nvPr/>
        </p:nvSpPr>
        <p:spPr>
          <a:xfrm>
            <a:off x="822960" y="17373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4173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Define con el equipo</a:t>
            </a:r>
            <a:endParaRPr lang="en-US" sz="1400" dirty="0"/>
          </a:p>
        </p:txBody>
      </p:sp>
      <p:sp>
        <p:nvSpPr>
          <p:cNvPr id="8" name="Text 5"/>
          <p:cNvSpPr txBox="1"/>
          <p:nvPr/>
        </p:nvSpPr>
        <p:spPr>
          <a:xfrm>
            <a:off x="8229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Arquitectura evolutiva: la de cada sistema agéntico se define al empezar su implementación.</a:t>
            </a:r>
            <a:endParaRPr lang="en-US" sz="1300" dirty="0"/>
          </a:p>
          <a:p>
            <a:pPr marL="342900" indent="-342900">
              <a:spcAft>
                <a:spcPts val="600"/>
              </a:spcAft>
              <a:buSzPct val="100000"/>
              <a:buChar char="•"/>
            </a:pPr>
            <a:r>
              <a:rPr lang="en-US" sz="1300" dirty="0">
                <a:solidFill>
                  <a:schemeClr val="tx1"/>
                </a:solidFill>
              </a:rPr>
              <a:t>Buenas prácticas de construcción y de prompts.</a:t>
            </a:r>
            <a:endParaRPr lang="en-US" sz="1300" dirty="0"/>
          </a:p>
          <a:p>
            <a:pPr marL="342900" indent="-342900">
              <a:spcAft>
                <a:spcPts val="600"/>
              </a:spcAft>
              <a:buSzPct val="100000"/>
              <a:buChar char="•"/>
            </a:pPr>
            <a:r>
              <a:rPr lang="en-US" sz="1300" dirty="0">
                <a:solidFill>
                  <a:schemeClr val="tx1"/>
                </a:solidFill>
              </a:rPr>
              <a:t>Arquetipo de agente: grafo, golden set, compuerta y traza.</a:t>
            </a:r>
            <a:endParaRPr lang="en-US" sz="1300" dirty="0"/>
          </a:p>
          <a:p>
            <a:pPr marL="342900" indent="-342900">
              <a:spcAft>
                <a:spcPts val="600"/>
              </a:spcAft>
              <a:buSzPct val="100000"/>
              <a:buChar char="•"/>
            </a:pPr>
            <a:r>
              <a:rPr lang="en-US" sz="1300" dirty="0">
                <a:solidFill>
                  <a:schemeClr val="tx1"/>
                </a:solidFill>
              </a:rPr>
              <a:t>Componentes reutilizables entre gestores.</a:t>
            </a:r>
            <a:endParaRPr lang="en-US" sz="1300" dirty="0"/>
          </a:p>
          <a:p>
            <a:pPr marL="342900" indent="-342900">
              <a:spcAft>
                <a:spcPts val="600"/>
              </a:spcAft>
              <a:buSzPct val="100000"/>
              <a:buChar char="•"/>
            </a:pPr>
            <a:r>
              <a:rPr lang="en-US" sz="1300" dirty="0">
                <a:solidFill>
                  <a:schemeClr val="tx1"/>
                </a:solidFill>
              </a:rPr>
              <a:t>Lineamientos y un estándar técnico verificable.</a:t>
            </a:r>
            <a:endParaRPr lang="en-US" sz="1300" dirty="0"/>
          </a:p>
        </p:txBody>
      </p:sp>
      <p:sp>
        <p:nvSpPr>
          <p:cNvPr id="9" name="Shape 6"/>
          <p:cNvSpPr/>
          <p:nvPr/>
        </p:nvSpPr>
        <p:spPr>
          <a:xfrm>
            <a:off x="4320540" y="1554480"/>
            <a:ext cx="3520440" cy="3703320"/>
          </a:xfrm>
          <a:prstGeom prst="roundRect">
            <a:avLst>
              <a:gd name="adj" fmla="val 2078"/>
            </a:avLst>
          </a:prstGeom>
          <a:solidFill>
            <a:schemeClr val="accent4"/>
          </a:solidFill>
          <a:ln w="12700">
            <a:solidFill>
              <a:srgbClr val="DCD8EC"/>
            </a:solidFill>
            <a:prstDash val="solid"/>
          </a:ln>
        </p:spPr>
      </p:sp>
      <p:sp>
        <p:nvSpPr>
          <p:cNvPr id="10" name="Shape 7"/>
          <p:cNvSpPr/>
          <p:nvPr/>
        </p:nvSpPr>
        <p:spPr>
          <a:xfrm>
            <a:off x="4594860" y="1737360"/>
            <a:ext cx="457200" cy="457200"/>
          </a:xfrm>
          <a:prstGeom prst="ellipse">
            <a:avLst/>
          </a:prstGeom>
          <a:solidFill>
            <a:schemeClr val="accent3"/>
          </a:solidFill>
          <a:ln w="12700">
            <a:solidFill>
              <a:schemeClr val="accent3"/>
            </a:solidFill>
            <a:prstDash val="solid"/>
          </a:ln>
        </p:spPr>
      </p:sp>
      <p:sp>
        <p:nvSpPr>
          <p:cNvPr id="11" name="Text 8"/>
          <p:cNvSpPr txBox="1"/>
          <p:nvPr/>
        </p:nvSpPr>
        <p:spPr>
          <a:xfrm>
            <a:off x="45948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1892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Se alinea con el equipo de arquitectura de SURA</a:t>
            </a:r>
            <a:endParaRPr lang="en-US" sz="1400" dirty="0"/>
          </a:p>
        </p:txBody>
      </p:sp>
      <p:sp>
        <p:nvSpPr>
          <p:cNvPr id="13" name="Text 10"/>
          <p:cNvSpPr txBox="1"/>
          <p:nvPr/>
        </p:nvSpPr>
        <p:spPr>
          <a:xfrm>
            <a:off x="45948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Lineamientos AI First de la organización.</a:t>
            </a:r>
            <a:endParaRPr lang="en-US" sz="1300" dirty="0"/>
          </a:p>
          <a:p>
            <a:pPr marL="342900" indent="-342900">
              <a:spcAft>
                <a:spcPts val="600"/>
              </a:spcAft>
              <a:buSzPct val="100000"/>
              <a:buChar char="•"/>
            </a:pPr>
            <a:r>
              <a:rPr lang="en-US" sz="1300" dirty="0">
                <a:solidFill>
                  <a:schemeClr val="tx1"/>
                </a:solidFill>
              </a:rPr>
              <a:t>Contrato del agente con cada gestor.</a:t>
            </a:r>
            <a:endParaRPr lang="en-US" sz="1300" dirty="0"/>
          </a:p>
          <a:p>
            <a:pPr marL="342900" indent="-342900">
              <a:spcAft>
                <a:spcPts val="600"/>
              </a:spcAft>
              <a:buSzPct val="100000"/>
              <a:buChar char="•"/>
            </a:pPr>
            <a:r>
              <a:rPr lang="en-US" sz="1300" dirty="0">
                <a:solidFill>
                  <a:schemeClr val="tx1"/>
                </a:solidFill>
              </a:rPr>
              <a:t>Autonomía y techos de cada agente: ninguno niega.</a:t>
            </a:r>
            <a:endParaRPr lang="en-US" sz="1300" dirty="0"/>
          </a:p>
          <a:p>
            <a:pPr marL="342900" indent="-342900">
              <a:spcAft>
                <a:spcPts val="600"/>
              </a:spcAft>
              <a:buSzPct val="100000"/>
              <a:buChar char="•"/>
            </a:pPr>
            <a:r>
              <a:rPr lang="en-US" sz="1300" dirty="0">
                <a:solidFill>
                  <a:schemeClr val="tx1"/>
                </a:solidFill>
              </a:rPr>
              <a:t>Criterio de acierto y umbral del error caro.</a:t>
            </a:r>
            <a:endParaRPr lang="en-US" sz="1300" dirty="0"/>
          </a:p>
        </p:txBody>
      </p:sp>
      <p:sp>
        <p:nvSpPr>
          <p:cNvPr id="14" name="Shape 11"/>
          <p:cNvSpPr/>
          <p:nvPr/>
        </p:nvSpPr>
        <p:spPr>
          <a:xfrm>
            <a:off x="8092440" y="1554480"/>
            <a:ext cx="3520440" cy="3703320"/>
          </a:xfrm>
          <a:prstGeom prst="roundRect">
            <a:avLst>
              <a:gd name="adj" fmla="val 2078"/>
            </a:avLst>
          </a:prstGeom>
          <a:solidFill>
            <a:schemeClr val="accent4"/>
          </a:solidFill>
          <a:ln w="12700">
            <a:solidFill>
              <a:srgbClr val="DCD8EC"/>
            </a:solidFill>
            <a:prstDash val="solid"/>
          </a:ln>
        </p:spPr>
      </p:sp>
      <p:sp>
        <p:nvSpPr>
          <p:cNvPr id="15" name="Shape 12"/>
          <p:cNvSpPr/>
          <p:nvPr/>
        </p:nvSpPr>
        <p:spPr>
          <a:xfrm>
            <a:off x="8366760" y="1737360"/>
            <a:ext cx="457200" cy="457200"/>
          </a:xfrm>
          <a:prstGeom prst="ellipse">
            <a:avLst/>
          </a:prstGeom>
          <a:solidFill>
            <a:schemeClr val="accent2"/>
          </a:solidFill>
          <a:ln w="12700">
            <a:solidFill>
              <a:schemeClr val="accent2"/>
            </a:solidFill>
            <a:prstDash val="solid"/>
          </a:ln>
        </p:spPr>
      </p:sp>
      <p:sp>
        <p:nvSpPr>
          <p:cNvPr id="16" name="Text 13"/>
          <p:cNvSpPr txBox="1"/>
          <p:nvPr/>
        </p:nvSpPr>
        <p:spPr>
          <a:xfrm>
            <a:off x="83667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961120" y="1691640"/>
            <a:ext cx="2468880" cy="594360"/>
          </a:xfrm>
          <a:prstGeom prst="rect">
            <a:avLst/>
          </a:prstGeom>
          <a:noFill/>
          <a:ln/>
        </p:spPr>
        <p:txBody>
          <a:bodyPr wrap="square" lIns="0" tIns="0" rIns="0" bIns="0" rtlCol="0" anchor="ctr"/>
          <a:lstStyle/>
          <a:p>
            <a:pPr indent="0" marL="0">
              <a:buNone/>
            </a:pPr>
            <a:r>
              <a:rPr lang="en-US" sz="1400" b="1" dirty="0">
                <a:solidFill>
                  <a:schemeClr val="tx2"/>
                </a:solidFill>
              </a:rPr>
              <a:t>Revisa que se cumpla</a:t>
            </a:r>
            <a:endParaRPr lang="en-US" sz="1400" dirty="0"/>
          </a:p>
        </p:txBody>
      </p:sp>
      <p:sp>
        <p:nvSpPr>
          <p:cNvPr id="18" name="Text 15"/>
          <p:cNvSpPr txBox="1"/>
          <p:nvPr/>
        </p:nvSpPr>
        <p:spPr>
          <a:xfrm>
            <a:off x="8366760" y="2423160"/>
            <a:ext cx="29718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Diseño de cada historia, en el refinamiento.</a:t>
            </a:r>
            <a:endParaRPr lang="en-US" sz="1300" dirty="0"/>
          </a:p>
          <a:p>
            <a:pPr marL="342900" indent="-342900">
              <a:spcAft>
                <a:spcPts val="600"/>
              </a:spcAft>
              <a:buSzPct val="100000"/>
              <a:buChar char="•"/>
            </a:pPr>
            <a:r>
              <a:rPr lang="en-US" sz="1300" dirty="0">
                <a:solidFill>
                  <a:schemeClr val="tx1"/>
                </a:solidFill>
              </a:rPr>
              <a:t>Código que toca contratos, traza y medición.</a:t>
            </a:r>
            <a:endParaRPr lang="en-US" sz="1300" dirty="0"/>
          </a:p>
          <a:p>
            <a:pPr marL="342900" indent="-342900">
              <a:spcAft>
                <a:spcPts val="600"/>
              </a:spcAft>
              <a:buSzPct val="100000"/>
              <a:buChar char="•"/>
            </a:pPr>
            <a:r>
              <a:rPr lang="en-US" sz="1300" dirty="0">
                <a:solidFill>
                  <a:schemeClr val="tx1"/>
                </a:solidFill>
              </a:rPr>
              <a:t>Lo que no falla de forma ruidosa: acierto y deriva.</a:t>
            </a:r>
            <a:endParaRPr lang="en-US" sz="1300" dirty="0"/>
          </a:p>
          <a:p>
            <a:pPr marL="342900" indent="-342900">
              <a:spcAft>
                <a:spcPts val="600"/>
              </a:spcAft>
              <a:buSzPct val="100000"/>
              <a:buChar char="•"/>
            </a:pPr>
            <a:r>
              <a:rPr lang="en-US" sz="1300" dirty="0">
                <a:solidFill>
                  <a:schemeClr val="tx1"/>
                </a:solidFill>
              </a:rPr>
              <a:t>Ajusta los lineamientos en la retro.</a:t>
            </a:r>
            <a:endParaRPr lang="en-US" sz="1300" dirty="0"/>
          </a:p>
        </p:txBody>
      </p:sp>
      <p:sp>
        <p:nvSpPr>
          <p:cNvPr id="19" name="Shape 16"/>
          <p:cNvSpPr/>
          <p:nvPr/>
        </p:nvSpPr>
        <p:spPr>
          <a:xfrm>
            <a:off x="548640" y="5394960"/>
            <a:ext cx="11064240" cy="566928"/>
          </a:xfrm>
          <a:prstGeom prst="roundRect">
            <a:avLst>
              <a:gd name="adj" fmla="val 12903"/>
            </a:avLst>
          </a:prstGeom>
          <a:solidFill>
            <a:schemeClr val="bg2"/>
          </a:solidFill>
          <a:ln w="12700">
            <a:solidFill>
              <a:schemeClr val="bg2"/>
            </a:solidFill>
            <a:prstDash val="solid"/>
          </a:ln>
        </p:spPr>
      </p:sp>
      <p:sp>
        <p:nvSpPr>
          <p:cNvPr id="20" name="Text 17"/>
          <p:cNvSpPr txBox="1"/>
          <p:nvPr/>
        </p:nvSpPr>
        <p:spPr>
          <a:xfrm>
            <a:off x="822960" y="5394960"/>
            <a:ext cx="10515600" cy="566928"/>
          </a:xfrm>
          <a:prstGeom prst="rect">
            <a:avLst/>
          </a:prstGeom>
          <a:noFill/>
          <a:ln/>
        </p:spPr>
        <p:txBody>
          <a:bodyPr wrap="square" lIns="0" tIns="0" rIns="0" bIns="0" rtlCol="0" anchor="ctr"/>
          <a:lstStyle/>
          <a:p>
            <a:pPr indent="0" marL="0">
              <a:buNone/>
            </a:pPr>
            <a:r>
              <a:rPr lang="en-US" sz="1300" b="1" dirty="0">
                <a:solidFill>
                  <a:schemeClr val="tx2"/>
                </a:solidFill>
              </a:rPr>
              <a:t>El equipo implementa las historias con esas prácticas </a:t>
            </a:r>
            <a:pPr indent="0" marL="0">
              <a:buNone/>
            </a:pPr>
            <a:r>
              <a:rPr lang="en-US" sz="1300" dirty="0">
                <a:solidFill>
                  <a:schemeClr val="tx1"/>
                </a:solidFill>
              </a:rPr>
              <a:t>y decide en el sprint lo fácil de cambiar: la estructura interna del grafo, la redacción del prompt y el orden de las tareas.</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Las historias de usuario se escriben con SURA</a:t>
            </a:r>
            <a:endParaRPr lang="en-US" sz="2800" dirty="0"/>
          </a:p>
        </p:txBody>
      </p:sp>
      <p:sp>
        <p:nvSpPr>
          <p:cNvPr id="4" name="Shape 1"/>
          <p:cNvSpPr/>
          <p:nvPr/>
        </p:nvSpPr>
        <p:spPr>
          <a:xfrm>
            <a:off x="548640" y="1600200"/>
            <a:ext cx="4754880" cy="4297680"/>
          </a:xfrm>
          <a:prstGeom prst="roundRect">
            <a:avLst>
              <a:gd name="adj" fmla="val 1702"/>
            </a:avLst>
          </a:prstGeom>
          <a:solidFill>
            <a:schemeClr val="bg2"/>
          </a:solidFill>
          <a:ln w="12700">
            <a:solidFill>
              <a:schemeClr val="bg2"/>
            </a:solidFill>
            <a:prstDash val="solid"/>
          </a:ln>
        </p:spPr>
      </p:sp>
      <p:sp>
        <p:nvSpPr>
          <p:cNvPr id="5" name="Text 2"/>
          <p:cNvSpPr txBox="1"/>
          <p:nvPr/>
        </p:nvSpPr>
        <p:spPr>
          <a:xfrm>
            <a:off x="822960" y="1783080"/>
            <a:ext cx="4206240" cy="365760"/>
          </a:xfrm>
          <a:prstGeom prst="rect">
            <a:avLst/>
          </a:prstGeom>
          <a:noFill/>
          <a:ln/>
        </p:spPr>
        <p:txBody>
          <a:bodyPr wrap="square" lIns="0" tIns="0" rIns="0" bIns="0" rtlCol="0" anchor="t"/>
          <a:lstStyle/>
          <a:p>
            <a:pPr indent="0" marL="0">
              <a:buNone/>
            </a:pPr>
            <a:r>
              <a:rPr lang="en-US" sz="1700" b="1" dirty="0">
                <a:solidFill>
                  <a:schemeClr val="tx2"/>
                </a:solidFill>
              </a:rPr>
              <a:t>Qué trae cada historia</a:t>
            </a:r>
            <a:endParaRPr lang="en-US" sz="1700" dirty="0"/>
          </a:p>
        </p:txBody>
      </p:sp>
      <p:sp>
        <p:nvSpPr>
          <p:cNvPr id="6" name="Text 3"/>
          <p:cNvSpPr txBox="1"/>
          <p:nvPr/>
        </p:nvSpPr>
        <p:spPr>
          <a:xfrm>
            <a:off x="822960" y="22860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Quién</a:t>
            </a:r>
            <a:endParaRPr lang="en-US" sz="1400" dirty="0"/>
          </a:p>
          <a:p>
            <a:pPr indent="0" marL="0">
              <a:buNone/>
            </a:pPr>
            <a:r>
              <a:rPr lang="en-US" sz="1400" dirty="0">
                <a:solidFill>
                  <a:schemeClr val="tx1"/>
                </a:solidFill>
              </a:rPr>
              <a:t>el rol que usa lo que el agente produce</a:t>
            </a:r>
            <a:endParaRPr lang="en-US" sz="1400" dirty="0"/>
          </a:p>
        </p:txBody>
      </p:sp>
      <p:sp>
        <p:nvSpPr>
          <p:cNvPr id="7" name="Text 4"/>
          <p:cNvSpPr txBox="1"/>
          <p:nvPr/>
        </p:nvSpPr>
        <p:spPr>
          <a:xfrm>
            <a:off x="822960" y="29718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Qué y para qué</a:t>
            </a:r>
            <a:endParaRPr lang="en-US" sz="1400" dirty="0"/>
          </a:p>
          <a:p>
            <a:pPr indent="0" marL="0">
              <a:buNone/>
            </a:pPr>
            <a:r>
              <a:rPr lang="en-US" sz="1400" dirty="0">
                <a:solidFill>
                  <a:schemeClr val="tx1"/>
                </a:solidFill>
              </a:rPr>
              <a:t>lo que necesita y el valor que gana, en palabras del negocio</a:t>
            </a:r>
            <a:endParaRPr lang="en-US" sz="1400" dirty="0"/>
          </a:p>
        </p:txBody>
      </p:sp>
      <p:sp>
        <p:nvSpPr>
          <p:cNvPr id="8" name="Text 5"/>
          <p:cNvSpPr txBox="1"/>
          <p:nvPr/>
        </p:nvSpPr>
        <p:spPr>
          <a:xfrm>
            <a:off x="822960" y="36576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Criterios de aceptación</a:t>
            </a:r>
            <a:endParaRPr lang="en-US" sz="1400" dirty="0"/>
          </a:p>
          <a:p>
            <a:pPr indent="0" marL="0">
              <a:buNone/>
            </a:pPr>
            <a:r>
              <a:rPr lang="en-US" sz="1400" dirty="0">
                <a:solidFill>
                  <a:schemeClr val="tx1"/>
                </a:solidFill>
              </a:rPr>
              <a:t>cómo se sabe en la demo que está bien</a:t>
            </a:r>
            <a:endParaRPr lang="en-US" sz="1400" dirty="0"/>
          </a:p>
        </p:txBody>
      </p:sp>
      <p:sp>
        <p:nvSpPr>
          <p:cNvPr id="9" name="Text 6"/>
          <p:cNvSpPr txBox="1"/>
          <p:nvPr/>
        </p:nvSpPr>
        <p:spPr>
          <a:xfrm>
            <a:off x="822960" y="43434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Casos del golden set</a:t>
            </a:r>
            <a:endParaRPr lang="en-US" sz="1400" dirty="0"/>
          </a:p>
          <a:p>
            <a:pPr indent="0" marL="0">
              <a:buNone/>
            </a:pPr>
            <a:r>
              <a:rPr lang="en-US" sz="1400" dirty="0">
                <a:solidFill>
                  <a:schemeClr val="tx1"/>
                </a:solidFill>
              </a:rPr>
              <a:t>los ejemplos con respuesta conocida que la prueban</a:t>
            </a:r>
            <a:endParaRPr lang="en-US" sz="1400" dirty="0"/>
          </a:p>
        </p:txBody>
      </p:sp>
      <p:sp>
        <p:nvSpPr>
          <p:cNvPr id="10" name="Text 7"/>
          <p:cNvSpPr txBox="1"/>
          <p:nvPr/>
        </p:nvSpPr>
        <p:spPr>
          <a:xfrm>
            <a:off x="822960" y="5029200"/>
            <a:ext cx="4206240" cy="640080"/>
          </a:xfrm>
          <a:prstGeom prst="rect">
            <a:avLst/>
          </a:prstGeom>
          <a:noFill/>
          <a:ln/>
        </p:spPr>
        <p:txBody>
          <a:bodyPr wrap="square" lIns="0" tIns="0" rIns="0" bIns="0" rtlCol="0" anchor="t"/>
          <a:lstStyle/>
          <a:p>
            <a:pPr indent="0" marL="0">
              <a:buNone/>
            </a:pPr>
            <a:r>
              <a:rPr lang="en-US" sz="1400" b="1" dirty="0">
                <a:solidFill>
                  <a:schemeClr val="accent1"/>
                </a:solidFill>
              </a:rPr>
              <a:t>Puntos</a:t>
            </a:r>
            <a:endParaRPr lang="en-US" sz="1400" dirty="0"/>
          </a:p>
          <a:p>
            <a:pPr indent="0" marL="0">
              <a:buNone/>
            </a:pPr>
            <a:r>
              <a:rPr lang="en-US" sz="1400" dirty="0">
                <a:solidFill>
                  <a:schemeClr val="tx1"/>
                </a:solidFill>
              </a:rPr>
              <a:t>los pone el equipo; más de 13 se parte</a:t>
            </a:r>
            <a:endParaRPr lang="en-US" sz="1400" dirty="0"/>
          </a:p>
        </p:txBody>
      </p:sp>
      <p:sp>
        <p:nvSpPr>
          <p:cNvPr id="11" name="Shape 8"/>
          <p:cNvSpPr/>
          <p:nvPr/>
        </p:nvSpPr>
        <p:spPr>
          <a:xfrm>
            <a:off x="5577840" y="1600200"/>
            <a:ext cx="6062472" cy="4297680"/>
          </a:xfrm>
          <a:prstGeom prst="roundRect">
            <a:avLst>
              <a:gd name="adj" fmla="val 1702"/>
            </a:avLst>
          </a:prstGeom>
          <a:solidFill>
            <a:schemeClr val="accent4"/>
          </a:solidFill>
          <a:ln w="12700">
            <a:solidFill>
              <a:srgbClr val="DCD8EC"/>
            </a:solidFill>
            <a:prstDash val="solid"/>
          </a:ln>
        </p:spPr>
      </p:sp>
      <p:sp>
        <p:nvSpPr>
          <p:cNvPr id="12" name="Shape 9"/>
          <p:cNvSpPr/>
          <p:nvPr/>
        </p:nvSpPr>
        <p:spPr>
          <a:xfrm>
            <a:off x="5852160" y="1810512"/>
            <a:ext cx="3291840" cy="384048"/>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5852160" y="1810512"/>
            <a:ext cx="3291840" cy="384048"/>
          </a:xfrm>
          <a:prstGeom prst="rect">
            <a:avLst/>
          </a:prstGeom>
          <a:noFill/>
          <a:ln/>
        </p:spPr>
        <p:txBody>
          <a:bodyPr wrap="square" lIns="0" tIns="0" rIns="0" bIns="0" rtlCol="0" anchor="ctr"/>
          <a:lstStyle/>
          <a:p>
            <a:pPr algn="ctr" indent="0" marL="0">
              <a:buNone/>
            </a:pPr>
            <a:r>
              <a:rPr lang="en-US" sz="1300" b="1" dirty="0">
                <a:solidFill>
                  <a:schemeClr val="bg1"/>
                </a:solidFill>
              </a:rPr>
              <a:t>Ejemplo · Gestor de Evaluación</a:t>
            </a:r>
            <a:endParaRPr lang="en-US" sz="1300" dirty="0"/>
          </a:p>
        </p:txBody>
      </p:sp>
      <p:sp>
        <p:nvSpPr>
          <p:cNvPr id="14" name="Text 11"/>
          <p:cNvSpPr txBox="1"/>
          <p:nvPr/>
        </p:nvSpPr>
        <p:spPr>
          <a:xfrm>
            <a:off x="5852160" y="2377440"/>
            <a:ext cx="5513832" cy="1005840"/>
          </a:xfrm>
          <a:prstGeom prst="rect">
            <a:avLst/>
          </a:prstGeom>
          <a:noFill/>
          <a:ln/>
        </p:spPr>
        <p:txBody>
          <a:bodyPr wrap="square" lIns="0" tIns="0" rIns="0" bIns="0" rtlCol="0" anchor="t"/>
          <a:lstStyle/>
          <a:p>
            <a:pPr indent="0" marL="0">
              <a:buNone/>
            </a:pPr>
            <a:r>
              <a:rPr lang="en-US" sz="1700" dirty="0">
                <a:solidFill>
                  <a:schemeClr val="accent6"/>
                </a:solidFill>
              </a:rPr>
              <a:t>Como </a:t>
            </a:r>
            <a:pPr indent="0" marL="0">
              <a:buNone/>
            </a:pPr>
            <a:r>
              <a:rPr lang="en-US" sz="1700" b="1" dirty="0">
                <a:solidFill>
                  <a:schemeClr val="tx2"/>
                </a:solidFill>
              </a:rPr>
              <a:t>evaluador de la bandeja</a:t>
            </a:r>
            <a:pPr indent="0" marL="0">
              <a:buNone/>
            </a:pPr>
            <a:r>
              <a:rPr lang="en-US" sz="1700" dirty="0">
                <a:solidFill>
                  <a:schemeClr val="accent6"/>
                </a:solidFill>
              </a:rPr>
              <a:t>, quiero </a:t>
            </a:r>
            <a:pPr indent="0" marL="0">
              <a:buNone/>
            </a:pPr>
            <a:r>
              <a:rPr lang="en-US" sz="1700" b="1" dirty="0">
                <a:solidFill>
                  <a:schemeClr val="tx2"/>
                </a:solidFill>
              </a:rPr>
              <a:t>que la solicitud escalada llegue con el concepto del agente</a:t>
            </a:r>
            <a:pPr indent="0" marL="0">
              <a:buNone/>
            </a:pPr>
            <a:r>
              <a:rPr lang="en-US" sz="1700" dirty="0">
                <a:solidFill>
                  <a:schemeClr val="accent6"/>
                </a:solidFill>
              </a:rPr>
              <a:t>, para </a:t>
            </a:r>
            <a:pPr indent="0" marL="0">
              <a:buNone/>
            </a:pPr>
            <a:r>
              <a:rPr lang="en-US" sz="1700" b="1" dirty="0">
                <a:solidFill>
                  <a:schemeClr val="tx2"/>
                </a:solidFill>
              </a:rPr>
              <a:t>no empezar la revisión de cero.</a:t>
            </a:r>
            <a:endParaRPr lang="en-US" sz="1700" dirty="0"/>
          </a:p>
        </p:txBody>
      </p:sp>
      <p:sp>
        <p:nvSpPr>
          <p:cNvPr id="15" name="Text 12"/>
          <p:cNvSpPr txBox="1"/>
          <p:nvPr/>
        </p:nvSpPr>
        <p:spPr>
          <a:xfrm>
            <a:off x="5852160" y="3474720"/>
            <a:ext cx="5513832" cy="320040"/>
          </a:xfrm>
          <a:prstGeom prst="rect">
            <a:avLst/>
          </a:prstGeom>
          <a:noFill/>
          <a:ln/>
        </p:spPr>
        <p:txBody>
          <a:bodyPr wrap="square" lIns="0" tIns="0" rIns="0" bIns="0" rtlCol="0" anchor="t"/>
          <a:lstStyle/>
          <a:p>
            <a:pPr indent="0" marL="0">
              <a:buNone/>
            </a:pPr>
            <a:r>
              <a:rPr lang="en-US" sz="1400" b="1" dirty="0">
                <a:solidFill>
                  <a:schemeClr val="accent2"/>
                </a:solidFill>
              </a:rPr>
              <a:t>Criterios de aceptación</a:t>
            </a:r>
            <a:endParaRPr lang="en-US" sz="1400" dirty="0"/>
          </a:p>
        </p:txBody>
      </p:sp>
      <p:sp>
        <p:nvSpPr>
          <p:cNvPr id="16" name="Text 13"/>
          <p:cNvSpPr txBox="1"/>
          <p:nvPr/>
        </p:nvSpPr>
        <p:spPr>
          <a:xfrm>
            <a:off x="5852160" y="3840480"/>
            <a:ext cx="5513832" cy="1920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El concepto dice qué se evaluó, contra qué regla y con qué confianza.</a:t>
            </a:r>
            <a:endParaRPr lang="en-US" sz="1400" dirty="0"/>
          </a:p>
          <a:p>
            <a:pPr marL="342900" indent="-342900">
              <a:spcAft>
                <a:spcPts val="400"/>
              </a:spcAft>
              <a:buSzPct val="100000"/>
              <a:buChar char="•"/>
            </a:pPr>
            <a:r>
              <a:rPr lang="en-US" sz="1400" dirty="0">
                <a:solidFill>
                  <a:schemeClr val="tx1"/>
                </a:solidFill>
              </a:rPr>
              <a:t>Dice por qué escala; ningún caso se niega de forma automática.</a:t>
            </a:r>
            <a:endParaRPr lang="en-US" sz="1400" dirty="0"/>
          </a:p>
          <a:p>
            <a:pPr marL="342900" indent="-342900">
              <a:spcAft>
                <a:spcPts val="400"/>
              </a:spcAft>
              <a:buSzPct val="100000"/>
              <a:buChar char="•"/>
            </a:pPr>
            <a:r>
              <a:rPr lang="en-US" sz="1400" dirty="0">
                <a:solidFill>
                  <a:schemeClr val="tx1"/>
                </a:solidFill>
              </a:rPr>
              <a:t>La decisión queda en la traza con agente, versión y umbral.</a:t>
            </a:r>
            <a:endParaRPr lang="en-US" sz="1400" dirty="0"/>
          </a:p>
          <a:p>
            <a:pPr marL="342900" indent="-342900">
              <a:spcAft>
                <a:spcPts val="400"/>
              </a:spcAft>
              <a:buSzPct val="100000"/>
              <a:buChar char="•"/>
            </a:pPr>
            <a:r>
              <a:rPr lang="en-US" sz="1400" dirty="0">
                <a:solidFill>
                  <a:schemeClr val="tx1"/>
                </a:solidFill>
              </a:rPr>
              <a:t>Los casos de escalamiento del golden set pasan sin regresión.</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Las épicas tienen talla; las historias, puntos</a:t>
            </a:r>
            <a:endParaRPr lang="en-US" sz="2800" dirty="0"/>
          </a:p>
        </p:txBody>
      </p:sp>
      <p:sp>
        <p:nvSpPr>
          <p:cNvPr id="4" name="Shape 1"/>
          <p:cNvSpPr/>
          <p:nvPr/>
        </p:nvSpPr>
        <p:spPr>
          <a:xfrm>
            <a:off x="548640" y="1600200"/>
            <a:ext cx="3383280" cy="2240280"/>
          </a:xfrm>
          <a:prstGeom prst="roundRect">
            <a:avLst>
              <a:gd name="adj" fmla="val 3265"/>
            </a:avLst>
          </a:prstGeom>
          <a:solidFill>
            <a:schemeClr val="accent4"/>
          </a:solidFill>
          <a:ln w="12700">
            <a:solidFill>
              <a:srgbClr val="DCD8EC"/>
            </a:solidFill>
            <a:prstDash val="solid"/>
          </a:ln>
        </p:spPr>
      </p:sp>
      <p:sp>
        <p:nvSpPr>
          <p:cNvPr id="5" name="Shape 2"/>
          <p:cNvSpPr/>
          <p:nvPr/>
        </p:nvSpPr>
        <p:spPr>
          <a:xfrm>
            <a:off x="777240" y="1783080"/>
            <a:ext cx="2926080" cy="457200"/>
          </a:xfrm>
          <a:prstGeom prst="roundRect">
            <a:avLst>
              <a:gd name="adj" fmla="val 12000"/>
            </a:avLst>
          </a:prstGeom>
          <a:solidFill>
            <a:schemeClr val="tx2"/>
          </a:solidFill>
          <a:ln w="12700">
            <a:solidFill>
              <a:schemeClr val="tx2"/>
            </a:solidFill>
            <a:prstDash val="solid"/>
          </a:ln>
        </p:spPr>
      </p:sp>
      <p:sp>
        <p:nvSpPr>
          <p:cNvPr id="6" name="Text 3"/>
          <p:cNvSpPr txBox="1"/>
          <p:nvPr/>
        </p:nvSpPr>
        <p:spPr>
          <a:xfrm>
            <a:off x="777240" y="1783080"/>
            <a:ext cx="2926080" cy="457200"/>
          </a:xfrm>
          <a:prstGeom prst="rect">
            <a:avLst/>
          </a:prstGeom>
          <a:noFill/>
          <a:ln/>
        </p:spPr>
        <p:txBody>
          <a:bodyPr wrap="square" lIns="0" tIns="0" rIns="0" bIns="0" rtlCol="0" anchor="ctr"/>
          <a:lstStyle/>
          <a:p>
            <a:pPr algn="ctr" indent="0" marL="0">
              <a:buNone/>
            </a:pPr>
            <a:r>
              <a:rPr lang="en-US" sz="1500" b="1" dirty="0">
                <a:solidFill>
                  <a:schemeClr val="bg1"/>
                </a:solidFill>
              </a:rPr>
              <a:t>Épica</a:t>
            </a:r>
            <a:pPr algn="ctr" indent="0" marL="0">
              <a:buNone/>
            </a:pPr>
            <a:r>
              <a:rPr lang="en-US" sz="1500" dirty="0">
                <a:solidFill>
                  <a:schemeClr val="bg1"/>
                </a:solidFill>
              </a:rPr>
              <a:t>  ·  talla</a:t>
            </a:r>
            <a:endParaRPr lang="en-US" sz="1500" dirty="0"/>
          </a:p>
        </p:txBody>
      </p:sp>
      <p:sp>
        <p:nvSpPr>
          <p:cNvPr id="7" name="Text 4"/>
          <p:cNvSpPr txBox="1"/>
          <p:nvPr/>
        </p:nvSpPr>
        <p:spPr>
          <a:xfrm>
            <a:off x="77724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La talla S, M, L o XL que ya tiene cada épica. Sirve para ordenar el backlog, no para planear el sprint.</a:t>
            </a:r>
            <a:endParaRPr lang="en-US" sz="1400" dirty="0"/>
          </a:p>
        </p:txBody>
      </p:sp>
      <p:sp>
        <p:nvSpPr>
          <p:cNvPr id="8" name="Shape 5"/>
          <p:cNvSpPr/>
          <p:nvPr/>
        </p:nvSpPr>
        <p:spPr>
          <a:xfrm>
            <a:off x="4005072" y="2514600"/>
            <a:ext cx="310896" cy="411480"/>
          </a:xfrm>
          <a:prstGeom prst="rightArrow">
            <a:avLst/>
          </a:prstGeom>
          <a:solidFill>
            <a:schemeClr val="accent5"/>
          </a:solidFill>
          <a:ln w="12700">
            <a:solidFill>
              <a:schemeClr val="accent5"/>
            </a:solidFill>
            <a:prstDash val="solid"/>
          </a:ln>
        </p:spPr>
      </p:sp>
      <p:sp>
        <p:nvSpPr>
          <p:cNvPr id="9" name="Shape 6"/>
          <p:cNvSpPr/>
          <p:nvPr/>
        </p:nvSpPr>
        <p:spPr>
          <a:xfrm>
            <a:off x="4389120" y="1600200"/>
            <a:ext cx="3383280" cy="2240280"/>
          </a:xfrm>
          <a:prstGeom prst="roundRect">
            <a:avLst>
              <a:gd name="adj" fmla="val 3265"/>
            </a:avLst>
          </a:prstGeom>
          <a:solidFill>
            <a:schemeClr val="accent4"/>
          </a:solidFill>
          <a:ln w="12700">
            <a:solidFill>
              <a:srgbClr val="DCD8EC"/>
            </a:solidFill>
            <a:prstDash val="solid"/>
          </a:ln>
        </p:spPr>
      </p:sp>
      <p:sp>
        <p:nvSpPr>
          <p:cNvPr id="10" name="Shape 7"/>
          <p:cNvSpPr/>
          <p:nvPr/>
        </p:nvSpPr>
        <p:spPr>
          <a:xfrm>
            <a:off x="4617720" y="1783080"/>
            <a:ext cx="2926080" cy="457200"/>
          </a:xfrm>
          <a:prstGeom prst="roundRect">
            <a:avLst>
              <a:gd name="adj" fmla="val 12000"/>
            </a:avLst>
          </a:prstGeom>
          <a:solidFill>
            <a:schemeClr val="accent1"/>
          </a:solidFill>
          <a:ln w="12700">
            <a:solidFill>
              <a:schemeClr val="accent1"/>
            </a:solidFill>
            <a:prstDash val="solid"/>
          </a:ln>
        </p:spPr>
      </p:sp>
      <p:sp>
        <p:nvSpPr>
          <p:cNvPr id="11" name="Text 8"/>
          <p:cNvSpPr txBox="1"/>
          <p:nvPr/>
        </p:nvSpPr>
        <p:spPr>
          <a:xfrm>
            <a:off x="4617720" y="1783080"/>
            <a:ext cx="2926080" cy="457200"/>
          </a:xfrm>
          <a:prstGeom prst="rect">
            <a:avLst/>
          </a:prstGeom>
          <a:noFill/>
          <a:ln/>
        </p:spPr>
        <p:txBody>
          <a:bodyPr wrap="square" lIns="0" tIns="0" rIns="0" bIns="0" rtlCol="0" anchor="ctr"/>
          <a:lstStyle/>
          <a:p>
            <a:pPr algn="ctr" indent="0" marL="0">
              <a:buNone/>
            </a:pPr>
            <a:r>
              <a:rPr lang="en-US" sz="1500" b="1" dirty="0">
                <a:solidFill>
                  <a:schemeClr val="bg1"/>
                </a:solidFill>
              </a:rPr>
              <a:t>Historias de usuario</a:t>
            </a:r>
            <a:pPr algn="ctr" indent="0" marL="0">
              <a:buNone/>
            </a:pPr>
            <a:r>
              <a:rPr lang="en-US" sz="1500" dirty="0">
                <a:solidFill>
                  <a:schemeClr val="bg1"/>
                </a:solidFill>
              </a:rPr>
              <a:t>  ·  puntos</a:t>
            </a:r>
            <a:endParaRPr lang="en-US" sz="1500" dirty="0"/>
          </a:p>
        </p:txBody>
      </p:sp>
      <p:sp>
        <p:nvSpPr>
          <p:cNvPr id="12" name="Text 9"/>
          <p:cNvSpPr txBox="1"/>
          <p:nvPr/>
        </p:nvSpPr>
        <p:spPr>
          <a:xfrm>
            <a:off x="461772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Se desprenden de la épica con SURA, y el equipo las estima en puntos: 1, 2, 3, 5, 8 o 13. Una de más de 13 se parte.</a:t>
            </a:r>
            <a:endParaRPr lang="en-US" sz="1400" dirty="0"/>
          </a:p>
        </p:txBody>
      </p:sp>
      <p:sp>
        <p:nvSpPr>
          <p:cNvPr id="13" name="Shape 10"/>
          <p:cNvSpPr/>
          <p:nvPr/>
        </p:nvSpPr>
        <p:spPr>
          <a:xfrm>
            <a:off x="7845552" y="2514600"/>
            <a:ext cx="310896" cy="411480"/>
          </a:xfrm>
          <a:prstGeom prst="rightArrow">
            <a:avLst/>
          </a:prstGeom>
          <a:solidFill>
            <a:schemeClr val="accent5"/>
          </a:solidFill>
          <a:ln w="12700">
            <a:solidFill>
              <a:schemeClr val="accent5"/>
            </a:solidFill>
            <a:prstDash val="solid"/>
          </a:ln>
        </p:spPr>
      </p:sp>
      <p:sp>
        <p:nvSpPr>
          <p:cNvPr id="14" name="Shape 11"/>
          <p:cNvSpPr/>
          <p:nvPr/>
        </p:nvSpPr>
        <p:spPr>
          <a:xfrm>
            <a:off x="8229600" y="1600200"/>
            <a:ext cx="3383280" cy="2240280"/>
          </a:xfrm>
          <a:prstGeom prst="roundRect">
            <a:avLst>
              <a:gd name="adj" fmla="val 3265"/>
            </a:avLst>
          </a:prstGeom>
          <a:solidFill>
            <a:schemeClr val="accent4"/>
          </a:solidFill>
          <a:ln w="12700">
            <a:solidFill>
              <a:srgbClr val="DCD8EC"/>
            </a:solidFill>
            <a:prstDash val="solid"/>
          </a:ln>
        </p:spPr>
      </p:sp>
      <p:sp>
        <p:nvSpPr>
          <p:cNvPr id="15" name="Shape 12"/>
          <p:cNvSpPr/>
          <p:nvPr/>
        </p:nvSpPr>
        <p:spPr>
          <a:xfrm>
            <a:off x="8458200" y="1783080"/>
            <a:ext cx="2926080" cy="457200"/>
          </a:xfrm>
          <a:prstGeom prst="roundRect">
            <a:avLst>
              <a:gd name="adj" fmla="val 12000"/>
            </a:avLst>
          </a:prstGeom>
          <a:solidFill>
            <a:schemeClr val="accent3"/>
          </a:solidFill>
          <a:ln w="12700">
            <a:solidFill>
              <a:schemeClr val="accent3"/>
            </a:solidFill>
            <a:prstDash val="solid"/>
          </a:ln>
        </p:spPr>
      </p:sp>
      <p:sp>
        <p:nvSpPr>
          <p:cNvPr id="16" name="Text 13"/>
          <p:cNvSpPr txBox="1"/>
          <p:nvPr/>
        </p:nvSpPr>
        <p:spPr>
          <a:xfrm>
            <a:off x="8458200" y="1783080"/>
            <a:ext cx="2926080" cy="457200"/>
          </a:xfrm>
          <a:prstGeom prst="rect">
            <a:avLst/>
          </a:prstGeom>
          <a:noFill/>
          <a:ln/>
        </p:spPr>
        <p:txBody>
          <a:bodyPr wrap="square" lIns="0" tIns="0" rIns="0" bIns="0" rtlCol="0" anchor="ctr"/>
          <a:lstStyle/>
          <a:p>
            <a:pPr algn="ctr" indent="0" marL="0">
              <a:buNone/>
            </a:pPr>
            <a:r>
              <a:rPr lang="en-US" sz="1500" b="1" dirty="0">
                <a:solidFill>
                  <a:schemeClr val="bg1"/>
                </a:solidFill>
              </a:rPr>
              <a:t>Sprint</a:t>
            </a:r>
            <a:pPr algn="ctr" indent="0" marL="0">
              <a:buNone/>
            </a:pPr>
            <a:r>
              <a:rPr lang="en-US" sz="1500" dirty="0">
                <a:solidFill>
                  <a:schemeClr val="bg1"/>
                </a:solidFill>
              </a:rPr>
              <a:t>  ·  velocidad</a:t>
            </a:r>
            <a:endParaRPr lang="en-US" sz="1500" dirty="0"/>
          </a:p>
        </p:txBody>
      </p:sp>
      <p:sp>
        <p:nvSpPr>
          <p:cNvPr id="17" name="Text 14"/>
          <p:cNvSpPr txBox="1"/>
          <p:nvPr/>
        </p:nvSpPr>
        <p:spPr>
          <a:xfrm>
            <a:off x="8458200" y="2377440"/>
            <a:ext cx="2926080" cy="1371600"/>
          </a:xfrm>
          <a:prstGeom prst="rect">
            <a:avLst/>
          </a:prstGeom>
          <a:noFill/>
          <a:ln/>
        </p:spPr>
        <p:txBody>
          <a:bodyPr wrap="square" lIns="0" tIns="0" rIns="0" bIns="0" rtlCol="0" anchor="t"/>
          <a:lstStyle/>
          <a:p>
            <a:pPr indent="0" marL="0">
              <a:buNone/>
            </a:pPr>
            <a:r>
              <a:rPr lang="en-US" sz="1400" dirty="0">
                <a:solidFill>
                  <a:schemeClr val="tx1"/>
                </a:solidFill>
              </a:rPr>
              <a:t>Entra lo que cabe en la velocidad del equipo: los puntos que de verdad termina por sprint.</a:t>
            </a:r>
            <a:endParaRPr lang="en-US" sz="1400" dirty="0"/>
          </a:p>
        </p:txBody>
      </p:sp>
      <p:sp>
        <p:nvSpPr>
          <p:cNvPr id="18" name="Shape 15"/>
          <p:cNvSpPr/>
          <p:nvPr/>
        </p:nvSpPr>
        <p:spPr>
          <a:xfrm>
            <a:off x="548640" y="4069080"/>
            <a:ext cx="11064240" cy="1828800"/>
          </a:xfrm>
          <a:prstGeom prst="roundRect">
            <a:avLst>
              <a:gd name="adj" fmla="val 4000"/>
            </a:avLst>
          </a:prstGeom>
          <a:solidFill>
            <a:schemeClr val="bg2"/>
          </a:solidFill>
          <a:ln w="12700">
            <a:solidFill>
              <a:schemeClr val="bg2"/>
            </a:solidFill>
            <a:prstDash val="solid"/>
          </a:ln>
        </p:spPr>
      </p:sp>
      <p:sp>
        <p:nvSpPr>
          <p:cNvPr id="19" name="Text 16"/>
          <p:cNvSpPr txBox="1"/>
          <p:nvPr/>
        </p:nvSpPr>
        <p:spPr>
          <a:xfrm>
            <a:off x="822960" y="4206240"/>
            <a:ext cx="10515600" cy="365760"/>
          </a:xfrm>
          <a:prstGeom prst="rect">
            <a:avLst/>
          </a:prstGeom>
          <a:noFill/>
          <a:ln/>
        </p:spPr>
        <p:txBody>
          <a:bodyPr wrap="square" lIns="0" tIns="0" rIns="0" bIns="0" rtlCol="0" anchor="t"/>
          <a:lstStyle/>
          <a:p>
            <a:pPr indent="0" marL="0">
              <a:buNone/>
            </a:pPr>
            <a:r>
              <a:rPr lang="en-US" sz="1500" b="1" dirty="0">
                <a:solidFill>
                  <a:schemeClr val="accent1"/>
                </a:solidFill>
              </a:rPr>
              <a:t>Ejemplo · </a:t>
            </a:r>
            <a:pPr indent="0" marL="0">
              <a:buNone/>
            </a:pPr>
            <a:r>
              <a:rPr lang="en-US" sz="1500" b="1" dirty="0">
                <a:solidFill>
                  <a:schemeClr val="tx2"/>
                </a:solidFill>
              </a:rPr>
              <a:t>épica de pertinencia médica, talla XL, en el Gestor de Evaluación</a:t>
            </a:r>
            <a:endParaRPr lang="en-US" sz="1500" dirty="0"/>
          </a:p>
        </p:txBody>
      </p:sp>
      <p:sp>
        <p:nvSpPr>
          <p:cNvPr id="20" name="Shape 17"/>
          <p:cNvSpPr/>
          <p:nvPr/>
        </p:nvSpPr>
        <p:spPr>
          <a:xfrm>
            <a:off x="822960" y="4663440"/>
            <a:ext cx="2560320" cy="1051560"/>
          </a:xfrm>
          <a:prstGeom prst="roundRect">
            <a:avLst>
              <a:gd name="adj" fmla="val 6957"/>
            </a:avLst>
          </a:prstGeom>
          <a:solidFill>
            <a:schemeClr val="bg1"/>
          </a:solidFill>
          <a:ln w="12700">
            <a:solidFill>
              <a:srgbClr val="DCD8EC"/>
            </a:solidFill>
            <a:prstDash val="solid"/>
          </a:ln>
        </p:spPr>
      </p:sp>
      <p:sp>
        <p:nvSpPr>
          <p:cNvPr id="21" name="Text 18"/>
          <p:cNvSpPr txBox="1"/>
          <p:nvPr/>
        </p:nvSpPr>
        <p:spPr>
          <a:xfrm>
            <a:off x="960120"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Coherencia entre orden e historia clínica</a:t>
            </a:r>
            <a:endParaRPr lang="en-US" sz="1300" dirty="0"/>
          </a:p>
        </p:txBody>
      </p:sp>
      <p:sp>
        <p:nvSpPr>
          <p:cNvPr id="22" name="Shape 19"/>
          <p:cNvSpPr/>
          <p:nvPr/>
        </p:nvSpPr>
        <p:spPr>
          <a:xfrm>
            <a:off x="2697480" y="4910328"/>
            <a:ext cx="548640" cy="548640"/>
          </a:xfrm>
          <a:prstGeom prst="ellipse">
            <a:avLst/>
          </a:prstGeom>
          <a:solidFill>
            <a:schemeClr val="accent1"/>
          </a:solidFill>
          <a:ln w="12700">
            <a:solidFill>
              <a:schemeClr val="accent1"/>
            </a:solidFill>
            <a:prstDash val="solid"/>
          </a:ln>
        </p:spPr>
      </p:sp>
      <p:sp>
        <p:nvSpPr>
          <p:cNvPr id="23" name="Text 20"/>
          <p:cNvSpPr txBox="1"/>
          <p:nvPr/>
        </p:nvSpPr>
        <p:spPr>
          <a:xfrm>
            <a:off x="2697480"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24" name="Shape 21"/>
          <p:cNvSpPr/>
          <p:nvPr/>
        </p:nvSpPr>
        <p:spPr>
          <a:xfrm>
            <a:off x="3538728" y="4663440"/>
            <a:ext cx="2560320" cy="1051560"/>
          </a:xfrm>
          <a:prstGeom prst="roundRect">
            <a:avLst>
              <a:gd name="adj" fmla="val 6957"/>
            </a:avLst>
          </a:prstGeom>
          <a:solidFill>
            <a:schemeClr val="bg1"/>
          </a:solidFill>
          <a:ln w="12700">
            <a:solidFill>
              <a:srgbClr val="DCD8EC"/>
            </a:solidFill>
            <a:prstDash val="solid"/>
          </a:ln>
        </p:spPr>
      </p:sp>
      <p:sp>
        <p:nvSpPr>
          <p:cNvPr id="25" name="Text 22"/>
          <p:cNvSpPr txBox="1"/>
          <p:nvPr/>
        </p:nvSpPr>
        <p:spPr>
          <a:xfrm>
            <a:off x="3675888"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Validación de CIE-10 y CUPS</a:t>
            </a:r>
            <a:endParaRPr lang="en-US" sz="1300" dirty="0"/>
          </a:p>
        </p:txBody>
      </p:sp>
      <p:sp>
        <p:nvSpPr>
          <p:cNvPr id="26" name="Shape 23"/>
          <p:cNvSpPr/>
          <p:nvPr/>
        </p:nvSpPr>
        <p:spPr>
          <a:xfrm>
            <a:off x="5413248" y="4910328"/>
            <a:ext cx="548640" cy="548640"/>
          </a:xfrm>
          <a:prstGeom prst="ellipse">
            <a:avLst/>
          </a:prstGeom>
          <a:solidFill>
            <a:schemeClr val="accent1"/>
          </a:solidFill>
          <a:ln w="12700">
            <a:solidFill>
              <a:schemeClr val="accent1"/>
            </a:solidFill>
            <a:prstDash val="solid"/>
          </a:ln>
        </p:spPr>
      </p:sp>
      <p:sp>
        <p:nvSpPr>
          <p:cNvPr id="27" name="Text 24"/>
          <p:cNvSpPr txBox="1"/>
          <p:nvPr/>
        </p:nvSpPr>
        <p:spPr>
          <a:xfrm>
            <a:off x="5413248"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Shape 25"/>
          <p:cNvSpPr/>
          <p:nvPr/>
        </p:nvSpPr>
        <p:spPr>
          <a:xfrm>
            <a:off x="6254496" y="4663440"/>
            <a:ext cx="2560320" cy="1051560"/>
          </a:xfrm>
          <a:prstGeom prst="roundRect">
            <a:avLst>
              <a:gd name="adj" fmla="val 6957"/>
            </a:avLst>
          </a:prstGeom>
          <a:solidFill>
            <a:schemeClr val="bg1"/>
          </a:solidFill>
          <a:ln w="12700">
            <a:solidFill>
              <a:srgbClr val="DCD8EC"/>
            </a:solidFill>
            <a:prstDash val="solid"/>
          </a:ln>
        </p:spPr>
      </p:sp>
      <p:sp>
        <p:nvSpPr>
          <p:cNvPr id="29" name="Text 26"/>
          <p:cNvSpPr txBox="1"/>
          <p:nvPr/>
        </p:nvSpPr>
        <p:spPr>
          <a:xfrm>
            <a:off x="6391656"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Score de complejidad del caso</a:t>
            </a:r>
            <a:endParaRPr lang="en-US" sz="1300" dirty="0"/>
          </a:p>
        </p:txBody>
      </p:sp>
      <p:sp>
        <p:nvSpPr>
          <p:cNvPr id="30" name="Shape 27"/>
          <p:cNvSpPr/>
          <p:nvPr/>
        </p:nvSpPr>
        <p:spPr>
          <a:xfrm>
            <a:off x="8129016" y="4910328"/>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8129016"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2" name="Shape 29"/>
          <p:cNvSpPr/>
          <p:nvPr/>
        </p:nvSpPr>
        <p:spPr>
          <a:xfrm>
            <a:off x="8970264" y="4663440"/>
            <a:ext cx="2560320" cy="1051560"/>
          </a:xfrm>
          <a:prstGeom prst="roundRect">
            <a:avLst>
              <a:gd name="adj" fmla="val 6957"/>
            </a:avLst>
          </a:prstGeom>
          <a:solidFill>
            <a:schemeClr val="bg1"/>
          </a:solidFill>
          <a:ln w="12700">
            <a:solidFill>
              <a:srgbClr val="DCD8EC"/>
            </a:solidFill>
            <a:prstDash val="solid"/>
          </a:ln>
        </p:spPr>
      </p:sp>
      <p:sp>
        <p:nvSpPr>
          <p:cNvPr id="33" name="Text 30"/>
          <p:cNvSpPr txBox="1"/>
          <p:nvPr/>
        </p:nvSpPr>
        <p:spPr>
          <a:xfrm>
            <a:off x="9107424" y="4736592"/>
            <a:ext cx="1691640" cy="914400"/>
          </a:xfrm>
          <a:prstGeom prst="rect">
            <a:avLst/>
          </a:prstGeom>
          <a:noFill/>
          <a:ln/>
        </p:spPr>
        <p:txBody>
          <a:bodyPr wrap="square" lIns="0" tIns="0" rIns="0" bIns="0" rtlCol="0" anchor="ctr"/>
          <a:lstStyle/>
          <a:p>
            <a:pPr indent="0" marL="0">
              <a:buNone/>
            </a:pPr>
            <a:r>
              <a:rPr lang="en-US" sz="1300" dirty="0">
                <a:solidFill>
                  <a:schemeClr val="tx1"/>
                </a:solidFill>
              </a:rPr>
              <a:t>Concepto del agente al escalar</a:t>
            </a:r>
            <a:endParaRPr lang="en-US" sz="1300" dirty="0"/>
          </a:p>
        </p:txBody>
      </p:sp>
      <p:sp>
        <p:nvSpPr>
          <p:cNvPr id="34" name="Shape 31"/>
          <p:cNvSpPr/>
          <p:nvPr/>
        </p:nvSpPr>
        <p:spPr>
          <a:xfrm>
            <a:off x="10844784" y="4910328"/>
            <a:ext cx="548640" cy="548640"/>
          </a:xfrm>
          <a:prstGeom prst="ellipse">
            <a:avLst/>
          </a:prstGeom>
          <a:solidFill>
            <a:schemeClr val="accent1"/>
          </a:solidFill>
          <a:ln w="12700">
            <a:solidFill>
              <a:schemeClr val="accent1"/>
            </a:solidFill>
            <a:prstDash val="solid"/>
          </a:ln>
        </p:spPr>
      </p:sp>
      <p:sp>
        <p:nvSpPr>
          <p:cNvPr id="35" name="Text 32"/>
          <p:cNvSpPr txBox="1"/>
          <p:nvPr/>
        </p:nvSpPr>
        <p:spPr>
          <a:xfrm>
            <a:off x="10844784" y="49103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6" name="Text 33"/>
          <p:cNvSpPr txBox="1"/>
          <p:nvPr/>
        </p:nvSpPr>
        <p:spPr>
          <a:xfrm>
            <a:off x="548640" y="5943600"/>
            <a:ext cx="11064240" cy="320040"/>
          </a:xfrm>
          <a:prstGeom prst="rect">
            <a:avLst/>
          </a:prstGeom>
          <a:noFill/>
          <a:ln/>
        </p:spPr>
        <p:txBody>
          <a:bodyPr wrap="square" lIns="0" tIns="0" rIns="0" bIns="0" rtlCol="0" anchor="b"/>
          <a:lstStyle/>
          <a:p>
            <a:pPr indent="0" marL="0">
              <a:buNone/>
            </a:pPr>
            <a:r>
              <a:rPr lang="en-US" sz="1100" dirty="0">
                <a:solidFill>
                  <a:schemeClr val="accent6"/>
                </a:solidFill>
              </a:rPr>
              <a:t>Puntos ilustrativos: los asigna el equipo en el refinamiento técnico.</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Cuándo entra una historia al sprint y cuándo se da por hecha</a:t>
            </a:r>
            <a:endParaRPr lang="en-US" sz="2800" dirty="0"/>
          </a:p>
        </p:txBody>
      </p:sp>
      <p:sp>
        <p:nvSpPr>
          <p:cNvPr id="4" name="Shape 1"/>
          <p:cNvSpPr/>
          <p:nvPr/>
        </p:nvSpPr>
        <p:spPr>
          <a:xfrm>
            <a:off x="548640" y="1600200"/>
            <a:ext cx="5440680" cy="4297680"/>
          </a:xfrm>
          <a:prstGeom prst="roundRect">
            <a:avLst>
              <a:gd name="adj" fmla="val 1702"/>
            </a:avLst>
          </a:prstGeom>
          <a:solidFill>
            <a:schemeClr val="accent4"/>
          </a:solidFill>
          <a:ln w="12700">
            <a:solidFill>
              <a:srgbClr val="DCD8EC"/>
            </a:solidFill>
            <a:prstDash val="solid"/>
          </a:ln>
        </p:spPr>
      </p:sp>
      <p:sp>
        <p:nvSpPr>
          <p:cNvPr id="5" name="Shape 2"/>
          <p:cNvSpPr/>
          <p:nvPr/>
        </p:nvSpPr>
        <p:spPr>
          <a:xfrm>
            <a:off x="822960" y="1801368"/>
            <a:ext cx="3108960" cy="438912"/>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822960" y="1801368"/>
            <a:ext cx="3108960" cy="438912"/>
          </a:xfrm>
          <a:prstGeom prst="rect">
            <a:avLst/>
          </a:prstGeom>
          <a:noFill/>
          <a:ln/>
        </p:spPr>
        <p:txBody>
          <a:bodyPr wrap="square" lIns="0" tIns="0" rIns="0" bIns="0" rtlCol="0" anchor="ctr"/>
          <a:lstStyle/>
          <a:p>
            <a:pPr algn="ctr" indent="0" marL="0">
              <a:buNone/>
            </a:pPr>
            <a:r>
              <a:rPr lang="en-US" sz="1500" b="1" dirty="0">
                <a:solidFill>
                  <a:schemeClr val="bg1"/>
                </a:solidFill>
              </a:rPr>
              <a:t>Lista para entrar al sprint</a:t>
            </a:r>
            <a:endParaRPr lang="en-US" sz="1500" dirty="0"/>
          </a:p>
        </p:txBody>
      </p:sp>
      <p:sp>
        <p:nvSpPr>
          <p:cNvPr id="7" name="Text 4"/>
          <p:cNvSpPr txBox="1"/>
          <p:nvPr/>
        </p:nvSpPr>
        <p:spPr>
          <a:xfrm>
            <a:off x="822960" y="2423160"/>
            <a:ext cx="489204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Se definió con SURA y tiene su criterio de aceptación.</a:t>
            </a:r>
            <a:endParaRPr lang="en-US" sz="1500" dirty="0"/>
          </a:p>
          <a:p>
            <a:pPr marL="342900" indent="-342900">
              <a:spcAft>
                <a:spcPts val="800"/>
              </a:spcAft>
              <a:buSzPct val="100000"/>
              <a:buChar char="•"/>
            </a:pPr>
            <a:r>
              <a:rPr lang="en-US" sz="1500" dirty="0">
                <a:solidFill>
                  <a:schemeClr val="tx1"/>
                </a:solidFill>
              </a:rPr>
              <a:t>El contrato del agente con el gestor está acordado: qué recibe, qué entrega y cómo escala.</a:t>
            </a:r>
            <a:endParaRPr lang="en-US" sz="1500" dirty="0"/>
          </a:p>
          <a:p>
            <a:pPr marL="342900" indent="-342900">
              <a:spcAft>
                <a:spcPts val="800"/>
              </a:spcAft>
              <a:buSzPct val="100000"/>
              <a:buChar char="•"/>
            </a:pPr>
            <a:r>
              <a:rPr lang="en-US" sz="1500" dirty="0">
                <a:solidFill>
                  <a:schemeClr val="tx1"/>
                </a:solidFill>
              </a:rPr>
              <a:t>Hay una especificación mínima versionada antes de generar código.</a:t>
            </a:r>
            <a:endParaRPr lang="en-US" sz="1500" dirty="0"/>
          </a:p>
          <a:p>
            <a:pPr marL="342900" indent="-342900">
              <a:spcAft>
                <a:spcPts val="800"/>
              </a:spcAft>
              <a:buSzPct val="100000"/>
              <a:buChar char="•"/>
            </a:pPr>
            <a:r>
              <a:rPr lang="en-US" sz="1500" dirty="0">
                <a:solidFill>
                  <a:schemeClr val="tx1"/>
                </a:solidFill>
              </a:rPr>
              <a:t>El golden set tiene casos que la prueban.</a:t>
            </a:r>
            <a:endParaRPr lang="en-US" sz="1500" dirty="0"/>
          </a:p>
          <a:p>
            <a:pPr marL="342900" indent="-342900">
              <a:spcAft>
                <a:spcPts val="800"/>
              </a:spcAft>
              <a:buSzPct val="100000"/>
              <a:buChar char="•"/>
            </a:pPr>
            <a:r>
              <a:rPr lang="en-US" sz="1500" dirty="0">
                <a:solidFill>
                  <a:schemeClr val="tx1"/>
                </a:solidFill>
              </a:rPr>
              <a:t>Tiene puntos del equipo; una de más de 13 se parte.</a:t>
            </a:r>
            <a:endParaRPr lang="en-US" sz="1500" dirty="0"/>
          </a:p>
        </p:txBody>
      </p:sp>
      <p:sp>
        <p:nvSpPr>
          <p:cNvPr id="8" name="Shape 5"/>
          <p:cNvSpPr/>
          <p:nvPr/>
        </p:nvSpPr>
        <p:spPr>
          <a:xfrm>
            <a:off x="6172200" y="1600200"/>
            <a:ext cx="5440680" cy="4297680"/>
          </a:xfrm>
          <a:prstGeom prst="roundRect">
            <a:avLst>
              <a:gd name="adj" fmla="val 1702"/>
            </a:avLst>
          </a:prstGeom>
          <a:solidFill>
            <a:schemeClr val="accent4"/>
          </a:solidFill>
          <a:ln w="12700">
            <a:solidFill>
              <a:srgbClr val="DCD8EC"/>
            </a:solidFill>
            <a:prstDash val="solid"/>
          </a:ln>
        </p:spPr>
      </p:sp>
      <p:sp>
        <p:nvSpPr>
          <p:cNvPr id="9" name="Shape 6"/>
          <p:cNvSpPr/>
          <p:nvPr/>
        </p:nvSpPr>
        <p:spPr>
          <a:xfrm>
            <a:off x="6446520" y="1801368"/>
            <a:ext cx="3108960" cy="438912"/>
          </a:xfrm>
          <a:prstGeom prst="roundRect">
            <a:avLst>
              <a:gd name="adj" fmla="val 50000"/>
            </a:avLst>
          </a:prstGeom>
          <a:solidFill>
            <a:schemeClr val="accent3"/>
          </a:solidFill>
          <a:ln w="12700">
            <a:solidFill>
              <a:schemeClr val="accent3"/>
            </a:solidFill>
            <a:prstDash val="solid"/>
          </a:ln>
        </p:spPr>
      </p:sp>
      <p:sp>
        <p:nvSpPr>
          <p:cNvPr id="10" name="Text 7"/>
          <p:cNvSpPr txBox="1"/>
          <p:nvPr/>
        </p:nvSpPr>
        <p:spPr>
          <a:xfrm>
            <a:off x="6446520" y="1801368"/>
            <a:ext cx="3108960" cy="438912"/>
          </a:xfrm>
          <a:prstGeom prst="rect">
            <a:avLst/>
          </a:prstGeom>
          <a:noFill/>
          <a:ln/>
        </p:spPr>
        <p:txBody>
          <a:bodyPr wrap="square" lIns="0" tIns="0" rIns="0" bIns="0" rtlCol="0" anchor="ctr"/>
          <a:lstStyle/>
          <a:p>
            <a:pPr algn="ctr" indent="0" marL="0">
              <a:buNone/>
            </a:pPr>
            <a:r>
              <a:rPr lang="en-US" sz="1500" b="1" dirty="0">
                <a:solidFill>
                  <a:schemeClr val="bg1"/>
                </a:solidFill>
              </a:rPr>
              <a:t>Hecha</a:t>
            </a:r>
            <a:endParaRPr lang="en-US" sz="1500" dirty="0"/>
          </a:p>
        </p:txBody>
      </p:sp>
      <p:sp>
        <p:nvSpPr>
          <p:cNvPr id="11" name="Text 8"/>
          <p:cNvSpPr txBox="1"/>
          <p:nvPr/>
        </p:nvSpPr>
        <p:spPr>
          <a:xfrm>
            <a:off x="6446520" y="2423160"/>
            <a:ext cx="489204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Sigue el arquetipo y los lineamientos del equipo.</a:t>
            </a:r>
            <a:endParaRPr lang="en-US" sz="1500" dirty="0"/>
          </a:p>
          <a:p>
            <a:pPr marL="342900" indent="-342900">
              <a:spcAft>
                <a:spcPts val="800"/>
              </a:spcAft>
              <a:buSzPct val="100000"/>
              <a:buChar char="•"/>
            </a:pPr>
            <a:r>
              <a:rPr lang="en-US" sz="1500" dirty="0">
                <a:solidFill>
                  <a:schemeClr val="tx1"/>
                </a:solidFill>
              </a:rPr>
              <a:t>Funciona integrada al gestor o contra su simulador.</a:t>
            </a:r>
            <a:endParaRPr lang="en-US" sz="1500" dirty="0"/>
          </a:p>
          <a:p>
            <a:pPr marL="342900" indent="-342900">
              <a:spcAft>
                <a:spcPts val="800"/>
              </a:spcAft>
              <a:buSzPct val="100000"/>
              <a:buChar char="•"/>
            </a:pPr>
            <a:r>
              <a:rPr lang="en-US" sz="1500" dirty="0">
                <a:solidFill>
                  <a:schemeClr val="tx1"/>
                </a:solidFill>
              </a:rPr>
              <a:t>Deja la traza: agente, versión, prompt, umbral y confianza.</a:t>
            </a:r>
            <a:endParaRPr lang="en-US" sz="1500" dirty="0"/>
          </a:p>
          <a:p>
            <a:pPr marL="342900" indent="-342900">
              <a:spcAft>
                <a:spcPts val="800"/>
              </a:spcAft>
              <a:buSzPct val="100000"/>
              <a:buChar char="•"/>
            </a:pPr>
            <a:r>
              <a:rPr lang="en-US" sz="1500" dirty="0">
                <a:solidFill>
                  <a:schemeClr val="tx1"/>
                </a:solidFill>
              </a:rPr>
              <a:t>Su golden set corre en la compuerta sin regresión.</a:t>
            </a:r>
            <a:endParaRPr lang="en-US" sz="1500" dirty="0"/>
          </a:p>
          <a:p>
            <a:pPr marL="342900" indent="-342900">
              <a:spcAft>
                <a:spcPts val="800"/>
              </a:spcAft>
              <a:buSzPct val="100000"/>
              <a:buChar char="•"/>
            </a:pPr>
            <a:r>
              <a:rPr lang="en-US" sz="1500" dirty="0">
                <a:solidFill>
                  <a:schemeClr val="tx1"/>
                </a:solidFill>
              </a:rPr>
              <a:t>La revisó el arquitecto o una persona distinta del autor.</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Un sprint de diez días hábiles: tres sesiones con SURA; el resto, implementación interna del equipo tech</a:t>
            </a:r>
            <a:endParaRPr lang="en-US" sz="2800" dirty="0"/>
          </a:p>
        </p:txBody>
      </p:sp>
      <p:sp>
        <p:nvSpPr>
          <p:cNvPr id="4" name="Shape 1"/>
          <p:cNvSpPr/>
          <p:nvPr/>
        </p:nvSpPr>
        <p:spPr>
          <a:xfrm>
            <a:off x="548640" y="1783080"/>
            <a:ext cx="1024128" cy="411480"/>
          </a:xfrm>
          <a:prstGeom prst="roundRect">
            <a:avLst>
              <a:gd name="adj" fmla="val 13333"/>
            </a:avLst>
          </a:prstGeom>
          <a:solidFill>
            <a:schemeClr val="bg2"/>
          </a:solidFill>
          <a:ln w="12700">
            <a:solidFill>
              <a:schemeClr val="bg2"/>
            </a:solidFill>
            <a:prstDash val="solid"/>
          </a:ln>
        </p:spPr>
      </p:sp>
      <p:sp>
        <p:nvSpPr>
          <p:cNvPr id="5" name="Text 2"/>
          <p:cNvSpPr txBox="1"/>
          <p:nvPr/>
        </p:nvSpPr>
        <p:spPr>
          <a:xfrm>
            <a:off x="548640"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1</a:t>
            </a:r>
            <a:endParaRPr lang="en-US" sz="1200" dirty="0"/>
          </a:p>
        </p:txBody>
      </p:sp>
      <p:sp>
        <p:nvSpPr>
          <p:cNvPr id="6" name="Shape 3"/>
          <p:cNvSpPr/>
          <p:nvPr/>
        </p:nvSpPr>
        <p:spPr>
          <a:xfrm>
            <a:off x="1664208" y="1783080"/>
            <a:ext cx="1024128" cy="411480"/>
          </a:xfrm>
          <a:prstGeom prst="roundRect">
            <a:avLst>
              <a:gd name="adj" fmla="val 13333"/>
            </a:avLst>
          </a:prstGeom>
          <a:solidFill>
            <a:schemeClr val="bg2"/>
          </a:solidFill>
          <a:ln w="12700">
            <a:solidFill>
              <a:schemeClr val="bg2"/>
            </a:solidFill>
            <a:prstDash val="solid"/>
          </a:ln>
        </p:spPr>
      </p:sp>
      <p:sp>
        <p:nvSpPr>
          <p:cNvPr id="7" name="Text 4"/>
          <p:cNvSpPr txBox="1"/>
          <p:nvPr/>
        </p:nvSpPr>
        <p:spPr>
          <a:xfrm>
            <a:off x="1664208"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2</a:t>
            </a:r>
            <a:endParaRPr lang="en-US" sz="1200" dirty="0"/>
          </a:p>
        </p:txBody>
      </p:sp>
      <p:sp>
        <p:nvSpPr>
          <p:cNvPr id="8" name="Shape 5"/>
          <p:cNvSpPr/>
          <p:nvPr/>
        </p:nvSpPr>
        <p:spPr>
          <a:xfrm>
            <a:off x="2779776" y="1783080"/>
            <a:ext cx="1024128" cy="411480"/>
          </a:xfrm>
          <a:prstGeom prst="roundRect">
            <a:avLst>
              <a:gd name="adj" fmla="val 13333"/>
            </a:avLst>
          </a:prstGeom>
          <a:solidFill>
            <a:schemeClr val="bg2"/>
          </a:solidFill>
          <a:ln w="12700">
            <a:solidFill>
              <a:schemeClr val="bg2"/>
            </a:solidFill>
            <a:prstDash val="solid"/>
          </a:ln>
        </p:spPr>
      </p:sp>
      <p:sp>
        <p:nvSpPr>
          <p:cNvPr id="9" name="Text 6"/>
          <p:cNvSpPr txBox="1"/>
          <p:nvPr/>
        </p:nvSpPr>
        <p:spPr>
          <a:xfrm>
            <a:off x="2779776"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3</a:t>
            </a:r>
            <a:endParaRPr lang="en-US" sz="1200" dirty="0"/>
          </a:p>
        </p:txBody>
      </p:sp>
      <p:sp>
        <p:nvSpPr>
          <p:cNvPr id="10" name="Shape 7"/>
          <p:cNvSpPr/>
          <p:nvPr/>
        </p:nvSpPr>
        <p:spPr>
          <a:xfrm>
            <a:off x="3895344" y="1783080"/>
            <a:ext cx="1024128" cy="411480"/>
          </a:xfrm>
          <a:prstGeom prst="roundRect">
            <a:avLst>
              <a:gd name="adj" fmla="val 13333"/>
            </a:avLst>
          </a:prstGeom>
          <a:solidFill>
            <a:schemeClr val="bg2"/>
          </a:solidFill>
          <a:ln w="12700">
            <a:solidFill>
              <a:schemeClr val="bg2"/>
            </a:solidFill>
            <a:prstDash val="solid"/>
          </a:ln>
        </p:spPr>
      </p:sp>
      <p:sp>
        <p:nvSpPr>
          <p:cNvPr id="11" name="Text 8"/>
          <p:cNvSpPr txBox="1"/>
          <p:nvPr/>
        </p:nvSpPr>
        <p:spPr>
          <a:xfrm>
            <a:off x="3895344"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4</a:t>
            </a:r>
            <a:endParaRPr lang="en-US" sz="1200" dirty="0"/>
          </a:p>
        </p:txBody>
      </p:sp>
      <p:sp>
        <p:nvSpPr>
          <p:cNvPr id="12" name="Shape 9"/>
          <p:cNvSpPr/>
          <p:nvPr/>
        </p:nvSpPr>
        <p:spPr>
          <a:xfrm>
            <a:off x="5010912" y="1783080"/>
            <a:ext cx="1024128" cy="411480"/>
          </a:xfrm>
          <a:prstGeom prst="roundRect">
            <a:avLst>
              <a:gd name="adj" fmla="val 13333"/>
            </a:avLst>
          </a:prstGeom>
          <a:solidFill>
            <a:schemeClr val="bg2"/>
          </a:solidFill>
          <a:ln w="12700">
            <a:solidFill>
              <a:schemeClr val="bg2"/>
            </a:solidFill>
            <a:prstDash val="solid"/>
          </a:ln>
        </p:spPr>
      </p:sp>
      <p:sp>
        <p:nvSpPr>
          <p:cNvPr id="13" name="Text 10"/>
          <p:cNvSpPr txBox="1"/>
          <p:nvPr/>
        </p:nvSpPr>
        <p:spPr>
          <a:xfrm>
            <a:off x="5010912"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5</a:t>
            </a:r>
            <a:endParaRPr lang="en-US" sz="1200" dirty="0"/>
          </a:p>
        </p:txBody>
      </p:sp>
      <p:sp>
        <p:nvSpPr>
          <p:cNvPr id="14" name="Shape 11"/>
          <p:cNvSpPr/>
          <p:nvPr/>
        </p:nvSpPr>
        <p:spPr>
          <a:xfrm>
            <a:off x="6126480" y="1783080"/>
            <a:ext cx="1024128" cy="411480"/>
          </a:xfrm>
          <a:prstGeom prst="roundRect">
            <a:avLst>
              <a:gd name="adj" fmla="val 13333"/>
            </a:avLst>
          </a:prstGeom>
          <a:solidFill>
            <a:schemeClr val="bg2"/>
          </a:solidFill>
          <a:ln w="12700">
            <a:solidFill>
              <a:schemeClr val="bg2"/>
            </a:solidFill>
            <a:prstDash val="solid"/>
          </a:ln>
        </p:spPr>
      </p:sp>
      <p:sp>
        <p:nvSpPr>
          <p:cNvPr id="15" name="Text 12"/>
          <p:cNvSpPr txBox="1"/>
          <p:nvPr/>
        </p:nvSpPr>
        <p:spPr>
          <a:xfrm>
            <a:off x="6126480"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6</a:t>
            </a:r>
            <a:endParaRPr lang="en-US" sz="1200" dirty="0"/>
          </a:p>
        </p:txBody>
      </p:sp>
      <p:sp>
        <p:nvSpPr>
          <p:cNvPr id="16" name="Shape 13"/>
          <p:cNvSpPr/>
          <p:nvPr/>
        </p:nvSpPr>
        <p:spPr>
          <a:xfrm>
            <a:off x="7242048" y="1783080"/>
            <a:ext cx="1024128" cy="411480"/>
          </a:xfrm>
          <a:prstGeom prst="roundRect">
            <a:avLst>
              <a:gd name="adj" fmla="val 13333"/>
            </a:avLst>
          </a:prstGeom>
          <a:solidFill>
            <a:schemeClr val="bg2"/>
          </a:solidFill>
          <a:ln w="12700">
            <a:solidFill>
              <a:schemeClr val="bg2"/>
            </a:solidFill>
            <a:prstDash val="solid"/>
          </a:ln>
        </p:spPr>
      </p:sp>
      <p:sp>
        <p:nvSpPr>
          <p:cNvPr id="17" name="Text 14"/>
          <p:cNvSpPr txBox="1"/>
          <p:nvPr/>
        </p:nvSpPr>
        <p:spPr>
          <a:xfrm>
            <a:off x="7242048"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7</a:t>
            </a:r>
            <a:endParaRPr lang="en-US" sz="1200" dirty="0"/>
          </a:p>
        </p:txBody>
      </p:sp>
      <p:sp>
        <p:nvSpPr>
          <p:cNvPr id="18" name="Shape 15"/>
          <p:cNvSpPr/>
          <p:nvPr/>
        </p:nvSpPr>
        <p:spPr>
          <a:xfrm>
            <a:off x="8357616" y="1783080"/>
            <a:ext cx="1024128" cy="411480"/>
          </a:xfrm>
          <a:prstGeom prst="roundRect">
            <a:avLst>
              <a:gd name="adj" fmla="val 13333"/>
            </a:avLst>
          </a:prstGeom>
          <a:solidFill>
            <a:schemeClr val="bg2"/>
          </a:solidFill>
          <a:ln w="12700">
            <a:solidFill>
              <a:schemeClr val="bg2"/>
            </a:solidFill>
            <a:prstDash val="solid"/>
          </a:ln>
        </p:spPr>
      </p:sp>
      <p:sp>
        <p:nvSpPr>
          <p:cNvPr id="19" name="Text 16"/>
          <p:cNvSpPr txBox="1"/>
          <p:nvPr/>
        </p:nvSpPr>
        <p:spPr>
          <a:xfrm>
            <a:off x="8357616"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8</a:t>
            </a:r>
            <a:endParaRPr lang="en-US" sz="1200" dirty="0"/>
          </a:p>
        </p:txBody>
      </p:sp>
      <p:sp>
        <p:nvSpPr>
          <p:cNvPr id="20" name="Shape 17"/>
          <p:cNvSpPr/>
          <p:nvPr/>
        </p:nvSpPr>
        <p:spPr>
          <a:xfrm>
            <a:off x="9473184" y="1783080"/>
            <a:ext cx="1024128" cy="411480"/>
          </a:xfrm>
          <a:prstGeom prst="roundRect">
            <a:avLst>
              <a:gd name="adj" fmla="val 13333"/>
            </a:avLst>
          </a:prstGeom>
          <a:solidFill>
            <a:schemeClr val="bg2"/>
          </a:solidFill>
          <a:ln w="12700">
            <a:solidFill>
              <a:schemeClr val="bg2"/>
            </a:solidFill>
            <a:prstDash val="solid"/>
          </a:ln>
        </p:spPr>
      </p:sp>
      <p:sp>
        <p:nvSpPr>
          <p:cNvPr id="21" name="Text 18"/>
          <p:cNvSpPr txBox="1"/>
          <p:nvPr/>
        </p:nvSpPr>
        <p:spPr>
          <a:xfrm>
            <a:off x="9473184"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9</a:t>
            </a:r>
            <a:endParaRPr lang="en-US" sz="1200" dirty="0"/>
          </a:p>
        </p:txBody>
      </p:sp>
      <p:sp>
        <p:nvSpPr>
          <p:cNvPr id="22" name="Shape 19"/>
          <p:cNvSpPr/>
          <p:nvPr/>
        </p:nvSpPr>
        <p:spPr>
          <a:xfrm>
            <a:off x="10588752" y="1783080"/>
            <a:ext cx="1024128" cy="411480"/>
          </a:xfrm>
          <a:prstGeom prst="roundRect">
            <a:avLst>
              <a:gd name="adj" fmla="val 13333"/>
            </a:avLst>
          </a:prstGeom>
          <a:solidFill>
            <a:schemeClr val="bg2"/>
          </a:solidFill>
          <a:ln w="12700">
            <a:solidFill>
              <a:schemeClr val="bg2"/>
            </a:solidFill>
            <a:prstDash val="solid"/>
          </a:ln>
        </p:spPr>
      </p:sp>
      <p:sp>
        <p:nvSpPr>
          <p:cNvPr id="23" name="Text 20"/>
          <p:cNvSpPr txBox="1"/>
          <p:nvPr/>
        </p:nvSpPr>
        <p:spPr>
          <a:xfrm>
            <a:off x="10588752" y="1783080"/>
            <a:ext cx="1024128" cy="411480"/>
          </a:xfrm>
          <a:prstGeom prst="rect">
            <a:avLst/>
          </a:prstGeom>
          <a:noFill/>
          <a:ln/>
        </p:spPr>
        <p:txBody>
          <a:bodyPr wrap="square" lIns="0" tIns="0" rIns="0" bIns="0" rtlCol="0" anchor="ctr"/>
          <a:lstStyle/>
          <a:p>
            <a:pPr algn="ctr" indent="0" marL="0">
              <a:buNone/>
            </a:pPr>
            <a:r>
              <a:rPr lang="en-US" sz="1200" b="1" dirty="0">
                <a:solidFill>
                  <a:schemeClr val="tx2"/>
                </a:solidFill>
              </a:rPr>
              <a:t>Día 10</a:t>
            </a:r>
            <a:endParaRPr lang="en-US" sz="1200" dirty="0"/>
          </a:p>
        </p:txBody>
      </p:sp>
      <p:sp>
        <p:nvSpPr>
          <p:cNvPr id="24" name="Shape 21"/>
          <p:cNvSpPr/>
          <p:nvPr/>
        </p:nvSpPr>
        <p:spPr>
          <a:xfrm>
            <a:off x="548640" y="2331720"/>
            <a:ext cx="11064240" cy="384048"/>
          </a:xfrm>
          <a:prstGeom prst="roundRect">
            <a:avLst>
              <a:gd name="adj" fmla="val 14286"/>
            </a:avLst>
          </a:prstGeom>
          <a:solidFill>
            <a:schemeClr val="accent1"/>
          </a:solidFill>
          <a:ln w="12700">
            <a:solidFill>
              <a:schemeClr val="accent1"/>
            </a:solidFill>
            <a:prstDash val="solid"/>
          </a:ln>
        </p:spPr>
      </p:sp>
      <p:sp>
        <p:nvSpPr>
          <p:cNvPr id="25" name="Text 22"/>
          <p:cNvSpPr txBox="1"/>
          <p:nvPr/>
        </p:nvSpPr>
        <p:spPr>
          <a:xfrm>
            <a:off x="603504" y="2331720"/>
            <a:ext cx="10954512" cy="384048"/>
          </a:xfrm>
          <a:prstGeom prst="rect">
            <a:avLst/>
          </a:prstGeom>
          <a:noFill/>
          <a:ln/>
        </p:spPr>
        <p:txBody>
          <a:bodyPr wrap="square" lIns="0" tIns="0" rIns="0" bIns="0" rtlCol="0" anchor="ctr"/>
          <a:lstStyle/>
          <a:p>
            <a:pPr algn="ctr" indent="0" marL="0">
              <a:buNone/>
            </a:pPr>
            <a:r>
              <a:rPr lang="en-US" sz="1100" b="1" dirty="0">
                <a:solidFill>
                  <a:schemeClr val="bg1"/>
                </a:solidFill>
              </a:rPr>
              <a:t>Daily · 15 min, todos los días</a:t>
            </a:r>
            <a:endParaRPr lang="en-US" sz="1100" dirty="0"/>
          </a:p>
        </p:txBody>
      </p:sp>
      <p:sp>
        <p:nvSpPr>
          <p:cNvPr id="26" name="Shape 23"/>
          <p:cNvSpPr/>
          <p:nvPr/>
        </p:nvSpPr>
        <p:spPr>
          <a:xfrm>
            <a:off x="548640" y="2788920"/>
            <a:ext cx="2139696" cy="384048"/>
          </a:xfrm>
          <a:prstGeom prst="roundRect">
            <a:avLst>
              <a:gd name="adj" fmla="val 14286"/>
            </a:avLst>
          </a:prstGeom>
          <a:solidFill>
            <a:schemeClr val="accent1"/>
          </a:solidFill>
          <a:ln w="12700">
            <a:solidFill>
              <a:schemeClr val="accent1"/>
            </a:solidFill>
            <a:prstDash val="solid"/>
          </a:ln>
        </p:spPr>
      </p:sp>
      <p:sp>
        <p:nvSpPr>
          <p:cNvPr id="27" name="Text 24"/>
          <p:cNvSpPr txBox="1"/>
          <p:nvPr/>
        </p:nvSpPr>
        <p:spPr>
          <a:xfrm>
            <a:off x="603504"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Planning · 2 h</a:t>
            </a:r>
            <a:endParaRPr lang="en-US" sz="1100" dirty="0"/>
          </a:p>
        </p:txBody>
      </p:sp>
      <p:sp>
        <p:nvSpPr>
          <p:cNvPr id="28" name="Shape 25"/>
          <p:cNvSpPr/>
          <p:nvPr/>
        </p:nvSpPr>
        <p:spPr>
          <a:xfrm>
            <a:off x="2779776" y="2788920"/>
            <a:ext cx="2139696" cy="384048"/>
          </a:xfrm>
          <a:prstGeom prst="roundRect">
            <a:avLst>
              <a:gd name="adj" fmla="val 14286"/>
            </a:avLst>
          </a:prstGeom>
          <a:solidFill>
            <a:schemeClr val="accent3"/>
          </a:solidFill>
          <a:ln w="12700">
            <a:solidFill>
              <a:schemeClr val="accent3"/>
            </a:solidFill>
            <a:prstDash val="solid"/>
          </a:ln>
        </p:spPr>
      </p:sp>
      <p:sp>
        <p:nvSpPr>
          <p:cNvPr id="29" name="Text 26"/>
          <p:cNvSpPr txBox="1"/>
          <p:nvPr/>
        </p:nvSpPr>
        <p:spPr>
          <a:xfrm>
            <a:off x="2834640"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Arquitectura SURA · 1 h</a:t>
            </a:r>
            <a:endParaRPr lang="en-US" sz="1100" dirty="0"/>
          </a:p>
        </p:txBody>
      </p:sp>
      <p:sp>
        <p:nvSpPr>
          <p:cNvPr id="30" name="Shape 27"/>
          <p:cNvSpPr/>
          <p:nvPr/>
        </p:nvSpPr>
        <p:spPr>
          <a:xfrm>
            <a:off x="5010912" y="2788920"/>
            <a:ext cx="2139696" cy="384048"/>
          </a:xfrm>
          <a:prstGeom prst="roundRect">
            <a:avLst>
              <a:gd name="adj" fmla="val 14286"/>
            </a:avLst>
          </a:prstGeom>
          <a:solidFill>
            <a:schemeClr val="accent3"/>
          </a:solidFill>
          <a:ln w="12700">
            <a:solidFill>
              <a:schemeClr val="accent3"/>
            </a:solidFill>
            <a:prstDash val="solid"/>
          </a:ln>
        </p:spPr>
      </p:sp>
      <p:sp>
        <p:nvSpPr>
          <p:cNvPr id="31" name="Text 28"/>
          <p:cNvSpPr txBox="1"/>
          <p:nvPr/>
        </p:nvSpPr>
        <p:spPr>
          <a:xfrm>
            <a:off x="5065776"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Historias con SURA · 1,5 h</a:t>
            </a:r>
            <a:endParaRPr lang="en-US" sz="1100" dirty="0"/>
          </a:p>
        </p:txBody>
      </p:sp>
      <p:sp>
        <p:nvSpPr>
          <p:cNvPr id="32" name="Shape 29"/>
          <p:cNvSpPr/>
          <p:nvPr/>
        </p:nvSpPr>
        <p:spPr>
          <a:xfrm>
            <a:off x="7242048" y="2788920"/>
            <a:ext cx="2139696" cy="384048"/>
          </a:xfrm>
          <a:prstGeom prst="roundRect">
            <a:avLst>
              <a:gd name="adj" fmla="val 14286"/>
            </a:avLst>
          </a:prstGeom>
          <a:solidFill>
            <a:schemeClr val="accent1"/>
          </a:solidFill>
          <a:ln w="12700">
            <a:solidFill>
              <a:schemeClr val="accent1"/>
            </a:solidFill>
            <a:prstDash val="solid"/>
          </a:ln>
        </p:spPr>
      </p:sp>
      <p:sp>
        <p:nvSpPr>
          <p:cNvPr id="33" name="Text 30"/>
          <p:cNvSpPr txBox="1"/>
          <p:nvPr/>
        </p:nvSpPr>
        <p:spPr>
          <a:xfrm>
            <a:off x="7296912"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Refinamiento técnico · 1 h</a:t>
            </a:r>
            <a:endParaRPr lang="en-US" sz="1100" dirty="0"/>
          </a:p>
        </p:txBody>
      </p:sp>
      <p:sp>
        <p:nvSpPr>
          <p:cNvPr id="34" name="Shape 31"/>
          <p:cNvSpPr/>
          <p:nvPr/>
        </p:nvSpPr>
        <p:spPr>
          <a:xfrm>
            <a:off x="9473184" y="2788920"/>
            <a:ext cx="2139696" cy="384048"/>
          </a:xfrm>
          <a:prstGeom prst="roundRect">
            <a:avLst>
              <a:gd name="adj" fmla="val 14286"/>
            </a:avLst>
          </a:prstGeom>
          <a:solidFill>
            <a:schemeClr val="accent3"/>
          </a:solidFill>
          <a:ln w="12700">
            <a:solidFill>
              <a:schemeClr val="accent3"/>
            </a:solidFill>
            <a:prstDash val="solid"/>
          </a:ln>
        </p:spPr>
      </p:sp>
      <p:sp>
        <p:nvSpPr>
          <p:cNvPr id="35" name="Text 32"/>
          <p:cNvSpPr txBox="1"/>
          <p:nvPr/>
        </p:nvSpPr>
        <p:spPr>
          <a:xfrm>
            <a:off x="9528048" y="27889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Demo y entrega · 1 h</a:t>
            </a:r>
            <a:endParaRPr lang="en-US" sz="1100" dirty="0"/>
          </a:p>
        </p:txBody>
      </p:sp>
      <p:sp>
        <p:nvSpPr>
          <p:cNvPr id="36" name="Shape 33"/>
          <p:cNvSpPr/>
          <p:nvPr/>
        </p:nvSpPr>
        <p:spPr>
          <a:xfrm>
            <a:off x="9473184" y="3246120"/>
            <a:ext cx="2139696" cy="384048"/>
          </a:xfrm>
          <a:prstGeom prst="roundRect">
            <a:avLst>
              <a:gd name="adj" fmla="val 14286"/>
            </a:avLst>
          </a:prstGeom>
          <a:solidFill>
            <a:schemeClr val="accent1"/>
          </a:solidFill>
          <a:ln w="12700">
            <a:solidFill>
              <a:schemeClr val="accent1"/>
            </a:solidFill>
            <a:prstDash val="solid"/>
          </a:ln>
        </p:spPr>
      </p:sp>
      <p:sp>
        <p:nvSpPr>
          <p:cNvPr id="37" name="Text 34"/>
          <p:cNvSpPr txBox="1"/>
          <p:nvPr/>
        </p:nvSpPr>
        <p:spPr>
          <a:xfrm>
            <a:off x="9528048" y="3246120"/>
            <a:ext cx="2029968" cy="384048"/>
          </a:xfrm>
          <a:prstGeom prst="rect">
            <a:avLst/>
          </a:prstGeom>
          <a:noFill/>
          <a:ln/>
        </p:spPr>
        <p:txBody>
          <a:bodyPr wrap="square" lIns="0" tIns="0" rIns="0" bIns="0" rtlCol="0" anchor="ctr"/>
          <a:lstStyle/>
          <a:p>
            <a:pPr algn="ctr" indent="0" marL="0">
              <a:buNone/>
            </a:pPr>
            <a:r>
              <a:rPr lang="en-US" sz="1100" b="1" dirty="0">
                <a:solidFill>
                  <a:schemeClr val="bg1"/>
                </a:solidFill>
              </a:rPr>
              <a:t>Retro interna · 45 min</a:t>
            </a:r>
            <a:endParaRPr lang="en-US" sz="1100" dirty="0"/>
          </a:p>
        </p:txBody>
      </p:sp>
      <p:sp>
        <p:nvSpPr>
          <p:cNvPr id="38" name="Shape 35"/>
          <p:cNvSpPr/>
          <p:nvPr/>
        </p:nvSpPr>
        <p:spPr>
          <a:xfrm>
            <a:off x="548640" y="3813048"/>
            <a:ext cx="274320" cy="201168"/>
          </a:xfrm>
          <a:prstGeom prst="roundRect">
            <a:avLst>
              <a:gd name="adj" fmla="val 18182"/>
            </a:avLst>
          </a:prstGeom>
          <a:solidFill>
            <a:schemeClr val="accent1"/>
          </a:solidFill>
          <a:ln w="12700">
            <a:solidFill>
              <a:schemeClr val="accent1"/>
            </a:solidFill>
            <a:prstDash val="solid"/>
          </a:ln>
        </p:spPr>
      </p:sp>
      <p:sp>
        <p:nvSpPr>
          <p:cNvPr id="39" name="Text 36"/>
          <p:cNvSpPr txBox="1"/>
          <p:nvPr/>
        </p:nvSpPr>
        <p:spPr>
          <a:xfrm>
            <a:off x="914400" y="3749040"/>
            <a:ext cx="2286000" cy="329184"/>
          </a:xfrm>
          <a:prstGeom prst="rect">
            <a:avLst/>
          </a:prstGeom>
          <a:noFill/>
          <a:ln/>
        </p:spPr>
        <p:txBody>
          <a:bodyPr wrap="square" lIns="0" tIns="0" rIns="0" bIns="0" rtlCol="0" anchor="ctr"/>
          <a:lstStyle/>
          <a:p>
            <a:pPr indent="0" marL="0">
              <a:buNone/>
            </a:pPr>
            <a:r>
              <a:rPr lang="en-US" sz="1200" dirty="0">
                <a:solidFill>
                  <a:schemeClr val="accent6"/>
                </a:solidFill>
              </a:rPr>
              <a:t>Interna del equipo</a:t>
            </a:r>
            <a:endParaRPr lang="en-US" sz="1200" dirty="0"/>
          </a:p>
        </p:txBody>
      </p:sp>
      <p:sp>
        <p:nvSpPr>
          <p:cNvPr id="40" name="Shape 37"/>
          <p:cNvSpPr/>
          <p:nvPr/>
        </p:nvSpPr>
        <p:spPr>
          <a:xfrm>
            <a:off x="3291840" y="3813048"/>
            <a:ext cx="274320" cy="201168"/>
          </a:xfrm>
          <a:prstGeom prst="roundRect">
            <a:avLst>
              <a:gd name="adj" fmla="val 18182"/>
            </a:avLst>
          </a:prstGeom>
          <a:solidFill>
            <a:schemeClr val="accent3"/>
          </a:solidFill>
          <a:ln w="12700">
            <a:solidFill>
              <a:schemeClr val="accent3"/>
            </a:solidFill>
            <a:prstDash val="solid"/>
          </a:ln>
        </p:spPr>
      </p:sp>
      <p:sp>
        <p:nvSpPr>
          <p:cNvPr id="41" name="Text 38"/>
          <p:cNvSpPr txBox="1"/>
          <p:nvPr/>
        </p:nvSpPr>
        <p:spPr>
          <a:xfrm>
            <a:off x="3657600" y="3749040"/>
            <a:ext cx="2286000" cy="329184"/>
          </a:xfrm>
          <a:prstGeom prst="rect">
            <a:avLst/>
          </a:prstGeom>
          <a:noFill/>
          <a:ln/>
        </p:spPr>
        <p:txBody>
          <a:bodyPr wrap="square" lIns="0" tIns="0" rIns="0" bIns="0" rtlCol="0" anchor="ctr"/>
          <a:lstStyle/>
          <a:p>
            <a:pPr indent="0" marL="0">
              <a:buNone/>
            </a:pPr>
            <a:r>
              <a:rPr lang="en-US" sz="1200" dirty="0">
                <a:solidFill>
                  <a:schemeClr val="accent6"/>
                </a:solidFill>
              </a:rPr>
              <a:t>Con SURA</a:t>
            </a:r>
            <a:endParaRPr lang="en-US" sz="1200" dirty="0"/>
          </a:p>
        </p:txBody>
      </p:sp>
      <p:sp>
        <p:nvSpPr>
          <p:cNvPr id="42" name="Shape 39"/>
          <p:cNvSpPr/>
          <p:nvPr/>
        </p:nvSpPr>
        <p:spPr>
          <a:xfrm>
            <a:off x="548640" y="4206240"/>
            <a:ext cx="2651760" cy="1389888"/>
          </a:xfrm>
          <a:prstGeom prst="roundRect">
            <a:avLst>
              <a:gd name="adj" fmla="val 5263"/>
            </a:avLst>
          </a:prstGeom>
          <a:solidFill>
            <a:schemeClr val="accent4"/>
          </a:solidFill>
          <a:ln w="12700">
            <a:solidFill>
              <a:srgbClr val="DCD8EC"/>
            </a:solidFill>
            <a:prstDash val="solid"/>
          </a:ln>
        </p:spPr>
      </p:sp>
      <p:sp>
        <p:nvSpPr>
          <p:cNvPr id="43" name="Text 40"/>
          <p:cNvSpPr txBox="1"/>
          <p:nvPr/>
        </p:nvSpPr>
        <p:spPr>
          <a:xfrm>
            <a:off x="731520" y="4315968"/>
            <a:ext cx="2286000" cy="365760"/>
          </a:xfrm>
          <a:prstGeom prst="rect">
            <a:avLst/>
          </a:prstGeom>
          <a:noFill/>
          <a:ln/>
        </p:spPr>
        <p:txBody>
          <a:bodyPr wrap="square" lIns="0" tIns="0" rIns="0" bIns="0" rtlCol="0" anchor="t"/>
          <a:lstStyle/>
          <a:p>
            <a:pPr indent="0" marL="0">
              <a:buNone/>
            </a:pPr>
            <a:r>
              <a:rPr lang="en-US" sz="1400" b="1" dirty="0">
                <a:solidFill>
                  <a:schemeClr val="accent3"/>
                </a:solidFill>
              </a:rPr>
              <a:t>Arquitectura SURA</a:t>
            </a:r>
            <a:endParaRPr lang="en-US" sz="1400" dirty="0"/>
          </a:p>
        </p:txBody>
      </p:sp>
      <p:sp>
        <p:nvSpPr>
          <p:cNvPr id="44" name="Text 41"/>
          <p:cNvSpPr txBox="1"/>
          <p:nvPr/>
        </p:nvSpPr>
        <p:spPr>
          <a:xfrm>
            <a:off x="731520" y="4663440"/>
            <a:ext cx="2286000" cy="914400"/>
          </a:xfrm>
          <a:prstGeom prst="rect">
            <a:avLst/>
          </a:prstGeom>
          <a:noFill/>
          <a:ln/>
        </p:spPr>
        <p:txBody>
          <a:bodyPr wrap="square" lIns="0" tIns="0" rIns="0" bIns="0" rtlCol="0" anchor="t"/>
          <a:lstStyle/>
          <a:p>
            <a:pPr indent="0" marL="0">
              <a:buNone/>
            </a:pPr>
            <a:r>
              <a:rPr lang="en-US" sz="1300" dirty="0">
                <a:solidFill>
                  <a:schemeClr val="tx1"/>
                </a:solidFill>
              </a:rPr>
              <a:t>El arquitecto lleva lineamientos y decisiones, y trae lo que SURA define.</a:t>
            </a:r>
            <a:endParaRPr lang="en-US" sz="1300" dirty="0"/>
          </a:p>
        </p:txBody>
      </p:sp>
      <p:sp>
        <p:nvSpPr>
          <p:cNvPr id="45" name="Shape 42"/>
          <p:cNvSpPr/>
          <p:nvPr/>
        </p:nvSpPr>
        <p:spPr>
          <a:xfrm>
            <a:off x="3353105" y="4206240"/>
            <a:ext cx="2651760" cy="1389888"/>
          </a:xfrm>
          <a:prstGeom prst="roundRect">
            <a:avLst>
              <a:gd name="adj" fmla="val 5263"/>
            </a:avLst>
          </a:prstGeom>
          <a:solidFill>
            <a:schemeClr val="accent4"/>
          </a:solidFill>
          <a:ln w="12700">
            <a:solidFill>
              <a:srgbClr val="DCD8EC"/>
            </a:solidFill>
            <a:prstDash val="solid"/>
          </a:ln>
        </p:spPr>
      </p:sp>
      <p:sp>
        <p:nvSpPr>
          <p:cNvPr id="46" name="Text 43"/>
          <p:cNvSpPr txBox="1"/>
          <p:nvPr/>
        </p:nvSpPr>
        <p:spPr>
          <a:xfrm>
            <a:off x="3535985" y="4315968"/>
            <a:ext cx="2286000" cy="365760"/>
          </a:xfrm>
          <a:prstGeom prst="rect">
            <a:avLst/>
          </a:prstGeom>
          <a:noFill/>
          <a:ln/>
        </p:spPr>
        <p:txBody>
          <a:bodyPr wrap="square" lIns="0" tIns="0" rIns="0" bIns="0" rtlCol="0" anchor="t"/>
          <a:lstStyle/>
          <a:p>
            <a:pPr indent="0" marL="0">
              <a:buNone/>
            </a:pPr>
            <a:r>
              <a:rPr lang="en-US" sz="1400" b="1" dirty="0">
                <a:solidFill>
                  <a:schemeClr val="accent3"/>
                </a:solidFill>
              </a:rPr>
              <a:t>Historias con SURA</a:t>
            </a:r>
            <a:endParaRPr lang="en-US" sz="1400" dirty="0"/>
          </a:p>
        </p:txBody>
      </p:sp>
      <p:sp>
        <p:nvSpPr>
          <p:cNvPr id="47" name="Text 44"/>
          <p:cNvSpPr txBox="1"/>
          <p:nvPr/>
        </p:nvSpPr>
        <p:spPr>
          <a:xfrm>
            <a:off x="3535985" y="4663440"/>
            <a:ext cx="2286000" cy="914400"/>
          </a:xfrm>
          <a:prstGeom prst="rect">
            <a:avLst/>
          </a:prstGeom>
          <a:noFill/>
          <a:ln/>
        </p:spPr>
        <p:txBody>
          <a:bodyPr wrap="square" lIns="0" tIns="0" rIns="0" bIns="0" rtlCol="0" anchor="t"/>
          <a:lstStyle/>
          <a:p>
            <a:pPr indent="0" marL="0">
              <a:buNone/>
            </a:pPr>
            <a:r>
              <a:rPr lang="en-US" sz="1300" dirty="0">
                <a:solidFill>
                  <a:schemeClr val="tx1"/>
                </a:solidFill>
              </a:rPr>
              <a:t>Las historias del siguiente sprint se desprenden de las épicas y se priorizan.</a:t>
            </a:r>
            <a:endParaRPr lang="en-US" sz="1300" dirty="0"/>
          </a:p>
        </p:txBody>
      </p:sp>
      <p:sp>
        <p:nvSpPr>
          <p:cNvPr id="48" name="Shape 45"/>
          <p:cNvSpPr/>
          <p:nvPr/>
        </p:nvSpPr>
        <p:spPr>
          <a:xfrm>
            <a:off x="6157570" y="4206240"/>
            <a:ext cx="2651760" cy="1389888"/>
          </a:xfrm>
          <a:prstGeom prst="roundRect">
            <a:avLst>
              <a:gd name="adj" fmla="val 5263"/>
            </a:avLst>
          </a:prstGeom>
          <a:solidFill>
            <a:schemeClr val="accent4"/>
          </a:solidFill>
          <a:ln w="12700">
            <a:solidFill>
              <a:srgbClr val="DCD8EC"/>
            </a:solidFill>
            <a:prstDash val="solid"/>
          </a:ln>
        </p:spPr>
      </p:sp>
      <p:sp>
        <p:nvSpPr>
          <p:cNvPr id="49" name="Text 46"/>
          <p:cNvSpPr txBox="1"/>
          <p:nvPr/>
        </p:nvSpPr>
        <p:spPr>
          <a:xfrm>
            <a:off x="6340450" y="4315968"/>
            <a:ext cx="2286000" cy="365760"/>
          </a:xfrm>
          <a:prstGeom prst="rect">
            <a:avLst/>
          </a:prstGeom>
          <a:noFill/>
          <a:ln/>
        </p:spPr>
        <p:txBody>
          <a:bodyPr wrap="square" lIns="0" tIns="0" rIns="0" bIns="0" rtlCol="0" anchor="t"/>
          <a:lstStyle/>
          <a:p>
            <a:pPr indent="0" marL="0">
              <a:buNone/>
            </a:pPr>
            <a:r>
              <a:rPr lang="en-US" sz="1400" b="1" dirty="0">
                <a:solidFill>
                  <a:schemeClr val="accent1"/>
                </a:solidFill>
              </a:rPr>
              <a:t>Refinamiento técnico</a:t>
            </a:r>
            <a:endParaRPr lang="en-US" sz="1400" dirty="0"/>
          </a:p>
        </p:txBody>
      </p:sp>
      <p:sp>
        <p:nvSpPr>
          <p:cNvPr id="50" name="Text 47"/>
          <p:cNvSpPr txBox="1"/>
          <p:nvPr/>
        </p:nvSpPr>
        <p:spPr>
          <a:xfrm>
            <a:off x="6340450" y="4663440"/>
            <a:ext cx="2286000" cy="914400"/>
          </a:xfrm>
          <a:prstGeom prst="rect">
            <a:avLst/>
          </a:prstGeom>
          <a:noFill/>
          <a:ln/>
        </p:spPr>
        <p:txBody>
          <a:bodyPr wrap="square" lIns="0" tIns="0" rIns="0" bIns="0" rtlCol="0" anchor="t"/>
          <a:lstStyle/>
          <a:p>
            <a:pPr indent="0" marL="0">
              <a:buNone/>
            </a:pPr>
            <a:r>
              <a:rPr lang="en-US" sz="1300" dirty="0">
                <a:solidFill>
                  <a:schemeClr val="tx1"/>
                </a:solidFill>
              </a:rPr>
              <a:t>El equipo aplica el arquetipo, estima en puntos y parte en tareas de un día o menos.</a:t>
            </a:r>
            <a:endParaRPr lang="en-US" sz="1300" dirty="0"/>
          </a:p>
        </p:txBody>
      </p:sp>
      <p:sp>
        <p:nvSpPr>
          <p:cNvPr id="51" name="Shape 48"/>
          <p:cNvSpPr/>
          <p:nvPr/>
        </p:nvSpPr>
        <p:spPr>
          <a:xfrm>
            <a:off x="8962034" y="4206240"/>
            <a:ext cx="2651760" cy="1389888"/>
          </a:xfrm>
          <a:prstGeom prst="roundRect">
            <a:avLst>
              <a:gd name="adj" fmla="val 5263"/>
            </a:avLst>
          </a:prstGeom>
          <a:solidFill>
            <a:schemeClr val="accent4"/>
          </a:solidFill>
          <a:ln w="12700">
            <a:solidFill>
              <a:srgbClr val="DCD8EC"/>
            </a:solidFill>
            <a:prstDash val="solid"/>
          </a:ln>
        </p:spPr>
      </p:sp>
      <p:sp>
        <p:nvSpPr>
          <p:cNvPr id="52" name="Text 49"/>
          <p:cNvSpPr txBox="1"/>
          <p:nvPr/>
        </p:nvSpPr>
        <p:spPr>
          <a:xfrm>
            <a:off x="9144914" y="4315968"/>
            <a:ext cx="2286000" cy="365760"/>
          </a:xfrm>
          <a:prstGeom prst="rect">
            <a:avLst/>
          </a:prstGeom>
          <a:noFill/>
          <a:ln/>
        </p:spPr>
        <p:txBody>
          <a:bodyPr wrap="square" lIns="0" tIns="0" rIns="0" bIns="0" rtlCol="0" anchor="t"/>
          <a:lstStyle/>
          <a:p>
            <a:pPr indent="0" marL="0">
              <a:buNone/>
            </a:pPr>
            <a:r>
              <a:rPr lang="en-US" sz="1400" b="1" dirty="0">
                <a:solidFill>
                  <a:schemeClr val="accent3"/>
                </a:solidFill>
              </a:rPr>
              <a:t>Demo y entrega</a:t>
            </a:r>
            <a:endParaRPr lang="en-US" sz="1400" dirty="0"/>
          </a:p>
        </p:txBody>
      </p:sp>
      <p:sp>
        <p:nvSpPr>
          <p:cNvPr id="53" name="Text 50"/>
          <p:cNvSpPr txBox="1"/>
          <p:nvPr/>
        </p:nvSpPr>
        <p:spPr>
          <a:xfrm>
            <a:off x="9144914" y="4663440"/>
            <a:ext cx="2286000" cy="914400"/>
          </a:xfrm>
          <a:prstGeom prst="rect">
            <a:avLst/>
          </a:prstGeom>
          <a:noFill/>
          <a:ln/>
        </p:spPr>
        <p:txBody>
          <a:bodyPr wrap="square" lIns="0" tIns="0" rIns="0" bIns="0" rtlCol="0" anchor="t"/>
          <a:lstStyle/>
          <a:p>
            <a:pPr indent="0" marL="0">
              <a:buNone/>
            </a:pPr>
            <a:r>
              <a:rPr lang="en-US" sz="1300" dirty="0">
                <a:solidFill>
                  <a:schemeClr val="tx1"/>
                </a:solidFill>
              </a:rPr>
              <a:t>SURA ve la demo y recibe las historias con su estado y sus evidencias. Después, la retro interna.</a:t>
            </a:r>
            <a:endParaRPr lang="en-US" sz="1300" dirty="0"/>
          </a:p>
        </p:txBody>
      </p:sp>
      <p:sp>
        <p:nvSpPr>
          <p:cNvPr id="54" name="Text 51"/>
          <p:cNvSpPr txBox="1"/>
          <p:nvPr/>
        </p:nvSpPr>
        <p:spPr>
          <a:xfrm>
            <a:off x="548640" y="5943600"/>
            <a:ext cx="11064240" cy="365760"/>
          </a:xfrm>
          <a:prstGeom prst="rect">
            <a:avLst/>
          </a:prstGeom>
          <a:noFill/>
          <a:ln/>
        </p:spPr>
        <p:txBody>
          <a:bodyPr wrap="square" lIns="0" tIns="0" rIns="0" bIns="0" rtlCol="0" anchor="b"/>
          <a:lstStyle/>
          <a:p>
            <a:pPr indent="0" marL="0">
              <a:buNone/>
            </a:pPr>
            <a:r>
              <a:rPr lang="en-US" sz="1100" dirty="0">
                <a:solidFill>
                  <a:schemeClr val="accent6"/>
                </a:solidFill>
              </a:rPr>
              <a:t>Adaptación propia de la </a:t>
            </a:r>
            <a:pPr indent="0" marL="0">
              <a:buNone/>
            </a:pPr>
            <a:r>
              <a:rPr lang="en-US" sz="11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Guía de Scrum 2020</a:t>
            </a:r>
            <a:pPr indent="0" marL="0">
              <a:buNone/>
            </a:pPr>
            <a:r>
              <a:rPr lang="en-US" sz="1100" dirty="0">
                <a:solidFill>
                  <a:schemeClr val="accent6"/>
                </a:solidFill>
              </a:rPr>
              <a:t> (scrumguides.org), práctica de industria y no norma: de ella tomamos el sprint de duración fija y sus eventos. A diferencia de la guía, el Product Owner no asiste a la planning ni a la retro.</a:t>
            </a:r>
            <a:endParaRPr lang="en-US" sz="11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Qué hace cada quien en cada momento</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828800"/>
                <a:gridCol w="3200400"/>
                <a:gridCol w="3200400"/>
                <a:gridCol w="2834640"/>
              </a:tblGrid>
              <a:tr h="310896">
                <a:tc rowSpan="2">
                  <a:txBody>
                    <a:bodyPr/>
                    <a:lstStyle/>
                    <a:p>
                      <a:pPr indent="0" marL="0">
                        <a:buNone/>
                      </a:pPr>
                      <a:r>
                        <a:rPr lang="en-US" sz="1200" b="1" dirty="0">
                          <a:solidFill>
                            <a:schemeClr val="bg1"/>
                          </a:solidFill>
                        </a:rPr>
                        <a:t>Momento</a:t>
                      </a:r>
                      <a:endParaRPr lang="en-US" sz="1200" dirty="0"/>
                    </a:p>
                  </a:txBody>
                  <a:tcPr marL="91440" marR="91440" marT="45720" marB="45720" anchor="b">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gridSpan="2">
                  <a:txBody>
                    <a:bodyPr/>
                    <a:lstStyle/>
                    <a:p>
                      <a:pPr algn="ctr" indent="0" marL="0">
                        <a:buNone/>
                      </a:pPr>
                      <a:r>
                        <a:rPr lang="en-US" sz="1200" b="1" dirty="0">
                          <a:solidFill>
                            <a:schemeClr val="bg1"/>
                          </a:solidFill>
                        </a:rPr>
                        <a:t>Equipo tech · Tech and Solve</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1"/>
                    </a:solidFill>
                  </a:tcPr>
                </a:tc>
                <a:tc hMerge="1">
                  <a:tcPr/>
                </a:tc>
                <a:tc>
                  <a:txBody>
                    <a:bodyPr/>
                    <a:lstStyle/>
                    <a:p>
                      <a:pPr algn="ctr" indent="0" marL="0">
                        <a:buNone/>
                      </a:pPr>
                      <a:r>
                        <a:rPr lang="en-US" sz="1200" b="1" dirty="0">
                          <a:solidFill>
                            <a:schemeClr val="bg1"/>
                          </a:solidFill>
                        </a:rPr>
                        <a:t>Equipo SURA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310896">
                <a:tc vMerge="1">
                  <a:tcPr/>
                </a:tc>
                <a:tc>
                  <a:txBody>
                    <a:bodyPr/>
                    <a:lstStyle/>
                    <a:p>
                      <a:pPr indent="0" marL="0">
                        <a:buNone/>
                      </a:pPr>
                      <a:r>
                        <a:rPr lang="en-US" sz="1200" b="1" dirty="0">
                          <a:solidFill>
                            <a:schemeClr val="bg1"/>
                          </a:solidFill>
                        </a:rPr>
                        <a:t>Arquitecto</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Desarrolladores</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 Owner y arquitectura</a:t>
                      </a:r>
                      <a:endParaRPr lang="en-US" sz="12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521208">
                <a:tc>
                  <a:txBody>
                    <a:bodyPr/>
                    <a:lstStyle/>
                    <a:p>
                      <a:pPr indent="0" marL="0">
                        <a:buNone/>
                      </a:pPr>
                      <a:r>
                        <a:rPr lang="en-US" sz="1100" b="1" dirty="0">
                          <a:solidFill>
                            <a:schemeClr val="tx2"/>
                          </a:solidFill>
                        </a:rPr>
                        <a:t>Arquitectura SURA</a:t>
                      </a:r>
                      <a:endParaRPr lang="en-US" sz="1100" dirty="0"/>
                    </a:p>
                    <a:p>
                      <a:pPr indent="0" marL="0">
                        <a:buNone/>
                      </a:pPr>
                      <a:r>
                        <a:rPr lang="en-US" sz="900" b="1" dirty="0">
                          <a:solidFill>
                            <a:schemeClr val="accent3"/>
                          </a:solidFill>
                        </a:rPr>
                        <a:t>Con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Lleva lineamientos y decisiones; trae lo que SURA define.</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Reciben los acuerdos en el refinamiento.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Arquitectura de SURA: valida lineamientos y decisiones.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Historias con SURA</a:t>
                      </a:r>
                      <a:endParaRPr lang="en-US" sz="1100" dirty="0"/>
                    </a:p>
                    <a:p>
                      <a:pPr indent="0" marL="0">
                        <a:buNone/>
                      </a:pPr>
                      <a:r>
                        <a:rPr lang="en-US" sz="900" b="1" dirty="0">
                          <a:solidFill>
                            <a:schemeClr val="accent3"/>
                          </a:solidFill>
                        </a:rPr>
                        <a:t>Con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Cuida que cada historia se pueda partir, probar y medir.</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Preguntan hasta entender el criterio de aceptación.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define y prioriza las historias del siguiente sprint.</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Refinamiento técnico</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Lidera: aplica el arquetipo y los lineamientos a cada historia.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Bajan las historias a diseño técnico.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Estimación</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Cuida que los puntos reflejen el arquetipo y sus riesgos.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Ponen los puntos y parten lo que pasa de 13.</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Planning</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Señala qué lineamientos y contratos entran en juego.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Eligen las historias según su velocidad y se comprometen.</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Daily e implementación</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Revisa el código contra los lineamientos.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Implementan la solución y reportan avance y bloqueos, cada uno con su dueño.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Demo y entrega</a:t>
                      </a:r>
                      <a:endParaRPr lang="en-US" sz="1100" dirty="0"/>
                    </a:p>
                    <a:p>
                      <a:pPr indent="0" marL="0">
                        <a:buNone/>
                      </a:pPr>
                      <a:r>
                        <a:rPr lang="en-US" sz="900" b="1" dirty="0">
                          <a:solidFill>
                            <a:schemeClr val="accent3"/>
                          </a:solidFill>
                        </a:rPr>
                        <a:t>Con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Dice qué se puede afirmar hoy y qué no.</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Muestran la demo y entregan las historias con su estado y sus evidencias.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Product Owner: acepta o ajusta; lo aprendido vuelve al backlog.</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r h="521208">
                <a:tc>
                  <a:txBody>
                    <a:bodyPr/>
                    <a:lstStyle/>
                    <a:p>
                      <a:pPr indent="0" marL="0">
                        <a:buNone/>
                      </a:pPr>
                      <a:r>
                        <a:rPr lang="en-US" sz="1100" b="1" dirty="0">
                          <a:solidFill>
                            <a:schemeClr val="tx2"/>
                          </a:solidFill>
                        </a:rPr>
                        <a:t>Retro</a:t>
                      </a:r>
                      <a:endParaRPr lang="en-US" sz="1100" dirty="0"/>
                    </a:p>
                    <a:p>
                      <a:pPr indent="0" marL="0">
                        <a:buNone/>
                      </a:pPr>
                      <a:r>
                        <a:rPr lang="en-US" sz="900" b="1" dirty="0">
                          <a:solidFill>
                            <a:schemeClr val="accent6"/>
                          </a:solidFill>
                        </a:rPr>
                        <a:t>Interna tech</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rPr>
                        <a:t>Ajusta los lineamientos con lo que vio en las revisiones.</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dirty="0">
                          <a:solidFill>
                            <a:srgbClr val="000000"/>
                          </a:solidFill>
                        </a:rPr>
                        <a:t>Eligen un acuerdo de mejora.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100" i="1" dirty="0">
                          <a:solidFill>
                            <a:schemeClr val="accent6"/>
                          </a:solidFill>
                        </a:rPr>
                        <a:t>No requiere tiempo de SURA</a:t>
                      </a:r>
                      <a:endParaRPr lang="en-US" sz="11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Tablero corto y seis acuerdos para cuidar el flujo</a:t>
            </a:r>
            <a:endParaRPr lang="en-US" sz="2800" dirty="0"/>
          </a:p>
        </p:txBody>
      </p:sp>
      <p:sp>
        <p:nvSpPr>
          <p:cNvPr id="4" name="Shape 1"/>
          <p:cNvSpPr/>
          <p:nvPr/>
        </p:nvSpPr>
        <p:spPr>
          <a:xfrm>
            <a:off x="548640" y="1691640"/>
            <a:ext cx="1280160" cy="4023360"/>
          </a:xfrm>
          <a:prstGeom prst="roundRect">
            <a:avLst>
              <a:gd name="adj" fmla="val 4286"/>
            </a:avLst>
          </a:prstGeom>
          <a:solidFill>
            <a:schemeClr val="accent4"/>
          </a:solidFill>
          <a:ln w="12700">
            <a:solidFill>
              <a:srgbClr val="DCD8EC"/>
            </a:solidFill>
            <a:prstDash val="solid"/>
          </a:ln>
        </p:spPr>
      </p:sp>
      <p:sp>
        <p:nvSpPr>
          <p:cNvPr id="5" name="Text 2"/>
          <p:cNvSpPr txBox="1"/>
          <p:nvPr/>
        </p:nvSpPr>
        <p:spPr>
          <a:xfrm>
            <a:off x="5486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Por hacer</a:t>
            </a:r>
            <a:endParaRPr lang="en-US" sz="1300" dirty="0"/>
          </a:p>
        </p:txBody>
      </p:sp>
      <p:sp>
        <p:nvSpPr>
          <p:cNvPr id="6" name="Shape 3"/>
          <p:cNvSpPr/>
          <p:nvPr/>
        </p:nvSpPr>
        <p:spPr>
          <a:xfrm>
            <a:off x="1920240" y="1691640"/>
            <a:ext cx="1280160" cy="4023360"/>
          </a:xfrm>
          <a:prstGeom prst="roundRect">
            <a:avLst>
              <a:gd name="adj" fmla="val 4286"/>
            </a:avLst>
          </a:prstGeom>
          <a:solidFill>
            <a:schemeClr val="bg2"/>
          </a:solidFill>
          <a:ln w="12700">
            <a:solidFill>
              <a:srgbClr val="DCD8EC"/>
            </a:solidFill>
            <a:prstDash val="solid"/>
          </a:ln>
        </p:spPr>
      </p:sp>
      <p:sp>
        <p:nvSpPr>
          <p:cNvPr id="7" name="Text 4"/>
          <p:cNvSpPr txBox="1"/>
          <p:nvPr/>
        </p:nvSpPr>
        <p:spPr>
          <a:xfrm>
            <a:off x="19202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En curso</a:t>
            </a:r>
            <a:endParaRPr lang="en-US" sz="1300" dirty="0"/>
          </a:p>
        </p:txBody>
      </p:sp>
      <p:sp>
        <p:nvSpPr>
          <p:cNvPr id="8" name="Shape 5"/>
          <p:cNvSpPr/>
          <p:nvPr/>
        </p:nvSpPr>
        <p:spPr>
          <a:xfrm>
            <a:off x="3291840" y="1691640"/>
            <a:ext cx="1280160" cy="4023360"/>
          </a:xfrm>
          <a:prstGeom prst="roundRect">
            <a:avLst>
              <a:gd name="adj" fmla="val 4286"/>
            </a:avLst>
          </a:prstGeom>
          <a:solidFill>
            <a:schemeClr val="accent4"/>
          </a:solidFill>
          <a:ln w="12700">
            <a:solidFill>
              <a:srgbClr val="DCD8EC"/>
            </a:solidFill>
            <a:prstDash val="solid"/>
          </a:ln>
        </p:spPr>
      </p:sp>
      <p:sp>
        <p:nvSpPr>
          <p:cNvPr id="9" name="Text 6"/>
          <p:cNvSpPr txBox="1"/>
          <p:nvPr/>
        </p:nvSpPr>
        <p:spPr>
          <a:xfrm>
            <a:off x="32918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Revisión</a:t>
            </a:r>
            <a:endParaRPr lang="en-US" sz="1300" dirty="0"/>
          </a:p>
        </p:txBody>
      </p:sp>
      <p:sp>
        <p:nvSpPr>
          <p:cNvPr id="10" name="Shape 7"/>
          <p:cNvSpPr/>
          <p:nvPr/>
        </p:nvSpPr>
        <p:spPr>
          <a:xfrm>
            <a:off x="4663440" y="1691640"/>
            <a:ext cx="1280160" cy="4023360"/>
          </a:xfrm>
          <a:prstGeom prst="roundRect">
            <a:avLst>
              <a:gd name="adj" fmla="val 4286"/>
            </a:avLst>
          </a:prstGeom>
          <a:solidFill>
            <a:schemeClr val="accent4"/>
          </a:solidFill>
          <a:ln w="12700">
            <a:solidFill>
              <a:srgbClr val="DCD8EC"/>
            </a:solidFill>
            <a:prstDash val="solid"/>
          </a:ln>
        </p:spPr>
      </p:sp>
      <p:sp>
        <p:nvSpPr>
          <p:cNvPr id="11" name="Text 8"/>
          <p:cNvSpPr txBox="1"/>
          <p:nvPr/>
        </p:nvSpPr>
        <p:spPr>
          <a:xfrm>
            <a:off x="4663440" y="1783080"/>
            <a:ext cx="1280160" cy="274320"/>
          </a:xfrm>
          <a:prstGeom prst="rect">
            <a:avLst/>
          </a:prstGeom>
          <a:noFill/>
          <a:ln/>
        </p:spPr>
        <p:txBody>
          <a:bodyPr wrap="square" lIns="0" tIns="0" rIns="0" bIns="0" rtlCol="0" anchor="t"/>
          <a:lstStyle/>
          <a:p>
            <a:pPr algn="ctr" indent="0" marL="0">
              <a:buNone/>
            </a:pPr>
            <a:r>
              <a:rPr lang="en-US" sz="1300" b="1" dirty="0">
                <a:solidFill>
                  <a:schemeClr val="tx2"/>
                </a:solidFill>
              </a:rPr>
              <a:t>Hecho</a:t>
            </a:r>
            <a:endParaRPr lang="en-US" sz="1300" dirty="0"/>
          </a:p>
        </p:txBody>
      </p:sp>
      <p:sp>
        <p:nvSpPr>
          <p:cNvPr id="12" name="Text 9"/>
          <p:cNvSpPr txBox="1"/>
          <p:nvPr/>
        </p:nvSpPr>
        <p:spPr>
          <a:xfrm>
            <a:off x="1920240" y="2057400"/>
            <a:ext cx="1280160" cy="274320"/>
          </a:xfrm>
          <a:prstGeom prst="rect">
            <a:avLst/>
          </a:prstGeom>
          <a:noFill/>
          <a:ln/>
        </p:spPr>
        <p:txBody>
          <a:bodyPr wrap="square" lIns="0" tIns="0" rIns="0" bIns="0" rtlCol="0" anchor="t"/>
          <a:lstStyle/>
          <a:p>
            <a:pPr algn="ctr" indent="0" marL="0">
              <a:buNone/>
            </a:pPr>
            <a:r>
              <a:rPr lang="en-US" sz="1200" b="1" dirty="0">
                <a:solidFill>
                  <a:schemeClr val="accent2"/>
                </a:solidFill>
              </a:rPr>
              <a:t>máx. 2</a:t>
            </a:r>
            <a:endParaRPr lang="en-US" sz="1200" dirty="0"/>
          </a:p>
        </p:txBody>
      </p:sp>
      <p:sp>
        <p:nvSpPr>
          <p:cNvPr id="13" name="Shape 10"/>
          <p:cNvSpPr/>
          <p:nvPr/>
        </p:nvSpPr>
        <p:spPr>
          <a:xfrm>
            <a:off x="685800" y="2423160"/>
            <a:ext cx="1005840" cy="420624"/>
          </a:xfrm>
          <a:prstGeom prst="roundRect">
            <a:avLst>
              <a:gd name="adj" fmla="val 10870"/>
            </a:avLst>
          </a:prstGeom>
          <a:solidFill>
            <a:schemeClr val="accent5"/>
          </a:solidFill>
          <a:ln w="12700">
            <a:solidFill>
              <a:schemeClr val="accent5"/>
            </a:solidFill>
            <a:prstDash val="solid"/>
          </a:ln>
        </p:spPr>
      </p:sp>
      <p:sp>
        <p:nvSpPr>
          <p:cNvPr id="14" name="Shape 11"/>
          <p:cNvSpPr/>
          <p:nvPr/>
        </p:nvSpPr>
        <p:spPr>
          <a:xfrm>
            <a:off x="685800" y="2990088"/>
            <a:ext cx="1005840" cy="420624"/>
          </a:xfrm>
          <a:prstGeom prst="roundRect">
            <a:avLst>
              <a:gd name="adj" fmla="val 10870"/>
            </a:avLst>
          </a:prstGeom>
          <a:solidFill>
            <a:schemeClr val="accent5"/>
          </a:solidFill>
          <a:ln w="12700">
            <a:solidFill>
              <a:schemeClr val="accent5"/>
            </a:solidFill>
            <a:prstDash val="solid"/>
          </a:ln>
        </p:spPr>
      </p:sp>
      <p:sp>
        <p:nvSpPr>
          <p:cNvPr id="15" name="Shape 12"/>
          <p:cNvSpPr/>
          <p:nvPr/>
        </p:nvSpPr>
        <p:spPr>
          <a:xfrm>
            <a:off x="685800" y="3557016"/>
            <a:ext cx="1005840" cy="420624"/>
          </a:xfrm>
          <a:prstGeom prst="roundRect">
            <a:avLst>
              <a:gd name="adj" fmla="val 10870"/>
            </a:avLst>
          </a:prstGeom>
          <a:solidFill>
            <a:schemeClr val="accent5"/>
          </a:solidFill>
          <a:ln w="12700">
            <a:solidFill>
              <a:schemeClr val="accent5"/>
            </a:solidFill>
            <a:prstDash val="solid"/>
          </a:ln>
        </p:spPr>
      </p:sp>
      <p:sp>
        <p:nvSpPr>
          <p:cNvPr id="16" name="Shape 13"/>
          <p:cNvSpPr/>
          <p:nvPr/>
        </p:nvSpPr>
        <p:spPr>
          <a:xfrm>
            <a:off x="685800" y="4123944"/>
            <a:ext cx="1005840" cy="420624"/>
          </a:xfrm>
          <a:prstGeom prst="roundRect">
            <a:avLst>
              <a:gd name="adj" fmla="val 10870"/>
            </a:avLst>
          </a:prstGeom>
          <a:solidFill>
            <a:schemeClr val="accent5"/>
          </a:solidFill>
          <a:ln w="12700">
            <a:solidFill>
              <a:schemeClr val="accent5"/>
            </a:solidFill>
            <a:prstDash val="solid"/>
          </a:ln>
        </p:spPr>
      </p:sp>
      <p:sp>
        <p:nvSpPr>
          <p:cNvPr id="17" name="Shape 14"/>
          <p:cNvSpPr/>
          <p:nvPr/>
        </p:nvSpPr>
        <p:spPr>
          <a:xfrm>
            <a:off x="685800" y="4690872"/>
            <a:ext cx="1005840" cy="420624"/>
          </a:xfrm>
          <a:prstGeom prst="roundRect">
            <a:avLst>
              <a:gd name="adj" fmla="val 10870"/>
            </a:avLst>
          </a:prstGeom>
          <a:solidFill>
            <a:schemeClr val="accent5"/>
          </a:solidFill>
          <a:ln w="12700">
            <a:solidFill>
              <a:schemeClr val="accent5"/>
            </a:solidFill>
            <a:prstDash val="solid"/>
          </a:ln>
        </p:spPr>
      </p:sp>
      <p:sp>
        <p:nvSpPr>
          <p:cNvPr id="18" name="Shape 15"/>
          <p:cNvSpPr/>
          <p:nvPr/>
        </p:nvSpPr>
        <p:spPr>
          <a:xfrm>
            <a:off x="2057400" y="2423160"/>
            <a:ext cx="1005840" cy="420624"/>
          </a:xfrm>
          <a:prstGeom prst="roundRect">
            <a:avLst>
              <a:gd name="adj" fmla="val 10870"/>
            </a:avLst>
          </a:prstGeom>
          <a:solidFill>
            <a:schemeClr val="accent1"/>
          </a:solidFill>
          <a:ln w="12700">
            <a:solidFill>
              <a:schemeClr val="accent1"/>
            </a:solidFill>
            <a:prstDash val="solid"/>
          </a:ln>
        </p:spPr>
      </p:sp>
      <p:sp>
        <p:nvSpPr>
          <p:cNvPr id="19" name="Shape 16"/>
          <p:cNvSpPr/>
          <p:nvPr/>
        </p:nvSpPr>
        <p:spPr>
          <a:xfrm>
            <a:off x="2057400" y="2990088"/>
            <a:ext cx="1005840" cy="420624"/>
          </a:xfrm>
          <a:prstGeom prst="roundRect">
            <a:avLst>
              <a:gd name="adj" fmla="val 10870"/>
            </a:avLst>
          </a:prstGeom>
          <a:solidFill>
            <a:schemeClr val="accent1"/>
          </a:solidFill>
          <a:ln w="12700">
            <a:solidFill>
              <a:schemeClr val="accent1"/>
            </a:solidFill>
            <a:prstDash val="solid"/>
          </a:ln>
        </p:spPr>
      </p:sp>
      <p:sp>
        <p:nvSpPr>
          <p:cNvPr id="20" name="Shape 17"/>
          <p:cNvSpPr/>
          <p:nvPr/>
        </p:nvSpPr>
        <p:spPr>
          <a:xfrm>
            <a:off x="3429000" y="2423160"/>
            <a:ext cx="1005840" cy="420624"/>
          </a:xfrm>
          <a:prstGeom prst="roundRect">
            <a:avLst>
              <a:gd name="adj" fmla="val 10870"/>
            </a:avLst>
          </a:prstGeom>
          <a:solidFill>
            <a:schemeClr val="accent2"/>
          </a:solidFill>
          <a:ln w="12700">
            <a:solidFill>
              <a:schemeClr val="accent2"/>
            </a:solidFill>
            <a:prstDash val="solid"/>
          </a:ln>
        </p:spPr>
      </p:sp>
      <p:sp>
        <p:nvSpPr>
          <p:cNvPr id="21" name="Shape 18"/>
          <p:cNvSpPr/>
          <p:nvPr/>
        </p:nvSpPr>
        <p:spPr>
          <a:xfrm>
            <a:off x="4800600" y="2423160"/>
            <a:ext cx="1005840" cy="420624"/>
          </a:xfrm>
          <a:prstGeom prst="roundRect">
            <a:avLst>
              <a:gd name="adj" fmla="val 10870"/>
            </a:avLst>
          </a:prstGeom>
          <a:solidFill>
            <a:schemeClr val="accent3"/>
          </a:solidFill>
          <a:ln w="12700">
            <a:solidFill>
              <a:schemeClr val="accent3"/>
            </a:solidFill>
            <a:prstDash val="solid"/>
          </a:ln>
        </p:spPr>
      </p:sp>
      <p:sp>
        <p:nvSpPr>
          <p:cNvPr id="22" name="Shape 19"/>
          <p:cNvSpPr/>
          <p:nvPr/>
        </p:nvSpPr>
        <p:spPr>
          <a:xfrm>
            <a:off x="4800600" y="2990088"/>
            <a:ext cx="1005840" cy="420624"/>
          </a:xfrm>
          <a:prstGeom prst="roundRect">
            <a:avLst>
              <a:gd name="adj" fmla="val 10870"/>
            </a:avLst>
          </a:prstGeom>
          <a:solidFill>
            <a:schemeClr val="accent3"/>
          </a:solidFill>
          <a:ln w="12700">
            <a:solidFill>
              <a:schemeClr val="accent3"/>
            </a:solidFill>
            <a:prstDash val="solid"/>
          </a:ln>
        </p:spPr>
      </p:sp>
      <p:sp>
        <p:nvSpPr>
          <p:cNvPr id="23" name="Shape 20"/>
          <p:cNvSpPr/>
          <p:nvPr/>
        </p:nvSpPr>
        <p:spPr>
          <a:xfrm>
            <a:off x="4800600" y="3557016"/>
            <a:ext cx="1005840" cy="420624"/>
          </a:xfrm>
          <a:prstGeom prst="roundRect">
            <a:avLst>
              <a:gd name="adj" fmla="val 10870"/>
            </a:avLst>
          </a:prstGeom>
          <a:solidFill>
            <a:schemeClr val="accent3"/>
          </a:solidFill>
          <a:ln w="12700">
            <a:solidFill>
              <a:schemeClr val="accent3"/>
            </a:solidFill>
            <a:prstDash val="solid"/>
          </a:ln>
        </p:spPr>
      </p:sp>
      <p:sp>
        <p:nvSpPr>
          <p:cNvPr id="24" name="Shape 21"/>
          <p:cNvSpPr/>
          <p:nvPr/>
        </p:nvSpPr>
        <p:spPr>
          <a:xfrm>
            <a:off x="6309360" y="1719072"/>
            <a:ext cx="457200" cy="457200"/>
          </a:xfrm>
          <a:prstGeom prst="ellipse">
            <a:avLst/>
          </a:prstGeom>
          <a:solidFill>
            <a:schemeClr val="accent1"/>
          </a:solidFill>
          <a:ln w="12700">
            <a:solidFill>
              <a:schemeClr val="accent1"/>
            </a:solidFill>
            <a:prstDash val="solid"/>
          </a:ln>
        </p:spPr>
      </p:sp>
      <p:sp>
        <p:nvSpPr>
          <p:cNvPr id="25" name="Text 22"/>
          <p:cNvSpPr txBox="1"/>
          <p:nvPr/>
        </p:nvSpPr>
        <p:spPr>
          <a:xfrm>
            <a:off x="6309360" y="1719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6" name="Text 23"/>
          <p:cNvSpPr txBox="1"/>
          <p:nvPr/>
        </p:nvSpPr>
        <p:spPr>
          <a:xfrm>
            <a:off x="6949440" y="1691640"/>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Un solo backlog.</a:t>
            </a:r>
            <a:pPr indent="0" marL="0">
              <a:buNone/>
            </a:pPr>
            <a:r>
              <a:rPr lang="en-US" sz="1400" dirty="0">
                <a:solidFill>
                  <a:schemeClr val="tx1"/>
                </a:solidFill>
              </a:rPr>
              <a:t> Cada quien toma la siguiente prioridad, con máximo dos cosas en curso.</a:t>
            </a:r>
            <a:endParaRPr lang="en-US" sz="1400" dirty="0"/>
          </a:p>
        </p:txBody>
      </p:sp>
      <p:sp>
        <p:nvSpPr>
          <p:cNvPr id="27" name="Shape 24"/>
          <p:cNvSpPr/>
          <p:nvPr/>
        </p:nvSpPr>
        <p:spPr>
          <a:xfrm>
            <a:off x="6309360" y="2386584"/>
            <a:ext cx="457200" cy="457200"/>
          </a:xfrm>
          <a:prstGeom prst="ellipse">
            <a:avLst/>
          </a:prstGeom>
          <a:solidFill>
            <a:schemeClr val="accent1"/>
          </a:solidFill>
          <a:ln w="12700">
            <a:solidFill>
              <a:schemeClr val="accent1"/>
            </a:solidFill>
            <a:prstDash val="solid"/>
          </a:ln>
        </p:spPr>
      </p:sp>
      <p:sp>
        <p:nvSpPr>
          <p:cNvPr id="28" name="Text 25"/>
          <p:cNvSpPr txBox="1"/>
          <p:nvPr/>
        </p:nvSpPr>
        <p:spPr>
          <a:xfrm>
            <a:off x="6309360" y="238658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9" name="Text 26"/>
          <p:cNvSpPr txBox="1"/>
          <p:nvPr/>
        </p:nvSpPr>
        <p:spPr>
          <a:xfrm>
            <a:off x="6949440" y="2359152"/>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Lo riesgoso, en pareja:</a:t>
            </a:r>
            <a:pPr indent="0" marL="0">
              <a:buNone/>
            </a:pPr>
            <a:r>
              <a:rPr lang="en-US" sz="1400" dirty="0">
                <a:solidFill>
                  <a:schemeClr val="tx1"/>
                </a:solidFill>
              </a:rPr>
              <a:t> contratos, traza y agentes que influyen en una decisión.</a:t>
            </a:r>
            <a:endParaRPr lang="en-US" sz="1400" dirty="0"/>
          </a:p>
        </p:txBody>
      </p:sp>
      <p:sp>
        <p:nvSpPr>
          <p:cNvPr id="30" name="Shape 27"/>
          <p:cNvSpPr/>
          <p:nvPr/>
        </p:nvSpPr>
        <p:spPr>
          <a:xfrm>
            <a:off x="6309360" y="3054096"/>
            <a:ext cx="457200" cy="457200"/>
          </a:xfrm>
          <a:prstGeom prst="ellipse">
            <a:avLst/>
          </a:prstGeom>
          <a:solidFill>
            <a:schemeClr val="accent1"/>
          </a:solidFill>
          <a:ln w="12700">
            <a:solidFill>
              <a:schemeClr val="accent1"/>
            </a:solidFill>
            <a:prstDash val="solid"/>
          </a:ln>
        </p:spPr>
      </p:sp>
      <p:sp>
        <p:nvSpPr>
          <p:cNvPr id="31" name="Text 28"/>
          <p:cNvSpPr txBox="1"/>
          <p:nvPr/>
        </p:nvSpPr>
        <p:spPr>
          <a:xfrm>
            <a:off x="6309360" y="305409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2" name="Text 29"/>
          <p:cNvSpPr txBox="1"/>
          <p:nvPr/>
        </p:nvSpPr>
        <p:spPr>
          <a:xfrm>
            <a:off x="6949440" y="3026664"/>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Cambios pequeños, a diario.</a:t>
            </a:r>
            <a:pPr indent="0" marL="0">
              <a:buNone/>
            </a:pPr>
            <a:r>
              <a:rPr lang="en-US" sz="1400" dirty="0">
                <a:solidFill>
                  <a:schemeClr val="tx1"/>
                </a:solidFill>
              </a:rPr>
              <a:t> Nada vive en una rama más de un día.</a:t>
            </a:r>
            <a:endParaRPr lang="en-US" sz="1400" dirty="0"/>
          </a:p>
        </p:txBody>
      </p:sp>
      <p:sp>
        <p:nvSpPr>
          <p:cNvPr id="33" name="Shape 30"/>
          <p:cNvSpPr/>
          <p:nvPr/>
        </p:nvSpPr>
        <p:spPr>
          <a:xfrm>
            <a:off x="6309360" y="3721608"/>
            <a:ext cx="457200" cy="457200"/>
          </a:xfrm>
          <a:prstGeom prst="ellipse">
            <a:avLst/>
          </a:prstGeom>
          <a:solidFill>
            <a:schemeClr val="accent1"/>
          </a:solidFill>
          <a:ln w="12700">
            <a:solidFill>
              <a:schemeClr val="accent1"/>
            </a:solidFill>
            <a:prstDash val="solid"/>
          </a:ln>
        </p:spPr>
      </p:sp>
      <p:sp>
        <p:nvSpPr>
          <p:cNvPr id="34" name="Text 31"/>
          <p:cNvSpPr txBox="1"/>
          <p:nvPr/>
        </p:nvSpPr>
        <p:spPr>
          <a:xfrm>
            <a:off x="6309360" y="37216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5" name="Text 32"/>
          <p:cNvSpPr txBox="1"/>
          <p:nvPr/>
        </p:nvSpPr>
        <p:spPr>
          <a:xfrm>
            <a:off x="6949440" y="3694176"/>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Revisa quien no escribió.</a:t>
            </a:r>
            <a:pPr indent="0" marL="0">
              <a:buNone/>
            </a:pPr>
            <a:r>
              <a:rPr lang="en-US" sz="1400" dirty="0">
                <a:solidFill>
                  <a:schemeClr val="tx1"/>
                </a:solidFill>
              </a:rPr>
              <a:t> El arquitecto revisa contra los lineamientos.</a:t>
            </a:r>
            <a:endParaRPr lang="en-US" sz="1400" dirty="0"/>
          </a:p>
        </p:txBody>
      </p:sp>
      <p:sp>
        <p:nvSpPr>
          <p:cNvPr id="36" name="Shape 33"/>
          <p:cNvSpPr/>
          <p:nvPr/>
        </p:nvSpPr>
        <p:spPr>
          <a:xfrm>
            <a:off x="6309360" y="4389120"/>
            <a:ext cx="457200" cy="457200"/>
          </a:xfrm>
          <a:prstGeom prst="ellipse">
            <a:avLst/>
          </a:prstGeom>
          <a:solidFill>
            <a:schemeClr val="accent1"/>
          </a:solidFill>
          <a:ln w="12700">
            <a:solidFill>
              <a:schemeClr val="accent1"/>
            </a:solidFill>
            <a:prstDash val="solid"/>
          </a:ln>
        </p:spPr>
      </p:sp>
      <p:sp>
        <p:nvSpPr>
          <p:cNvPr id="37" name="Text 34"/>
          <p:cNvSpPr txBox="1"/>
          <p:nvPr/>
        </p:nvSpPr>
        <p:spPr>
          <a:xfrm>
            <a:off x="6309360" y="43891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8" name="Text 35"/>
          <p:cNvSpPr txBox="1"/>
          <p:nvPr/>
        </p:nvSpPr>
        <p:spPr>
          <a:xfrm>
            <a:off x="6949440" y="4361688"/>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Un bloqueo se dice el mismo día</a:t>
            </a:r>
            <a:pPr indent="0" marL="0">
              <a:buNone/>
            </a:pPr>
            <a:r>
              <a:rPr lang="en-US" sz="1400" dirty="0">
                <a:solidFill>
                  <a:schemeClr val="tx1"/>
                </a:solidFill>
              </a:rPr>
              <a:t> y se nombra su dueño.</a:t>
            </a:r>
            <a:endParaRPr lang="en-US" sz="1400" dirty="0"/>
          </a:p>
        </p:txBody>
      </p:sp>
      <p:sp>
        <p:nvSpPr>
          <p:cNvPr id="39" name="Shape 36"/>
          <p:cNvSpPr/>
          <p:nvPr/>
        </p:nvSpPr>
        <p:spPr>
          <a:xfrm>
            <a:off x="6309360" y="5056632"/>
            <a:ext cx="457200" cy="457200"/>
          </a:xfrm>
          <a:prstGeom prst="ellipse">
            <a:avLst/>
          </a:prstGeom>
          <a:solidFill>
            <a:schemeClr val="accent1"/>
          </a:solidFill>
          <a:ln w="12700">
            <a:solidFill>
              <a:schemeClr val="accent1"/>
            </a:solidFill>
            <a:prstDash val="solid"/>
          </a:ln>
        </p:spPr>
      </p:sp>
      <p:sp>
        <p:nvSpPr>
          <p:cNvPr id="40" name="Text 37"/>
          <p:cNvSpPr txBox="1"/>
          <p:nvPr/>
        </p:nvSpPr>
        <p:spPr>
          <a:xfrm>
            <a:off x="6309360" y="50566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1" name="Text 38"/>
          <p:cNvSpPr txBox="1"/>
          <p:nvPr/>
        </p:nvSpPr>
        <p:spPr>
          <a:xfrm>
            <a:off x="6949440" y="5029200"/>
            <a:ext cx="4663440" cy="566928"/>
          </a:xfrm>
          <a:prstGeom prst="rect">
            <a:avLst/>
          </a:prstGeom>
          <a:noFill/>
          <a:ln/>
        </p:spPr>
        <p:txBody>
          <a:bodyPr wrap="square" lIns="0" tIns="0" rIns="0" bIns="0" rtlCol="0" anchor="ctr"/>
          <a:lstStyle/>
          <a:p>
            <a:pPr indent="0" marL="0">
              <a:buNone/>
            </a:pPr>
            <a:r>
              <a:rPr lang="en-US" sz="1400" b="1" dirty="0">
                <a:solidFill>
                  <a:schemeClr val="tx2"/>
                </a:solidFill>
              </a:rPr>
              <a:t>La retro termina con un acuerdo,</a:t>
            </a:r>
            <a:pPr indent="0" marL="0">
              <a:buNone/>
            </a:pPr>
            <a:r>
              <a:rPr lang="en-US" sz="1400" dirty="0">
                <a:solidFill>
                  <a:schemeClr val="tx1"/>
                </a:solidFill>
              </a:rPr>
              <a:t> no con una lista de quejas.</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Qué recibe SURA al cierre de cada sprint</a:t>
            </a:r>
            <a:endParaRPr lang="en-US" sz="2800" dirty="0"/>
          </a:p>
        </p:txBody>
      </p:sp>
      <p:sp>
        <p:nvSpPr>
          <p:cNvPr id="4" name="Shape 1"/>
          <p:cNvSpPr/>
          <p:nvPr/>
        </p:nvSpPr>
        <p:spPr>
          <a:xfrm>
            <a:off x="548640" y="1645920"/>
            <a:ext cx="3520440" cy="3063240"/>
          </a:xfrm>
          <a:prstGeom prst="roundRect">
            <a:avLst>
              <a:gd name="adj" fmla="val 2388"/>
            </a:avLst>
          </a:prstGeom>
          <a:solidFill>
            <a:schemeClr val="accent4"/>
          </a:solidFill>
          <a:ln w="12700">
            <a:solidFill>
              <a:srgbClr val="DCD8EC"/>
            </a:solidFill>
            <a:prstDash val="solid"/>
          </a:ln>
        </p:spPr>
      </p:sp>
      <p:sp>
        <p:nvSpPr>
          <p:cNvPr id="5" name="Shape 2"/>
          <p:cNvSpPr/>
          <p:nvPr/>
        </p:nvSpPr>
        <p:spPr>
          <a:xfrm>
            <a:off x="822960" y="1874520"/>
            <a:ext cx="548640" cy="548640"/>
          </a:xfrm>
          <a:prstGeom prst="ellipse">
            <a:avLst/>
          </a:prstGeom>
          <a:solidFill>
            <a:schemeClr val="accent3"/>
          </a:solidFill>
          <a:ln w="12700">
            <a:solidFill>
              <a:schemeClr val="accent3"/>
            </a:solidFill>
            <a:prstDash val="solid"/>
          </a:ln>
        </p:spPr>
      </p:sp>
      <p:sp>
        <p:nvSpPr>
          <p:cNvPr id="6" name="Text 3"/>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8229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Historias trabajadas, con su estado</a:t>
            </a:r>
            <a:endParaRPr lang="en-US" sz="1800" dirty="0"/>
          </a:p>
        </p:txBody>
      </p:sp>
      <p:sp>
        <p:nvSpPr>
          <p:cNvPr id="8" name="Text 5"/>
          <p:cNvSpPr txBox="1"/>
          <p:nvPr/>
        </p:nvSpPr>
        <p:spPr>
          <a:xfrm>
            <a:off x="8229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Cada historia del sprint con su estado: hecha, en curso o de vuelta al backlog, y el porqué.</a:t>
            </a:r>
            <a:endParaRPr lang="en-US" sz="1400" dirty="0"/>
          </a:p>
        </p:txBody>
      </p:sp>
      <p:sp>
        <p:nvSpPr>
          <p:cNvPr id="9" name="Shape 6"/>
          <p:cNvSpPr/>
          <p:nvPr/>
        </p:nvSpPr>
        <p:spPr>
          <a:xfrm>
            <a:off x="4320540" y="1645920"/>
            <a:ext cx="3520440" cy="3063240"/>
          </a:xfrm>
          <a:prstGeom prst="roundRect">
            <a:avLst>
              <a:gd name="adj" fmla="val 2388"/>
            </a:avLst>
          </a:prstGeom>
          <a:solidFill>
            <a:schemeClr val="accent4"/>
          </a:solidFill>
          <a:ln w="12700">
            <a:solidFill>
              <a:srgbClr val="DCD8EC"/>
            </a:solidFill>
            <a:prstDash val="solid"/>
          </a:ln>
        </p:spPr>
      </p:sp>
      <p:sp>
        <p:nvSpPr>
          <p:cNvPr id="10" name="Shape 7"/>
          <p:cNvSpPr/>
          <p:nvPr/>
        </p:nvSpPr>
        <p:spPr>
          <a:xfrm>
            <a:off x="4594860" y="1874520"/>
            <a:ext cx="548640" cy="548640"/>
          </a:xfrm>
          <a:prstGeom prst="ellipse">
            <a:avLst/>
          </a:prstGeom>
          <a:solidFill>
            <a:schemeClr val="accent3"/>
          </a:solidFill>
          <a:ln w="12700">
            <a:solidFill>
              <a:schemeClr val="accent3"/>
            </a:solidFill>
            <a:prstDash val="solid"/>
          </a:ln>
        </p:spPr>
      </p:sp>
      <p:sp>
        <p:nvSpPr>
          <p:cNvPr id="11" name="Text 8"/>
          <p:cNvSpPr txBox="1"/>
          <p:nvPr/>
        </p:nvSpPr>
        <p:spPr>
          <a:xfrm>
            <a:off x="45948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45948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Demo de lo implementado</a:t>
            </a:r>
            <a:endParaRPr lang="en-US" sz="1800" dirty="0"/>
          </a:p>
        </p:txBody>
      </p:sp>
      <p:sp>
        <p:nvSpPr>
          <p:cNvPr id="13" name="Text 10"/>
          <p:cNvSpPr txBox="1"/>
          <p:nvPr/>
        </p:nvSpPr>
        <p:spPr>
          <a:xfrm>
            <a:off x="45948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Lo terminado, funcionando con su traza, sobre datos sintéticos y nunca con datos reales de pacientes.</a:t>
            </a:r>
            <a:endParaRPr lang="en-US" sz="1400" dirty="0"/>
          </a:p>
        </p:txBody>
      </p:sp>
      <p:sp>
        <p:nvSpPr>
          <p:cNvPr id="14" name="Shape 11"/>
          <p:cNvSpPr/>
          <p:nvPr/>
        </p:nvSpPr>
        <p:spPr>
          <a:xfrm>
            <a:off x="8092440" y="1645920"/>
            <a:ext cx="3520440" cy="3063240"/>
          </a:xfrm>
          <a:prstGeom prst="roundRect">
            <a:avLst>
              <a:gd name="adj" fmla="val 2388"/>
            </a:avLst>
          </a:prstGeom>
          <a:solidFill>
            <a:schemeClr val="accent4"/>
          </a:solidFill>
          <a:ln w="12700">
            <a:solidFill>
              <a:srgbClr val="DCD8EC"/>
            </a:solidFill>
            <a:prstDash val="solid"/>
          </a:ln>
        </p:spPr>
      </p:sp>
      <p:sp>
        <p:nvSpPr>
          <p:cNvPr id="15" name="Shape 12"/>
          <p:cNvSpPr/>
          <p:nvPr/>
        </p:nvSpPr>
        <p:spPr>
          <a:xfrm>
            <a:off x="8366760" y="1874520"/>
            <a:ext cx="548640" cy="548640"/>
          </a:xfrm>
          <a:prstGeom prst="ellipse">
            <a:avLst/>
          </a:prstGeom>
          <a:solidFill>
            <a:schemeClr val="accent3"/>
          </a:solidFill>
          <a:ln w="12700">
            <a:solidFill>
              <a:schemeClr val="accent3"/>
            </a:solidFill>
            <a:prstDash val="solid"/>
          </a:ln>
        </p:spPr>
      </p:sp>
      <p:sp>
        <p:nvSpPr>
          <p:cNvPr id="16" name="Text 13"/>
          <p:cNvSpPr txBox="1"/>
          <p:nvPr/>
        </p:nvSpPr>
        <p:spPr>
          <a:xfrm>
            <a:off x="836676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8366760" y="2560320"/>
            <a:ext cx="2971800" cy="685800"/>
          </a:xfrm>
          <a:prstGeom prst="rect">
            <a:avLst/>
          </a:prstGeom>
          <a:noFill/>
          <a:ln/>
        </p:spPr>
        <p:txBody>
          <a:bodyPr wrap="square" lIns="0" tIns="0" rIns="0" bIns="0" rtlCol="0" anchor="b"/>
          <a:lstStyle/>
          <a:p>
            <a:pPr indent="0" marL="0">
              <a:buNone/>
            </a:pPr>
            <a:r>
              <a:rPr lang="en-US" sz="1800" b="1" dirty="0">
                <a:solidFill>
                  <a:schemeClr val="tx2"/>
                </a:solidFill>
              </a:rPr>
              <a:t>Evidencias de cada implementación</a:t>
            </a:r>
            <a:endParaRPr lang="en-US" sz="1800" dirty="0"/>
          </a:p>
        </p:txBody>
      </p:sp>
      <p:sp>
        <p:nvSpPr>
          <p:cNvPr id="18" name="Text 15"/>
          <p:cNvSpPr txBox="1"/>
          <p:nvPr/>
        </p:nvSpPr>
        <p:spPr>
          <a:xfrm>
            <a:off x="8366760" y="3337560"/>
            <a:ext cx="2971800" cy="1325880"/>
          </a:xfrm>
          <a:prstGeom prst="rect">
            <a:avLst/>
          </a:prstGeom>
          <a:noFill/>
          <a:ln/>
        </p:spPr>
        <p:txBody>
          <a:bodyPr wrap="square" lIns="0" tIns="0" rIns="0" bIns="0" rtlCol="0" anchor="t"/>
          <a:lstStyle/>
          <a:p>
            <a:pPr indent="0" marL="0">
              <a:buNone/>
            </a:pPr>
            <a:r>
              <a:rPr lang="en-US" sz="1400" dirty="0">
                <a:solidFill>
                  <a:schemeClr val="tx1"/>
                </a:solidFill>
              </a:rPr>
              <a:t>Según la definición de hecho de cada historia: pruebas, traza de la decisión, golden set sin regresión y revisión aprobada.</a:t>
            </a:r>
            <a:endParaRPr lang="en-US" sz="1400" dirty="0"/>
          </a:p>
        </p:txBody>
      </p:sp>
      <p:sp>
        <p:nvSpPr>
          <p:cNvPr id="19" name="Shape 16"/>
          <p:cNvSpPr/>
          <p:nvPr/>
        </p:nvSpPr>
        <p:spPr>
          <a:xfrm>
            <a:off x="548640" y="4892040"/>
            <a:ext cx="11064240" cy="1005840"/>
          </a:xfrm>
          <a:prstGeom prst="roundRect">
            <a:avLst>
              <a:gd name="adj" fmla="val 7273"/>
            </a:avLst>
          </a:prstGeom>
          <a:solidFill>
            <a:schemeClr val="bg2"/>
          </a:solidFill>
          <a:ln w="12700">
            <a:solidFill>
              <a:schemeClr val="bg2"/>
            </a:solidFill>
            <a:prstDash val="solid"/>
          </a:ln>
        </p:spPr>
      </p:sp>
      <p:sp>
        <p:nvSpPr>
          <p:cNvPr id="20" name="Text 17"/>
          <p:cNvSpPr txBox="1"/>
          <p:nvPr/>
        </p:nvSpPr>
        <p:spPr>
          <a:xfrm>
            <a:off x="822960" y="4892040"/>
            <a:ext cx="10515600" cy="1005840"/>
          </a:xfrm>
          <a:prstGeom prst="rect">
            <a:avLst/>
          </a:prstGeom>
          <a:noFill/>
          <a:ln/>
        </p:spPr>
        <p:txBody>
          <a:bodyPr wrap="square" lIns="0" tIns="0" rIns="0" bIns="0" rtlCol="0" anchor="ctr"/>
          <a:lstStyle/>
          <a:p>
            <a:pPr indent="0" marL="0">
              <a:buNone/>
            </a:pPr>
            <a:r>
              <a:rPr lang="en-US" sz="1500" b="1" dirty="0">
                <a:solidFill>
                  <a:schemeClr val="tx2"/>
                </a:solidFill>
              </a:rPr>
              <a:t>A producción, en los cortes limpios. </a:t>
            </a:r>
            <a:pPr indent="0" marL="0">
              <a:buNone/>
            </a:pPr>
            <a:r>
              <a:rPr lang="en-US" sz="1500" dirty="0">
                <a:solidFill>
                  <a:schemeClr val="tx1"/>
                </a:solidFill>
              </a:rPr>
              <a:t>No todo incremento va a producción: se despliega cuando hay algo usable de punta a punta, como los agentes de Solicitud o la autorización automática de nivel 1. Ese despliegue siempre lo aprueba una persona.</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El orden sugerido: tres incrementos y dos cortes limpios</a:t>
            </a:r>
            <a:endParaRPr lang="en-US" sz="2800" dirty="0"/>
          </a:p>
        </p:txBody>
      </p:sp>
      <p:sp>
        <p:nvSpPr>
          <p:cNvPr id="4" name="Shape 1"/>
          <p:cNvSpPr/>
          <p:nvPr/>
        </p:nvSpPr>
        <p:spPr>
          <a:xfrm>
            <a:off x="548640" y="1481328"/>
            <a:ext cx="11064240" cy="566928"/>
          </a:xfrm>
          <a:prstGeom prst="roundRect">
            <a:avLst>
              <a:gd name="adj" fmla="val 12903"/>
            </a:avLst>
          </a:prstGeom>
          <a:solidFill>
            <a:schemeClr val="bg2"/>
          </a:solidFill>
          <a:ln w="12700">
            <a:solidFill>
              <a:schemeClr val="bg2"/>
            </a:solidFill>
            <a:prstDash val="solid"/>
          </a:ln>
        </p:spPr>
      </p:sp>
      <p:sp>
        <p:nvSpPr>
          <p:cNvPr id="5" name="Text 2"/>
          <p:cNvSpPr txBox="1"/>
          <p:nvPr/>
        </p:nvSpPr>
        <p:spPr>
          <a:xfrm>
            <a:off x="777240" y="1481328"/>
            <a:ext cx="10607040" cy="566928"/>
          </a:xfrm>
          <a:prstGeom prst="rect">
            <a:avLst/>
          </a:prstGeom>
          <a:noFill/>
          <a:ln/>
        </p:spPr>
        <p:txBody>
          <a:bodyPr wrap="square" lIns="0" tIns="0" rIns="0" bIns="0" rtlCol="0" anchor="ctr"/>
          <a:lstStyle/>
          <a:p>
            <a:pPr indent="0" marL="0">
              <a:buNone/>
            </a:pPr>
            <a:r>
              <a:rPr lang="en-US" sz="1500" b="1" dirty="0">
                <a:solidFill>
                  <a:schemeClr val="accent1"/>
                </a:solidFill>
              </a:rPr>
              <a:t>Un orden, no un calendario.  </a:t>
            </a:r>
            <a:pPr indent="0" marL="0">
              <a:buNone/>
            </a:pPr>
            <a:r>
              <a:rPr lang="en-US" sz="1200" dirty="0">
                <a:solidFill>
                  <a:schemeClr val="tx1"/>
                </a:solidFill>
              </a:rPr>
              <a:t>SURA lo confirma o lo cambia en cada sesión de historias. </a:t>
            </a:r>
            <a:pPr indent="0" marL="0">
              <a:buNone/>
            </a:pPr>
            <a:r>
              <a:rPr lang="en-US" sz="1200" b="1" dirty="0">
                <a:solidFill>
                  <a:schemeClr val="tx2"/>
                </a:solidFill>
              </a:rPr>
              <a:t>La arquitectura es evolutiva: </a:t>
            </a:r>
            <a:pPr indent="0" marL="0">
              <a:buNone/>
            </a:pPr>
            <a:r>
              <a:rPr lang="en-US" sz="1200" dirty="0">
                <a:solidFill>
                  <a:schemeClr val="tx1"/>
                </a:solidFill>
              </a:rPr>
              <a:t>la de cada sistema agéntico se define al empezar su implementación.</a:t>
            </a:r>
            <a:endParaRPr lang="en-US" sz="1200" dirty="0"/>
          </a:p>
        </p:txBody>
      </p:sp>
      <p:sp>
        <p:nvSpPr>
          <p:cNvPr id="6" name="Shape 3"/>
          <p:cNvSpPr/>
          <p:nvPr/>
        </p:nvSpPr>
        <p:spPr>
          <a:xfrm>
            <a:off x="548640" y="2176272"/>
            <a:ext cx="2606040" cy="1828800"/>
          </a:xfrm>
          <a:prstGeom prst="roundRect">
            <a:avLst>
              <a:gd name="adj" fmla="val 4000"/>
            </a:avLst>
          </a:prstGeom>
          <a:solidFill>
            <a:schemeClr val="accent4"/>
          </a:solidFill>
          <a:ln w="12700">
            <a:solidFill>
              <a:srgbClr val="DCD8EC"/>
            </a:solidFill>
            <a:prstDash val="solid"/>
          </a:ln>
        </p:spPr>
      </p:sp>
      <p:sp>
        <p:nvSpPr>
          <p:cNvPr id="7" name="Shape 4"/>
          <p:cNvSpPr/>
          <p:nvPr/>
        </p:nvSpPr>
        <p:spPr>
          <a:xfrm>
            <a:off x="731520" y="2304288"/>
            <a:ext cx="2240280" cy="347472"/>
          </a:xfrm>
          <a:prstGeom prst="roundRect">
            <a:avLst>
              <a:gd name="adj" fmla="val 15789"/>
            </a:avLst>
          </a:prstGeom>
          <a:solidFill>
            <a:schemeClr val="tx2"/>
          </a:solidFill>
          <a:ln w="12700">
            <a:solidFill>
              <a:schemeClr val="tx2"/>
            </a:solidFill>
            <a:prstDash val="solid"/>
          </a:ln>
        </p:spPr>
      </p:sp>
      <p:sp>
        <p:nvSpPr>
          <p:cNvPr id="8" name="Text 5"/>
          <p:cNvSpPr txBox="1"/>
          <p:nvPr/>
        </p:nvSpPr>
        <p:spPr>
          <a:xfrm>
            <a:off x="731520"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Arranque</a:t>
            </a:r>
            <a:endParaRPr lang="en-US" sz="1300" dirty="0"/>
          </a:p>
        </p:txBody>
      </p:sp>
      <p:sp>
        <p:nvSpPr>
          <p:cNvPr id="9" name="Text 6"/>
          <p:cNvSpPr txBox="1"/>
          <p:nvPr/>
        </p:nvSpPr>
        <p:spPr>
          <a:xfrm>
            <a:off x="731520"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Primero</a:t>
            </a:r>
            <a:endParaRPr lang="en-US" sz="1200" dirty="0"/>
          </a:p>
        </p:txBody>
      </p:sp>
      <p:sp>
        <p:nvSpPr>
          <p:cNvPr id="10" name="Text 7"/>
          <p:cNvSpPr txBox="1"/>
          <p:nvPr/>
        </p:nvSpPr>
        <p:spPr>
          <a:xfrm>
            <a:off x="731520"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Solo lo común: arquetipo, lineamientos, contrato de eventos y trazabilidad, y primer golden set.</a:t>
            </a:r>
            <a:endParaRPr lang="en-US" sz="1200" dirty="0"/>
          </a:p>
        </p:txBody>
      </p:sp>
      <p:sp>
        <p:nvSpPr>
          <p:cNvPr id="11" name="Shape 8"/>
          <p:cNvSpPr/>
          <p:nvPr/>
        </p:nvSpPr>
        <p:spPr>
          <a:xfrm>
            <a:off x="3364992" y="2176272"/>
            <a:ext cx="2606040" cy="1828800"/>
          </a:xfrm>
          <a:prstGeom prst="roundRect">
            <a:avLst>
              <a:gd name="adj" fmla="val 4000"/>
            </a:avLst>
          </a:prstGeom>
          <a:solidFill>
            <a:schemeClr val="accent4"/>
          </a:solidFill>
          <a:ln w="12700">
            <a:solidFill>
              <a:srgbClr val="DCD8EC"/>
            </a:solidFill>
            <a:prstDash val="solid"/>
          </a:ln>
        </p:spPr>
      </p:sp>
      <p:sp>
        <p:nvSpPr>
          <p:cNvPr id="12" name="Shape 9"/>
          <p:cNvSpPr/>
          <p:nvPr/>
        </p:nvSpPr>
        <p:spPr>
          <a:xfrm>
            <a:off x="3547872" y="2304288"/>
            <a:ext cx="2240280" cy="347472"/>
          </a:xfrm>
          <a:prstGeom prst="roundRect">
            <a:avLst>
              <a:gd name="adj" fmla="val 15789"/>
            </a:avLst>
          </a:prstGeom>
          <a:solidFill>
            <a:schemeClr val="accent1"/>
          </a:solidFill>
          <a:ln w="12700">
            <a:solidFill>
              <a:schemeClr val="accent1"/>
            </a:solidFill>
            <a:prstDash val="solid"/>
          </a:ln>
        </p:spPr>
      </p:sp>
      <p:sp>
        <p:nvSpPr>
          <p:cNvPr id="13" name="Text 10"/>
          <p:cNvSpPr txBox="1"/>
          <p:nvPr/>
        </p:nvSpPr>
        <p:spPr>
          <a:xfrm>
            <a:off x="3547872"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Agentes de Solicitud</a:t>
            </a:r>
            <a:endParaRPr lang="en-US" sz="1300" dirty="0"/>
          </a:p>
        </p:txBody>
      </p:sp>
      <p:sp>
        <p:nvSpPr>
          <p:cNvPr id="14" name="Text 11"/>
          <p:cNvSpPr txBox="1"/>
          <p:nvPr/>
        </p:nvSpPr>
        <p:spPr>
          <a:xfrm>
            <a:off x="3547872"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Incremento 1</a:t>
            </a:r>
            <a:endParaRPr lang="en-US" sz="1200" dirty="0"/>
          </a:p>
        </p:txBody>
      </p:sp>
      <p:sp>
        <p:nvSpPr>
          <p:cNvPr id="15" name="Text 12"/>
          <p:cNvSpPr txBox="1"/>
          <p:nvPr/>
        </p:nvSpPr>
        <p:spPr>
          <a:xfrm>
            <a:off x="3547872"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Clasificador, enrutador, extractores, request builder y LLM-as-a-judge; escala a preradicado con su motivo.</a:t>
            </a:r>
            <a:endParaRPr lang="en-US" sz="1200" dirty="0"/>
          </a:p>
        </p:txBody>
      </p:sp>
      <p:sp>
        <p:nvSpPr>
          <p:cNvPr id="16" name="Shape 13"/>
          <p:cNvSpPr/>
          <p:nvPr/>
        </p:nvSpPr>
        <p:spPr>
          <a:xfrm>
            <a:off x="6181344" y="2176272"/>
            <a:ext cx="2606040" cy="1828800"/>
          </a:xfrm>
          <a:prstGeom prst="roundRect">
            <a:avLst>
              <a:gd name="adj" fmla="val 4000"/>
            </a:avLst>
          </a:prstGeom>
          <a:solidFill>
            <a:schemeClr val="accent4"/>
          </a:solidFill>
          <a:ln w="12700">
            <a:solidFill>
              <a:srgbClr val="DCD8EC"/>
            </a:solidFill>
            <a:prstDash val="solid"/>
          </a:ln>
        </p:spPr>
      </p:sp>
      <p:sp>
        <p:nvSpPr>
          <p:cNvPr id="17" name="Shape 14"/>
          <p:cNvSpPr/>
          <p:nvPr/>
        </p:nvSpPr>
        <p:spPr>
          <a:xfrm>
            <a:off x="6364224" y="2304288"/>
            <a:ext cx="2240280" cy="347472"/>
          </a:xfrm>
          <a:prstGeom prst="roundRect">
            <a:avLst>
              <a:gd name="adj" fmla="val 15789"/>
            </a:avLst>
          </a:prstGeom>
          <a:solidFill>
            <a:schemeClr val="accent1"/>
          </a:solidFill>
          <a:ln w="12700">
            <a:solidFill>
              <a:schemeClr val="accent1"/>
            </a:solidFill>
            <a:prstDash val="solid"/>
          </a:ln>
        </p:spPr>
      </p:sp>
      <p:sp>
        <p:nvSpPr>
          <p:cNvPr id="18" name="Text 15"/>
          <p:cNvSpPr txBox="1"/>
          <p:nvPr/>
        </p:nvSpPr>
        <p:spPr>
          <a:xfrm>
            <a:off x="6364224"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Agentes de Evaluación</a:t>
            </a:r>
            <a:endParaRPr lang="en-US" sz="1300" dirty="0"/>
          </a:p>
        </p:txBody>
      </p:sp>
      <p:sp>
        <p:nvSpPr>
          <p:cNvPr id="19" name="Text 16"/>
          <p:cNvSpPr txBox="1"/>
          <p:nvPr/>
        </p:nvSpPr>
        <p:spPr>
          <a:xfrm>
            <a:off x="6364224"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Incremento 2</a:t>
            </a:r>
            <a:endParaRPr lang="en-US" sz="1200" dirty="0"/>
          </a:p>
        </p:txBody>
      </p:sp>
      <p:sp>
        <p:nvSpPr>
          <p:cNvPr id="20" name="Text 17"/>
          <p:cNvSpPr txBox="1"/>
          <p:nvPr/>
        </p:nvSpPr>
        <p:spPr>
          <a:xfrm>
            <a:off x="6364224"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Coberturas, pertinencia médica, duplicidad y concepto al escalar. Ningún agente niega.</a:t>
            </a:r>
            <a:endParaRPr lang="en-US" sz="1200" dirty="0"/>
          </a:p>
        </p:txBody>
      </p:sp>
      <p:sp>
        <p:nvSpPr>
          <p:cNvPr id="21" name="Shape 18"/>
          <p:cNvSpPr/>
          <p:nvPr/>
        </p:nvSpPr>
        <p:spPr>
          <a:xfrm>
            <a:off x="8997696" y="2176272"/>
            <a:ext cx="2606040" cy="1828800"/>
          </a:xfrm>
          <a:prstGeom prst="roundRect">
            <a:avLst>
              <a:gd name="adj" fmla="val 4000"/>
            </a:avLst>
          </a:prstGeom>
          <a:solidFill>
            <a:schemeClr val="accent4"/>
          </a:solidFill>
          <a:ln w="12700">
            <a:solidFill>
              <a:srgbClr val="DCD8EC"/>
            </a:solidFill>
            <a:prstDash val="solid"/>
          </a:ln>
        </p:spPr>
      </p:sp>
      <p:sp>
        <p:nvSpPr>
          <p:cNvPr id="22" name="Shape 19"/>
          <p:cNvSpPr/>
          <p:nvPr/>
        </p:nvSpPr>
        <p:spPr>
          <a:xfrm>
            <a:off x="9180576" y="2304288"/>
            <a:ext cx="2240280" cy="347472"/>
          </a:xfrm>
          <a:prstGeom prst="roundRect">
            <a:avLst>
              <a:gd name="adj" fmla="val 15789"/>
            </a:avLst>
          </a:prstGeom>
          <a:solidFill>
            <a:schemeClr val="accent1"/>
          </a:solidFill>
          <a:ln w="12700">
            <a:solidFill>
              <a:schemeClr val="accent1"/>
            </a:solidFill>
            <a:prstDash val="solid"/>
          </a:ln>
        </p:spPr>
      </p:sp>
      <p:sp>
        <p:nvSpPr>
          <p:cNvPr id="23" name="Text 20"/>
          <p:cNvSpPr txBox="1"/>
          <p:nvPr/>
        </p:nvSpPr>
        <p:spPr>
          <a:xfrm>
            <a:off x="9180576" y="2304288"/>
            <a:ext cx="2240280" cy="347472"/>
          </a:xfrm>
          <a:prstGeom prst="rect">
            <a:avLst/>
          </a:prstGeom>
          <a:noFill/>
          <a:ln/>
        </p:spPr>
        <p:txBody>
          <a:bodyPr wrap="square" lIns="0" tIns="0" rIns="0" bIns="0" rtlCol="0" anchor="ctr"/>
          <a:lstStyle/>
          <a:p>
            <a:pPr algn="ctr" indent="0" marL="0">
              <a:buNone/>
            </a:pPr>
            <a:r>
              <a:rPr lang="en-US" sz="1300" b="1" dirty="0">
                <a:solidFill>
                  <a:schemeClr val="bg1"/>
                </a:solidFill>
              </a:rPr>
              <a:t>Auditor y cierre</a:t>
            </a:r>
            <a:endParaRPr lang="en-US" sz="1300" dirty="0"/>
          </a:p>
        </p:txBody>
      </p:sp>
      <p:sp>
        <p:nvSpPr>
          <p:cNvPr id="24" name="Text 21"/>
          <p:cNvSpPr txBox="1"/>
          <p:nvPr/>
        </p:nvSpPr>
        <p:spPr>
          <a:xfrm>
            <a:off x="9180576" y="2724912"/>
            <a:ext cx="2240280" cy="256032"/>
          </a:xfrm>
          <a:prstGeom prst="rect">
            <a:avLst/>
          </a:prstGeom>
          <a:noFill/>
          <a:ln/>
        </p:spPr>
        <p:txBody>
          <a:bodyPr wrap="square" lIns="0" tIns="0" rIns="0" bIns="0" rtlCol="0" anchor="t"/>
          <a:lstStyle/>
          <a:p>
            <a:pPr indent="0" marL="0">
              <a:buNone/>
            </a:pPr>
            <a:r>
              <a:rPr lang="en-US" sz="1200" b="1" dirty="0">
                <a:solidFill>
                  <a:schemeClr val="accent2"/>
                </a:solidFill>
              </a:rPr>
              <a:t>Incremento 3</a:t>
            </a:r>
            <a:endParaRPr lang="en-US" sz="1200" dirty="0"/>
          </a:p>
        </p:txBody>
      </p:sp>
      <p:sp>
        <p:nvSpPr>
          <p:cNvPr id="25" name="Text 22"/>
          <p:cNvSpPr txBox="1"/>
          <p:nvPr/>
        </p:nvSpPr>
        <p:spPr>
          <a:xfrm>
            <a:off x="9180576" y="2999232"/>
            <a:ext cx="2240280" cy="960120"/>
          </a:xfrm>
          <a:prstGeom prst="rect">
            <a:avLst/>
          </a:prstGeom>
          <a:noFill/>
          <a:ln/>
        </p:spPr>
        <p:txBody>
          <a:bodyPr wrap="square" lIns="0" tIns="0" rIns="0" bIns="0" rtlCol="0" anchor="t"/>
          <a:lstStyle/>
          <a:p>
            <a:pPr indent="0" marL="0">
              <a:buNone/>
            </a:pPr>
            <a:r>
              <a:rPr lang="en-US" sz="1200" dirty="0">
                <a:solidFill>
                  <a:schemeClr val="tx1"/>
                </a:solidFill>
              </a:rPr>
              <a:t>Auditor dentro de cada gestor, que propone sin promover, y pruebas de punta a punta.</a:t>
            </a:r>
            <a:endParaRPr lang="en-US" sz="1200" dirty="0"/>
          </a:p>
        </p:txBody>
      </p:sp>
      <p:sp>
        <p:nvSpPr>
          <p:cNvPr id="26" name="Shape 23"/>
          <p:cNvSpPr/>
          <p:nvPr/>
        </p:nvSpPr>
        <p:spPr>
          <a:xfrm>
            <a:off x="3364992" y="4096512"/>
            <a:ext cx="2606040" cy="475488"/>
          </a:xfrm>
          <a:prstGeom prst="roundRect">
            <a:avLst>
              <a:gd name="adj" fmla="val 28846"/>
            </a:avLst>
          </a:prstGeom>
          <a:solidFill>
            <a:schemeClr val="bg1"/>
          </a:solidFill>
          <a:ln w="19050">
            <a:solidFill>
              <a:schemeClr val="accent3"/>
            </a:solidFill>
            <a:prstDash val="solid"/>
          </a:ln>
        </p:spPr>
      </p:sp>
      <p:sp>
        <p:nvSpPr>
          <p:cNvPr id="27" name="Text 24"/>
          <p:cNvSpPr txBox="1"/>
          <p:nvPr/>
        </p:nvSpPr>
        <p:spPr>
          <a:xfrm>
            <a:off x="3456432" y="4096512"/>
            <a:ext cx="2423160" cy="475488"/>
          </a:xfrm>
          <a:prstGeom prst="rect">
            <a:avLst/>
          </a:prstGeom>
          <a:noFill/>
          <a:ln/>
        </p:spPr>
        <p:txBody>
          <a:bodyPr wrap="square" lIns="0" tIns="0" rIns="0" bIns="0" rtlCol="0" anchor="ctr"/>
          <a:lstStyle/>
          <a:p>
            <a:pPr algn="ctr" indent="0" marL="0">
              <a:buNone/>
            </a:pPr>
            <a:r>
              <a:rPr lang="en-US" sz="1100" b="1" dirty="0">
                <a:solidFill>
                  <a:schemeClr val="accent3"/>
                </a:solidFill>
              </a:rPr>
              <a:t>Al cerrar · Corte 1: agentes de Solicitud en producción</a:t>
            </a:r>
            <a:endParaRPr lang="en-US" sz="1100" dirty="0"/>
          </a:p>
        </p:txBody>
      </p:sp>
      <p:sp>
        <p:nvSpPr>
          <p:cNvPr id="28" name="Shape 25"/>
          <p:cNvSpPr/>
          <p:nvPr/>
        </p:nvSpPr>
        <p:spPr>
          <a:xfrm>
            <a:off x="6181344" y="4096512"/>
            <a:ext cx="2606040" cy="475488"/>
          </a:xfrm>
          <a:prstGeom prst="roundRect">
            <a:avLst>
              <a:gd name="adj" fmla="val 28846"/>
            </a:avLst>
          </a:prstGeom>
          <a:solidFill>
            <a:schemeClr val="bg1"/>
          </a:solidFill>
          <a:ln w="19050">
            <a:solidFill>
              <a:schemeClr val="accent3"/>
            </a:solidFill>
            <a:prstDash val="solid"/>
          </a:ln>
        </p:spPr>
      </p:sp>
      <p:sp>
        <p:nvSpPr>
          <p:cNvPr id="29" name="Text 26"/>
          <p:cNvSpPr txBox="1"/>
          <p:nvPr/>
        </p:nvSpPr>
        <p:spPr>
          <a:xfrm>
            <a:off x="6272784" y="4096512"/>
            <a:ext cx="2423160" cy="475488"/>
          </a:xfrm>
          <a:prstGeom prst="rect">
            <a:avLst/>
          </a:prstGeom>
          <a:noFill/>
          <a:ln/>
        </p:spPr>
        <p:txBody>
          <a:bodyPr wrap="square" lIns="0" tIns="0" rIns="0" bIns="0" rtlCol="0" anchor="ctr"/>
          <a:lstStyle/>
          <a:p>
            <a:pPr algn="ctr" indent="0" marL="0">
              <a:buNone/>
            </a:pPr>
            <a:r>
              <a:rPr lang="en-US" sz="1100" b="1" dirty="0">
                <a:solidFill>
                  <a:schemeClr val="accent3"/>
                </a:solidFill>
              </a:rPr>
              <a:t>Al cerrar · Corte 2: autorización automática de nivel 1</a:t>
            </a:r>
            <a:endParaRPr lang="en-US" sz="1100" dirty="0"/>
          </a:p>
        </p:txBody>
      </p:sp>
      <p:sp>
        <p:nvSpPr>
          <p:cNvPr id="30" name="Shape 27"/>
          <p:cNvSpPr/>
          <p:nvPr/>
        </p:nvSpPr>
        <p:spPr>
          <a:xfrm>
            <a:off x="548640" y="4681728"/>
            <a:ext cx="11064240" cy="658368"/>
          </a:xfrm>
          <a:prstGeom prst="roundRect">
            <a:avLst>
              <a:gd name="adj" fmla="val 11111"/>
            </a:avLst>
          </a:prstGeom>
          <a:solidFill>
            <a:schemeClr val="tx2"/>
          </a:solidFill>
          <a:ln w="12700">
            <a:solidFill>
              <a:schemeClr val="tx2"/>
            </a:solidFill>
            <a:prstDash val="solid"/>
          </a:ln>
        </p:spPr>
      </p:sp>
      <p:sp>
        <p:nvSpPr>
          <p:cNvPr id="31" name="Text 28"/>
          <p:cNvSpPr txBox="1"/>
          <p:nvPr/>
        </p:nvSpPr>
        <p:spPr>
          <a:xfrm>
            <a:off x="777240" y="4681728"/>
            <a:ext cx="10607040" cy="658368"/>
          </a:xfrm>
          <a:prstGeom prst="rect">
            <a:avLst/>
          </a:prstGeom>
          <a:noFill/>
          <a:ln/>
        </p:spPr>
        <p:txBody>
          <a:bodyPr wrap="square" lIns="0" tIns="0" rIns="0" bIns="0" rtlCol="0" anchor="ctr"/>
          <a:lstStyle/>
          <a:p>
            <a:pPr indent="0" marL="0">
              <a:buNone/>
            </a:pPr>
            <a:r>
              <a:rPr lang="en-US" sz="1300" b="1" dirty="0">
                <a:solidFill>
                  <a:schemeClr val="bg1"/>
                </a:solidFill>
              </a:rPr>
              <a:t>Transversal · trazabilidad para la torre de control. </a:t>
            </a:r>
            <a:pPr indent="0" marL="0">
              <a:buNone/>
            </a:pPr>
            <a:r>
              <a:rPr lang="en-US" sz="1300" dirty="0">
                <a:solidFill>
                  <a:schemeClr val="bg1"/>
                </a:solidFill>
              </a:rPr>
              <a:t>Se define en el arranque y se implementa en todos los incrementos: cada agente deja su traza y emite sus eventos con el contrato acordado.</a:t>
            </a:r>
            <a:endParaRPr lang="en-US" sz="1300" dirty="0"/>
          </a:p>
        </p:txBody>
      </p:sp>
      <p:sp>
        <p:nvSpPr>
          <p:cNvPr id="32" name="Shape 29"/>
          <p:cNvSpPr/>
          <p:nvPr/>
        </p:nvSpPr>
        <p:spPr>
          <a:xfrm>
            <a:off x="548640" y="5440680"/>
            <a:ext cx="11064240" cy="566928"/>
          </a:xfrm>
          <a:prstGeom prst="roundRect">
            <a:avLst>
              <a:gd name="adj" fmla="val 12903"/>
            </a:avLst>
          </a:prstGeom>
          <a:solidFill>
            <a:schemeClr val="bg2"/>
          </a:solidFill>
          <a:ln w="12700">
            <a:solidFill>
              <a:schemeClr val="bg2"/>
            </a:solidFill>
            <a:prstDash val="solid"/>
          </a:ln>
        </p:spPr>
      </p:sp>
      <p:sp>
        <p:nvSpPr>
          <p:cNvPr id="33" name="Text 30"/>
          <p:cNvSpPr txBox="1"/>
          <p:nvPr/>
        </p:nvSpPr>
        <p:spPr>
          <a:xfrm>
            <a:off x="777240" y="5440680"/>
            <a:ext cx="10607040" cy="566928"/>
          </a:xfrm>
          <a:prstGeom prst="rect">
            <a:avLst/>
          </a:prstGeom>
          <a:noFill/>
          <a:ln/>
        </p:spPr>
        <p:txBody>
          <a:bodyPr wrap="square" lIns="0" tIns="0" rIns="0" bIns="0" rtlCol="0" anchor="ctr"/>
          <a:lstStyle/>
          <a:p>
            <a:pPr indent="0" marL="0">
              <a:buNone/>
            </a:pPr>
            <a:r>
              <a:rPr lang="en-US" sz="1300" b="1" dirty="0">
                <a:solidFill>
                  <a:schemeClr val="tx2"/>
                </a:solidFill>
              </a:rPr>
              <a:t>El ciclo de mejora va dentro. </a:t>
            </a:r>
            <a:pPr indent="0" marL="0">
              <a:buNone/>
            </a:pPr>
            <a:r>
              <a:rPr lang="en-US" sz="1300" dirty="0">
                <a:solidFill>
                  <a:schemeClr val="tx1"/>
                </a:solidFill>
              </a:rPr>
              <a:t>Traza, golden set, compuerta, umbral y calibración entran con Solicitud; corrección estructurada y muestreo, con Evaluación.</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w="12700">
            <a:solidFill>
              <a:schemeClr val="tx2"/>
            </a:solidFill>
            <a:prstDash val="solid"/>
          </a:ln>
        </p:spPr>
      </p:sp>
      <p:sp>
        <p:nvSpPr>
          <p:cNvPr id="3" name="Shape 1"/>
          <p:cNvSpPr/>
          <p:nvPr/>
        </p:nvSpPr>
        <p:spPr>
          <a:xfrm>
            <a:off x="822960" y="1920240"/>
            <a:ext cx="1737360" cy="914400"/>
          </a:xfrm>
          <a:prstGeom prst="roundRect">
            <a:avLst>
              <a:gd name="adj" fmla="val 10000"/>
            </a:avLst>
          </a:prstGeom>
          <a:solidFill>
            <a:schemeClr val="bg1"/>
          </a:solidFill>
          <a:ln w="12700">
            <a:solidFill>
              <a:schemeClr val="bg1"/>
            </a:solidFill>
            <a:prstDash val="solid"/>
          </a:ln>
        </p:spPr>
      </p:sp>
      <p:pic>
        <p:nvPicPr>
          <p:cNvPr id="4" name="Image 0" descr="preencoded.png">    </p:cNvPr>
          <p:cNvPicPr>
            <a:picLocks noChangeAspect="1"/>
          </p:cNvPicPr>
          <p:nvPr/>
        </p:nvPicPr>
        <p:blipFill>
          <a:blip r:embed="rId1"/>
          <a:stretch>
            <a:fillRect/>
          </a:stretch>
        </p:blipFill>
        <p:spPr>
          <a:xfrm>
            <a:off x="932688" y="1993392"/>
            <a:ext cx="1517904" cy="795528"/>
          </a:xfrm>
          <a:prstGeom prst="rect">
            <a:avLst/>
          </a:prstGeom>
        </p:spPr>
      </p:pic>
      <p:sp>
        <p:nvSpPr>
          <p:cNvPr id="5" name="Text 2"/>
          <p:cNvSpPr txBox="1"/>
          <p:nvPr/>
        </p:nvSpPr>
        <p:spPr>
          <a:xfrm>
            <a:off x="822960" y="3063240"/>
            <a:ext cx="10058400" cy="914400"/>
          </a:xfrm>
          <a:prstGeom prst="rect">
            <a:avLst/>
          </a:prstGeom>
          <a:noFill/>
          <a:ln/>
        </p:spPr>
        <p:txBody>
          <a:bodyPr wrap="square" lIns="0" tIns="0" rIns="0" bIns="0" rtlCol="0" anchor="t"/>
          <a:lstStyle/>
          <a:p>
            <a:pPr indent="0" marL="0">
              <a:buNone/>
            </a:pPr>
            <a:r>
              <a:rPr lang="en-US" sz="4800" b="1" dirty="0">
                <a:solidFill>
                  <a:schemeClr val="bg1"/>
                </a:solidFill>
                <a:latin typeface="+mj-lt" pitchFamily="34" charset="0"/>
                <a:ea typeface="+mj-lt" pitchFamily="34" charset="-122"/>
                <a:cs typeface="+mj-lt" pitchFamily="34" charset="-120"/>
              </a:rPr>
              <a:t>IA de Tech and Solve</a:t>
            </a:r>
            <a:endParaRPr lang="en-US" sz="4800" dirty="0"/>
          </a:p>
        </p:txBody>
      </p:sp>
      <p:sp>
        <p:nvSpPr>
          <p:cNvPr id="6" name="Text 3"/>
          <p:cNvSpPr txBox="1"/>
          <p:nvPr/>
        </p:nvSpPr>
        <p:spPr>
          <a:xfrm>
            <a:off x="822960" y="4069080"/>
            <a:ext cx="7772400" cy="822960"/>
          </a:xfrm>
          <a:prstGeom prst="rect">
            <a:avLst/>
          </a:prstGeom>
          <a:noFill/>
          <a:ln/>
        </p:spPr>
        <p:txBody>
          <a:bodyPr wrap="square" lIns="0" tIns="0" rIns="0" bIns="0" rtlCol="0" anchor="t"/>
          <a:lstStyle/>
          <a:p>
            <a:pPr indent="0" marL="0">
              <a:buNone/>
            </a:pPr>
            <a:r>
              <a:rPr lang="en-US" sz="2000" dirty="0">
                <a:solidFill>
                  <a:schemeClr val="bg2"/>
                </a:solidFill>
              </a:rPr>
              <a:t>Nuestra IA generativa propia, cómo potencia el proceso y por qué marca la diferencia.</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La IA de Tech and Solve: lo que la hace nuestra es lo que construimos encima del modelo</a:t>
            </a:r>
            <a:endParaRPr lang="en-US" sz="2800" dirty="0"/>
          </a:p>
        </p:txBody>
      </p:sp>
      <p:sp>
        <p:nvSpPr>
          <p:cNvPr id="4" name="Shape 1"/>
          <p:cNvSpPr/>
          <p:nvPr/>
        </p:nvSpPr>
        <p:spPr>
          <a:xfrm>
            <a:off x="548640" y="1600200"/>
            <a:ext cx="7223760" cy="822960"/>
          </a:xfrm>
          <a:prstGeom prst="roundRect">
            <a:avLst>
              <a:gd name="adj" fmla="val 8889"/>
            </a:avLst>
          </a:prstGeom>
          <a:solidFill>
            <a:schemeClr val="bg1"/>
          </a:solidFill>
          <a:ln w="25400">
            <a:solidFill>
              <a:schemeClr val="tx2"/>
            </a:solidFill>
            <a:prstDash val="solid"/>
          </a:ln>
        </p:spPr>
      </p:sp>
      <p:sp>
        <p:nvSpPr>
          <p:cNvPr id="5" name="Text 2"/>
          <p:cNvSpPr txBox="1"/>
          <p:nvPr/>
        </p:nvSpPr>
        <p:spPr>
          <a:xfrm>
            <a:off x="822960" y="1691640"/>
            <a:ext cx="6675120" cy="228600"/>
          </a:xfrm>
          <a:prstGeom prst="rect">
            <a:avLst/>
          </a:prstGeom>
          <a:noFill/>
          <a:ln/>
        </p:spPr>
        <p:txBody>
          <a:bodyPr wrap="square" lIns="0" tIns="0" rIns="0" bIns="0" rtlCol="0" anchor="t"/>
          <a:lstStyle/>
          <a:p>
            <a:pPr indent="0" marL="0">
              <a:buNone/>
            </a:pPr>
            <a:r>
              <a:rPr lang="en-US" sz="1000" b="1" spc="150" kern="0" dirty="0">
                <a:solidFill>
                  <a:schemeClr val="tx2"/>
                </a:solidFill>
              </a:rPr>
              <a:t>QUIÉN LA USA</a:t>
            </a:r>
            <a:endParaRPr lang="en-US" sz="1000" dirty="0"/>
          </a:p>
        </p:txBody>
      </p:sp>
      <p:sp>
        <p:nvSpPr>
          <p:cNvPr id="6" name="Text 3"/>
          <p:cNvSpPr txBox="1"/>
          <p:nvPr/>
        </p:nvSpPr>
        <p:spPr>
          <a:xfrm>
            <a:off x="822960" y="1947672"/>
            <a:ext cx="6675120" cy="384048"/>
          </a:xfrm>
          <a:prstGeom prst="rect">
            <a:avLst/>
          </a:prstGeom>
          <a:noFill/>
          <a:ln/>
        </p:spPr>
        <p:txBody>
          <a:bodyPr wrap="square" lIns="0" tIns="0" rIns="0" bIns="0" rtlCol="0" anchor="ctr"/>
          <a:lstStyle/>
          <a:p>
            <a:pPr indent="0" marL="0">
              <a:buNone/>
            </a:pPr>
            <a:r>
              <a:rPr lang="en-US" sz="1400" b="1" dirty="0">
                <a:solidFill>
                  <a:schemeClr val="tx2"/>
                </a:solidFill>
              </a:rPr>
              <a:t>Solo el equipo tech de Tech and Solve. </a:t>
            </a:r>
            <a:pPr indent="0" marL="0">
              <a:buNone/>
            </a:pPr>
            <a:r>
              <a:rPr lang="en-US" sz="1400" dirty="0">
                <a:solidFill>
                  <a:schemeClr val="tx1"/>
                </a:solidFill>
              </a:rPr>
              <a:t>No se comercializa ni se abre a terceros.</a:t>
            </a:r>
            <a:endParaRPr lang="en-US" sz="1400" dirty="0"/>
          </a:p>
        </p:txBody>
      </p:sp>
      <p:sp>
        <p:nvSpPr>
          <p:cNvPr id="7" name="Shape 4"/>
          <p:cNvSpPr/>
          <p:nvPr/>
        </p:nvSpPr>
        <p:spPr>
          <a:xfrm>
            <a:off x="548640" y="2542032"/>
            <a:ext cx="7223760" cy="2240280"/>
          </a:xfrm>
          <a:prstGeom prst="roundRect">
            <a:avLst>
              <a:gd name="adj" fmla="val 3265"/>
            </a:avLst>
          </a:prstGeom>
          <a:solidFill>
            <a:schemeClr val="tx2"/>
          </a:solidFill>
          <a:ln w="12700">
            <a:solidFill>
              <a:schemeClr val="tx2"/>
            </a:solidFill>
            <a:prstDash val="solid"/>
          </a:ln>
        </p:spPr>
      </p:sp>
      <p:sp>
        <p:nvSpPr>
          <p:cNvPr id="8" name="Text 5"/>
          <p:cNvSpPr txBox="1"/>
          <p:nvPr/>
        </p:nvSpPr>
        <p:spPr>
          <a:xfrm>
            <a:off x="822960" y="2697480"/>
            <a:ext cx="6675120" cy="228600"/>
          </a:xfrm>
          <a:prstGeom prst="rect">
            <a:avLst/>
          </a:prstGeom>
          <a:noFill/>
          <a:ln/>
        </p:spPr>
        <p:txBody>
          <a:bodyPr wrap="square" lIns="0" tIns="0" rIns="0" bIns="0" rtlCol="0" anchor="t"/>
          <a:lstStyle/>
          <a:p>
            <a:pPr indent="0" marL="0">
              <a:buNone/>
            </a:pPr>
            <a:r>
              <a:rPr lang="en-US" sz="1000" b="1" spc="150" kern="0" dirty="0">
                <a:solidFill>
                  <a:schemeClr val="bg2"/>
                </a:solidFill>
              </a:rPr>
              <a:t>LO QUE CONSTRUIMOS · LA IA DE TECH AND SOLVE</a:t>
            </a:r>
            <a:endParaRPr lang="en-US" sz="1000" dirty="0"/>
          </a:p>
        </p:txBody>
      </p:sp>
      <p:sp>
        <p:nvSpPr>
          <p:cNvPr id="9" name="Text 6"/>
          <p:cNvSpPr txBox="1"/>
          <p:nvPr/>
        </p:nvSpPr>
        <p:spPr>
          <a:xfrm>
            <a:off x="822960" y="2971800"/>
            <a:ext cx="6675120" cy="457200"/>
          </a:xfrm>
          <a:prstGeom prst="rect">
            <a:avLst/>
          </a:prstGeom>
          <a:noFill/>
          <a:ln/>
        </p:spPr>
        <p:txBody>
          <a:bodyPr wrap="square" lIns="0" tIns="0" rIns="0" bIns="0" rtlCol="0" anchor="t"/>
          <a:lstStyle/>
          <a:p>
            <a:pPr indent="0" marL="0">
              <a:buNone/>
            </a:pPr>
            <a:r>
              <a:rPr lang="en-US" sz="2000" b="1" dirty="0">
                <a:solidFill>
                  <a:schemeClr val="bg1"/>
                </a:solidFill>
              </a:rPr>
              <a:t>Conocimiento, proceso y controles propios</a:t>
            </a:r>
            <a:endParaRPr lang="en-US" sz="2000" dirty="0"/>
          </a:p>
        </p:txBody>
      </p:sp>
      <p:sp>
        <p:nvSpPr>
          <p:cNvPr id="10" name="Shape 7"/>
          <p:cNvSpPr/>
          <p:nvPr/>
        </p:nvSpPr>
        <p:spPr>
          <a:xfrm>
            <a:off x="822960" y="3520440"/>
            <a:ext cx="1837944" cy="365760"/>
          </a:xfrm>
          <a:prstGeom prst="roundRect">
            <a:avLst>
              <a:gd name="adj" fmla="val 50000"/>
            </a:avLst>
          </a:prstGeom>
          <a:solidFill>
            <a:schemeClr val="bg1"/>
          </a:solidFill>
          <a:ln w="12700">
            <a:solidFill>
              <a:schemeClr val="bg1"/>
            </a:solidFill>
            <a:prstDash val="solid"/>
          </a:ln>
        </p:spPr>
      </p:sp>
      <p:sp>
        <p:nvSpPr>
          <p:cNvPr id="11" name="Text 8"/>
          <p:cNvSpPr txBox="1"/>
          <p:nvPr/>
        </p:nvSpPr>
        <p:spPr>
          <a:xfrm>
            <a:off x="822960" y="3520440"/>
            <a:ext cx="1837944" cy="365760"/>
          </a:xfrm>
          <a:prstGeom prst="rect">
            <a:avLst/>
          </a:prstGeom>
          <a:noFill/>
          <a:ln/>
        </p:spPr>
        <p:txBody>
          <a:bodyPr wrap="square" lIns="0" tIns="0" rIns="0" bIns="0" rtlCol="0" anchor="ctr"/>
          <a:lstStyle/>
          <a:p>
            <a:pPr algn="ctr" indent="0" marL="0">
              <a:buNone/>
            </a:pPr>
            <a:r>
              <a:rPr lang="en-US" sz="1150" b="1" dirty="0">
                <a:solidFill>
                  <a:schemeClr val="tx2"/>
                </a:solidFill>
              </a:rPr>
              <a:t>Base de conocimiento</a:t>
            </a:r>
            <a:endParaRPr lang="en-US" sz="1150" dirty="0"/>
          </a:p>
        </p:txBody>
      </p:sp>
      <p:sp>
        <p:nvSpPr>
          <p:cNvPr id="12" name="Shape 9"/>
          <p:cNvSpPr/>
          <p:nvPr/>
        </p:nvSpPr>
        <p:spPr>
          <a:xfrm>
            <a:off x="2770632" y="3520440"/>
            <a:ext cx="1623974" cy="365760"/>
          </a:xfrm>
          <a:prstGeom prst="roundRect">
            <a:avLst>
              <a:gd name="adj" fmla="val 50000"/>
            </a:avLst>
          </a:prstGeom>
          <a:solidFill>
            <a:schemeClr val="bg1"/>
          </a:solidFill>
          <a:ln w="12700">
            <a:solidFill>
              <a:schemeClr val="bg1"/>
            </a:solidFill>
            <a:prstDash val="solid"/>
          </a:ln>
        </p:spPr>
      </p:sp>
      <p:sp>
        <p:nvSpPr>
          <p:cNvPr id="13" name="Text 10"/>
          <p:cNvSpPr txBox="1"/>
          <p:nvPr/>
        </p:nvSpPr>
        <p:spPr>
          <a:xfrm>
            <a:off x="2770632" y="3520440"/>
            <a:ext cx="1623974" cy="365760"/>
          </a:xfrm>
          <a:prstGeom prst="rect">
            <a:avLst/>
          </a:prstGeom>
          <a:noFill/>
          <a:ln/>
        </p:spPr>
        <p:txBody>
          <a:bodyPr wrap="square" lIns="0" tIns="0" rIns="0" bIns="0" rtlCol="0" anchor="ctr"/>
          <a:lstStyle/>
          <a:p>
            <a:pPr algn="ctr" indent="0" marL="0">
              <a:buNone/>
            </a:pPr>
            <a:r>
              <a:rPr lang="en-US" sz="1150" b="1" dirty="0">
                <a:solidFill>
                  <a:schemeClr val="tx2"/>
                </a:solidFill>
              </a:rPr>
              <a:t>Proceso por fases</a:t>
            </a:r>
            <a:endParaRPr lang="en-US" sz="1150" dirty="0"/>
          </a:p>
        </p:txBody>
      </p:sp>
      <p:sp>
        <p:nvSpPr>
          <p:cNvPr id="14" name="Shape 11"/>
          <p:cNvSpPr/>
          <p:nvPr/>
        </p:nvSpPr>
        <p:spPr>
          <a:xfrm>
            <a:off x="4504334" y="3520440"/>
            <a:ext cx="2551176" cy="365760"/>
          </a:xfrm>
          <a:prstGeom prst="roundRect">
            <a:avLst>
              <a:gd name="adj" fmla="val 50000"/>
            </a:avLst>
          </a:prstGeom>
          <a:solidFill>
            <a:schemeClr val="bg1"/>
          </a:solidFill>
          <a:ln w="12700">
            <a:solidFill>
              <a:schemeClr val="bg1"/>
            </a:solidFill>
            <a:prstDash val="solid"/>
          </a:ln>
        </p:spPr>
      </p:sp>
      <p:sp>
        <p:nvSpPr>
          <p:cNvPr id="15" name="Text 12"/>
          <p:cNvSpPr txBox="1"/>
          <p:nvPr/>
        </p:nvSpPr>
        <p:spPr>
          <a:xfrm>
            <a:off x="4504334" y="3520440"/>
            <a:ext cx="2551176" cy="365760"/>
          </a:xfrm>
          <a:prstGeom prst="rect">
            <a:avLst/>
          </a:prstGeom>
          <a:noFill/>
          <a:ln/>
        </p:spPr>
        <p:txBody>
          <a:bodyPr wrap="square" lIns="0" tIns="0" rIns="0" bIns="0" rtlCol="0" anchor="ctr"/>
          <a:lstStyle/>
          <a:p>
            <a:pPr algn="ctr" indent="0" marL="0">
              <a:buNone/>
            </a:pPr>
            <a:r>
              <a:rPr lang="en-US" sz="1150" b="1" dirty="0">
                <a:solidFill>
                  <a:schemeClr val="tx2"/>
                </a:solidFill>
              </a:rPr>
              <a:t>Reglas desde revisiones reales</a:t>
            </a:r>
            <a:endParaRPr lang="en-US" sz="1150" dirty="0"/>
          </a:p>
        </p:txBody>
      </p:sp>
      <p:sp>
        <p:nvSpPr>
          <p:cNvPr id="16" name="Shape 13"/>
          <p:cNvSpPr/>
          <p:nvPr/>
        </p:nvSpPr>
        <p:spPr>
          <a:xfrm>
            <a:off x="822960" y="3995928"/>
            <a:ext cx="1980590" cy="365760"/>
          </a:xfrm>
          <a:prstGeom prst="roundRect">
            <a:avLst>
              <a:gd name="adj" fmla="val 50000"/>
            </a:avLst>
          </a:prstGeom>
          <a:solidFill>
            <a:schemeClr val="bg1"/>
          </a:solidFill>
          <a:ln w="12700">
            <a:solidFill>
              <a:schemeClr val="bg1"/>
            </a:solidFill>
            <a:prstDash val="solid"/>
          </a:ln>
        </p:spPr>
      </p:sp>
      <p:sp>
        <p:nvSpPr>
          <p:cNvPr id="17" name="Text 14"/>
          <p:cNvSpPr txBox="1"/>
          <p:nvPr/>
        </p:nvSpPr>
        <p:spPr>
          <a:xfrm>
            <a:off x="822960" y="3995928"/>
            <a:ext cx="1980590" cy="365760"/>
          </a:xfrm>
          <a:prstGeom prst="rect">
            <a:avLst/>
          </a:prstGeom>
          <a:noFill/>
          <a:ln/>
        </p:spPr>
        <p:txBody>
          <a:bodyPr wrap="square" lIns="0" tIns="0" rIns="0" bIns="0" rtlCol="0" anchor="ctr"/>
          <a:lstStyle/>
          <a:p>
            <a:pPr algn="ctr" indent="0" marL="0">
              <a:buNone/>
            </a:pPr>
            <a:r>
              <a:rPr lang="en-US" sz="1150" b="1" dirty="0">
                <a:solidFill>
                  <a:schemeClr val="tx2"/>
                </a:solidFill>
              </a:rPr>
              <a:t>Agentes especializados</a:t>
            </a:r>
            <a:endParaRPr lang="en-US" sz="1150" dirty="0"/>
          </a:p>
        </p:txBody>
      </p:sp>
      <p:sp>
        <p:nvSpPr>
          <p:cNvPr id="18" name="Shape 15"/>
          <p:cNvSpPr/>
          <p:nvPr/>
        </p:nvSpPr>
        <p:spPr>
          <a:xfrm>
            <a:off x="2913278" y="3995928"/>
            <a:ext cx="2123237" cy="365760"/>
          </a:xfrm>
          <a:prstGeom prst="roundRect">
            <a:avLst>
              <a:gd name="adj" fmla="val 50000"/>
            </a:avLst>
          </a:prstGeom>
          <a:solidFill>
            <a:schemeClr val="bg1"/>
          </a:solidFill>
          <a:ln w="12700">
            <a:solidFill>
              <a:schemeClr val="bg1"/>
            </a:solidFill>
            <a:prstDash val="solid"/>
          </a:ln>
        </p:spPr>
      </p:sp>
      <p:sp>
        <p:nvSpPr>
          <p:cNvPr id="19" name="Text 16"/>
          <p:cNvSpPr txBox="1"/>
          <p:nvPr/>
        </p:nvSpPr>
        <p:spPr>
          <a:xfrm>
            <a:off x="2913278" y="3995928"/>
            <a:ext cx="2123237" cy="365760"/>
          </a:xfrm>
          <a:prstGeom prst="rect">
            <a:avLst/>
          </a:prstGeom>
          <a:noFill/>
          <a:ln/>
        </p:spPr>
        <p:txBody>
          <a:bodyPr wrap="square" lIns="0" tIns="0" rIns="0" bIns="0" rtlCol="0" anchor="ctr"/>
          <a:lstStyle/>
          <a:p>
            <a:pPr algn="ctr" indent="0" marL="0">
              <a:buNone/>
            </a:pPr>
            <a:r>
              <a:rPr lang="en-US" sz="1150" b="1" dirty="0">
                <a:solidFill>
                  <a:schemeClr val="tx2"/>
                </a:solidFill>
              </a:rPr>
              <a:t>Controles y firma humana</a:t>
            </a:r>
            <a:endParaRPr lang="en-US" sz="1150" dirty="0"/>
          </a:p>
        </p:txBody>
      </p:sp>
      <p:sp>
        <p:nvSpPr>
          <p:cNvPr id="20" name="Shape 17"/>
          <p:cNvSpPr/>
          <p:nvPr/>
        </p:nvSpPr>
        <p:spPr>
          <a:xfrm>
            <a:off x="548640" y="4901184"/>
            <a:ext cx="7223760" cy="1005840"/>
          </a:xfrm>
          <a:prstGeom prst="roundRect">
            <a:avLst>
              <a:gd name="adj" fmla="val 7273"/>
            </a:avLst>
          </a:prstGeom>
          <a:solidFill>
            <a:schemeClr val="accent4"/>
          </a:solidFill>
          <a:ln w="12700">
            <a:solidFill>
              <a:srgbClr val="DCD8EC"/>
            </a:solidFill>
            <a:prstDash val="solid"/>
          </a:ln>
        </p:spPr>
      </p:sp>
      <p:sp>
        <p:nvSpPr>
          <p:cNvPr id="21" name="Text 18"/>
          <p:cNvSpPr txBox="1"/>
          <p:nvPr/>
        </p:nvSpPr>
        <p:spPr>
          <a:xfrm>
            <a:off x="822960" y="5010912"/>
            <a:ext cx="6675120" cy="228600"/>
          </a:xfrm>
          <a:prstGeom prst="rect">
            <a:avLst/>
          </a:prstGeom>
          <a:noFill/>
          <a:ln/>
        </p:spPr>
        <p:txBody>
          <a:bodyPr wrap="square" lIns="0" tIns="0" rIns="0" bIns="0" rtlCol="0" anchor="t"/>
          <a:lstStyle/>
          <a:p>
            <a:pPr indent="0" marL="0">
              <a:buNone/>
            </a:pPr>
            <a:r>
              <a:rPr lang="en-US" sz="1000" b="1" spc="150" kern="0" dirty="0">
                <a:solidFill>
                  <a:schemeClr val="accent6"/>
                </a:solidFill>
              </a:rPr>
              <a:t>SOBRE MODELOS DE PRIMER NIVEL</a:t>
            </a:r>
            <a:endParaRPr lang="en-US" sz="1000" dirty="0"/>
          </a:p>
        </p:txBody>
      </p:sp>
      <p:sp>
        <p:nvSpPr>
          <p:cNvPr id="22" name="Shape 19"/>
          <p:cNvSpPr/>
          <p:nvPr/>
        </p:nvSpPr>
        <p:spPr>
          <a:xfrm>
            <a:off x="822960" y="5303520"/>
            <a:ext cx="1152144" cy="365760"/>
          </a:xfrm>
          <a:prstGeom prst="roundRect">
            <a:avLst>
              <a:gd name="adj" fmla="val 50000"/>
            </a:avLst>
          </a:prstGeom>
          <a:solidFill>
            <a:schemeClr val="accent6"/>
          </a:solidFill>
          <a:ln w="12700">
            <a:solidFill>
              <a:schemeClr val="accent6"/>
            </a:solidFill>
            <a:prstDash val="solid"/>
          </a:ln>
        </p:spPr>
      </p:sp>
      <p:sp>
        <p:nvSpPr>
          <p:cNvPr id="23" name="Text 20"/>
          <p:cNvSpPr txBox="1"/>
          <p:nvPr/>
        </p:nvSpPr>
        <p:spPr>
          <a:xfrm>
            <a:off x="822960" y="5303520"/>
            <a:ext cx="1152144" cy="365760"/>
          </a:xfrm>
          <a:prstGeom prst="rect">
            <a:avLst/>
          </a:prstGeom>
          <a:noFill/>
          <a:ln/>
        </p:spPr>
        <p:txBody>
          <a:bodyPr wrap="square" lIns="0" tIns="0" rIns="0" bIns="0" rtlCol="0" anchor="ctr"/>
          <a:lstStyle/>
          <a:p>
            <a:pPr algn="ctr" indent="0" marL="0">
              <a:buNone/>
            </a:pPr>
            <a:r>
              <a:rPr lang="en-US" sz="1200" b="1" dirty="0">
                <a:solidFill>
                  <a:schemeClr val="bg1"/>
                </a:solidFill>
              </a:rPr>
              <a:t>Anthropic</a:t>
            </a:r>
            <a:endParaRPr lang="en-US" sz="1200" dirty="0"/>
          </a:p>
        </p:txBody>
      </p:sp>
      <p:sp>
        <p:nvSpPr>
          <p:cNvPr id="24" name="Text 21"/>
          <p:cNvSpPr txBox="1"/>
          <p:nvPr/>
        </p:nvSpPr>
        <p:spPr>
          <a:xfrm>
            <a:off x="2148840" y="5303520"/>
            <a:ext cx="5303520" cy="365760"/>
          </a:xfrm>
          <a:prstGeom prst="rect">
            <a:avLst/>
          </a:prstGeom>
          <a:noFill/>
          <a:ln/>
        </p:spPr>
        <p:txBody>
          <a:bodyPr wrap="square" lIns="0" tIns="0" rIns="0" bIns="0" rtlCol="0" anchor="ctr"/>
          <a:lstStyle/>
          <a:p>
            <a:pPr indent="0" marL="0">
              <a:buNone/>
            </a:pPr>
            <a:r>
              <a:rPr lang="en-US" sz="1200" dirty="0">
                <a:solidFill>
                  <a:schemeClr val="accent6"/>
                </a:solidFill>
              </a:rPr>
              <a:t>Según la complejidad de cada tarea · siempre con autorización de SURA</a:t>
            </a:r>
            <a:endParaRPr lang="en-US" sz="1200" dirty="0"/>
          </a:p>
        </p:txBody>
      </p:sp>
      <p:sp>
        <p:nvSpPr>
          <p:cNvPr id="25" name="Shape 22"/>
          <p:cNvSpPr/>
          <p:nvPr/>
        </p:nvSpPr>
        <p:spPr>
          <a:xfrm>
            <a:off x="8046720" y="1600200"/>
            <a:ext cx="3593592" cy="1325880"/>
          </a:xfrm>
          <a:prstGeom prst="roundRect">
            <a:avLst>
              <a:gd name="adj" fmla="val 5517"/>
            </a:avLst>
          </a:prstGeom>
          <a:solidFill>
            <a:schemeClr val="accent4"/>
          </a:solidFill>
          <a:ln w="12700">
            <a:solidFill>
              <a:srgbClr val="DCD8EC"/>
            </a:solidFill>
            <a:prstDash val="solid"/>
          </a:ln>
        </p:spPr>
      </p:sp>
      <p:sp>
        <p:nvSpPr>
          <p:cNvPr id="26" name="Text 23"/>
          <p:cNvSpPr txBox="1"/>
          <p:nvPr/>
        </p:nvSpPr>
        <p:spPr>
          <a:xfrm>
            <a:off x="8229600" y="1645920"/>
            <a:ext cx="3227832" cy="1234440"/>
          </a:xfrm>
          <a:prstGeom prst="rect">
            <a:avLst/>
          </a:prstGeom>
          <a:noFill/>
          <a:ln/>
        </p:spPr>
        <p:txBody>
          <a:bodyPr wrap="square" lIns="0" tIns="0" rIns="0" bIns="0" rtlCol="0" anchor="ctr"/>
          <a:lstStyle/>
          <a:p>
            <a:pPr indent="0" marL="0">
              <a:buNone/>
            </a:pPr>
            <a:r>
              <a:rPr lang="en-US" sz="1300" b="1" dirty="0">
                <a:solidFill>
                  <a:schemeClr val="tx2"/>
                </a:solidFill>
              </a:rPr>
              <a:t>Ya opera en proyectos de clientes</a:t>
            </a:r>
            <a:endParaRPr lang="en-US" sz="1300" dirty="0"/>
          </a:p>
          <a:p>
            <a:pPr indent="0" marL="0">
              <a:buNone/>
            </a:pPr>
            <a:r>
              <a:rPr lang="en-US" sz="1300" dirty="0">
                <a:solidFill>
                  <a:schemeClr val="accent6"/>
                </a:solidFill>
              </a:rPr>
              <a:t>No es un piloto: es como trabajamos hoy.</a:t>
            </a:r>
            <a:endParaRPr lang="en-US" sz="1300" dirty="0"/>
          </a:p>
        </p:txBody>
      </p:sp>
      <p:sp>
        <p:nvSpPr>
          <p:cNvPr id="27" name="Shape 24"/>
          <p:cNvSpPr/>
          <p:nvPr/>
        </p:nvSpPr>
        <p:spPr>
          <a:xfrm>
            <a:off x="8046720" y="3086100"/>
            <a:ext cx="3593592" cy="1325880"/>
          </a:xfrm>
          <a:prstGeom prst="roundRect">
            <a:avLst>
              <a:gd name="adj" fmla="val 5517"/>
            </a:avLst>
          </a:prstGeom>
          <a:solidFill>
            <a:schemeClr val="accent4"/>
          </a:solidFill>
          <a:ln w="12700">
            <a:solidFill>
              <a:srgbClr val="DCD8EC"/>
            </a:solidFill>
            <a:prstDash val="solid"/>
          </a:ln>
        </p:spPr>
      </p:sp>
      <p:sp>
        <p:nvSpPr>
          <p:cNvPr id="28" name="Text 25"/>
          <p:cNvSpPr txBox="1"/>
          <p:nvPr/>
        </p:nvSpPr>
        <p:spPr>
          <a:xfrm>
            <a:off x="8229600" y="3131820"/>
            <a:ext cx="3227832" cy="1234440"/>
          </a:xfrm>
          <a:prstGeom prst="rect">
            <a:avLst/>
          </a:prstGeom>
          <a:noFill/>
          <a:ln/>
        </p:spPr>
        <p:txBody>
          <a:bodyPr wrap="square" lIns="0" tIns="0" rIns="0" bIns="0" rtlCol="0" anchor="ctr"/>
          <a:lstStyle/>
          <a:p>
            <a:pPr indent="0" marL="0">
              <a:buNone/>
            </a:pPr>
            <a:r>
              <a:rPr lang="en-US" sz="1300" b="1" dirty="0">
                <a:solidFill>
                  <a:schemeClr val="tx2"/>
                </a:solidFill>
              </a:rPr>
              <a:t>Madurez medida</a:t>
            </a:r>
            <a:endParaRPr lang="en-US" sz="1300" dirty="0"/>
          </a:p>
          <a:p>
            <a:pPr indent="0" marL="0">
              <a:buNone/>
            </a:pPr>
            <a:r>
              <a:rPr lang="en-US" sz="1300" dirty="0">
                <a:solidFill>
                  <a:schemeClr val="accent6"/>
                </a:solidFill>
              </a:rPr>
              <a:t>Medimos su madurez con métricas de equipo y la mejoramos con evidencia.</a:t>
            </a:r>
            <a:endParaRPr lang="en-US" sz="1300" dirty="0"/>
          </a:p>
        </p:txBody>
      </p:sp>
      <p:sp>
        <p:nvSpPr>
          <p:cNvPr id="29" name="Shape 26"/>
          <p:cNvSpPr/>
          <p:nvPr/>
        </p:nvSpPr>
        <p:spPr>
          <a:xfrm>
            <a:off x="8046720" y="4572000"/>
            <a:ext cx="3593592" cy="1325880"/>
          </a:xfrm>
          <a:prstGeom prst="roundRect">
            <a:avLst>
              <a:gd name="adj" fmla="val 5517"/>
            </a:avLst>
          </a:prstGeom>
          <a:solidFill>
            <a:schemeClr val="accent4"/>
          </a:solidFill>
          <a:ln w="12700">
            <a:solidFill>
              <a:srgbClr val="DCD8EC"/>
            </a:solidFill>
            <a:prstDash val="solid"/>
          </a:ln>
        </p:spPr>
      </p:sp>
      <p:sp>
        <p:nvSpPr>
          <p:cNvPr id="30" name="Text 27"/>
          <p:cNvSpPr txBox="1"/>
          <p:nvPr/>
        </p:nvSpPr>
        <p:spPr>
          <a:xfrm>
            <a:off x="8229600" y="4617720"/>
            <a:ext cx="3227832" cy="1234440"/>
          </a:xfrm>
          <a:prstGeom prst="rect">
            <a:avLst/>
          </a:prstGeom>
          <a:noFill/>
          <a:ln/>
        </p:spPr>
        <p:txBody>
          <a:bodyPr wrap="square" lIns="0" tIns="0" rIns="0" bIns="0" rtlCol="0" anchor="ctr"/>
          <a:lstStyle/>
          <a:p>
            <a:pPr indent="0" marL="0">
              <a:buNone/>
            </a:pPr>
            <a:r>
              <a:rPr lang="en-US" sz="1300" b="1" dirty="0">
                <a:solidFill>
                  <a:schemeClr val="tx2"/>
                </a:solidFill>
              </a:rPr>
              <a:t>Uso responsable</a:t>
            </a:r>
            <a:endParaRPr lang="en-US" sz="1300" dirty="0"/>
          </a:p>
          <a:p>
            <a:pPr indent="0" marL="0">
              <a:buNone/>
            </a:pPr>
            <a:r>
              <a:rPr lang="en-US" sz="1300" dirty="0">
                <a:solidFill>
                  <a:schemeClr val="accent6"/>
                </a:solidFill>
              </a:rPr>
              <a:t>Cada desarrollador se forma en buenos principios y en proteger los datos del cliente.</a:t>
            </a:r>
            <a:endParaRPr lang="en-US" sz="13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Así trabaja la IA de Tech and Solve: no es un IDE con IA</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828800"/>
                <a:gridCol w="3291840"/>
                <a:gridCol w="5943600"/>
              </a:tblGrid>
              <a:tr h="384048">
                <a:tc>
                  <a:txBody>
                    <a:bodyPr/>
                    <a:lstStyle/>
                    <a:p>
                      <a:pPr indent="0" marL="0">
                        <a:buNone/>
                      </a:pP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Un IDE con IA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La IA de Tech and Solve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r>
              <a:tr h="585216">
                <a:tc>
                  <a:txBody>
                    <a:bodyPr/>
                    <a:lstStyle/>
                    <a:p>
                      <a:pPr indent="0" marL="0">
                        <a:buNone/>
                      </a:pPr>
                      <a:r>
                        <a:rPr lang="en-US" sz="1300" b="1" dirty="0">
                          <a:solidFill>
                            <a:schemeClr val="tx2"/>
                          </a:solidFill>
                        </a:rPr>
                        <a:t>Contexto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Lo que el desarrollador pegue en el chat.</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Una base de conocimiento del sistema, citada con evidencia y sincronizada con el código antes de cada sesión.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Reglas</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Las que el desarrollador recuerde.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Reglas escritas a partir de revisiones de código reales, que el agente aplica siempre.</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Proceso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Libre: se pide y se genera.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Un proceso por fases: primero analiza, se detiene si hay bloqueos y solo entonces implementa.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Control</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Depende de la disciplina de cada quien.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Compuertas que el agente no puede saltar: no escribe sin pasar la de análisis ni publica sin la firma de una persona.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Revisión y evidencia</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Al final, en el pull request.</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Agentes auditores revisan requisitos y evidencia de pruebas; cada cambio llega con su porqué.</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585216">
                <a:tc>
                  <a:txBody>
                    <a:bodyPr/>
                    <a:lstStyle/>
                    <a:p>
                      <a:pPr indent="0" marL="0">
                        <a:buNone/>
                      </a:pPr>
                      <a:r>
                        <a:rPr lang="en-US" sz="1300" b="1" dirty="0">
                          <a:solidFill>
                            <a:schemeClr val="tx2"/>
                          </a:solidFill>
                        </a:rPr>
                        <a:t>Continuidad</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chemeClr val="accent6"/>
                          </a:solidFill>
                        </a:rPr>
                        <a:t>Se pierde al cerrar la sesión.</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300" dirty="0">
                          <a:solidFill>
                            <a:srgbClr val="000000"/>
                          </a:solidFill>
                        </a:rPr>
                        <a:t>Cada tarea deja sus artefactos versionados y se retoma en cualquier momento.</a:t>
                      </a:r>
                      <a:endParaRPr lang="en-US" sz="13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669280"/>
            <a:ext cx="11064240" cy="502920"/>
          </a:xfrm>
          <a:prstGeom prst="rect">
            <a:avLst/>
          </a:prstGeom>
          <a:noFill/>
          <a:ln/>
        </p:spPr>
        <p:txBody>
          <a:bodyPr wrap="square" lIns="0" tIns="0" rIns="0" bIns="0" rtlCol="0" anchor="ctr"/>
          <a:lstStyle/>
          <a:p>
            <a:pPr indent="0" marL="0">
              <a:buNone/>
            </a:pPr>
            <a:r>
              <a:rPr lang="en-US" sz="1500" b="1" dirty="0">
                <a:solidFill>
                  <a:schemeClr val="tx2"/>
                </a:solidFill>
              </a:rPr>
              <a:t>Un IDE con IA acelera a quien escribe. La nuestra acelera al equipo, con conocimiento, reglas y control incorporados.</a:t>
            </a:r>
            <a:endParaRPr lang="en-US" sz="15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Nuestra IA potencia cada etapa, y una persona valida cada paso</a:t>
            </a:r>
            <a:endParaRPr lang="en-US" sz="2800" dirty="0"/>
          </a:p>
        </p:txBody>
      </p:sp>
      <p:sp>
        <p:nvSpPr>
          <p:cNvPr id="4" name="Shape 1"/>
          <p:cNvSpPr/>
          <p:nvPr/>
        </p:nvSpPr>
        <p:spPr>
          <a:xfrm>
            <a:off x="548640" y="1508760"/>
            <a:ext cx="2117750" cy="1938528"/>
          </a:xfrm>
          <a:prstGeom prst="roundRect">
            <a:avLst>
              <a:gd name="adj" fmla="val 3774"/>
            </a:avLst>
          </a:prstGeom>
          <a:solidFill>
            <a:schemeClr val="accent4"/>
          </a:solidFill>
          <a:ln w="12700">
            <a:solidFill>
              <a:srgbClr val="DCD8EC"/>
            </a:solidFill>
            <a:prstDash val="solid"/>
          </a:ln>
        </p:spPr>
      </p:sp>
      <p:sp>
        <p:nvSpPr>
          <p:cNvPr id="5" name="Shape 2"/>
          <p:cNvSpPr/>
          <p:nvPr/>
        </p:nvSpPr>
        <p:spPr>
          <a:xfrm>
            <a:off x="658368" y="1618488"/>
            <a:ext cx="347472" cy="347472"/>
          </a:xfrm>
          <a:prstGeom prst="ellipse">
            <a:avLst/>
          </a:prstGeom>
          <a:solidFill>
            <a:schemeClr val="accent2"/>
          </a:solidFill>
          <a:ln w="12700">
            <a:solidFill>
              <a:schemeClr val="accent2"/>
            </a:solidFill>
            <a:prstDash val="solid"/>
          </a:ln>
        </p:spPr>
      </p:sp>
      <p:sp>
        <p:nvSpPr>
          <p:cNvPr id="6" name="Text 3"/>
          <p:cNvSpPr txBox="1"/>
          <p:nvPr/>
        </p:nvSpPr>
        <p:spPr>
          <a:xfrm>
            <a:off x="658368"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7" name="Text 4"/>
          <p:cNvSpPr txBox="1"/>
          <p:nvPr/>
        </p:nvSpPr>
        <p:spPr>
          <a:xfrm>
            <a:off x="1078992"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Descubrimiento</a:t>
            </a:r>
            <a:endParaRPr lang="en-US" sz="1150" dirty="0"/>
          </a:p>
        </p:txBody>
      </p:sp>
      <p:sp>
        <p:nvSpPr>
          <p:cNvPr id="8" name="Text 5"/>
          <p:cNvSpPr txBox="1"/>
          <p:nvPr/>
        </p:nvSpPr>
        <p:spPr>
          <a:xfrm>
            <a:off x="658368"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mantiene una base de conocimiento del sistema, citada con evidencia y sincronizada con el código.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el arquitecto valida alcance y reglas.</a:t>
            </a:r>
            <a:endParaRPr lang="en-US" sz="1050" dirty="0"/>
          </a:p>
        </p:txBody>
      </p:sp>
      <p:sp>
        <p:nvSpPr>
          <p:cNvPr id="9" name="Shape 6"/>
          <p:cNvSpPr/>
          <p:nvPr/>
        </p:nvSpPr>
        <p:spPr>
          <a:xfrm>
            <a:off x="2785262" y="1508760"/>
            <a:ext cx="2117750" cy="1938528"/>
          </a:xfrm>
          <a:prstGeom prst="roundRect">
            <a:avLst>
              <a:gd name="adj" fmla="val 3774"/>
            </a:avLst>
          </a:prstGeom>
          <a:solidFill>
            <a:schemeClr val="accent4"/>
          </a:solidFill>
          <a:ln w="12700">
            <a:solidFill>
              <a:srgbClr val="DCD8EC"/>
            </a:solidFill>
            <a:prstDash val="solid"/>
          </a:ln>
        </p:spPr>
      </p:sp>
      <p:sp>
        <p:nvSpPr>
          <p:cNvPr id="10" name="Shape 7"/>
          <p:cNvSpPr/>
          <p:nvPr/>
        </p:nvSpPr>
        <p:spPr>
          <a:xfrm>
            <a:off x="2894990" y="1618488"/>
            <a:ext cx="347472" cy="347472"/>
          </a:xfrm>
          <a:prstGeom prst="ellipse">
            <a:avLst/>
          </a:prstGeom>
          <a:solidFill>
            <a:schemeClr val="accent2"/>
          </a:solidFill>
          <a:ln w="12700">
            <a:solidFill>
              <a:schemeClr val="accent2"/>
            </a:solidFill>
            <a:prstDash val="solid"/>
          </a:ln>
        </p:spPr>
      </p:sp>
      <p:sp>
        <p:nvSpPr>
          <p:cNvPr id="11" name="Text 8"/>
          <p:cNvSpPr txBox="1"/>
          <p:nvPr/>
        </p:nvSpPr>
        <p:spPr>
          <a:xfrm>
            <a:off x="2894990"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2" name="Text 9"/>
          <p:cNvSpPr txBox="1"/>
          <p:nvPr/>
        </p:nvSpPr>
        <p:spPr>
          <a:xfrm>
            <a:off x="3315614"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Backlog</a:t>
            </a:r>
            <a:endParaRPr lang="en-US" sz="1150" dirty="0"/>
          </a:p>
        </p:txBody>
      </p:sp>
      <p:sp>
        <p:nvSpPr>
          <p:cNvPr id="13" name="Text 10"/>
          <p:cNvSpPr txBox="1"/>
          <p:nvPr/>
        </p:nvSpPr>
        <p:spPr>
          <a:xfrm>
            <a:off x="2894990"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lee el tablero, aplica la definición de listo y recomienda qué historia tomar.</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SURA prioriza; el equipo toma la siguiente prioridad.</a:t>
            </a:r>
            <a:endParaRPr lang="en-US" sz="1050" dirty="0"/>
          </a:p>
        </p:txBody>
      </p:sp>
      <p:sp>
        <p:nvSpPr>
          <p:cNvPr id="14" name="Shape 11"/>
          <p:cNvSpPr/>
          <p:nvPr/>
        </p:nvSpPr>
        <p:spPr>
          <a:xfrm>
            <a:off x="5021885" y="1508760"/>
            <a:ext cx="2117750" cy="1938528"/>
          </a:xfrm>
          <a:prstGeom prst="roundRect">
            <a:avLst>
              <a:gd name="adj" fmla="val 3774"/>
            </a:avLst>
          </a:prstGeom>
          <a:solidFill>
            <a:schemeClr val="accent4"/>
          </a:solidFill>
          <a:ln w="12700">
            <a:solidFill>
              <a:srgbClr val="DCD8EC"/>
            </a:solidFill>
            <a:prstDash val="solid"/>
          </a:ln>
        </p:spPr>
      </p:sp>
      <p:sp>
        <p:nvSpPr>
          <p:cNvPr id="15" name="Shape 12"/>
          <p:cNvSpPr/>
          <p:nvPr/>
        </p:nvSpPr>
        <p:spPr>
          <a:xfrm>
            <a:off x="5131613" y="1618488"/>
            <a:ext cx="347472" cy="347472"/>
          </a:xfrm>
          <a:prstGeom prst="ellipse">
            <a:avLst/>
          </a:prstGeom>
          <a:solidFill>
            <a:schemeClr val="accent1"/>
          </a:solidFill>
          <a:ln w="12700">
            <a:solidFill>
              <a:schemeClr val="accent1"/>
            </a:solidFill>
            <a:prstDash val="solid"/>
          </a:ln>
        </p:spPr>
      </p:sp>
      <p:sp>
        <p:nvSpPr>
          <p:cNvPr id="16" name="Text 13"/>
          <p:cNvSpPr txBox="1"/>
          <p:nvPr/>
        </p:nvSpPr>
        <p:spPr>
          <a:xfrm>
            <a:off x="5131613"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7" name="Text 14"/>
          <p:cNvSpPr txBox="1"/>
          <p:nvPr/>
        </p:nvSpPr>
        <p:spPr>
          <a:xfrm>
            <a:off x="5552237"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Refinamiento</a:t>
            </a:r>
            <a:endParaRPr lang="en-US" sz="1150" dirty="0"/>
          </a:p>
        </p:txBody>
      </p:sp>
      <p:sp>
        <p:nvSpPr>
          <p:cNvPr id="18" name="Text 15"/>
          <p:cNvSpPr txBox="1"/>
          <p:nvPr/>
        </p:nvSpPr>
        <p:spPr>
          <a:xfrm>
            <a:off x="5131613"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contrasta la historia con el código real y mide su radio de impacto.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responde lo que la IA no puede decidir.</a:t>
            </a:r>
            <a:endParaRPr lang="en-US" sz="1050" dirty="0"/>
          </a:p>
        </p:txBody>
      </p:sp>
      <p:sp>
        <p:nvSpPr>
          <p:cNvPr id="19" name="Shape 16"/>
          <p:cNvSpPr/>
          <p:nvPr/>
        </p:nvSpPr>
        <p:spPr>
          <a:xfrm>
            <a:off x="7258507" y="1508760"/>
            <a:ext cx="2117750" cy="1938528"/>
          </a:xfrm>
          <a:prstGeom prst="roundRect">
            <a:avLst>
              <a:gd name="adj" fmla="val 3774"/>
            </a:avLst>
          </a:prstGeom>
          <a:solidFill>
            <a:schemeClr val="accent4"/>
          </a:solidFill>
          <a:ln w="12700">
            <a:solidFill>
              <a:srgbClr val="DCD8EC"/>
            </a:solidFill>
            <a:prstDash val="solid"/>
          </a:ln>
        </p:spPr>
      </p:sp>
      <p:sp>
        <p:nvSpPr>
          <p:cNvPr id="20" name="Shape 17"/>
          <p:cNvSpPr/>
          <p:nvPr/>
        </p:nvSpPr>
        <p:spPr>
          <a:xfrm>
            <a:off x="7368235" y="1618488"/>
            <a:ext cx="347472" cy="347472"/>
          </a:xfrm>
          <a:prstGeom prst="ellipse">
            <a:avLst/>
          </a:prstGeom>
          <a:solidFill>
            <a:schemeClr val="accent1"/>
          </a:solidFill>
          <a:ln w="12700">
            <a:solidFill>
              <a:schemeClr val="accent1"/>
            </a:solidFill>
            <a:prstDash val="solid"/>
          </a:ln>
        </p:spPr>
      </p:sp>
      <p:sp>
        <p:nvSpPr>
          <p:cNvPr id="21" name="Text 18"/>
          <p:cNvSpPr txBox="1"/>
          <p:nvPr/>
        </p:nvSpPr>
        <p:spPr>
          <a:xfrm>
            <a:off x="7368235"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22" name="Text 19"/>
          <p:cNvSpPr txBox="1"/>
          <p:nvPr/>
        </p:nvSpPr>
        <p:spPr>
          <a:xfrm>
            <a:off x="7788859"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Planificación</a:t>
            </a:r>
            <a:endParaRPr lang="en-US" sz="1150" dirty="0"/>
          </a:p>
        </p:txBody>
      </p:sp>
      <p:sp>
        <p:nvSpPr>
          <p:cNvPr id="23" name="Text 20"/>
          <p:cNvSpPr txBox="1"/>
          <p:nvPr/>
        </p:nvSpPr>
        <p:spPr>
          <a:xfrm>
            <a:off x="7368235"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si hay bloqueos, se detiene y pregunta; si no, arma un plan numerado de pasos y pruebas.</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firma antes de seguir en cambios riesgosos.</a:t>
            </a:r>
            <a:endParaRPr lang="en-US" sz="1050" dirty="0"/>
          </a:p>
        </p:txBody>
      </p:sp>
      <p:sp>
        <p:nvSpPr>
          <p:cNvPr id="24" name="Shape 21"/>
          <p:cNvSpPr/>
          <p:nvPr/>
        </p:nvSpPr>
        <p:spPr>
          <a:xfrm>
            <a:off x="9495130" y="1508760"/>
            <a:ext cx="2117750" cy="1938528"/>
          </a:xfrm>
          <a:prstGeom prst="roundRect">
            <a:avLst>
              <a:gd name="adj" fmla="val 3774"/>
            </a:avLst>
          </a:prstGeom>
          <a:solidFill>
            <a:schemeClr val="accent4"/>
          </a:solidFill>
          <a:ln w="12700">
            <a:solidFill>
              <a:srgbClr val="DCD8EC"/>
            </a:solidFill>
            <a:prstDash val="solid"/>
          </a:ln>
        </p:spPr>
      </p:sp>
      <p:sp>
        <p:nvSpPr>
          <p:cNvPr id="25" name="Shape 22"/>
          <p:cNvSpPr/>
          <p:nvPr/>
        </p:nvSpPr>
        <p:spPr>
          <a:xfrm>
            <a:off x="9604858" y="1618488"/>
            <a:ext cx="347472" cy="347472"/>
          </a:xfrm>
          <a:prstGeom prst="ellipse">
            <a:avLst/>
          </a:prstGeom>
          <a:solidFill>
            <a:schemeClr val="accent1"/>
          </a:solidFill>
          <a:ln w="12700">
            <a:solidFill>
              <a:schemeClr val="accent1"/>
            </a:solidFill>
            <a:prstDash val="solid"/>
          </a:ln>
        </p:spPr>
      </p:sp>
      <p:sp>
        <p:nvSpPr>
          <p:cNvPr id="26" name="Text 23"/>
          <p:cNvSpPr txBox="1"/>
          <p:nvPr/>
        </p:nvSpPr>
        <p:spPr>
          <a:xfrm>
            <a:off x="9604858" y="16184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7" name="Text 24"/>
          <p:cNvSpPr txBox="1"/>
          <p:nvPr/>
        </p:nvSpPr>
        <p:spPr>
          <a:xfrm>
            <a:off x="10025482" y="15819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Desarrollo</a:t>
            </a:r>
            <a:endParaRPr lang="en-US" sz="1150" dirty="0"/>
          </a:p>
        </p:txBody>
      </p:sp>
      <p:sp>
        <p:nvSpPr>
          <p:cNvPr id="28" name="Text 25"/>
          <p:cNvSpPr txBox="1"/>
          <p:nvPr/>
        </p:nvSpPr>
        <p:spPr>
          <a:xfrm>
            <a:off x="9604858" y="20574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implementa según el plan y las reglas escritas desde revisiones reales.</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revisa, y lo que queda fuera de alcance va a una historia nueva.</a:t>
            </a:r>
            <a:endParaRPr lang="en-US" sz="1050" dirty="0"/>
          </a:p>
        </p:txBody>
      </p:sp>
      <p:sp>
        <p:nvSpPr>
          <p:cNvPr id="29" name="Shape 26"/>
          <p:cNvSpPr/>
          <p:nvPr/>
        </p:nvSpPr>
        <p:spPr>
          <a:xfrm>
            <a:off x="548640" y="3566160"/>
            <a:ext cx="2117750" cy="1938528"/>
          </a:xfrm>
          <a:prstGeom prst="roundRect">
            <a:avLst>
              <a:gd name="adj" fmla="val 3774"/>
            </a:avLst>
          </a:prstGeom>
          <a:solidFill>
            <a:schemeClr val="accent4"/>
          </a:solidFill>
          <a:ln w="12700">
            <a:solidFill>
              <a:srgbClr val="DCD8EC"/>
            </a:solidFill>
            <a:prstDash val="solid"/>
          </a:ln>
        </p:spPr>
      </p:sp>
      <p:sp>
        <p:nvSpPr>
          <p:cNvPr id="30" name="Shape 27"/>
          <p:cNvSpPr/>
          <p:nvPr/>
        </p:nvSpPr>
        <p:spPr>
          <a:xfrm>
            <a:off x="658368" y="3675888"/>
            <a:ext cx="347472" cy="347472"/>
          </a:xfrm>
          <a:prstGeom prst="ellipse">
            <a:avLst/>
          </a:prstGeom>
          <a:solidFill>
            <a:schemeClr val="accent1"/>
          </a:solidFill>
          <a:ln w="12700">
            <a:solidFill>
              <a:schemeClr val="accent1"/>
            </a:solidFill>
            <a:prstDash val="solid"/>
          </a:ln>
        </p:spPr>
      </p:sp>
      <p:sp>
        <p:nvSpPr>
          <p:cNvPr id="31" name="Text 28"/>
          <p:cNvSpPr txBox="1"/>
          <p:nvPr/>
        </p:nvSpPr>
        <p:spPr>
          <a:xfrm>
            <a:off x="658368"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32" name="Text 29"/>
          <p:cNvSpPr txBox="1"/>
          <p:nvPr/>
        </p:nvSpPr>
        <p:spPr>
          <a:xfrm>
            <a:off x="1078992"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Integración continua</a:t>
            </a:r>
            <a:endParaRPr lang="en-US" sz="1150" dirty="0"/>
          </a:p>
        </p:txBody>
      </p:sp>
      <p:sp>
        <p:nvSpPr>
          <p:cNvPr id="33" name="Text 30"/>
          <p:cNvSpPr txBox="1"/>
          <p:nvPr/>
        </p:nvSpPr>
        <p:spPr>
          <a:xfrm>
            <a:off x="658368"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corre las pruebas por escenario y arma la evidencia de cada caso.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un agente auditor y una persona revisan la evidencia.</a:t>
            </a:r>
            <a:endParaRPr lang="en-US" sz="1050" dirty="0"/>
          </a:p>
        </p:txBody>
      </p:sp>
      <p:sp>
        <p:nvSpPr>
          <p:cNvPr id="34" name="Shape 31"/>
          <p:cNvSpPr/>
          <p:nvPr/>
        </p:nvSpPr>
        <p:spPr>
          <a:xfrm>
            <a:off x="2785262" y="3566160"/>
            <a:ext cx="2117750" cy="1938528"/>
          </a:xfrm>
          <a:prstGeom prst="roundRect">
            <a:avLst>
              <a:gd name="adj" fmla="val 3774"/>
            </a:avLst>
          </a:prstGeom>
          <a:solidFill>
            <a:schemeClr val="accent4"/>
          </a:solidFill>
          <a:ln w="12700">
            <a:solidFill>
              <a:srgbClr val="DCD8EC"/>
            </a:solidFill>
            <a:prstDash val="solid"/>
          </a:ln>
        </p:spPr>
      </p:sp>
      <p:sp>
        <p:nvSpPr>
          <p:cNvPr id="35" name="Shape 32"/>
          <p:cNvSpPr/>
          <p:nvPr/>
        </p:nvSpPr>
        <p:spPr>
          <a:xfrm>
            <a:off x="2894990" y="3675888"/>
            <a:ext cx="347472" cy="347472"/>
          </a:xfrm>
          <a:prstGeom prst="ellipse">
            <a:avLst/>
          </a:prstGeom>
          <a:solidFill>
            <a:schemeClr val="accent3"/>
          </a:solidFill>
          <a:ln w="12700">
            <a:solidFill>
              <a:schemeClr val="accent3"/>
            </a:solidFill>
            <a:prstDash val="solid"/>
          </a:ln>
        </p:spPr>
      </p:sp>
      <p:sp>
        <p:nvSpPr>
          <p:cNvPr id="36" name="Text 33"/>
          <p:cNvSpPr txBox="1"/>
          <p:nvPr/>
        </p:nvSpPr>
        <p:spPr>
          <a:xfrm>
            <a:off x="2894990"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37" name="Text 34"/>
          <p:cNvSpPr txBox="1"/>
          <p:nvPr/>
        </p:nvSpPr>
        <p:spPr>
          <a:xfrm>
            <a:off x="3315614"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Revisión y demo</a:t>
            </a:r>
            <a:endParaRPr lang="en-US" sz="1150" dirty="0"/>
          </a:p>
        </p:txBody>
      </p:sp>
      <p:sp>
        <p:nvSpPr>
          <p:cNvPr id="38" name="Text 35"/>
          <p:cNvSpPr txBox="1"/>
          <p:nvPr/>
        </p:nvSpPr>
        <p:spPr>
          <a:xfrm>
            <a:off x="2894990"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se autorrevisa con el estándar de los revisores y defiende cada cambio: quién lo pidió y qué afecta.</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aprueba el pull request.</a:t>
            </a:r>
            <a:endParaRPr lang="en-US" sz="1050" dirty="0"/>
          </a:p>
        </p:txBody>
      </p:sp>
      <p:sp>
        <p:nvSpPr>
          <p:cNvPr id="39" name="Shape 36"/>
          <p:cNvSpPr/>
          <p:nvPr/>
        </p:nvSpPr>
        <p:spPr>
          <a:xfrm>
            <a:off x="5021885" y="3566160"/>
            <a:ext cx="2117750" cy="1938528"/>
          </a:xfrm>
          <a:prstGeom prst="roundRect">
            <a:avLst>
              <a:gd name="adj" fmla="val 3774"/>
            </a:avLst>
          </a:prstGeom>
          <a:solidFill>
            <a:schemeClr val="accent4"/>
          </a:solidFill>
          <a:ln w="12700">
            <a:solidFill>
              <a:srgbClr val="DCD8EC"/>
            </a:solidFill>
            <a:prstDash val="solid"/>
          </a:ln>
        </p:spPr>
      </p:sp>
      <p:sp>
        <p:nvSpPr>
          <p:cNvPr id="40" name="Shape 37"/>
          <p:cNvSpPr/>
          <p:nvPr/>
        </p:nvSpPr>
        <p:spPr>
          <a:xfrm>
            <a:off x="5131613" y="3675888"/>
            <a:ext cx="347472" cy="347472"/>
          </a:xfrm>
          <a:prstGeom prst="ellipse">
            <a:avLst/>
          </a:prstGeom>
          <a:solidFill>
            <a:schemeClr val="accent1"/>
          </a:solidFill>
          <a:ln w="12700">
            <a:solidFill>
              <a:schemeClr val="accent1"/>
            </a:solidFill>
            <a:prstDash val="solid"/>
          </a:ln>
        </p:spPr>
      </p:sp>
      <p:sp>
        <p:nvSpPr>
          <p:cNvPr id="41" name="Text 38"/>
          <p:cNvSpPr txBox="1"/>
          <p:nvPr/>
        </p:nvSpPr>
        <p:spPr>
          <a:xfrm>
            <a:off x="5131613"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42" name="Text 39"/>
          <p:cNvSpPr txBox="1"/>
          <p:nvPr/>
        </p:nvSpPr>
        <p:spPr>
          <a:xfrm>
            <a:off x="5552237"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Retrospectiva</a:t>
            </a:r>
            <a:endParaRPr lang="en-US" sz="1150" dirty="0"/>
          </a:p>
        </p:txBody>
      </p:sp>
      <p:sp>
        <p:nvSpPr>
          <p:cNvPr id="43" name="Text 40"/>
          <p:cNvSpPr txBox="1"/>
          <p:nvPr/>
        </p:nvSpPr>
        <p:spPr>
          <a:xfrm>
            <a:off x="5131613"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deja cada tarea versionada y retomable, con su rastro por fase.</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el proceso solo cambia por decisión del equipo.</a:t>
            </a:r>
            <a:endParaRPr lang="en-US" sz="1050" dirty="0"/>
          </a:p>
        </p:txBody>
      </p:sp>
      <p:sp>
        <p:nvSpPr>
          <p:cNvPr id="44" name="Shape 41"/>
          <p:cNvSpPr/>
          <p:nvPr/>
        </p:nvSpPr>
        <p:spPr>
          <a:xfrm>
            <a:off x="7258507" y="3566160"/>
            <a:ext cx="2117750" cy="1938528"/>
          </a:xfrm>
          <a:prstGeom prst="roundRect">
            <a:avLst>
              <a:gd name="adj" fmla="val 3774"/>
            </a:avLst>
          </a:prstGeom>
          <a:solidFill>
            <a:schemeClr val="accent4"/>
          </a:solidFill>
          <a:ln w="12700">
            <a:solidFill>
              <a:srgbClr val="DCD8EC"/>
            </a:solidFill>
            <a:prstDash val="solid"/>
          </a:ln>
        </p:spPr>
      </p:sp>
      <p:sp>
        <p:nvSpPr>
          <p:cNvPr id="45" name="Shape 42"/>
          <p:cNvSpPr/>
          <p:nvPr/>
        </p:nvSpPr>
        <p:spPr>
          <a:xfrm>
            <a:off x="7368235" y="3675888"/>
            <a:ext cx="347472" cy="347472"/>
          </a:xfrm>
          <a:prstGeom prst="ellipse">
            <a:avLst/>
          </a:prstGeom>
          <a:solidFill>
            <a:schemeClr val="accent3"/>
          </a:solidFill>
          <a:ln w="12700">
            <a:solidFill>
              <a:schemeClr val="accent3"/>
            </a:solidFill>
            <a:prstDash val="solid"/>
          </a:ln>
        </p:spPr>
      </p:sp>
      <p:sp>
        <p:nvSpPr>
          <p:cNvPr id="46" name="Text 43"/>
          <p:cNvSpPr txBox="1"/>
          <p:nvPr/>
        </p:nvSpPr>
        <p:spPr>
          <a:xfrm>
            <a:off x="7368235"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47" name="Text 44"/>
          <p:cNvSpPr txBox="1"/>
          <p:nvPr/>
        </p:nvSpPr>
        <p:spPr>
          <a:xfrm>
            <a:off x="7788859"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Despliegue</a:t>
            </a:r>
            <a:endParaRPr lang="en-US" sz="1150" dirty="0"/>
          </a:p>
        </p:txBody>
      </p:sp>
      <p:sp>
        <p:nvSpPr>
          <p:cNvPr id="48" name="Text 45"/>
          <p:cNvSpPr txBox="1"/>
          <p:nvPr/>
        </p:nvSpPr>
        <p:spPr>
          <a:xfrm>
            <a:off x="7368235"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prepara el despliegue y un rollback que se ejecuta en minutos.</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publicar exige su firma; la IA no la crea.</a:t>
            </a:r>
            <a:endParaRPr lang="en-US" sz="1050" dirty="0"/>
          </a:p>
        </p:txBody>
      </p:sp>
      <p:sp>
        <p:nvSpPr>
          <p:cNvPr id="49" name="Shape 46"/>
          <p:cNvSpPr/>
          <p:nvPr/>
        </p:nvSpPr>
        <p:spPr>
          <a:xfrm>
            <a:off x="9495130" y="3566160"/>
            <a:ext cx="2117750" cy="1938528"/>
          </a:xfrm>
          <a:prstGeom prst="roundRect">
            <a:avLst>
              <a:gd name="adj" fmla="val 3774"/>
            </a:avLst>
          </a:prstGeom>
          <a:solidFill>
            <a:schemeClr val="accent4"/>
          </a:solidFill>
          <a:ln w="12700">
            <a:solidFill>
              <a:srgbClr val="DCD8EC"/>
            </a:solidFill>
            <a:prstDash val="solid"/>
          </a:ln>
        </p:spPr>
      </p:sp>
      <p:sp>
        <p:nvSpPr>
          <p:cNvPr id="50" name="Shape 47"/>
          <p:cNvSpPr/>
          <p:nvPr/>
        </p:nvSpPr>
        <p:spPr>
          <a:xfrm>
            <a:off x="9604858" y="3675888"/>
            <a:ext cx="347472" cy="347472"/>
          </a:xfrm>
          <a:prstGeom prst="ellipse">
            <a:avLst/>
          </a:prstGeom>
          <a:solidFill>
            <a:schemeClr val="accent3"/>
          </a:solidFill>
          <a:ln w="12700">
            <a:solidFill>
              <a:schemeClr val="accent3"/>
            </a:solidFill>
            <a:prstDash val="solid"/>
          </a:ln>
        </p:spPr>
      </p:sp>
      <p:sp>
        <p:nvSpPr>
          <p:cNvPr id="51" name="Text 48"/>
          <p:cNvSpPr txBox="1"/>
          <p:nvPr/>
        </p:nvSpPr>
        <p:spPr>
          <a:xfrm>
            <a:off x="9604858" y="3675888"/>
            <a:ext cx="347472" cy="347472"/>
          </a:xfrm>
          <a:prstGeom prst="rect">
            <a:avLst/>
          </a:prstGeom>
          <a:no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52" name="Text 49"/>
          <p:cNvSpPr txBox="1"/>
          <p:nvPr/>
        </p:nvSpPr>
        <p:spPr>
          <a:xfrm>
            <a:off x="10025482" y="3639312"/>
            <a:ext cx="1495958" cy="420624"/>
          </a:xfrm>
          <a:prstGeom prst="rect">
            <a:avLst/>
          </a:prstGeom>
          <a:noFill/>
          <a:ln/>
        </p:spPr>
        <p:txBody>
          <a:bodyPr wrap="square" lIns="0" tIns="0" rIns="0" bIns="0" rtlCol="0" anchor="ctr"/>
          <a:lstStyle/>
          <a:p>
            <a:pPr indent="0" marL="0">
              <a:buNone/>
            </a:pPr>
            <a:r>
              <a:rPr lang="en-US" sz="1150" b="1" dirty="0">
                <a:solidFill>
                  <a:schemeClr val="tx2"/>
                </a:solidFill>
              </a:rPr>
              <a:t>Operación</a:t>
            </a:r>
            <a:endParaRPr lang="en-US" sz="1150" dirty="0"/>
          </a:p>
        </p:txBody>
      </p:sp>
      <p:sp>
        <p:nvSpPr>
          <p:cNvPr id="53" name="Text 50"/>
          <p:cNvSpPr txBox="1"/>
          <p:nvPr/>
        </p:nvSpPr>
        <p:spPr>
          <a:xfrm>
            <a:off x="9604858" y="4114800"/>
            <a:ext cx="1898294" cy="1316736"/>
          </a:xfrm>
          <a:prstGeom prst="rect">
            <a:avLst/>
          </a:prstGeom>
          <a:noFill/>
          <a:ln/>
        </p:spPr>
        <p:txBody>
          <a:bodyPr wrap="square" lIns="0" tIns="0" rIns="0" bIns="0" rtlCol="0" anchor="t"/>
          <a:lstStyle/>
          <a:p>
            <a:pPr indent="0" marL="0">
              <a:spcAft>
                <a:spcPts val="400"/>
              </a:spcAft>
              <a:buNone/>
            </a:pPr>
            <a:r>
              <a:rPr lang="en-US" sz="1050" b="1" dirty="0">
                <a:solidFill>
                  <a:schemeClr val="accent1"/>
                </a:solidFill>
              </a:rPr>
              <a:t>IA: </a:t>
            </a:r>
            <a:pPr indent="0" marL="0">
              <a:spcAft>
                <a:spcPts val="400"/>
              </a:spcAft>
              <a:buNone/>
            </a:pPr>
            <a:r>
              <a:rPr lang="en-US" sz="1050" dirty="0">
                <a:solidFill>
                  <a:schemeClr val="tx1"/>
                </a:solidFill>
              </a:rPr>
              <a:t>verifica en producción y vuelve a sincronizar la base de conocimiento.</a:t>
            </a:r>
            <a:endParaRPr lang="en-US" sz="1050" dirty="0"/>
          </a:p>
          <a:p>
            <a:pPr indent="0" marL="0">
              <a:spcAft>
                <a:spcPts val="400"/>
              </a:spcAft>
              <a:buNone/>
            </a:pPr>
            <a:r>
              <a:rPr lang="en-US" sz="1050" b="1" dirty="0">
                <a:solidFill>
                  <a:schemeClr val="accent3"/>
                </a:solidFill>
              </a:rPr>
              <a:t>Persona: </a:t>
            </a:r>
            <a:pPr indent="0" marL="0">
              <a:spcAft>
                <a:spcPts val="400"/>
              </a:spcAft>
              <a:buNone/>
            </a:pPr>
            <a:r>
              <a:rPr lang="en-US" sz="1050" dirty="0">
                <a:solidFill>
                  <a:schemeClr val="accent6"/>
                </a:solidFill>
              </a:rPr>
              <a:t>cierra la tarea con el resultado verificado.</a:t>
            </a:r>
            <a:endParaRPr lang="en-US" sz="1050" dirty="0"/>
          </a:p>
        </p:txBody>
      </p:sp>
      <p:sp>
        <p:nvSpPr>
          <p:cNvPr id="54" name="Shape 51"/>
          <p:cNvSpPr/>
          <p:nvPr/>
        </p:nvSpPr>
        <p:spPr>
          <a:xfrm>
            <a:off x="548640" y="5623560"/>
            <a:ext cx="11064240" cy="566928"/>
          </a:xfrm>
          <a:prstGeom prst="roundRect">
            <a:avLst>
              <a:gd name="adj" fmla="val 12903"/>
            </a:avLst>
          </a:prstGeom>
          <a:solidFill>
            <a:schemeClr val="bg2"/>
          </a:solidFill>
          <a:ln w="12700">
            <a:solidFill>
              <a:schemeClr val="bg2"/>
            </a:solidFill>
            <a:prstDash val="solid"/>
          </a:ln>
        </p:spPr>
      </p:sp>
      <p:sp>
        <p:nvSpPr>
          <p:cNvPr id="55" name="Text 52"/>
          <p:cNvSpPr txBox="1"/>
          <p:nvPr/>
        </p:nvSpPr>
        <p:spPr>
          <a:xfrm>
            <a:off x="777240" y="5623560"/>
            <a:ext cx="10607040" cy="566928"/>
          </a:xfrm>
          <a:prstGeom prst="rect">
            <a:avLst/>
          </a:prstGeom>
          <a:noFill/>
          <a:ln/>
        </p:spPr>
        <p:txBody>
          <a:bodyPr wrap="square" lIns="0" tIns="0" rIns="0" bIns="0" rtlCol="0" anchor="ctr"/>
          <a:lstStyle/>
          <a:p>
            <a:pPr indent="0" marL="0">
              <a:buNone/>
            </a:pPr>
            <a:r>
              <a:rPr lang="en-US" sz="1200" b="1" dirty="0">
                <a:solidFill>
                  <a:schemeClr val="tx2"/>
                </a:solidFill>
              </a:rPr>
              <a:t>En los sistemas agénticos de SURA, el mismo método se extiende </a:t>
            </a:r>
            <a:pPr indent="0" marL="0">
              <a:buNone/>
            </a:pPr>
            <a:r>
              <a:rPr lang="en-US" sz="1200" dirty="0">
                <a:solidFill>
                  <a:schemeClr val="tx1"/>
                </a:solidFill>
              </a:rPr>
              <a:t>al golden set, a las versiones de prompt y a los casos adversariales que se prueban antes de la compuerta.</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Velocidad con IA, con calidad, performance y seguridad que se verifican</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645920"/>
                <a:gridCol w="4572000"/>
                <a:gridCol w="4846320"/>
              </a:tblGrid>
              <a:tr h="411480">
                <a:tc>
                  <a:txBody>
                    <a:bodyPr/>
                    <a:lstStyle/>
                    <a:p>
                      <a:pPr indent="0" marL="0">
                        <a:buNone/>
                      </a:pP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Hoy, con nuestra IA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En los agentes de SURA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3"/>
                    </a:solidFill>
                  </a:tcPr>
                </a:tc>
              </a:tr>
              <a:tr h="1143000">
                <a:tc>
                  <a:txBody>
                    <a:bodyPr/>
                    <a:lstStyle/>
                    <a:p>
                      <a:pPr indent="0" marL="0">
                        <a:buNone/>
                      </a:pPr>
                      <a:r>
                        <a:rPr lang="en-US" sz="1500" b="1" dirty="0">
                          <a:solidFill>
                            <a:schemeClr val="tx2"/>
                          </a:solidFill>
                        </a:rPr>
                        <a:t>Calidad</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Se autorrevisa con el estándar de los revisores humanos y aprueba una persona distinta del autor. El estilo de código se verifica antes de pedir revisión.</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Ningún agente se promueve si su golden set muestra regresión. El LLM-as-a-judge se calibra contra una muestra revisada por personas expertas.</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1143000">
                <a:tc>
                  <a:txBody>
                    <a:bodyPr/>
                    <a:lstStyle/>
                    <a:p>
                      <a:pPr indent="0" marL="0">
                        <a:buNone/>
                      </a:pPr>
                      <a:r>
                        <a:rPr lang="en-US" sz="1500" b="1" dirty="0">
                          <a:solidFill>
                            <a:schemeClr val="tx2"/>
                          </a:solidFill>
                        </a:rPr>
                        <a:t>Performance</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Antes de planear, analiza la concurrencia, la idempotencia y el radio de impacto. Cada despliegue trae su rollback, ejecutable en minutos.</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Latencia y costo por caso de cada agente, observados. El umbral de confianza es configuración, y la compuerta frena una versión que empeora.</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r h="1143000">
                <a:tc>
                  <a:txBody>
                    <a:bodyPr/>
                    <a:lstStyle/>
                    <a:p>
                      <a:pPr indent="0" marL="0">
                        <a:buNone/>
                      </a:pPr>
                      <a:r>
                        <a:rPr lang="en-US" sz="1500" b="1" dirty="0">
                          <a:solidFill>
                            <a:schemeClr val="tx2"/>
                          </a:solidFill>
                        </a:rPr>
                        <a:t>Seguridad</a:t>
                      </a:r>
                      <a:endParaRPr lang="en-US" sz="15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No publica sin firma humana. Las credenciales se enmascaran en la evidencia y los datos del cliente no se versionan.</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accent4"/>
                    </a:solidFill>
                  </a:tcPr>
                </a:tc>
                <a:tc>
                  <a:txBody>
                    <a:bodyPr/>
                    <a:lstStyle/>
                    <a:p>
                      <a:pPr indent="0" marL="0">
                        <a:buNone/>
                      </a:pPr>
                      <a:r>
                        <a:rPr lang="en-US" sz="1400" dirty="0">
                          <a:solidFill>
                            <a:srgbClr val="000000"/>
                          </a:solidFill>
                        </a:rPr>
                        <a:t>Los datos de SURA solo van a herramientas que SURA autorice. Techos de autonomía: ningún agente niega una solicitud.</a:t>
                      </a:r>
                      <a:endParaRPr lang="en-US" sz="1400" dirty="0"/>
                    </a:p>
                  </a:txBody>
                  <a:tcPr marL="91440" marR="91440" marT="45720" marB="45720" anchor="ctr">
                    <a:lnL w="12700" cap="flat" cmpd="sng" algn="ctr">
                      <a:solidFill>
                        <a:srgbClr val="DCD8EC"/>
                      </a:solidFill>
                      <a:prstDash val="solid"/>
                      <a:round/>
                      <a:headEnd type="none" w="med" len="med"/>
                      <a:tailEnd type="none" w="med" len="med"/>
                    </a:lnL>
                    <a:lnR w="12700" cap="flat" cmpd="sng" algn="ctr">
                      <a:solidFill>
                        <a:srgbClr val="DCD8EC"/>
                      </a:solidFill>
                      <a:prstDash val="solid"/>
                      <a:round/>
                      <a:headEnd type="none" w="med" len="med"/>
                      <a:tailEnd type="none" w="med" len="med"/>
                    </a:lnR>
                    <a:lnT w="12700" cap="flat" cmpd="sng" algn="ctr">
                      <a:solidFill>
                        <a:srgbClr val="DCD8EC"/>
                      </a:solidFill>
                      <a:prstDash val="solid"/>
                      <a:round/>
                      <a:headEnd type="none" w="med" len="med"/>
                      <a:tailEnd type="none" w="med" len="med"/>
                    </a:lnT>
                    <a:lnB w="12700" cap="flat" cmpd="sng" algn="ctr">
                      <a:solidFill>
                        <a:srgbClr val="DCD8EC"/>
                      </a:solidFill>
                      <a:prstDash val="solid"/>
                      <a:round/>
                      <a:headEnd type="none" w="med" len="med"/>
                      <a:tailEnd type="none" w="med" len="med"/>
                    </a:lnB>
                    <a:solidFill>
                      <a:schemeClr val="bg2"/>
                    </a:solidFill>
                  </a:tcPr>
                </a:tc>
              </a:tr>
            </a:tbl>
          </a:graphicData>
        </a:graphic>
      </p:graphicFrame>
      <p:sp>
        <p:nvSpPr>
          <p:cNvPr id="5" name="Shape 1"/>
          <p:cNvSpPr/>
          <p:nvPr/>
        </p:nvSpPr>
        <p:spPr>
          <a:xfrm>
            <a:off x="548640" y="5532120"/>
            <a:ext cx="11064240" cy="566928"/>
          </a:xfrm>
          <a:prstGeom prst="roundRect">
            <a:avLst>
              <a:gd name="adj" fmla="val 12903"/>
            </a:avLst>
          </a:prstGeom>
          <a:solidFill>
            <a:schemeClr val="bg2"/>
          </a:solidFill>
          <a:ln w="12700">
            <a:solidFill>
              <a:schemeClr val="bg2"/>
            </a:solidFill>
            <a:prstDash val="solid"/>
          </a:ln>
        </p:spPr>
      </p:sp>
      <p:sp>
        <p:nvSpPr>
          <p:cNvPr id="6" name="Text 2"/>
          <p:cNvSpPr txBox="1"/>
          <p:nvPr/>
        </p:nvSpPr>
        <p:spPr>
          <a:xfrm>
            <a:off x="777240" y="5532120"/>
            <a:ext cx="10607040" cy="566928"/>
          </a:xfrm>
          <a:prstGeom prst="rect">
            <a:avLst/>
          </a:prstGeom>
          <a:noFill/>
          <a:ln/>
        </p:spPr>
        <p:txBody>
          <a:bodyPr wrap="square" lIns="0" tIns="0" rIns="0" bIns="0" rtlCol="0" anchor="ctr"/>
          <a:lstStyle/>
          <a:p>
            <a:pPr indent="0" marL="0">
              <a:buNone/>
            </a:pPr>
            <a:r>
              <a:rPr lang="en-US" sz="1400" b="1" dirty="0">
                <a:solidFill>
                  <a:schemeClr val="tx2"/>
                </a:solidFill>
              </a:rPr>
              <a:t>Lo de la izquierda ya opera; </a:t>
            </a:r>
            <a:pPr indent="0" marL="0">
              <a:buNone/>
            </a:pPr>
            <a:r>
              <a:rPr lang="en-US" sz="1400" dirty="0">
                <a:solidFill>
                  <a:schemeClr val="tx1"/>
                </a:solidFill>
              </a:rPr>
              <a:t>lo de la derecha es cómo esas mismas garantías se llevan a los sistemas agénticos de SURA.</a:t>
            </a:r>
            <a:endParaRPr lang="en-US" sz="14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960120"/>
          </a:xfrm>
          <a:prstGeom prst="rect">
            <a:avLst/>
          </a:prstGeom>
          <a:noFill/>
          <a:ln/>
        </p:spPr>
        <p:txBody>
          <a:bodyPr wrap="square" lIns="0" tIns="0" rIns="0" bIns="0" rtlCol="0" anchor="t"/>
          <a:lstStyle/>
          <a:p>
            <a:pPr algn="l" indent="0" marL="0">
              <a:buNone/>
            </a:pPr>
            <a:r>
              <a:rPr lang="en-US" sz="2800" b="1" dirty="0">
                <a:solidFill>
                  <a:schemeClr val="tx2"/>
                </a:solidFill>
              </a:rPr>
              <a:t>Tech and Solve: más que tecnología, resultados sostenibles para SURA</a:t>
            </a:r>
            <a:endParaRPr lang="en-US" sz="2800" dirty="0"/>
          </a:p>
        </p:txBody>
      </p:sp>
      <p:sp>
        <p:nvSpPr>
          <p:cNvPr id="4" name="Shape 1"/>
          <p:cNvSpPr/>
          <p:nvPr/>
        </p:nvSpPr>
        <p:spPr>
          <a:xfrm>
            <a:off x="548640" y="1600200"/>
            <a:ext cx="3383280" cy="4297680"/>
          </a:xfrm>
          <a:prstGeom prst="roundRect">
            <a:avLst>
              <a:gd name="adj" fmla="val 2703"/>
            </a:avLst>
          </a:prstGeom>
          <a:solidFill>
            <a:schemeClr val="tx2"/>
          </a:solidFill>
          <a:ln w="12700">
            <a:solidFill>
              <a:schemeClr val="tx2"/>
            </a:solidFill>
            <a:prstDash val="solid"/>
          </a:ln>
        </p:spPr>
      </p:sp>
      <p:sp>
        <p:nvSpPr>
          <p:cNvPr id="5" name="Text 2"/>
          <p:cNvSpPr txBox="1"/>
          <p:nvPr/>
        </p:nvSpPr>
        <p:spPr>
          <a:xfrm>
            <a:off x="822960" y="1828800"/>
            <a:ext cx="2834640" cy="210312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Un equipo que combina visión de negocio, excelencia técnica e IA generativa propia para acelerar resultados medibles y sostenibles.</a:t>
            </a:r>
            <a:endParaRPr lang="en-US" sz="1700" dirty="0"/>
          </a:p>
        </p:txBody>
      </p:sp>
      <p:sp>
        <p:nvSpPr>
          <p:cNvPr id="6" name="Text 3"/>
          <p:cNvSpPr txBox="1"/>
          <p:nvPr/>
        </p:nvSpPr>
        <p:spPr>
          <a:xfrm>
            <a:off x="822960" y="4023360"/>
            <a:ext cx="2834640" cy="1645920"/>
          </a:xfrm>
          <a:prstGeom prst="rect">
            <a:avLst/>
          </a:prstGeom>
          <a:noFill/>
          <a:ln/>
        </p:spPr>
        <p:txBody>
          <a:bodyPr wrap="square" lIns="0" tIns="0" rIns="0" bIns="0" rtlCol="0" anchor="t"/>
          <a:lstStyle/>
          <a:p>
            <a:pPr indent="0" marL="0">
              <a:buNone/>
            </a:pPr>
            <a:r>
              <a:rPr lang="en-US" sz="1400" dirty="0">
                <a:solidFill>
                  <a:schemeClr val="bg2"/>
                </a:solidFill>
              </a:rPr>
              <a:t>Conocemos la arquitectura de gestores, trabajamos por sprints con SURA y construimos con una IA propia que acelera sin perder control.</a:t>
            </a:r>
            <a:endParaRPr lang="en-US" sz="1400" dirty="0"/>
          </a:p>
        </p:txBody>
      </p:sp>
      <p:sp>
        <p:nvSpPr>
          <p:cNvPr id="7" name="Shape 4"/>
          <p:cNvSpPr/>
          <p:nvPr/>
        </p:nvSpPr>
        <p:spPr>
          <a:xfrm>
            <a:off x="4114800" y="1600200"/>
            <a:ext cx="3657600" cy="1325880"/>
          </a:xfrm>
          <a:prstGeom prst="roundRect">
            <a:avLst>
              <a:gd name="adj" fmla="val 5517"/>
            </a:avLst>
          </a:prstGeom>
          <a:solidFill>
            <a:schemeClr val="accent4"/>
          </a:solidFill>
          <a:ln w="12700">
            <a:solidFill>
              <a:srgbClr val="DCD8EC"/>
            </a:solidFill>
            <a:prstDash val="solid"/>
          </a:ln>
        </p:spPr>
      </p:sp>
      <p:sp>
        <p:nvSpPr>
          <p:cNvPr id="8" name="Shape 5"/>
          <p:cNvSpPr/>
          <p:nvPr/>
        </p:nvSpPr>
        <p:spPr>
          <a:xfrm>
            <a:off x="4297680" y="1764792"/>
            <a:ext cx="384048" cy="384048"/>
          </a:xfrm>
          <a:prstGeom prst="ellipse">
            <a:avLst/>
          </a:prstGeom>
          <a:solidFill>
            <a:schemeClr val="accent1"/>
          </a:solidFill>
          <a:ln w="12700">
            <a:solidFill>
              <a:schemeClr val="accent1"/>
            </a:solidFill>
            <a:prstDash val="solid"/>
          </a:ln>
        </p:spPr>
      </p:sp>
      <p:sp>
        <p:nvSpPr>
          <p:cNvPr id="9" name="Text 6"/>
          <p:cNvSpPr txBox="1"/>
          <p:nvPr/>
        </p:nvSpPr>
        <p:spPr>
          <a:xfrm>
            <a:off x="429768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7"/>
          <p:cNvSpPr txBox="1"/>
          <p:nvPr/>
        </p:nvSpPr>
        <p:spPr>
          <a:xfrm>
            <a:off x="480060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Capacidades distintivas</a:t>
            </a:r>
            <a:endParaRPr lang="en-US" sz="1400" dirty="0"/>
          </a:p>
        </p:txBody>
      </p:sp>
      <p:sp>
        <p:nvSpPr>
          <p:cNvPr id="11" name="Text 8"/>
          <p:cNvSpPr txBox="1"/>
          <p:nvPr/>
        </p:nvSpPr>
        <p:spPr>
          <a:xfrm>
            <a:off x="429768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Expertos en sistemas agénticos y arquitectura de gestores.</a:t>
            </a:r>
            <a:endParaRPr lang="en-US" sz="1200" dirty="0"/>
          </a:p>
        </p:txBody>
      </p:sp>
      <p:sp>
        <p:nvSpPr>
          <p:cNvPr id="12" name="Shape 9"/>
          <p:cNvSpPr/>
          <p:nvPr/>
        </p:nvSpPr>
        <p:spPr>
          <a:xfrm>
            <a:off x="7955280" y="1600200"/>
            <a:ext cx="3657600" cy="1325880"/>
          </a:xfrm>
          <a:prstGeom prst="roundRect">
            <a:avLst>
              <a:gd name="adj" fmla="val 5517"/>
            </a:avLst>
          </a:prstGeom>
          <a:solidFill>
            <a:schemeClr val="accent4"/>
          </a:solidFill>
          <a:ln w="12700">
            <a:solidFill>
              <a:srgbClr val="DCD8EC"/>
            </a:solidFill>
            <a:prstDash val="solid"/>
          </a:ln>
        </p:spPr>
      </p:sp>
      <p:sp>
        <p:nvSpPr>
          <p:cNvPr id="13" name="Shape 10"/>
          <p:cNvSpPr/>
          <p:nvPr/>
        </p:nvSpPr>
        <p:spPr>
          <a:xfrm>
            <a:off x="8138160" y="1764792"/>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8138160" y="17647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2"/>
          <p:cNvSpPr txBox="1"/>
          <p:nvPr/>
        </p:nvSpPr>
        <p:spPr>
          <a:xfrm>
            <a:off x="8641080" y="17373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IA: procesos medibles</a:t>
            </a:r>
            <a:endParaRPr lang="en-US" sz="1400" dirty="0"/>
          </a:p>
        </p:txBody>
      </p:sp>
      <p:sp>
        <p:nvSpPr>
          <p:cNvPr id="16" name="Text 13"/>
          <p:cNvSpPr txBox="1"/>
          <p:nvPr/>
        </p:nvSpPr>
        <p:spPr>
          <a:xfrm>
            <a:off x="8138160" y="2240280"/>
            <a:ext cx="3291840" cy="640080"/>
          </a:xfrm>
          <a:prstGeom prst="rect">
            <a:avLst/>
          </a:prstGeom>
          <a:noFill/>
          <a:ln/>
        </p:spPr>
        <p:txBody>
          <a:bodyPr wrap="square" lIns="0" tIns="0" rIns="0" bIns="0" rtlCol="0" anchor="t"/>
          <a:lstStyle/>
          <a:p>
            <a:pPr indent="0" marL="0">
              <a:buNone/>
            </a:pPr>
            <a:r>
              <a:rPr lang="en-US" sz="1200" dirty="0">
                <a:solidFill>
                  <a:schemeClr val="tx1"/>
                </a:solidFill>
              </a:rPr>
              <a:t>IA propia que acelera cada sprint con validación humana.</a:t>
            </a:r>
            <a:endParaRPr lang="en-US" sz="1200" dirty="0"/>
          </a:p>
        </p:txBody>
      </p:sp>
      <p:sp>
        <p:nvSpPr>
          <p:cNvPr id="17" name="Shape 14"/>
          <p:cNvSpPr/>
          <p:nvPr/>
        </p:nvSpPr>
        <p:spPr>
          <a:xfrm>
            <a:off x="4114800" y="3086100"/>
            <a:ext cx="3657600" cy="1325880"/>
          </a:xfrm>
          <a:prstGeom prst="roundRect">
            <a:avLst>
              <a:gd name="adj" fmla="val 5517"/>
            </a:avLst>
          </a:prstGeom>
          <a:solidFill>
            <a:schemeClr val="accent4"/>
          </a:solidFill>
          <a:ln w="12700">
            <a:solidFill>
              <a:srgbClr val="DCD8EC"/>
            </a:solidFill>
            <a:prstDash val="solid"/>
          </a:ln>
        </p:spPr>
      </p:sp>
      <p:sp>
        <p:nvSpPr>
          <p:cNvPr id="18" name="Shape 15"/>
          <p:cNvSpPr/>
          <p:nvPr/>
        </p:nvSpPr>
        <p:spPr>
          <a:xfrm>
            <a:off x="4297680" y="3250692"/>
            <a:ext cx="384048" cy="384048"/>
          </a:xfrm>
          <a:prstGeom prst="ellipse">
            <a:avLst/>
          </a:prstGeom>
          <a:solidFill>
            <a:schemeClr val="accent1"/>
          </a:solidFill>
          <a:ln w="12700">
            <a:solidFill>
              <a:schemeClr val="accent1"/>
            </a:solidFill>
            <a:prstDash val="solid"/>
          </a:ln>
        </p:spPr>
      </p:sp>
      <p:sp>
        <p:nvSpPr>
          <p:cNvPr id="19" name="Text 16"/>
          <p:cNvSpPr txBox="1"/>
          <p:nvPr/>
        </p:nvSpPr>
        <p:spPr>
          <a:xfrm>
            <a:off x="429768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7"/>
          <p:cNvSpPr txBox="1"/>
          <p:nvPr/>
        </p:nvSpPr>
        <p:spPr>
          <a:xfrm>
            <a:off x="480060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Equipo: estructura flexible</a:t>
            </a:r>
            <a:endParaRPr lang="en-US" sz="1400" dirty="0"/>
          </a:p>
        </p:txBody>
      </p:sp>
      <p:sp>
        <p:nvSpPr>
          <p:cNvPr id="21" name="Text 18"/>
          <p:cNvSpPr txBox="1"/>
          <p:nvPr/>
        </p:nvSpPr>
        <p:spPr>
          <a:xfrm>
            <a:off x="429768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Equipo ágil con arquitecto y desarrolladores dedicados.</a:t>
            </a:r>
            <a:endParaRPr lang="en-US" sz="1200" dirty="0"/>
          </a:p>
        </p:txBody>
      </p:sp>
      <p:sp>
        <p:nvSpPr>
          <p:cNvPr id="22" name="Shape 19"/>
          <p:cNvSpPr/>
          <p:nvPr/>
        </p:nvSpPr>
        <p:spPr>
          <a:xfrm>
            <a:off x="7955280" y="3086100"/>
            <a:ext cx="3657600" cy="1325880"/>
          </a:xfrm>
          <a:prstGeom prst="roundRect">
            <a:avLst>
              <a:gd name="adj" fmla="val 5517"/>
            </a:avLst>
          </a:prstGeom>
          <a:solidFill>
            <a:schemeClr val="accent4"/>
          </a:solidFill>
          <a:ln w="12700">
            <a:solidFill>
              <a:srgbClr val="DCD8EC"/>
            </a:solidFill>
            <a:prstDash val="solid"/>
          </a:ln>
        </p:spPr>
      </p:sp>
      <p:sp>
        <p:nvSpPr>
          <p:cNvPr id="23" name="Shape 20"/>
          <p:cNvSpPr/>
          <p:nvPr/>
        </p:nvSpPr>
        <p:spPr>
          <a:xfrm>
            <a:off x="8138160" y="3250692"/>
            <a:ext cx="384048" cy="384048"/>
          </a:xfrm>
          <a:prstGeom prst="ellipse">
            <a:avLst/>
          </a:prstGeom>
          <a:solidFill>
            <a:schemeClr val="accent1"/>
          </a:solidFill>
          <a:ln w="12700">
            <a:solidFill>
              <a:schemeClr val="accent1"/>
            </a:solidFill>
            <a:prstDash val="solid"/>
          </a:ln>
        </p:spPr>
      </p:sp>
      <p:sp>
        <p:nvSpPr>
          <p:cNvPr id="24" name="Text 21"/>
          <p:cNvSpPr txBox="1"/>
          <p:nvPr/>
        </p:nvSpPr>
        <p:spPr>
          <a:xfrm>
            <a:off x="8138160" y="32506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22"/>
          <p:cNvSpPr txBox="1"/>
          <p:nvPr/>
        </p:nvSpPr>
        <p:spPr>
          <a:xfrm>
            <a:off x="8641080" y="3223260"/>
            <a:ext cx="2834640" cy="438912"/>
          </a:xfrm>
          <a:prstGeom prst="rect">
            <a:avLst/>
          </a:prstGeom>
          <a:noFill/>
          <a:ln/>
        </p:spPr>
        <p:txBody>
          <a:bodyPr wrap="square" lIns="0" tIns="0" rIns="0" bIns="0" rtlCol="0" anchor="ctr"/>
          <a:lstStyle/>
          <a:p>
            <a:pPr indent="0" marL="0">
              <a:buNone/>
            </a:pPr>
            <a:r>
              <a:rPr lang="en-US" sz="1400" b="1" dirty="0">
                <a:solidFill>
                  <a:schemeClr val="tx2"/>
                </a:solidFill>
              </a:rPr>
              <a:t>Talento consultivo</a:t>
            </a:r>
            <a:endParaRPr lang="en-US" sz="1400" dirty="0"/>
          </a:p>
        </p:txBody>
      </p:sp>
      <p:sp>
        <p:nvSpPr>
          <p:cNvPr id="26" name="Text 23"/>
          <p:cNvSpPr txBox="1"/>
          <p:nvPr/>
        </p:nvSpPr>
        <p:spPr>
          <a:xfrm>
            <a:off x="8138160" y="3726180"/>
            <a:ext cx="3291840" cy="640080"/>
          </a:xfrm>
          <a:prstGeom prst="rect">
            <a:avLst/>
          </a:prstGeom>
          <a:noFill/>
          <a:ln/>
        </p:spPr>
        <p:txBody>
          <a:bodyPr wrap="square" lIns="0" tIns="0" rIns="0" bIns="0" rtlCol="0" anchor="t"/>
          <a:lstStyle/>
          <a:p>
            <a:pPr indent="0" marL="0">
              <a:buNone/>
            </a:pPr>
            <a:r>
              <a:rPr lang="en-US" sz="1200" dirty="0">
                <a:solidFill>
                  <a:schemeClr val="tx1"/>
                </a:solidFill>
              </a:rPr>
              <a:t>Experiencia previa con SURA, mirada crítica de negocio y acompañamiento cercano.</a:t>
            </a:r>
            <a:endParaRPr lang="en-US" sz="1200" dirty="0"/>
          </a:p>
        </p:txBody>
      </p:sp>
      <p:sp>
        <p:nvSpPr>
          <p:cNvPr id="27" name="Shape 24"/>
          <p:cNvSpPr/>
          <p:nvPr/>
        </p:nvSpPr>
        <p:spPr>
          <a:xfrm>
            <a:off x="4114800" y="4572000"/>
            <a:ext cx="7498080" cy="1325880"/>
          </a:xfrm>
          <a:prstGeom prst="roundRect">
            <a:avLst>
              <a:gd name="adj" fmla="val 5517"/>
            </a:avLst>
          </a:prstGeom>
          <a:solidFill>
            <a:schemeClr val="accent4"/>
          </a:solidFill>
          <a:ln w="12700">
            <a:solidFill>
              <a:srgbClr val="DCD8EC"/>
            </a:solidFill>
            <a:prstDash val="solid"/>
          </a:ln>
        </p:spPr>
      </p:sp>
      <p:sp>
        <p:nvSpPr>
          <p:cNvPr id="28" name="Shape 25"/>
          <p:cNvSpPr/>
          <p:nvPr/>
        </p:nvSpPr>
        <p:spPr>
          <a:xfrm>
            <a:off x="4297680" y="4736592"/>
            <a:ext cx="384048" cy="384048"/>
          </a:xfrm>
          <a:prstGeom prst="ellipse">
            <a:avLst/>
          </a:prstGeom>
          <a:solidFill>
            <a:schemeClr val="accent1"/>
          </a:solidFill>
          <a:ln w="12700">
            <a:solidFill>
              <a:schemeClr val="accent1"/>
            </a:solidFill>
            <a:prstDash val="solid"/>
          </a:ln>
        </p:spPr>
      </p:sp>
      <p:sp>
        <p:nvSpPr>
          <p:cNvPr id="29" name="Text 26"/>
          <p:cNvSpPr txBox="1"/>
          <p:nvPr/>
        </p:nvSpPr>
        <p:spPr>
          <a:xfrm>
            <a:off x="4297680" y="473659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7"/>
          <p:cNvSpPr txBox="1"/>
          <p:nvPr/>
        </p:nvSpPr>
        <p:spPr>
          <a:xfrm>
            <a:off x="4800600" y="4709160"/>
            <a:ext cx="6675120" cy="438912"/>
          </a:xfrm>
          <a:prstGeom prst="rect">
            <a:avLst/>
          </a:prstGeom>
          <a:noFill/>
          <a:ln/>
        </p:spPr>
        <p:txBody>
          <a:bodyPr wrap="square" lIns="0" tIns="0" rIns="0" bIns="0" rtlCol="0" anchor="ctr"/>
          <a:lstStyle/>
          <a:p>
            <a:pPr indent="0" marL="0">
              <a:buNone/>
            </a:pPr>
            <a:r>
              <a:rPr lang="en-US" sz="1400" b="1" dirty="0">
                <a:solidFill>
                  <a:schemeClr val="tx2"/>
                </a:solidFill>
              </a:rPr>
              <a:t>Medición integral</a:t>
            </a:r>
            <a:endParaRPr lang="en-US" sz="1400" dirty="0"/>
          </a:p>
        </p:txBody>
      </p:sp>
      <p:sp>
        <p:nvSpPr>
          <p:cNvPr id="31" name="Text 28"/>
          <p:cNvSpPr txBox="1"/>
          <p:nvPr/>
        </p:nvSpPr>
        <p:spPr>
          <a:xfrm>
            <a:off x="4297680" y="5212080"/>
            <a:ext cx="7132320" cy="640080"/>
          </a:xfrm>
          <a:prstGeom prst="rect">
            <a:avLst/>
          </a:prstGeom>
          <a:noFill/>
          <a:ln/>
        </p:spPr>
        <p:txBody>
          <a:bodyPr wrap="square" lIns="0" tIns="0" rIns="0" bIns="0" rtlCol="0" anchor="t"/>
          <a:lstStyle/>
          <a:p>
            <a:pPr indent="0" marL="0">
              <a:buNone/>
            </a:pPr>
            <a:r>
              <a:rPr lang="en-US" sz="1200" dirty="0">
                <a:solidFill>
                  <a:schemeClr val="tx1"/>
                </a:solidFill>
              </a:rPr>
              <a:t>Garantías verificables en calidad, performance y seguridad.</a:t>
            </a:r>
            <a:endParaRPr lang="en-US" sz="1200" dirty="0"/>
          </a:p>
        </p:txBody>
      </p:sp>
      <p:sp>
        <p:nvSpPr>
          <p:cNvPr id="25" name="Slide Number Placeholder 0"/>
          <p:cNvSpPr>
            <a:spLocks noGrp="1"/>
          </p:cNvSpPr>
          <p:nvPr>
            <p:ph type="sldNum" sz="quarter" idx="4294967295"/>
          </p:nvPr>
        </p:nvSpPr>
        <p:spPr>
          <a:xfrm>
            <a:off x="11064240" y="6382512"/>
            <a:ext cx="576072"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Tech and Solve">
      <a:dk1>
        <a:srgbClr val="1A1E27"/>
      </a:dk1>
      <a:lt1>
        <a:srgbClr val="FFFFFF"/>
      </a:lt1>
      <a:dk2>
        <a:srgbClr val="280265"/>
      </a:dk2>
      <a:lt2>
        <a:srgbClr val="EBEBFF"/>
      </a:lt2>
      <a:accent1>
        <a:srgbClr val="5300DF"/>
      </a:accent1>
      <a:accent2>
        <a:srgbClr val="B9720A"/>
      </a:accent2>
      <a:accent3>
        <a:srgbClr val="1B6B4F"/>
      </a:accent3>
      <a:accent4>
        <a:srgbClr val="FAF9FE"/>
      </a:accent4>
      <a:accent5>
        <a:srgbClr val="DCD8EC"/>
      </a:accent5>
      <a:accent6>
        <a:srgbClr val="5B5A66"/>
      </a:accent6>
      <a:hlink>
        <a:srgbClr val="5300DF"/>
      </a:hlink>
      <a:folHlink>
        <a:srgbClr val="280265"/>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Tech and Solve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Dinámica de trabajo del equipo</dc:title>
  <dc:subject>PptxGenJS Presentation</dc:subject>
  <dc:creator>Tech and Solve</dc:creator>
  <cp:lastModifiedBy>Tech and Solve</cp:lastModifiedBy>
  <cp:revision>1</cp:revision>
  <dcterms:created xsi:type="dcterms:W3CDTF">2026-10-15T22:09:45Z</dcterms:created>
  <dcterms:modified xsi:type="dcterms:W3CDTF">2026-10-15T22:09:45Z</dcterms:modified>
</cp:coreProperties>
</file>